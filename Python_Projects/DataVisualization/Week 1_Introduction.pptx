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sldIdLst>
    <p:sldId id="256" r:id="rId2"/>
    <p:sldId id="300" r:id="rId3"/>
    <p:sldId id="257" r:id="rId4"/>
    <p:sldId id="258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  <p:sldId id="270" r:id="rId18"/>
    <p:sldId id="271" r:id="rId19"/>
    <p:sldId id="272" r:id="rId20"/>
    <p:sldId id="274" r:id="rId21"/>
    <p:sldId id="301" r:id="rId22"/>
    <p:sldId id="293" r:id="rId23"/>
    <p:sldId id="289" r:id="rId24"/>
    <p:sldId id="290" r:id="rId25"/>
    <p:sldId id="291" r:id="rId26"/>
    <p:sldId id="292" r:id="rId27"/>
    <p:sldId id="279" r:id="rId28"/>
    <p:sldId id="280" r:id="rId29"/>
    <p:sldId id="281" r:id="rId30"/>
    <p:sldId id="282" r:id="rId31"/>
    <p:sldId id="283" r:id="rId32"/>
    <p:sldId id="286" r:id="rId33"/>
    <p:sldId id="284" r:id="rId34"/>
    <p:sldId id="285" r:id="rId35"/>
    <p:sldId id="298" r:id="rId36"/>
    <p:sldId id="278" r:id="rId37"/>
    <p:sldId id="287" r:id="rId38"/>
    <p:sldId id="295" r:id="rId39"/>
    <p:sldId id="296" r:id="rId40"/>
    <p:sldId id="297" r:id="rId41"/>
    <p:sldId id="29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9"/>
    <p:restoredTop sz="94708"/>
  </p:normalViewPr>
  <p:slideViewPr>
    <p:cSldViewPr snapToGrid="0">
      <p:cViewPr varScale="1">
        <p:scale>
          <a:sx n="151" d="100"/>
          <a:sy n="151" d="100"/>
        </p:scale>
        <p:origin x="11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3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04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02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76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41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20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5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2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43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24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21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7" r:id="rId6"/>
    <p:sldLayoutId id="2147483692" r:id="rId7"/>
    <p:sldLayoutId id="2147483693" r:id="rId8"/>
    <p:sldLayoutId id="2147483694" r:id="rId9"/>
    <p:sldLayoutId id="2147483696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3D318-CB8A-F900-C1F7-92F91A192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EG"/>
              <a:t>Introduction</a:t>
            </a:r>
            <a:endParaRPr lang="en-E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EEBEF-27BE-665A-96F1-62A0FD1D2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EG"/>
              <a:t>Data Visualization</a:t>
            </a:r>
            <a:endParaRPr lang="en-E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green cubes with lights&#10;&#10;AI-generated content may be incorrect.">
            <a:extLst>
              <a:ext uri="{FF2B5EF4-FFF2-40B4-BE49-F238E27FC236}">
                <a16:creationId xmlns:a16="http://schemas.microsoft.com/office/drawing/2014/main" id="{3BA9F730-B238-9C31-0CA6-EA5188D67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97" r="43440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4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B338-D08B-6066-7F8E-04A9C7EFA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Course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289F3-177E-2127-BFC5-0363A240F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G" dirty="0"/>
              <a:t>50 Points Final Exam (MCQ &amp; Essay)</a:t>
            </a:r>
          </a:p>
          <a:p>
            <a:r>
              <a:rPr lang="en-EG" dirty="0"/>
              <a:t>30 Points Midterm Exam (MCQ Only)</a:t>
            </a:r>
          </a:p>
          <a:p>
            <a:r>
              <a:rPr lang="en-EG" dirty="0"/>
              <a:t>10 Points Section </a:t>
            </a:r>
          </a:p>
          <a:p>
            <a:r>
              <a:rPr lang="en-EG" dirty="0"/>
              <a:t>10 Points Practical Exam (Individually on Lab PC – Not project)</a:t>
            </a:r>
          </a:p>
        </p:txBody>
      </p:sp>
    </p:spTree>
    <p:extLst>
      <p:ext uri="{BB962C8B-B14F-4D97-AF65-F5344CB8AC3E}">
        <p14:creationId xmlns:p14="http://schemas.microsoft.com/office/powerpoint/2010/main" val="18160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5401-7AE0-5B78-2DE1-6F11C269D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BE572-236C-4170-91E3-A8FFCCF0E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Datasets -&gt; Questions -&gt; Visualization -&gt; Answers</a:t>
            </a:r>
            <a:endParaRPr lang="en-EG" sz="3600" dirty="0"/>
          </a:p>
        </p:txBody>
      </p:sp>
    </p:spTree>
    <p:extLst>
      <p:ext uri="{BB962C8B-B14F-4D97-AF65-F5344CB8AC3E}">
        <p14:creationId xmlns:p14="http://schemas.microsoft.com/office/powerpoint/2010/main" val="586413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94018-CD6B-306D-9CFD-A2EA7B3B7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we must follow to achieve the goal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BE6A8-E8C4-0570-730A-284A9617B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1:</a:t>
            </a:r>
            <a:r>
              <a:rPr lang="en-US" dirty="0"/>
              <a:t> Introduce the dataset.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Step 2:</a:t>
            </a:r>
            <a:r>
              <a:rPr lang="en-US" dirty="0"/>
              <a:t> Collect all the questions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set by the audience (stockholders, decision makers, top managers, ordinary people, or even children in pre-school) regarding the dataset.</a:t>
            </a:r>
            <a:endParaRPr lang="en-EG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98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5C4D-9EC9-FB2A-8018-BC9D49999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F7DD5-2E6C-29A4-DE12-8D6C5AB6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we must follow to achieve the goal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0ACD1-B94A-F054-B611-54EEF2370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/>
              <a:t>Step 3:</a:t>
            </a:r>
            <a:r>
              <a:rPr lang="en-US" dirty="0"/>
              <a:t> Select the most accurate visualization chart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using the </a:t>
            </a:r>
            <a:r>
              <a:rPr lang="en-US" u="sn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cognitive load principle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To help the audience to answer their questions in few seconds (NOTE: if the audience spent a lot of time to understand the chart and to get an answer for their question, then it means you choose the wrong chart).</a:t>
            </a:r>
            <a:endParaRPr lang="en-EG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03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270FC-E2D3-9EEC-73D3-0229C54C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1AD8-3288-D81F-AF2F-62059738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we must follow to achieve the goal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A9674-9C4A-AEEA-FFAA-8AED1C063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4:</a:t>
            </a:r>
            <a:r>
              <a:rPr lang="en-US" dirty="0"/>
              <a:t> Draw the chart using a pencil and a plain paper.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5:</a:t>
            </a:r>
            <a:r>
              <a:rPr lang="en-US" dirty="0"/>
              <a:t> Draw the chart using Python library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(Plotly, Seaborn, Matplotlib).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/>
              <a:t>Step 6:</a:t>
            </a:r>
            <a:r>
              <a:rPr lang="en-US" dirty="0"/>
              <a:t> Evaluating the selected chart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using the concept of “story telling” and getting answers.</a:t>
            </a:r>
          </a:p>
        </p:txBody>
      </p:sp>
    </p:spTree>
    <p:extLst>
      <p:ext uri="{BB962C8B-B14F-4D97-AF65-F5344CB8AC3E}">
        <p14:creationId xmlns:p14="http://schemas.microsoft.com/office/powerpoint/2010/main" val="629345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42F88-2066-21EE-394F-F093E9A8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G" dirty="0"/>
              <a:t>I</a:t>
            </a:r>
            <a:r>
              <a:rPr lang="en-US" dirty="0"/>
              <a:t>m</a:t>
            </a:r>
            <a:r>
              <a:rPr lang="en-EG" dirty="0"/>
              <a:t>portant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EC64A-F76C-8ABE-9C9C-AEF73A746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EG" sz="2400" dirty="0"/>
              <a:t>To achieve the goal of the course:</a:t>
            </a:r>
          </a:p>
          <a:p>
            <a:pPr marL="0" indent="0">
              <a:buNone/>
            </a:pPr>
            <a:endParaRPr lang="en-EG" sz="3600" dirty="0"/>
          </a:p>
          <a:p>
            <a:pPr marL="0" indent="0" algn="ctr">
              <a:buNone/>
            </a:pPr>
            <a:r>
              <a:rPr lang="en-EG" sz="3600" dirty="0">
                <a:solidFill>
                  <a:srgbClr val="FF0000"/>
                </a:solidFill>
              </a:rPr>
              <a:t>We are going to apply these </a:t>
            </a:r>
            <a:r>
              <a:rPr lang="en-EG" sz="3600" b="1" u="sng" dirty="0">
                <a:solidFill>
                  <a:srgbClr val="FF0000"/>
                </a:solidFill>
              </a:rPr>
              <a:t>6 steps</a:t>
            </a:r>
            <a:r>
              <a:rPr lang="en-EG" sz="3600" dirty="0">
                <a:solidFill>
                  <a:srgbClr val="FF0000"/>
                </a:solidFill>
              </a:rPr>
              <a:t> in each lecture until the end of the course</a:t>
            </a:r>
          </a:p>
        </p:txBody>
      </p:sp>
    </p:spTree>
    <p:extLst>
      <p:ext uri="{BB962C8B-B14F-4D97-AF65-F5344CB8AC3E}">
        <p14:creationId xmlns:p14="http://schemas.microsoft.com/office/powerpoint/2010/main" val="4236327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9A41E-89E7-2BEC-ECD7-BDA77BFEE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</a:t>
            </a:r>
            <a:r>
              <a:rPr lang="en-EG" dirty="0"/>
              <a:t>efore diviing into the 6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A044D-DDC3-8312-D7C8-71951F85C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EG" dirty="0"/>
              <a:t>At the beginning, we Must understand these concepts:</a:t>
            </a:r>
            <a:br>
              <a:rPr lang="en-EG" dirty="0"/>
            </a:br>
            <a:endParaRPr lang="en-EG" dirty="0"/>
          </a:p>
          <a:p>
            <a:pPr marL="457200" indent="-457200">
              <a:buAutoNum type="arabicParenR"/>
            </a:pPr>
            <a:r>
              <a:rPr lang="en-EG" dirty="0"/>
              <a:t>Drag/Drop-diven approach vs Code-driven approach.</a:t>
            </a:r>
            <a:br>
              <a:rPr lang="en-EG" dirty="0"/>
            </a:br>
            <a:r>
              <a:rPr lang="en-E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(Power BI &amp; Tableau vs Python Libraries)</a:t>
            </a:r>
          </a:p>
          <a:p>
            <a:pPr marL="457200" indent="-457200">
              <a:buAutoNum type="arabicParenR"/>
            </a:pPr>
            <a:r>
              <a:rPr lang="en-US" dirty="0"/>
              <a:t>Visualizations Types: Exploratory vs Explanatory.</a:t>
            </a:r>
          </a:p>
          <a:p>
            <a:pPr marL="457200" indent="-457200">
              <a:buAutoNum type="arabicParenR"/>
            </a:pPr>
            <a:r>
              <a:rPr lang="en-US" dirty="0"/>
              <a:t>Cognitive Load.</a:t>
            </a:r>
            <a:endParaRPr lang="en-EG" dirty="0"/>
          </a:p>
          <a:p>
            <a:pPr marL="457200" indent="-457200">
              <a:buAutoNum type="arabicParenR"/>
            </a:pPr>
            <a:r>
              <a:rPr lang="en-US" dirty="0"/>
              <a:t>Pre-attentive Attributes.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27797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747C4-458D-29BC-7418-26FAD916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EG" dirty="0"/>
              <a:t>Drag/Drop-diven vs Code-driven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C2D77-49DC-F8C0-F222-FC1B2DA3A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EG" altLang="en-EG" sz="2400" i="1" dirty="0">
                <a:latin typeface="Arial" panose="020B0604020202020204" pitchFamily="34" charset="0"/>
              </a:rPr>
              <a:t>Drag/Drop diven approach:</a:t>
            </a:r>
            <a:br>
              <a:rPr lang="en-EG" altLang="en-EG" b="1" dirty="0">
                <a:latin typeface="Arial" panose="020B0604020202020204" pitchFamily="34" charset="0"/>
              </a:rPr>
            </a:br>
            <a:endParaRPr lang="en-EG" altLang="en-EG" b="1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EG" altLang="en-EG" b="1" dirty="0">
                <a:latin typeface="Arial" panose="020B0604020202020204" pitchFamily="34" charset="0"/>
              </a:rPr>
              <a:t>Power BI and Tableau:</a:t>
            </a:r>
            <a:r>
              <a:rPr lang="en-EG" altLang="en-EG" dirty="0">
                <a:latin typeface="Arial" panose="020B0604020202020204" pitchFamily="34" charset="0"/>
              </a:rPr>
              <a:t> These are "Business Intelligence" (BI) tools. They are designed for speed and accessibility, allowing users to create dashboards quickly using a </a:t>
            </a:r>
            <a:r>
              <a:rPr lang="en-EG" altLang="en-EG" b="1" dirty="0">
                <a:latin typeface="Arial" panose="020B0604020202020204" pitchFamily="34" charset="0"/>
              </a:rPr>
              <a:t>drag-and-drop</a:t>
            </a:r>
            <a:r>
              <a:rPr lang="en-EG" altLang="en-EG" dirty="0">
                <a:latin typeface="Arial" panose="020B0604020202020204" pitchFamily="34" charset="0"/>
              </a:rPr>
              <a:t> interface.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EG" altLang="en-EG" dirty="0">
                <a:latin typeface="Arial" panose="020B0604020202020204" pitchFamily="34" charset="0"/>
              </a:rPr>
            </a:b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05619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CC293-DCE7-C475-5D62-CFC3B1B6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C538-24B8-79E3-C4B9-4C785429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EG" dirty="0"/>
              <a:t>Drag/Drop-diven vs Code-driven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924C9-6A81-A316-40F5-83BD0793C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EG" altLang="en-EG" sz="2400" i="1" dirty="0">
                <a:latin typeface="Arial" panose="020B0604020202020204" pitchFamily="34" charset="0"/>
              </a:rPr>
              <a:t>Code diven approach:</a:t>
            </a:r>
            <a:br>
              <a:rPr lang="en-EG" altLang="en-EG" sz="2400" i="1" dirty="0">
                <a:latin typeface="Arial" panose="020B0604020202020204" pitchFamily="34" charset="0"/>
              </a:rPr>
            </a:br>
            <a:endParaRPr lang="en-EG" altLang="en-EG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EG" altLang="en-EG" b="1" dirty="0">
                <a:latin typeface="Arial" panose="020B0604020202020204" pitchFamily="34" charset="0"/>
              </a:rPr>
              <a:t>Python Libraries (Matplotlib, Seaborn, Plotly):</a:t>
            </a:r>
            <a:r>
              <a:rPr lang="en-EG" altLang="en-EG" dirty="0">
                <a:latin typeface="Arial" panose="020B0604020202020204" pitchFamily="34" charset="0"/>
              </a:rPr>
              <a:t> These require writing </a:t>
            </a:r>
            <a:r>
              <a:rPr lang="en-EG" altLang="en-EG" i="1" u="sng" dirty="0">
                <a:latin typeface="Arial" panose="020B0604020202020204" pitchFamily="34" charset="0"/>
              </a:rPr>
              <a:t>code</a:t>
            </a:r>
            <a:r>
              <a:rPr lang="en-EG" altLang="en-EG" dirty="0">
                <a:latin typeface="Arial" panose="020B0604020202020204" pitchFamily="34" charset="0"/>
              </a:rPr>
              <a:t>, which is more accurate </a:t>
            </a:r>
            <a:r>
              <a:rPr lang="en-US" altLang="en-EG" dirty="0">
                <a:latin typeface="Arial" panose="020B0604020202020204" pitchFamily="34" charset="0"/>
              </a:rPr>
              <a:t>for</a:t>
            </a:r>
            <a:r>
              <a:rPr lang="en-US" dirty="0">
                <a:latin typeface="Arial" panose="020B0604020202020204" pitchFamily="34" charset="0"/>
              </a:rPr>
              <a:t> 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Data Science students</a:t>
            </a:r>
            <a:r>
              <a:rPr lang="en-US" dirty="0">
                <a:latin typeface="Arial" panose="020B0604020202020204" pitchFamily="34" charset="0"/>
              </a:rPr>
              <a:t>, visualization happens between data cleaning and machine learning. Using Python allows the student to keep the entire pipeline in one environment (like a Jupyter Notebook).</a:t>
            </a:r>
            <a:endParaRPr lang="en-EG" altLang="en-EG" dirty="0">
              <a:latin typeface="Arial" panose="020B0604020202020204" pitchFamily="34" charset="0"/>
            </a:endParaRP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1902216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266A1-4629-57CB-3C33-06D2E503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68E6-619D-A27C-CD99-C993002F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EG" dirty="0"/>
              <a:t>Drag/Drop-diven vs Code-driven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34496F-E87D-86CE-B0DB-7C55A8227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327584"/>
              </p:ext>
            </p:extLst>
          </p:nvPr>
        </p:nvGraphicFramePr>
        <p:xfrm>
          <a:off x="700089" y="1849851"/>
          <a:ext cx="10691811" cy="4293518"/>
        </p:xfrm>
        <a:graphic>
          <a:graphicData uri="http://schemas.openxmlformats.org/drawingml/2006/table">
            <a:tbl>
              <a:tblPr/>
              <a:tblGrid>
                <a:gridCol w="2032479">
                  <a:extLst>
                    <a:ext uri="{9D8B030D-6E8A-4147-A177-3AD203B41FA5}">
                      <a16:colId xmlns:a16="http://schemas.microsoft.com/office/drawing/2014/main" val="2487190376"/>
                    </a:ext>
                  </a:extLst>
                </a:gridCol>
                <a:gridCol w="4327452">
                  <a:extLst>
                    <a:ext uri="{9D8B030D-6E8A-4147-A177-3AD203B41FA5}">
                      <a16:colId xmlns:a16="http://schemas.microsoft.com/office/drawing/2014/main" val="999838661"/>
                    </a:ext>
                  </a:extLst>
                </a:gridCol>
                <a:gridCol w="4331880">
                  <a:extLst>
                    <a:ext uri="{9D8B030D-6E8A-4147-A177-3AD203B41FA5}">
                      <a16:colId xmlns:a16="http://schemas.microsoft.com/office/drawing/2014/main" val="1800681349"/>
                    </a:ext>
                  </a:extLst>
                </a:gridCol>
              </a:tblGrid>
              <a:tr h="6463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Power BI / Tableau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Python Libraries (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Winner !!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962784"/>
                  </a:ext>
                </a:extLst>
              </a:tr>
              <a:tr h="6463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Primary User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Business Analysts / Managers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Data Scientists / Engineers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120946"/>
                  </a:ext>
                </a:extLst>
              </a:tr>
              <a:tr h="6463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Method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Drag-and-Drop UI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Programming (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Step 5 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of our plan)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256834"/>
                  </a:ext>
                </a:extLst>
              </a:tr>
              <a:tr h="10618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Scalability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Good for reporting and fast dashboards 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for complex, custom AI/ML pipelines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57686"/>
                  </a:ext>
                </a:extLst>
              </a:tr>
              <a:tr h="6463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Interactivity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(Built-in)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(when using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Plotly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332638"/>
                  </a:ext>
                </a:extLst>
              </a:tr>
              <a:tr h="6463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Which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  <a:ea typeface="+mn-ea"/>
                          <a:cs typeface="+mn-cs"/>
                        </a:rPr>
                        <a:t>Step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Step 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Step 5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726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0860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CE0B-CF5E-470F-E864-5ABCBAA7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AB76-D46D-8EB8-0BC8-409FB2D1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EG" dirty="0"/>
              <a:t>Drag/Drop-diven vs Code-driven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4ACC4-414A-77EE-0811-65B56F08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EG" altLang="en-EG" sz="2400" dirty="0">
                <a:latin typeface="Arial" panose="020B0604020202020204" pitchFamily="34" charset="0"/>
              </a:rPr>
              <a:t>And the winner is? </a:t>
            </a:r>
            <a:r>
              <a:rPr lang="en-EG" altLang="en-EG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for data science department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EG" altLang="en-EG" sz="2400" i="1" dirty="0">
                <a:latin typeface="Arial" panose="020B0604020202020204" pitchFamily="34" charset="0"/>
              </a:rPr>
            </a:br>
            <a:r>
              <a:rPr lang="en-US" sz="1800" b="1" dirty="0">
                <a:latin typeface="Arial" panose="020B0604020202020204" pitchFamily="34" charset="0"/>
              </a:rPr>
              <a:t>Power BI and Tableau</a:t>
            </a:r>
            <a:r>
              <a:rPr lang="en-US" sz="1800" dirty="0">
                <a:latin typeface="Arial" panose="020B0604020202020204" pitchFamily="34" charset="0"/>
              </a:rPr>
              <a:t> are excellent for corporate </a:t>
            </a:r>
            <a:r>
              <a:rPr lang="en-US" sz="1800" b="1" dirty="0">
                <a:latin typeface="Arial" panose="020B0604020202020204" pitchFamily="34" charset="0"/>
              </a:rPr>
              <a:t>reporting</a:t>
            </a:r>
            <a:r>
              <a:rPr lang="en-US" sz="1800" dirty="0">
                <a:latin typeface="Arial" panose="020B0604020202020204" pitchFamily="34" charset="0"/>
              </a:rPr>
              <a:t>, but as Data Scientists, we use Python because it gives us the power to build custom, reproducible, and deeply integrated visualizations that are part of a larger analytical </a:t>
            </a:r>
            <a:r>
              <a:rPr lang="en-US" sz="1800" b="1" dirty="0">
                <a:latin typeface="Arial" panose="020B0604020202020204" pitchFamily="34" charset="0"/>
              </a:rPr>
              <a:t>AI/ML</a:t>
            </a:r>
            <a:r>
              <a:rPr lang="en-US" sz="1800" dirty="0">
                <a:latin typeface="Arial" panose="020B0604020202020204" pitchFamily="34" charset="0"/>
              </a:rPr>
              <a:t> engine. This reinforces why our course focuses on libraries like Matplotlib, Seaborn, and Plotly</a:t>
            </a:r>
            <a:endParaRPr lang="en-EG" altLang="en-EG" sz="1800" dirty="0"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EG" altLang="en-EG" sz="2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EG" altLang="en-EG" sz="28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EG" altLang="en-EG" sz="2800" b="1" dirty="0">
                <a:solidFill>
                  <a:srgbClr val="FF0000"/>
                </a:solidFill>
                <a:latin typeface="Arial" panose="020B0604020202020204" pitchFamily="34" charset="0"/>
              </a:rPr>
              <a:t>Python Libraries (Such as Matplotlib, Seaborn, Plotly)</a:t>
            </a:r>
            <a:endParaRPr lang="en-EG" altLang="en-EG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93412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948-7ECF-3508-B066-749CEC4E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DF95-3967-3DFC-FD5A-15D91E5A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EG" dirty="0"/>
              <a:t>Drag/Drop-diven vs Code-driven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79431E-E6C9-422D-1B10-533FEF5CF4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1647271"/>
              </p:ext>
            </p:extLst>
          </p:nvPr>
        </p:nvGraphicFramePr>
        <p:xfrm>
          <a:off x="700088" y="2477135"/>
          <a:ext cx="10691812" cy="3230880"/>
        </p:xfrm>
        <a:graphic>
          <a:graphicData uri="http://schemas.openxmlformats.org/drawingml/2006/table">
            <a:tbl>
              <a:tblPr/>
              <a:tblGrid>
                <a:gridCol w="2672953">
                  <a:extLst>
                    <a:ext uri="{9D8B030D-6E8A-4147-A177-3AD203B41FA5}">
                      <a16:colId xmlns:a16="http://schemas.microsoft.com/office/drawing/2014/main" val="1975037492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3846847062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781797372"/>
                    </a:ext>
                  </a:extLst>
                </a:gridCol>
                <a:gridCol w="2672953">
                  <a:extLst>
                    <a:ext uri="{9D8B030D-6E8A-4147-A177-3AD203B41FA5}">
                      <a16:colId xmlns:a16="http://schemas.microsoft.com/office/drawing/2014/main" val="14221535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Matplotlib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Seaborn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Plotly (</a:t>
                      </a:r>
                      <a:r>
                        <a:rPr lang="en-US" b="1" dirty="0">
                          <a:solidFill>
                            <a:srgbClr val="00B050"/>
                          </a:solidFill>
                          <a:effectLst/>
                          <a:latin typeface="Google Sans Text"/>
                        </a:rPr>
                        <a:t>Winner !!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428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Code Efficiency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 (Requires more lines for styling).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(Very concise).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Medium (Declarative).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793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Built-in Features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Basic; you must build everything manually.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High; handles themes and stats automatically.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High; includes legends, hover-data, and colors.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087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Speed of Coding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Slower due to "low-level" commands.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 for statistical plots.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 for complex layouts.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993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Interactivity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Static.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No zoom or filter.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Static.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No zoom or filter.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Fully Interactive.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Zoom, pan, and hover.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47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986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C29F-A5B8-4F2D-E731-66E4B8EFC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Types: Exploratory vs Explanatory</a:t>
            </a:r>
            <a:endParaRPr lang="en-E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26F173-3282-DDD0-3367-6E3CF7E068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0933391"/>
              </p:ext>
            </p:extLst>
          </p:nvPr>
        </p:nvGraphicFramePr>
        <p:xfrm>
          <a:off x="700088" y="2221993"/>
          <a:ext cx="10691811" cy="385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98563">
                  <a:extLst>
                    <a:ext uri="{9D8B030D-6E8A-4147-A177-3AD203B41FA5}">
                      <a16:colId xmlns:a16="http://schemas.microsoft.com/office/drawing/2014/main" val="1530138020"/>
                    </a:ext>
                  </a:extLst>
                </a:gridCol>
                <a:gridCol w="4104168">
                  <a:extLst>
                    <a:ext uri="{9D8B030D-6E8A-4147-A177-3AD203B41FA5}">
                      <a16:colId xmlns:a16="http://schemas.microsoft.com/office/drawing/2014/main" val="2677539199"/>
                    </a:ext>
                  </a:extLst>
                </a:gridCol>
                <a:gridCol w="4789080">
                  <a:extLst>
                    <a:ext uri="{9D8B030D-6E8A-4147-A177-3AD203B41FA5}">
                      <a16:colId xmlns:a16="http://schemas.microsoft.com/office/drawing/2014/main" val="1103821101"/>
                    </a:ext>
                  </a:extLst>
                </a:gridCol>
              </a:tblGrid>
              <a:tr h="446511">
                <a:tc>
                  <a:txBody>
                    <a:bodyPr/>
                    <a:lstStyle/>
                    <a:p>
                      <a:endParaRPr lang="en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b="1" dirty="0"/>
                        <a:t>Exploratory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b="1" dirty="0"/>
                        <a:t>Explanatory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743011"/>
                  </a:ext>
                </a:extLst>
              </a:tr>
              <a:tr h="1033198">
                <a:tc>
                  <a:txBody>
                    <a:bodyPr/>
                    <a:lstStyle/>
                    <a:p>
                      <a:r>
                        <a:rPr lang="en-EG" b="1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"</a:t>
                      </a:r>
                      <a:r>
                        <a:rPr lang="en-US" sz="1600" b="0" i="1" dirty="0"/>
                        <a:t>Data Visualization for Me</a:t>
                      </a:r>
                      <a:r>
                        <a:rPr lang="en-US" sz="1600" dirty="0"/>
                        <a:t>”. It is the stage where the Data Scientist explores the dataset to find patterns, outliers, or trends that aren't immediately obvious.</a:t>
                      </a:r>
                      <a:endParaRPr lang="en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"</a:t>
                      </a:r>
                      <a:r>
                        <a:rPr lang="en-US" sz="1600" b="0" i="1" dirty="0"/>
                        <a:t>Data Visualization for Them</a:t>
                      </a:r>
                      <a:r>
                        <a:rPr lang="en-US" sz="1600" dirty="0"/>
                        <a:t>”. You have already found the insight, and now you are explaining it to the audience (managers, stockholders, etc.).</a:t>
                      </a:r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822055"/>
                  </a:ext>
                </a:extLst>
              </a:tr>
              <a:tr h="560879">
                <a:tc>
                  <a:txBody>
                    <a:bodyPr/>
                    <a:lstStyle/>
                    <a:p>
                      <a:r>
                        <a:rPr lang="en-EG" b="1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To understand what is happening in the data</a:t>
                      </a:r>
                      <a:endParaRPr lang="en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To tell a story or answer a specific question in seconds.</a:t>
                      </a:r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471474"/>
                  </a:ext>
                </a:extLst>
              </a:tr>
              <a:tr h="1021103">
                <a:tc>
                  <a:txBody>
                    <a:bodyPr/>
                    <a:lstStyle/>
                    <a:p>
                      <a:r>
                        <a:rPr lang="en-EG" b="1" dirty="0"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Often messy, numerous, and lacks polish. You might create 50 charts in an hour to find one interesting insight.</a:t>
                      </a:r>
                      <a:endParaRPr lang="en-EG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/>
                        <a:t>Highly polished, clear titles, no "chart junk," and focuses only on the relevant data.</a:t>
                      </a:r>
                      <a:endParaRPr lang="en-EG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255303"/>
                  </a:ext>
                </a:extLst>
              </a:tr>
              <a:tr h="744976">
                <a:tc>
                  <a:txBody>
                    <a:bodyPr/>
                    <a:lstStyle/>
                    <a:p>
                      <a:r>
                        <a:rPr lang="en-EG" b="1" dirty="0"/>
                        <a:t>Which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EG" sz="1600" dirty="0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EG" sz="1600" dirty="0"/>
                        <a:t>Step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614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67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3CA4-10E9-DFF9-7282-C264FE30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Load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F11A-33F4-EA17-4228-13DD22F9D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The total amount of mental effort being used in the audience's working memory to understand a chart.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In </a:t>
            </a:r>
            <a:r>
              <a:rPr lang="en-US" b="1" dirty="0"/>
              <a:t>Step 3</a:t>
            </a:r>
            <a:r>
              <a:rPr lang="en-US" dirty="0"/>
              <a:t> of our course plan: choosing the most accurate chart so the audience can answer questions in just a few seconds. If the cognitive load is too high, the audience spends too much time trying to process the visual, which means you have chosen the wrong chart.</a:t>
            </a:r>
          </a:p>
          <a:p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2069416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D451A-A018-0B4A-0A54-DC0763C6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61669-F927-CB70-72E0-8D33527C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Load</a:t>
            </a:r>
            <a:endParaRPr lang="en-E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61FA0A-0EAE-F1AA-1CF2-C8C92D297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6936093"/>
              </p:ext>
            </p:extLst>
          </p:nvPr>
        </p:nvGraphicFramePr>
        <p:xfrm>
          <a:off x="700088" y="2266152"/>
          <a:ext cx="10691811" cy="3677446"/>
        </p:xfrm>
        <a:graphic>
          <a:graphicData uri="http://schemas.openxmlformats.org/drawingml/2006/table">
            <a:tbl>
              <a:tblPr/>
              <a:tblGrid>
                <a:gridCol w="1766665">
                  <a:extLst>
                    <a:ext uri="{9D8B030D-6E8A-4147-A177-3AD203B41FA5}">
                      <a16:colId xmlns:a16="http://schemas.microsoft.com/office/drawing/2014/main" val="2348394755"/>
                    </a:ext>
                  </a:extLst>
                </a:gridCol>
                <a:gridCol w="4391247">
                  <a:extLst>
                    <a:ext uri="{9D8B030D-6E8A-4147-A177-3AD203B41FA5}">
                      <a16:colId xmlns:a16="http://schemas.microsoft.com/office/drawing/2014/main" val="3840572816"/>
                    </a:ext>
                  </a:extLst>
                </a:gridCol>
                <a:gridCol w="4533899">
                  <a:extLst>
                    <a:ext uri="{9D8B030D-6E8A-4147-A177-3AD203B41FA5}">
                      <a16:colId xmlns:a16="http://schemas.microsoft.com/office/drawing/2014/main" val="66919024"/>
                    </a:ext>
                  </a:extLst>
                </a:gridCol>
              </a:tblGrid>
              <a:tr h="65694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Load Type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(Bad Case)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Low/Optimized (Good Case)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781918"/>
                  </a:ext>
                </a:extLst>
              </a:tr>
              <a:tr h="11109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Extraneous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Using 10 different colors for 10 bars just for "fun." The brain works hard to find a meaning for each color.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Using one single color for all bars so the brain ignores color and focuses on length.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195120"/>
                  </a:ext>
                </a:extLst>
              </a:tr>
              <a:tr h="111099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Intrinsic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Showing 100 brands on one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Column Chart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The labels overlap and it's impossible to read.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Using a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Bar Chart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and showing only the "Top 10" brands to make the task manageable.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443655"/>
                  </a:ext>
                </a:extLst>
              </a:tr>
              <a:tr h="7985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Germane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manager is confused and asks, "What am I looking at?".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rt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manager immediately says, "I see Apple is leading; let's invest more there!".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681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652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29DD-C212-C26B-F96F-59F54A33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121C4-F5A0-9762-F6F1-0B7798BA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Load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3875E-B4BD-D77F-286A-7621DA2B8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07535"/>
            <a:ext cx="10691265" cy="4154353"/>
          </a:xfrm>
        </p:spPr>
        <p:txBody>
          <a:bodyPr/>
          <a:lstStyle/>
          <a:p>
            <a:r>
              <a:rPr lang="en-US" dirty="0"/>
              <a:t>The Three Types of Cognitive Load:</a:t>
            </a:r>
          </a:p>
          <a:p>
            <a:endParaRPr lang="en-E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D2C9C4-8C8F-AA7A-094F-6D14ED52E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4198"/>
              </p:ext>
            </p:extLst>
          </p:nvPr>
        </p:nvGraphicFramePr>
        <p:xfrm>
          <a:off x="800098" y="2434856"/>
          <a:ext cx="10591800" cy="35270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8311">
                  <a:extLst>
                    <a:ext uri="{9D8B030D-6E8A-4147-A177-3AD203B41FA5}">
                      <a16:colId xmlns:a16="http://schemas.microsoft.com/office/drawing/2014/main" val="3679258294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2001136620"/>
                    </a:ext>
                  </a:extLst>
                </a:gridCol>
                <a:gridCol w="3030279">
                  <a:extLst>
                    <a:ext uri="{9D8B030D-6E8A-4147-A177-3AD203B41FA5}">
                      <a16:colId xmlns:a16="http://schemas.microsoft.com/office/drawing/2014/main" val="1371649900"/>
                    </a:ext>
                  </a:extLst>
                </a:gridCol>
                <a:gridCol w="3438745">
                  <a:extLst>
                    <a:ext uri="{9D8B030D-6E8A-4147-A177-3AD203B41FA5}">
                      <a16:colId xmlns:a16="http://schemas.microsoft.com/office/drawing/2014/main" val="2790784310"/>
                    </a:ext>
                  </a:extLst>
                </a:gridCol>
              </a:tblGrid>
              <a:tr h="561956">
                <a:tc>
                  <a:txBody>
                    <a:bodyPr/>
                    <a:lstStyle/>
                    <a:p>
                      <a:r>
                        <a:rPr lang="en-EG" b="1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Intrinsic Load</a:t>
                      </a:r>
                      <a:endParaRPr lang="en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Extraneous Load</a:t>
                      </a:r>
                      <a:endParaRPr lang="en-E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Germane Load</a:t>
                      </a:r>
                      <a:endParaRPr lang="en-EG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79126"/>
                  </a:ext>
                </a:extLst>
              </a:tr>
              <a:tr h="1076058">
                <a:tc>
                  <a:txBody>
                    <a:bodyPr/>
                    <a:lstStyle/>
                    <a:p>
                      <a:r>
                        <a:rPr lang="en-EG" b="1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Effort required to understand the core information itself. </a:t>
                      </a:r>
                      <a:endParaRPr lang="en-E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"bad" mental effort caused by poor design choices. It distracts the audience from the answer.</a:t>
                      </a:r>
                      <a:endParaRPr lang="en-E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"good" mental effort. It is the energy the brain uses to learn the insight.</a:t>
                      </a:r>
                      <a:endParaRPr lang="en-E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16284"/>
                  </a:ext>
                </a:extLst>
              </a:tr>
              <a:tr h="1889018">
                <a:tc>
                  <a:txBody>
                    <a:bodyPr/>
                    <a:lstStyle/>
                    <a:p>
                      <a:r>
                        <a:rPr lang="en-EG" b="1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Comparing the sales of </a:t>
                      </a:r>
                      <a:r>
                        <a:rPr lang="en-US" sz="1400" b="1" dirty="0"/>
                        <a:t>2 brands</a:t>
                      </a:r>
                      <a:r>
                        <a:rPr lang="en-US" sz="1400" dirty="0"/>
                        <a:t> (Easy) vs. comparing the sales of </a:t>
                      </a:r>
                      <a:r>
                        <a:rPr lang="en-US" sz="1400" b="1" dirty="0"/>
                        <a:t>50 brands</a:t>
                      </a:r>
                      <a:r>
                        <a:rPr lang="en-US" sz="1400" dirty="0"/>
                        <a:t> (Hard). For 50 brands, a </a:t>
                      </a:r>
                      <a:r>
                        <a:rPr lang="en-US" sz="1400" b="1" dirty="0"/>
                        <a:t>Bar Chart</a:t>
                      </a:r>
                      <a:r>
                        <a:rPr lang="en-US" sz="1400" dirty="0"/>
                        <a:t> manages the intrinsic load better than a Column Chart because it allows for easy scrolling and readable labels.</a:t>
                      </a:r>
                    </a:p>
                    <a:p>
                      <a:pPr algn="just"/>
                      <a:endParaRPr lang="en-E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Using </a:t>
                      </a:r>
                      <a:r>
                        <a:rPr lang="en-US" sz="1400" b="1" dirty="0"/>
                        <a:t>3D effects</a:t>
                      </a:r>
                      <a:r>
                        <a:rPr lang="en-US" sz="1400" dirty="0"/>
                        <a:t> on a Column Chart. The audience must mentally "flatten" the image to see where the top of the bar hits the gridline.</a:t>
                      </a:r>
                      <a:endParaRPr lang="en-EG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dirty="0"/>
                        <a:t>A manager looks at your </a:t>
                      </a:r>
                      <a:r>
                        <a:rPr lang="en-US" sz="1400" b="1" dirty="0"/>
                        <a:t>Bar Chart</a:t>
                      </a:r>
                      <a:r>
                        <a:rPr lang="en-US" sz="1400" dirty="0"/>
                        <a:t> and thinks, </a:t>
                      </a:r>
                      <a:r>
                        <a:rPr lang="en-US" sz="1400" i="1" dirty="0"/>
                        <a:t>"Xiaomi is surprisingly close to Apple in Europe; we need to increase our marketing budget there.”. </a:t>
                      </a:r>
                      <a:r>
                        <a:rPr lang="en-US" sz="1400" dirty="0"/>
                        <a:t>We want to minimize Extraneous load so that 100% of the audience's brainpower can go toward Germane load.</a:t>
                      </a:r>
                      <a:endParaRPr lang="en-EG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409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433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DCF7A-A8F4-5367-052C-251CC082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Load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D6E3A-D0E4-FDB3-5CC8-71344045B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the context of our </a:t>
            </a:r>
            <a:r>
              <a:rPr lang="en-US" b="1" dirty="0"/>
              <a:t>Data Visualization course plan</a:t>
            </a:r>
            <a:r>
              <a:rPr lang="en-US" dirty="0"/>
              <a:t> , our goal is to achieve the lowest cognitive load as much as possible, so the audience gets the answer in "few seconds".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We must reach the ideal balance:</a:t>
            </a:r>
          </a:p>
          <a:p>
            <a:pPr marL="0" indent="0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</a:rPr>
              <a:t>Intrinsic Load (Low) + Extraneous Load (Dead) +  Germane Load (High) = Low Cognitive load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987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9B55-0B2C-2094-6421-75A71C05D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8A54-90D3-1F9B-7132-72EDED95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Load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3E428-08DF-DDDF-11B3-FDA12933E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600" b="1" dirty="0"/>
              <a:t>Intrinsic Load (Manage it) -</a:t>
            </a:r>
            <a:r>
              <a:rPr lang="en-US" sz="1600" dirty="0"/>
              <a:t> appropriate, not necessarily "low.” Some data is naturally complex; Your job is to choose a chart that makes this complexity manageable.</a:t>
            </a:r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r>
              <a:rPr lang="en-US" sz="1600" b="1" dirty="0"/>
              <a:t>Extraneous Load (Kill it) -</a:t>
            </a:r>
            <a:r>
              <a:rPr lang="en-US" sz="1600" dirty="0"/>
              <a:t> as low as possible. This is the "noise" that prevents the audience from seeing the "signal.", you should remove unnecessary 3D effects or distracting backgrounds.</a:t>
            </a:r>
          </a:p>
          <a:p>
            <a:pPr marL="0" indent="0" algn="just">
              <a:buNone/>
            </a:pPr>
            <a:endParaRPr lang="en-US" sz="1600" dirty="0"/>
          </a:p>
          <a:p>
            <a:pPr marL="0" indent="0" algn="just">
              <a:buNone/>
            </a:pPr>
            <a:r>
              <a:rPr lang="en-US" sz="1600" b="1" dirty="0"/>
              <a:t>Germane Load (Maximize it):</a:t>
            </a:r>
            <a:r>
              <a:rPr lang="en-US" sz="1600" dirty="0"/>
              <a:t> as high as possible. High germane load means the audience is actually "learning"—their brain is working on the </a:t>
            </a:r>
            <a:r>
              <a:rPr lang="en-US" sz="1600" i="1" dirty="0"/>
              <a:t>insight</a:t>
            </a:r>
            <a:r>
              <a:rPr lang="en-US" sz="1600" dirty="0"/>
              <a:t> (e.g., "We are losing money in Europe!") rather than the </a:t>
            </a:r>
            <a:r>
              <a:rPr lang="en-US" sz="1600" i="1" dirty="0"/>
              <a:t>chart mechanics</a:t>
            </a:r>
            <a:r>
              <a:rPr lang="en-US" sz="1600" dirty="0"/>
              <a:t> (e.g., "What does this blue bar represent?").</a:t>
            </a:r>
            <a:endParaRPr lang="en-EG" sz="1600" dirty="0"/>
          </a:p>
        </p:txBody>
      </p:sp>
    </p:spTree>
    <p:extLst>
      <p:ext uri="{BB962C8B-B14F-4D97-AF65-F5344CB8AC3E}">
        <p14:creationId xmlns:p14="http://schemas.microsoft.com/office/powerpoint/2010/main" val="1582284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EDBCB-CC79-860C-A84D-6CD8D3B87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B27F-40F8-5B51-BE3C-7C77A813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Load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1A0BE-3B8F-EFAD-3426-B210FB65C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We want to clear the 'trash' (Extraneous) and organize the 'work' (Intrinsic) so that the audience has 100% of their mental energy left for 'understanding' (Germane).”</a:t>
            </a:r>
          </a:p>
          <a:p>
            <a:pPr marL="0" indent="0" algn="ctr">
              <a:buNone/>
            </a:pPr>
            <a:endParaRPr lang="en-US" sz="16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2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If the audience spends too much time trying to understand the chart, you have likely forced them to waste their mental energy on </a:t>
            </a: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Intrinsic</a:t>
            </a:r>
            <a:r>
              <a:rPr lang="en-US" sz="2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and </a:t>
            </a:r>
            <a:r>
              <a:rPr lang="en-US" sz="23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Extraneous Load</a:t>
            </a:r>
            <a:r>
              <a:rPr lang="en-US" sz="23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 algn="just">
              <a:buNone/>
            </a:pPr>
            <a:endParaRPr lang="en-EG" sz="1600" dirty="0"/>
          </a:p>
        </p:txBody>
      </p:sp>
    </p:spTree>
    <p:extLst>
      <p:ext uri="{BB962C8B-B14F-4D97-AF65-F5344CB8AC3E}">
        <p14:creationId xmlns:p14="http://schemas.microsoft.com/office/powerpoint/2010/main" val="2477311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E5B1B-89E2-E74F-64AD-C09EA838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90B16B-3723-7520-A32B-49D22B477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2DB11-E7BB-58BE-0FA9-B82C81AE7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5C59EDC-6169-03CB-A82A-FD9BEE73DA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C2E2BC-33A7-4C6B-F079-FAD6CC848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362846-C4E9-1189-994A-AE6DDD8FD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Content Placeholder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6288FED-324D-6717-98E5-ABBA77212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9" r="-1" b="-1"/>
          <a:stretch>
            <a:fillRect/>
          </a:stretch>
        </p:blipFill>
        <p:spPr>
          <a:xfrm>
            <a:off x="3086556" y="1089000"/>
            <a:ext cx="8305344" cy="46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0CBF60-73A8-D2FF-5E5B-D57DDC12741A}"/>
              </a:ext>
            </a:extLst>
          </p:cNvPr>
          <p:cNvSpPr txBox="1"/>
          <p:nvPr/>
        </p:nvSpPr>
        <p:spPr>
          <a:xfrm>
            <a:off x="800100" y="2736895"/>
            <a:ext cx="20095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2800" dirty="0"/>
              <a:t>High Extraneous Load</a:t>
            </a:r>
          </a:p>
        </p:txBody>
      </p:sp>
    </p:spTree>
    <p:extLst>
      <p:ext uri="{BB962C8B-B14F-4D97-AF65-F5344CB8AC3E}">
        <p14:creationId xmlns:p14="http://schemas.microsoft.com/office/powerpoint/2010/main" val="546889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11958D-5C77-CFA3-0862-D3E690584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104F7B-4FD6-9288-FE15-D1D72FAF1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AF0334-E494-C515-AC84-B9E24A2A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8B21895-837C-F7B1-2964-DF59B92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D42B05-344B-D60D-F2F2-4584A16AC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450C5B-0B83-3ED9-B7B5-482B0BA98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BADFFFFC-1DF1-9509-82E5-E8F2F0F8E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406" y="1755393"/>
            <a:ext cx="11103187" cy="334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A81D8F-E9A9-C813-E06C-DD071052BA60}"/>
              </a:ext>
            </a:extLst>
          </p:cNvPr>
          <p:cNvSpPr txBox="1"/>
          <p:nvPr/>
        </p:nvSpPr>
        <p:spPr>
          <a:xfrm>
            <a:off x="2518143" y="5199392"/>
            <a:ext cx="7155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EG" dirty="0"/>
              <a:t>High (not properly organized) Intrinsic Load</a:t>
            </a:r>
          </a:p>
        </p:txBody>
      </p:sp>
    </p:spTree>
    <p:extLst>
      <p:ext uri="{BB962C8B-B14F-4D97-AF65-F5344CB8AC3E}">
        <p14:creationId xmlns:p14="http://schemas.microsoft.com/office/powerpoint/2010/main" val="3502184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3688B-AD0F-D9B9-D4DD-972E212E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F579A4-BF9D-B752-0EC9-D7CDA15BF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2076B2-09CA-C4C1-11CF-2AB6877C4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602A1F2-05A1-8879-E25D-14C99903A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AF81D7-7543-94D3-7565-D219BB2E6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2C4223E-A246-7E22-8ADD-3ABA6172F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10CEB7-705A-97C9-22AF-56882C89F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156" y="942736"/>
            <a:ext cx="8495688" cy="439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011647-58FF-CA1C-46BF-DB2319D588C2}"/>
              </a:ext>
            </a:extLst>
          </p:cNvPr>
          <p:cNvSpPr txBox="1"/>
          <p:nvPr/>
        </p:nvSpPr>
        <p:spPr>
          <a:xfrm>
            <a:off x="2518144" y="5473413"/>
            <a:ext cx="7155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EG" dirty="0"/>
              <a:t>High (not properly organized) Intrinsic Load</a:t>
            </a:r>
          </a:p>
        </p:txBody>
      </p:sp>
    </p:spTree>
    <p:extLst>
      <p:ext uri="{BB962C8B-B14F-4D97-AF65-F5344CB8AC3E}">
        <p14:creationId xmlns:p14="http://schemas.microsoft.com/office/powerpoint/2010/main" val="573870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4E1AD-6D3A-35D2-938B-731E3FCB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0D3314-8DF8-DD08-F23F-E19113939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0895C2-15C8-5F7F-83D2-C27C5D028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272B185-5108-D530-5924-5A6AFBBE9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6AF32E-7B19-83F7-E972-B1D5CB100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9A1E634-04B5-62CE-8E2B-7E5D72016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4AEF1F-C2AC-152C-FA63-4B5E6BAEB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60" y="1629393"/>
            <a:ext cx="11408279" cy="360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8C1A1B-5941-D3B3-10B4-6097B69EDD94}"/>
              </a:ext>
            </a:extLst>
          </p:cNvPr>
          <p:cNvSpPr txBox="1"/>
          <p:nvPr/>
        </p:nvSpPr>
        <p:spPr>
          <a:xfrm>
            <a:off x="4263211" y="5258866"/>
            <a:ext cx="3665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G" sz="2800" dirty="0"/>
              <a:t>High Extraneous Load</a:t>
            </a:r>
          </a:p>
        </p:txBody>
      </p:sp>
    </p:spTree>
    <p:extLst>
      <p:ext uri="{BB962C8B-B14F-4D97-AF65-F5344CB8AC3E}">
        <p14:creationId xmlns:p14="http://schemas.microsoft.com/office/powerpoint/2010/main" val="1384251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C9EEF-A285-F2D6-0F3F-A3D334756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456075-0EC1-8006-1D37-DF386756E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F9C68E-7CAE-B558-CA9C-87CBA0B66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24FABA-CD74-3E8C-D60A-2B89B56E4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70F12C-3CAD-184A-B7C0-934737CEF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4660DA-9054-E32F-E359-1D1F3C4E6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630C75-92CA-F4F2-5415-D79D76819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1368" y="1359393"/>
            <a:ext cx="9929263" cy="414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726936-EB37-2598-104D-86513331B098}"/>
              </a:ext>
            </a:extLst>
          </p:cNvPr>
          <p:cNvSpPr txBox="1"/>
          <p:nvPr/>
        </p:nvSpPr>
        <p:spPr>
          <a:xfrm>
            <a:off x="2518143" y="5498607"/>
            <a:ext cx="7155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EG" dirty="0"/>
              <a:t>High (not properly organized) Intrinsic Load</a:t>
            </a:r>
          </a:p>
        </p:txBody>
      </p:sp>
    </p:spTree>
    <p:extLst>
      <p:ext uri="{BB962C8B-B14F-4D97-AF65-F5344CB8AC3E}">
        <p14:creationId xmlns:p14="http://schemas.microsoft.com/office/powerpoint/2010/main" val="3749740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FA15E-CC2B-87DC-15A4-DE3B6677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252AB4-E9F7-1EFC-558D-7D8DC66E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473D55-66DE-04F8-A390-46260C017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347462-62FE-3AEE-D7CF-C427BD95F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583DFF0-5977-E0BC-37B4-A3A0B4354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574EEA-F1DD-7892-FEDE-E98E8E61F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812B09-9EDC-CC90-E4B5-BF1B468A4A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316" y="1559318"/>
            <a:ext cx="10479367" cy="3740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BAE9F7-136C-020B-DBFC-AC058C32D607}"/>
              </a:ext>
            </a:extLst>
          </p:cNvPr>
          <p:cNvSpPr txBox="1"/>
          <p:nvPr/>
        </p:nvSpPr>
        <p:spPr>
          <a:xfrm>
            <a:off x="2518143" y="5346108"/>
            <a:ext cx="7155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EG" dirty="0"/>
              <a:t>High (not properly organized) Intrinsic Load</a:t>
            </a:r>
          </a:p>
        </p:txBody>
      </p:sp>
    </p:spTree>
    <p:extLst>
      <p:ext uri="{BB962C8B-B14F-4D97-AF65-F5344CB8AC3E}">
        <p14:creationId xmlns:p14="http://schemas.microsoft.com/office/powerpoint/2010/main" val="4216299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031B-CC32-F47A-6558-4167F82FF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9D40B-373E-3784-CBFB-D50D63673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Visual properties that the human brain processes automatically, without conscious effort</a:t>
            </a:r>
          </a:p>
          <a:p>
            <a:pPr marL="0" indent="0" algn="ctr">
              <a:buNone/>
            </a:pPr>
            <a:endParaRPr lang="en-US" sz="36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19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Guide viewer attention by making certain elements of a visualization stand out immediately, enabling fast recognition</a:t>
            </a:r>
            <a:endParaRPr lang="en-EG" sz="319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8691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84E5-F0B0-447D-110F-F7F20B28D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30C32-FCC1-E4A2-2152-E96F7A847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05E0A4-0FEE-1221-E107-FB816EE991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1979" y="1767600"/>
            <a:ext cx="8728041" cy="41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46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5554-B8C5-B685-B89F-224FFC1C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BE9C-054A-8B94-0901-F1ECD3C7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42CE75-F0BB-A267-7143-8C7691B95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0082" y="2222500"/>
            <a:ext cx="8431824" cy="37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65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E8EE-5AB0-D9CA-EA1E-CA1820E6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FEEE-D919-9A25-6586-4470AA13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484C68-7A0A-31E8-9D77-5D861319B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719" y="2222500"/>
            <a:ext cx="8348549" cy="37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7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5267-106E-91A6-A657-8D456344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3F93-31E9-38F0-CDE5-8B002AAE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1E5E07-45BA-C2EC-816F-F0A3B17062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156" y="2222500"/>
            <a:ext cx="7579675" cy="374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446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5728-DCD6-3F5F-C7AC-AFAA1BA1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AAA2-AF4B-9C51-50F7-CCAAF3ED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0B5B8D-C5D0-00AB-8E80-C2B9C4E1B4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950" y="2421000"/>
            <a:ext cx="11266634" cy="2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55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A036-77DE-A533-1E23-CBCD56DB6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5188-D2F8-96CD-C974-7781F4E47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AF688C-6355-B5D8-64FA-401AF9801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2676" y="1823196"/>
            <a:ext cx="6506648" cy="42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708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B9DC3-7ED1-602E-AD84-F86FD7A0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DFE2-DCA1-09F7-6004-5D8B12689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E00BD9A-538E-F9FF-FA04-235349EEF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3061" y="1796316"/>
            <a:ext cx="6268304" cy="406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CBE468-EBB5-FF2C-9013-FB6FFF632FCD}"/>
              </a:ext>
            </a:extLst>
          </p:cNvPr>
          <p:cNvSpPr txBox="1"/>
          <p:nvPr/>
        </p:nvSpPr>
        <p:spPr>
          <a:xfrm>
            <a:off x="700635" y="2634694"/>
            <a:ext cx="31164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E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color to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Guide viewer attention and to lower extraneous load</a:t>
            </a:r>
            <a:r>
              <a:rPr lang="en-E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4590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39603-6630-EB71-56F6-6B5BCC14F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81070-6BE9-7E2F-11D0-0FA3CC65C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5817" y="813283"/>
            <a:ext cx="10695548" cy="5184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A8FC03-0AE4-9A57-F76B-34099022F604}"/>
              </a:ext>
            </a:extLst>
          </p:cNvPr>
          <p:cNvSpPr txBox="1"/>
          <p:nvPr/>
        </p:nvSpPr>
        <p:spPr>
          <a:xfrm>
            <a:off x="3336038" y="6132917"/>
            <a:ext cx="5615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E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color to lower extraneous load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40438547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4E7C12D4-6CB7-5FB0-098F-E89A0A2D0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82" y="1719000"/>
            <a:ext cx="11895635" cy="34200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DC4948E-63BE-7B72-2FC9-C190C2BCEBD3}"/>
              </a:ext>
            </a:extLst>
          </p:cNvPr>
          <p:cNvSpPr txBox="1"/>
          <p:nvPr/>
        </p:nvSpPr>
        <p:spPr>
          <a:xfrm>
            <a:off x="3288446" y="5346108"/>
            <a:ext cx="5615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/>
            </a:lvl1pPr>
          </a:lstStyle>
          <a:p>
            <a:r>
              <a:rPr lang="en-EG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Use size to lower extraneous load</a:t>
            </a:r>
            <a:endParaRPr lang="en-EG" dirty="0"/>
          </a:p>
        </p:txBody>
      </p:sp>
    </p:spTree>
    <p:extLst>
      <p:ext uri="{BB962C8B-B14F-4D97-AF65-F5344CB8AC3E}">
        <p14:creationId xmlns:p14="http://schemas.microsoft.com/office/powerpoint/2010/main" val="31863962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E8DA-60EA-3309-E436-D1A130FFB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BD2D-7F74-5D41-2E86-3D9516B6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Pre-attentive Attributes</a:t>
            </a:r>
            <a:endParaRPr lang="en-E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4CBF2-3201-5BE1-08EF-E94F367DA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EG" sz="2800" b="1" dirty="0"/>
              <a:t>The result of mastering the use of pre-attentive attributes is:</a:t>
            </a:r>
            <a:br>
              <a:rPr lang="en-EG" sz="2800" b="1" dirty="0"/>
            </a:br>
            <a:endParaRPr lang="en-EG" b="1" dirty="0"/>
          </a:p>
          <a:p>
            <a:pPr marL="0" indent="0">
              <a:buNone/>
            </a:pPr>
            <a:r>
              <a:rPr lang="en-EG" sz="2800" dirty="0"/>
              <a:t>Low </a:t>
            </a:r>
            <a:r>
              <a:rPr lang="en-US" sz="2800" dirty="0"/>
              <a:t>Intrinsic Load</a:t>
            </a:r>
            <a:br>
              <a:rPr lang="en-US" sz="2800" dirty="0"/>
            </a:br>
            <a:r>
              <a:rPr lang="en-US" sz="2800" dirty="0"/>
              <a:t>Low </a:t>
            </a:r>
            <a:r>
              <a:rPr lang="en-US" sz="2800" dirty="0">
                <a:solidFill>
                  <a:srgbClr val="1F1F1F"/>
                </a:solidFill>
                <a:latin typeface="Google Sans Text"/>
              </a:rPr>
              <a:t>Extraneous Load</a:t>
            </a:r>
            <a:br>
              <a:rPr lang="en-US" sz="2800" dirty="0">
                <a:solidFill>
                  <a:srgbClr val="1F1F1F"/>
                </a:solidFill>
                <a:latin typeface="Google Sans Text"/>
              </a:rPr>
            </a:br>
            <a:r>
              <a:rPr lang="en-US" sz="2800" dirty="0">
                <a:solidFill>
                  <a:srgbClr val="1F1F1F"/>
                </a:solidFill>
                <a:latin typeface="Google Sans Text"/>
              </a:rPr>
              <a:t>High Germane Load</a:t>
            </a:r>
            <a:br>
              <a:rPr lang="en-US" sz="2800" dirty="0">
                <a:solidFill>
                  <a:srgbClr val="1F1F1F"/>
                </a:solidFill>
                <a:latin typeface="Google Sans Text"/>
              </a:rPr>
            </a:br>
            <a:r>
              <a:rPr lang="en-US" sz="2800" dirty="0">
                <a:solidFill>
                  <a:srgbClr val="1F1F1F"/>
                </a:solidFill>
                <a:latin typeface="Google Sans Text"/>
              </a:rPr>
              <a:t>= Low Cognitive Load ;) </a:t>
            </a:r>
            <a:endParaRPr lang="en-EG" sz="2800" dirty="0"/>
          </a:p>
        </p:txBody>
      </p:sp>
    </p:spTree>
    <p:extLst>
      <p:ext uri="{BB962C8B-B14F-4D97-AF65-F5344CB8AC3E}">
        <p14:creationId xmlns:p14="http://schemas.microsoft.com/office/powerpoint/2010/main" val="1272917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B2DBF-43D2-5B86-900A-FDCD43114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3667-1D94-843C-FC7C-63CD251FF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  <a:endParaRPr lang="en-EG" dirty="0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CFED9DF7-3E48-C61C-AF48-7F22D7CD1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7155" y="2020482"/>
            <a:ext cx="6637690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881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7746-9303-21B8-C302-5C14F8452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3FB7-6824-AF13-2D7E-916C126A4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  <a:endParaRPr lang="en-E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04E264-1CC7-C288-E1F3-F5D1BB06D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4951" y="1871626"/>
            <a:ext cx="8622098" cy="38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572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A7BCD-0DAD-CB8C-0BFE-F453D367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8EC2-D2CE-4A09-DA60-80C756B7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</a:t>
            </a:r>
            <a:endParaRPr lang="en-EG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3365A22-F685-2943-C1F5-B16BBDD52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3861" y="1680239"/>
            <a:ext cx="7204277" cy="44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2223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33FDE-8444-6AFA-1EEE-9E0720A26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AA5F92-5D1E-10F8-DF94-BB8C77B62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8665" y="873000"/>
            <a:ext cx="8294669" cy="51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6105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745</TotalTime>
  <Words>1605</Words>
  <Application>Microsoft Macintosh PowerPoint</Application>
  <PresentationFormat>Widescreen</PresentationFormat>
  <Paragraphs>175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Calisto MT</vt:lpstr>
      <vt:lpstr>Google Sans Text</vt:lpstr>
      <vt:lpstr>Univers Condensed</vt:lpstr>
      <vt:lpstr>ChronicleVTI</vt:lpstr>
      <vt:lpstr>Introduction</vt:lpstr>
      <vt:lpstr>Course Points</vt:lpstr>
      <vt:lpstr>Goal</vt:lpstr>
      <vt:lpstr>Steps we must follow to achieve the goal</vt:lpstr>
      <vt:lpstr>Steps we must follow to achieve the goal</vt:lpstr>
      <vt:lpstr>Steps we must follow to achieve the goal</vt:lpstr>
      <vt:lpstr>Important note</vt:lpstr>
      <vt:lpstr>Before diviing into the 6 steps</vt:lpstr>
      <vt:lpstr>Drag/Drop-diven vs Code-driven</vt:lpstr>
      <vt:lpstr>Drag/Drop-diven vs Code-driven</vt:lpstr>
      <vt:lpstr>Drag/Drop-diven vs Code-driven</vt:lpstr>
      <vt:lpstr>Drag/Drop-diven vs Code-driven</vt:lpstr>
      <vt:lpstr>Drag/Drop-diven vs Code-driven</vt:lpstr>
      <vt:lpstr>Visualizations Types: Exploratory vs Explanatory</vt:lpstr>
      <vt:lpstr>Cognitive Load</vt:lpstr>
      <vt:lpstr>Cognitive Load</vt:lpstr>
      <vt:lpstr>Cognitive Load</vt:lpstr>
      <vt:lpstr>Cognitive Load</vt:lpstr>
      <vt:lpstr>Cognitive Load</vt:lpstr>
      <vt:lpstr>Cognitive Load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Pre-attentive Attributes</vt:lpstr>
      <vt:lpstr>Pre-attentive Attributes</vt:lpstr>
      <vt:lpstr>Pre-attentive Attributes</vt:lpstr>
      <vt:lpstr>Pre-attentive Attributes</vt:lpstr>
      <vt:lpstr>Pre-attentive Attributes</vt:lpstr>
      <vt:lpstr>Pre-attentive Attributes</vt:lpstr>
      <vt:lpstr>Pre-attentive Attributes</vt:lpstr>
      <vt:lpstr>Pre-attentive Attributes</vt:lpstr>
      <vt:lpstr>PowerPoint Presentation</vt:lpstr>
      <vt:lpstr>PowerPoint Presentation</vt:lpstr>
      <vt:lpstr>Pre-attentive Attributes</vt:lpstr>
      <vt:lpstr>Common mistakes</vt:lpstr>
      <vt:lpstr>Common mistakes</vt:lpstr>
      <vt:lpstr>Common mistakes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haitham ghallab</dc:creator>
  <cp:lastModifiedBy>haitham ghallab</cp:lastModifiedBy>
  <cp:revision>33</cp:revision>
  <dcterms:created xsi:type="dcterms:W3CDTF">2026-02-08T13:07:24Z</dcterms:created>
  <dcterms:modified xsi:type="dcterms:W3CDTF">2026-02-09T13:06:17Z</dcterms:modified>
</cp:coreProperties>
</file>