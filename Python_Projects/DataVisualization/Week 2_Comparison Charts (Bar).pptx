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14"/>
  </p:notesMasterIdLst>
  <p:sldIdLst>
    <p:sldId id="256" r:id="rId2"/>
    <p:sldId id="300" r:id="rId3"/>
    <p:sldId id="302" r:id="rId4"/>
    <p:sldId id="301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27"/>
    <p:restoredTop sz="94704"/>
  </p:normalViewPr>
  <p:slideViewPr>
    <p:cSldViewPr snapToGrid="0">
      <p:cViewPr varScale="1">
        <p:scale>
          <a:sx n="111" d="100"/>
          <a:sy n="111" d="100"/>
        </p:scale>
        <p:origin x="21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FC152-F608-6B4D-A15E-FB048E816187}" type="datetimeFigureOut">
              <a:rPr lang="en-EG" smtClean="0"/>
              <a:t>23/02/2026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7CA16-4C66-994B-BEEA-F257DCF78D75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1717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7CA16-4C66-994B-BEEA-F257DCF78D75}" type="slidenum">
              <a:rPr lang="en-EG" smtClean="0"/>
              <a:t>5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76413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3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0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02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76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41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120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01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5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2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43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24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21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7" r:id="rId6"/>
    <p:sldLayoutId id="2147483692" r:id="rId7"/>
    <p:sldLayoutId id="2147483693" r:id="rId8"/>
    <p:sldLayoutId id="2147483694" r:id="rId9"/>
    <p:sldLayoutId id="2147483696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F3D318-CB8A-F900-C1F7-92F91A192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EG" dirty="0"/>
              <a:t>Comparison charts (column &amp; bar)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EEBEF-27BE-665A-96F1-62A0FD1D2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EG"/>
              <a:t>Data Visualization</a:t>
            </a:r>
            <a:endParaRPr lang="en-E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green cubes with lights&#10;&#10;AI-generated content may be incorrect.">
            <a:extLst>
              <a:ext uri="{FF2B5EF4-FFF2-40B4-BE49-F238E27FC236}">
                <a16:creationId xmlns:a16="http://schemas.microsoft.com/office/drawing/2014/main" id="{3BA9F730-B238-9C31-0CA6-EA5188D673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97" r="43440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4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B338-D08B-6066-7F8E-04A9C7EF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289F3-177E-2127-BFC5-0363A240F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1) When to use a bar chart?</a:t>
            </a:r>
          </a:p>
          <a:p>
            <a:pPr marL="0" indent="0">
              <a:buNone/>
            </a:pPr>
            <a:endParaRPr lang="en-EG" sz="2800" dirty="0"/>
          </a:p>
          <a:p>
            <a:pPr marL="0" indent="0">
              <a:buNone/>
            </a:pPr>
            <a:r>
              <a:rPr lang="en-EG" sz="2800" dirty="0"/>
              <a:t>2) Exercises</a:t>
            </a:r>
          </a:p>
        </p:txBody>
      </p:sp>
    </p:spTree>
    <p:extLst>
      <p:ext uri="{BB962C8B-B14F-4D97-AF65-F5344CB8AC3E}">
        <p14:creationId xmlns:p14="http://schemas.microsoft.com/office/powerpoint/2010/main" val="181608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F290-AA9D-DD4F-62D1-BC102E934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00644"/>
          </a:xfrm>
        </p:spPr>
        <p:txBody>
          <a:bodyPr>
            <a:normAutofit fontScale="90000"/>
          </a:bodyPr>
          <a:lstStyle/>
          <a:p>
            <a:r>
              <a:rPr lang="en-US" dirty="0"/>
              <a:t>When to use a bar chart?</a:t>
            </a:r>
            <a:endParaRPr lang="en-EG" dirty="0"/>
          </a:p>
        </p:txBody>
      </p:sp>
      <p:pic>
        <p:nvPicPr>
          <p:cNvPr id="2050" name="Picture 2" descr="Leaderboard scores Images - Free Download on Freepik">
            <a:extLst>
              <a:ext uri="{FF2B5EF4-FFF2-40B4-BE49-F238E27FC236}">
                <a16:creationId xmlns:a16="http://schemas.microsoft.com/office/drawing/2014/main" id="{FB166890-C573-7B60-18A2-C34711E703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62665"/>
            <a:ext cx="5198046" cy="34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F5EE25-2AA9-8C05-CE16-3902A9FB629C}"/>
              </a:ext>
            </a:extLst>
          </p:cNvPr>
          <p:cNvSpPr txBox="1"/>
          <p:nvPr/>
        </p:nvSpPr>
        <p:spPr>
          <a:xfrm>
            <a:off x="700635" y="2967335"/>
            <a:ext cx="51980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Bar Chart = </a:t>
            </a:r>
            <a:r>
              <a:rPr lang="en-US" sz="2400" dirty="0">
                <a:solidFill>
                  <a:srgbClr val="FF0000"/>
                </a:solidFill>
              </a:rPr>
              <a:t>"Show me the list from best to worst" question, especially when there are </a:t>
            </a:r>
            <a:r>
              <a:rPr lang="en-US" sz="2400" b="1" dirty="0">
                <a:solidFill>
                  <a:srgbClr val="FF0000"/>
                </a:solidFill>
              </a:rPr>
              <a:t>many/long</a:t>
            </a:r>
            <a:r>
              <a:rPr lang="en-US" sz="2400" dirty="0">
                <a:solidFill>
                  <a:srgbClr val="FF0000"/>
                </a:solidFill>
              </a:rPr>
              <a:t> names. Like the </a:t>
            </a:r>
            <a:r>
              <a:rPr lang="en-US" sz="2400" b="1" dirty="0">
                <a:solidFill>
                  <a:srgbClr val="FF0000"/>
                </a:solidFill>
              </a:rPr>
              <a:t>Leaderboard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endParaRPr lang="en-EG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268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759A-779B-BF24-C247-2320C40C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a bar chart?</a:t>
            </a:r>
            <a:endParaRPr lang="en-E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35AFFE-D6D2-7954-36C7-ABDAFD991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4801053"/>
              </p:ext>
            </p:extLst>
          </p:nvPr>
        </p:nvGraphicFramePr>
        <p:xfrm>
          <a:off x="815686" y="1947454"/>
          <a:ext cx="10560627" cy="399614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29444">
                  <a:extLst>
                    <a:ext uri="{9D8B030D-6E8A-4147-A177-3AD203B41FA5}">
                      <a16:colId xmlns:a16="http://schemas.microsoft.com/office/drawing/2014/main" val="1879270522"/>
                    </a:ext>
                  </a:extLst>
                </a:gridCol>
                <a:gridCol w="2295649">
                  <a:extLst>
                    <a:ext uri="{9D8B030D-6E8A-4147-A177-3AD203B41FA5}">
                      <a16:colId xmlns:a16="http://schemas.microsoft.com/office/drawing/2014/main" val="3746767304"/>
                    </a:ext>
                  </a:extLst>
                </a:gridCol>
                <a:gridCol w="5735534">
                  <a:extLst>
                    <a:ext uri="{9D8B030D-6E8A-4147-A177-3AD203B41FA5}">
                      <a16:colId xmlns:a16="http://schemas.microsoft.com/office/drawing/2014/main" val="263509701"/>
                    </a:ext>
                  </a:extLst>
                </a:gridCol>
              </a:tblGrid>
              <a:tr h="54529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Rule / Condition for Use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7489" marR="77489" marT="51660" marB="516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Unique Keywords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7489" marR="77489" marT="51660" marB="516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</a:rPr>
                        <a:t>Audience Question Examples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7489" marR="77489" marT="51660" marB="51660" anchor="ctr"/>
                </a:tc>
                <a:extLst>
                  <a:ext uri="{0D108BD9-81ED-4DB2-BD59-A6C34878D82A}">
                    <a16:rowId xmlns:a16="http://schemas.microsoft.com/office/drawing/2014/main" val="1218692697"/>
                  </a:ext>
                </a:extLst>
              </a:tr>
              <a:tr h="3450856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Use when you have 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long category names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 or a 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large number of items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 (e.g., Top 10 or Top 20) that need to be ranked horizontally.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7489" marR="77489" marT="51660" marB="51660" anchor="ctr"/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Ranking, Top 10, Bottom 5, or Standings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7489" marR="77489" marT="51660" marB="516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1. Show me the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top 10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 most profitable products. </a:t>
                      </a:r>
                    </a:p>
                    <a:p>
                      <a:pPr rtl="0">
                        <a:buNone/>
                      </a:pPr>
                      <a:b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6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2. What is the current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ranking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 of our 15 sales reps? </a:t>
                      </a:r>
                    </a:p>
                    <a:p>
                      <a:pPr rtl="0">
                        <a:buNone/>
                      </a:pPr>
                      <a:b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6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3. Which are the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bottom 5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 performing stores this year? </a:t>
                      </a:r>
                    </a:p>
                    <a:p>
                      <a:pPr rtl="0">
                        <a:buNone/>
                      </a:pPr>
                      <a:b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6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4. Can we see the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standings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 of all 12 marketing campaigns? </a:t>
                      </a:r>
                    </a:p>
                    <a:p>
                      <a:pPr rtl="0">
                        <a:buNone/>
                      </a:pPr>
                      <a:b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sz="16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5. Provide a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ranking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 of the most popular search terms.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7489" marR="77489" marT="51660" marB="51660" anchor="ctr"/>
                </a:tc>
                <a:extLst>
                  <a:ext uri="{0D108BD9-81ED-4DB2-BD59-A6C34878D82A}">
                    <a16:rowId xmlns:a16="http://schemas.microsoft.com/office/drawing/2014/main" val="4252241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51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0E461-9635-DED9-0843-A34AF8855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816427"/>
            <a:ext cx="10691265" cy="696687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Draw a bar chart? (our guidelines)</a:t>
            </a:r>
            <a:endParaRPr lang="en-E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2E8D73-0637-1457-267C-3F4E0F395B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614308"/>
              </p:ext>
            </p:extLst>
          </p:nvPr>
        </p:nvGraphicFramePr>
        <p:xfrm>
          <a:off x="700635" y="1504001"/>
          <a:ext cx="10790730" cy="42599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58051">
                  <a:extLst>
                    <a:ext uri="{9D8B030D-6E8A-4147-A177-3AD203B41FA5}">
                      <a16:colId xmlns:a16="http://schemas.microsoft.com/office/drawing/2014/main" val="2092327845"/>
                    </a:ext>
                  </a:extLst>
                </a:gridCol>
                <a:gridCol w="2188028">
                  <a:extLst>
                    <a:ext uri="{9D8B030D-6E8A-4147-A177-3AD203B41FA5}">
                      <a16:colId xmlns:a16="http://schemas.microsoft.com/office/drawing/2014/main" val="2401887369"/>
                    </a:ext>
                  </a:extLst>
                </a:gridCol>
                <a:gridCol w="7844651">
                  <a:extLst>
                    <a:ext uri="{9D8B030D-6E8A-4147-A177-3AD203B41FA5}">
                      <a16:colId xmlns:a16="http://schemas.microsoft.com/office/drawing/2014/main" val="3766790695"/>
                    </a:ext>
                  </a:extLst>
                </a:gridCol>
              </a:tblGrid>
              <a:tr h="45105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Rule #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Guideline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Purpose / Description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583762"/>
                  </a:ext>
                </a:extLst>
              </a:tr>
              <a:tr h="27678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1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Chart Border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Ensure a black frame surrounds the data area to define the workspace.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1307597587"/>
                  </a:ext>
                </a:extLst>
              </a:tr>
              <a:tr h="38509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2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Zero Baseline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The Y-axis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must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start at 0 to avoid distorting the magnitude of the bars.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3913399402"/>
                  </a:ext>
                </a:extLst>
              </a:tr>
              <a:tr h="48024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3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Horizontal/Vertical Text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All labels in the chart, such as those in the X-axis, Legends, Bottom, and Top titles, must be horizontal for easy reading, except the Y-axis, which must be vertically oriented. 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1934749214"/>
                  </a:ext>
                </a:extLst>
              </a:tr>
              <a:tr h="38509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4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 Magnitudes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Place the specific value (e.g., "82M") directly on or above each bar.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2174755540"/>
                  </a:ext>
                </a:extLst>
              </a:tr>
              <a:tr h="38509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5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Include Legend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Place a legend (usually top-right) to explain what the bar colors represent.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3018967591"/>
                  </a:ext>
                </a:extLst>
              </a:tr>
              <a:tr h="38509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6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 Titles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Every chart needs three: a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Main Title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, an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X-axis Title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, and a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Y-axis Title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1827549170"/>
                  </a:ext>
                </a:extLst>
              </a:tr>
              <a:tr h="4934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7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 Strategy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Use a uniform light color (e.g.,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</a:rPr>
                        <a:t>lightblue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) for most bars, and a different light color (e.g.,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</a:rPr>
                        <a:t>lightgreen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) for the Highest/Lowest. And black color for all the chart titles and labels. 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4209903674"/>
                  </a:ext>
                </a:extLst>
              </a:tr>
              <a:tr h="4934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8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Gridlines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Draw the gridlines to assist in reading the values.</a:t>
                      </a: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58238060"/>
                  </a:ext>
                </a:extLst>
              </a:tr>
              <a:tr h="4934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9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Ordering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 the magnitudes from top to bottom or vice versa based on the question’s type.</a:t>
                      </a: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975447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645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144F6-385C-5190-8720-209595CF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Draw a bar chart? (our guidelines)</a:t>
            </a:r>
            <a:endParaRPr lang="en-EG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C37F7FB-8E4D-495E-B920-0290E6A168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54" y="1731600"/>
            <a:ext cx="11686812" cy="42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2335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4B553-4CB7-A938-E838-D7562768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 dirty="0"/>
              <a:t>Practical Exercise 1: bar chart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24C50-2A55-456A-D0B3-17861EC9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The Task</a:t>
            </a:r>
          </a:p>
          <a:p>
            <a:pPr marL="0" indent="0" algn="just">
              <a:buNone/>
            </a:pPr>
            <a:r>
              <a:rPr lang="en-US" dirty="0"/>
              <a:t>Perform a </a:t>
            </a:r>
            <a:r>
              <a:rPr lang="en-US" b="1" dirty="0"/>
              <a:t>Categorical Univariate Analysis</a:t>
            </a:r>
            <a:r>
              <a:rPr lang="en-US" dirty="0"/>
              <a:t> to establish the final </a:t>
            </a:r>
            <a:r>
              <a:rPr lang="en-US" b="1" dirty="0"/>
              <a:t>Standings</a:t>
            </a:r>
            <a:r>
              <a:rPr lang="en-US" dirty="0"/>
              <a:t> of fruit sales. You need to identify which item is at the </a:t>
            </a:r>
            <a:r>
              <a:rPr lang="en-US" b="1" dirty="0"/>
              <a:t>Bottom</a:t>
            </a:r>
            <a:r>
              <a:rPr lang="en-US" dirty="0"/>
              <a:t> of the list to help the vendor optimize their inventory.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2. The Dataset</a:t>
            </a:r>
          </a:p>
          <a:p>
            <a:pPr marL="0" indent="0" algn="just">
              <a:buNone/>
            </a:pPr>
            <a:r>
              <a:rPr lang="en-US" dirty="0"/>
              <a:t>The following table shows the frequency of sales for different fruit varieties.</a:t>
            </a:r>
          </a:p>
          <a:p>
            <a:endParaRPr lang="en-US" dirty="0"/>
          </a:p>
          <a:p>
            <a:endParaRPr lang="en-E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7D66BC-9FAE-18B9-1B51-7EC46FAD9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493290"/>
              </p:ext>
            </p:extLst>
          </p:nvPr>
        </p:nvGraphicFramePr>
        <p:xfrm>
          <a:off x="856727" y="2767975"/>
          <a:ext cx="5239273" cy="2834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41105">
                  <a:extLst>
                    <a:ext uri="{9D8B030D-6E8A-4147-A177-3AD203B41FA5}">
                      <a16:colId xmlns:a16="http://schemas.microsoft.com/office/drawing/2014/main" val="3258777999"/>
                    </a:ext>
                  </a:extLst>
                </a:gridCol>
                <a:gridCol w="1598168">
                  <a:extLst>
                    <a:ext uri="{9D8B030D-6E8A-4147-A177-3AD203B41FA5}">
                      <a16:colId xmlns:a16="http://schemas.microsoft.com/office/drawing/2014/main" val="3300792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Fruit Variety (Category)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Total Count (Frequency)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201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Golden Delicious Apples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dirty="0">
                          <a:solidFill>
                            <a:srgbClr val="1F1F1F"/>
                          </a:solidFill>
                          <a:effectLst/>
                        </a:rPr>
                        <a:t>85</a:t>
                      </a:r>
                      <a:endParaRPr lang="en-E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78793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Organic Cavendish Bananas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dirty="0">
                          <a:solidFill>
                            <a:srgbClr val="1F1F1F"/>
                          </a:solidFill>
                          <a:effectLst/>
                        </a:rPr>
                        <a:t>110</a:t>
                      </a:r>
                      <a:endParaRPr lang="en-E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05394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Fresh Tropical Pineapples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dirty="0">
                          <a:solidFill>
                            <a:srgbClr val="1F1F1F"/>
                          </a:solidFill>
                          <a:effectLst/>
                        </a:rPr>
                        <a:t>40</a:t>
                      </a:r>
                      <a:endParaRPr lang="en-E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91521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Sweet Ripe Strawberries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dirty="0">
                          <a:solidFill>
                            <a:srgbClr val="1F1F1F"/>
                          </a:solidFill>
                          <a:effectLst/>
                        </a:rPr>
                        <a:t>95</a:t>
                      </a:r>
                      <a:endParaRPr lang="en-E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70357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Large Seedless Watermelons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dirty="0">
                          <a:solidFill>
                            <a:srgbClr val="1F1F1F"/>
                          </a:solidFill>
                          <a:effectLst/>
                        </a:rPr>
                        <a:t>25</a:t>
                      </a:r>
                      <a:endParaRPr lang="en-E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51930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43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D6E93-E3D0-C7BA-F4D3-5E28BFDC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E932D-D2EF-8BBF-A745-26F37F4DC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 dirty="0"/>
              <a:t>Practical Exercise 1: bar chart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1B353-FDF8-89C5-F52D-69EDF1413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The Audience Question</a:t>
            </a:r>
          </a:p>
          <a:p>
            <a:pPr marL="0" indent="0" algn="just">
              <a:buNone/>
            </a:pPr>
            <a:r>
              <a:rPr lang="en-US" dirty="0"/>
              <a:t>"Based on the sales </a:t>
            </a:r>
            <a:r>
              <a:rPr lang="en-US" b="1" dirty="0"/>
              <a:t>Ranking</a:t>
            </a:r>
            <a:r>
              <a:rPr lang="en-US" dirty="0"/>
              <a:t>, which fruit variety is currently at the </a:t>
            </a:r>
            <a:r>
              <a:rPr lang="en-US" b="1" dirty="0"/>
              <a:t>Bottom</a:t>
            </a:r>
            <a:r>
              <a:rPr lang="en-US" dirty="0"/>
              <a:t> of our list?"</a:t>
            </a:r>
          </a:p>
          <a:p>
            <a:endParaRPr lang="en-US" dirty="0"/>
          </a:p>
          <a:p>
            <a:pPr marL="0" indent="0" algn="just">
              <a:buNone/>
            </a:pPr>
            <a:r>
              <a:rPr lang="en-US" b="1" u="sng" dirty="0"/>
              <a:t>Draw the most accurate visualization possible to answer the audience's question and follow the visualization guidelines.</a:t>
            </a:r>
          </a:p>
          <a:p>
            <a:endParaRPr lang="en-E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DAA994-FED2-F685-CAFE-0EEE3093B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722889"/>
              </p:ext>
            </p:extLst>
          </p:nvPr>
        </p:nvGraphicFramePr>
        <p:xfrm>
          <a:off x="856727" y="2767975"/>
          <a:ext cx="5239273" cy="2834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41105">
                  <a:extLst>
                    <a:ext uri="{9D8B030D-6E8A-4147-A177-3AD203B41FA5}">
                      <a16:colId xmlns:a16="http://schemas.microsoft.com/office/drawing/2014/main" val="3258777999"/>
                    </a:ext>
                  </a:extLst>
                </a:gridCol>
                <a:gridCol w="1598168">
                  <a:extLst>
                    <a:ext uri="{9D8B030D-6E8A-4147-A177-3AD203B41FA5}">
                      <a16:colId xmlns:a16="http://schemas.microsoft.com/office/drawing/2014/main" val="3300792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Fruit Variety (Category)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Total Count (Frequency)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201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Golden Delicious Apples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dirty="0">
                          <a:solidFill>
                            <a:srgbClr val="1F1F1F"/>
                          </a:solidFill>
                          <a:effectLst/>
                        </a:rPr>
                        <a:t>85</a:t>
                      </a:r>
                      <a:endParaRPr lang="en-E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78793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Organic Cavendish Bananas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dirty="0">
                          <a:solidFill>
                            <a:srgbClr val="1F1F1F"/>
                          </a:solidFill>
                          <a:effectLst/>
                        </a:rPr>
                        <a:t>110</a:t>
                      </a:r>
                      <a:endParaRPr lang="en-E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05394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Fresh Tropical Pineapples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dirty="0">
                          <a:solidFill>
                            <a:srgbClr val="1F1F1F"/>
                          </a:solidFill>
                          <a:effectLst/>
                        </a:rPr>
                        <a:t>40</a:t>
                      </a:r>
                      <a:endParaRPr lang="en-E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91521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Sweet Ripe Strawberries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dirty="0">
                          <a:solidFill>
                            <a:srgbClr val="1F1F1F"/>
                          </a:solidFill>
                          <a:effectLst/>
                        </a:rPr>
                        <a:t>95</a:t>
                      </a:r>
                      <a:endParaRPr lang="en-E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70357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Large Seedless Watermelons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dirty="0">
                          <a:solidFill>
                            <a:srgbClr val="1F1F1F"/>
                          </a:solidFill>
                          <a:effectLst/>
                        </a:rPr>
                        <a:t>25</a:t>
                      </a:r>
                      <a:endParaRPr lang="en-E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51930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703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AD6D-7982-62E0-558A-7E39735F9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598714"/>
          </a:xfrm>
        </p:spPr>
        <p:txBody>
          <a:bodyPr>
            <a:normAutofit/>
          </a:bodyPr>
          <a:lstStyle/>
          <a:p>
            <a:r>
              <a:rPr lang="en-US" sz="2800" b="1" dirty="0"/>
              <a:t>Answers 1: Categorical univariate Analysis Task</a:t>
            </a:r>
            <a:endParaRPr lang="en-EG" sz="2800" dirty="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3E9EB1E5-DA40-39D9-93B5-A2EC9826B7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657" y="1587600"/>
            <a:ext cx="6820685" cy="43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6053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CC57E-BAC0-6B0E-B218-CEE1FB1F5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E16E-1502-7A84-1A73-81EBE4D2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 dirty="0"/>
              <a:t>Practical Exercise 2: bar chart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B71A2-936B-A1DB-EDFA-A8F45392C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The Task</a:t>
            </a:r>
          </a:p>
          <a:p>
            <a:pPr marL="0" indent="0" algn="just">
              <a:buNone/>
            </a:pPr>
            <a:r>
              <a:rPr lang="en-US" dirty="0"/>
              <a:t>Perform a </a:t>
            </a:r>
            <a:r>
              <a:rPr lang="en-US" b="1" dirty="0"/>
              <a:t>Categorical vs. Categorical Bivariate Analysis</a:t>
            </a:r>
            <a:r>
              <a:rPr lang="en-US" dirty="0"/>
              <a:t> (Nominal vs. Ordinal). You are analyzing the quality of service across various airlines. Instead of counting flights, you are looking at the </a:t>
            </a:r>
            <a:r>
              <a:rPr lang="en-US" b="1" dirty="0"/>
              <a:t>Average Service Rating</a:t>
            </a:r>
            <a:r>
              <a:rPr lang="en-US" dirty="0"/>
              <a:t> (on a 1-5 Star scale). Your goal is to identify which airline is at the </a:t>
            </a:r>
            <a:r>
              <a:rPr lang="en-US" b="1" dirty="0"/>
              <a:t>Bottom</a:t>
            </a:r>
            <a:r>
              <a:rPr lang="en-US" dirty="0"/>
              <a:t> of the </a:t>
            </a:r>
            <a:r>
              <a:rPr lang="en-US" b="1" dirty="0"/>
              <a:t>Standings</a:t>
            </a:r>
            <a:r>
              <a:rPr lang="en-US" dirty="0"/>
              <a:t> to issue a service warning.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2. The Dataset</a:t>
            </a:r>
          </a:p>
          <a:p>
            <a:pPr marL="0" indent="0" algn="just">
              <a:buNone/>
            </a:pPr>
            <a:r>
              <a:rPr lang="en-US" dirty="0"/>
              <a:t>This table shows the average rating for each airline. This is bivariate because we are mapping a brand (Category 1) to a specific quality level (Category 2: The Star Rating). </a:t>
            </a:r>
          </a:p>
          <a:p>
            <a:pPr marL="0" indent="0" algn="just">
              <a:buNone/>
            </a:pPr>
            <a:endParaRPr lang="en-US" dirty="0"/>
          </a:p>
          <a:p>
            <a:endParaRPr lang="en-US" dirty="0"/>
          </a:p>
          <a:p>
            <a:endParaRPr lang="en-E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62B3D9-BEC6-3A77-F727-97C223922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823486"/>
              </p:ext>
            </p:extLst>
          </p:nvPr>
        </p:nvGraphicFramePr>
        <p:xfrm>
          <a:off x="453912" y="2535546"/>
          <a:ext cx="5642088" cy="2621280"/>
        </p:xfrm>
        <a:graphic>
          <a:graphicData uri="http://schemas.openxmlformats.org/drawingml/2006/table">
            <a:tbl>
              <a:tblPr/>
              <a:tblGrid>
                <a:gridCol w="3381042">
                  <a:extLst>
                    <a:ext uri="{9D8B030D-6E8A-4147-A177-3AD203B41FA5}">
                      <a16:colId xmlns:a16="http://schemas.microsoft.com/office/drawing/2014/main" val="4217955489"/>
                    </a:ext>
                  </a:extLst>
                </a:gridCol>
                <a:gridCol w="2261046">
                  <a:extLst>
                    <a:ext uri="{9D8B030D-6E8A-4147-A177-3AD203B41FA5}">
                      <a16:colId xmlns:a16="http://schemas.microsoft.com/office/drawing/2014/main" val="1220896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Airline Brand (Nominal Category)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Service Rating (Ordinal Category/Scale)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713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Global Skyways International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4.8 Stars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325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Atlantic Premier Carriers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4.5 Stars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36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Northern Star Aviation Group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3.9 Stars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774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Emerald Coast Regional Air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3.2 Stars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54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Pacific Horizon Airways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2.1 Stars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773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180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127CC-32F2-36E7-37C7-AD7C2C317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B718-5549-E580-3A1D-BE2D35110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 dirty="0"/>
              <a:t>Practical Exercise 2: bar chart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BF4BA-F35A-8BD3-2432-BA7A3C67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The Audience Question</a:t>
            </a:r>
          </a:p>
          <a:p>
            <a:pPr marL="0" indent="0" algn="just">
              <a:buNone/>
            </a:pPr>
            <a:r>
              <a:rPr lang="en-US" dirty="0"/>
              <a:t>"Based on the latest quality </a:t>
            </a:r>
            <a:r>
              <a:rPr lang="en-US" b="1" dirty="0"/>
              <a:t>Ranking</a:t>
            </a:r>
            <a:r>
              <a:rPr lang="en-US" dirty="0"/>
              <a:t>, which airline brand is currently at the </a:t>
            </a:r>
            <a:r>
              <a:rPr lang="en-US" b="1" dirty="0"/>
              <a:t>Bottom</a:t>
            </a:r>
            <a:r>
              <a:rPr lang="en-US" dirty="0"/>
              <a:t> of our </a:t>
            </a:r>
            <a:r>
              <a:rPr lang="en-US" b="1" dirty="0"/>
              <a:t>Standings</a:t>
            </a:r>
            <a:r>
              <a:rPr lang="en-US" dirty="0"/>
              <a:t>?"</a:t>
            </a:r>
          </a:p>
          <a:p>
            <a:endParaRPr lang="en-US" dirty="0"/>
          </a:p>
          <a:p>
            <a:pPr marL="0" indent="0" algn="just">
              <a:buNone/>
            </a:pPr>
            <a:r>
              <a:rPr lang="en-US" b="1" u="sng" dirty="0"/>
              <a:t>Draw the most accurate visualization possible to answer the audience's question and follow the visualization guidelines.</a:t>
            </a:r>
          </a:p>
          <a:p>
            <a:endParaRPr lang="en-E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7A3227-7F6F-971C-71A9-B7D2DEE53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35704"/>
              </p:ext>
            </p:extLst>
          </p:nvPr>
        </p:nvGraphicFramePr>
        <p:xfrm>
          <a:off x="453912" y="2535546"/>
          <a:ext cx="5642088" cy="2621280"/>
        </p:xfrm>
        <a:graphic>
          <a:graphicData uri="http://schemas.openxmlformats.org/drawingml/2006/table">
            <a:tbl>
              <a:tblPr/>
              <a:tblGrid>
                <a:gridCol w="3381042">
                  <a:extLst>
                    <a:ext uri="{9D8B030D-6E8A-4147-A177-3AD203B41FA5}">
                      <a16:colId xmlns:a16="http://schemas.microsoft.com/office/drawing/2014/main" val="4217955489"/>
                    </a:ext>
                  </a:extLst>
                </a:gridCol>
                <a:gridCol w="2261046">
                  <a:extLst>
                    <a:ext uri="{9D8B030D-6E8A-4147-A177-3AD203B41FA5}">
                      <a16:colId xmlns:a16="http://schemas.microsoft.com/office/drawing/2014/main" val="1220896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Airline Brand (Nominal Category)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Service Rating (Ordinal Category/Scale)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713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Global Skyways International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4.8 Stars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325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Atlantic Premier Carriers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4.5 Stars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36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Northern Star Aviation Group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3.9 Stars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774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Emerald Coast Regional Air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3.2 Stars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54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Pacific Horizon Airways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2.1 Stars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773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325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3AE5-8731-D4FD-3198-A1B445F6D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4CFB-691C-8FD5-12C2-D9421C1A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598714"/>
          </a:xfrm>
        </p:spPr>
        <p:txBody>
          <a:bodyPr>
            <a:normAutofit/>
          </a:bodyPr>
          <a:lstStyle/>
          <a:p>
            <a:r>
              <a:rPr lang="en-US" sz="2800" b="1" dirty="0"/>
              <a:t>Answers 2: Categorical vs. Categorical Bivariate Analysis</a:t>
            </a:r>
            <a:endParaRPr lang="en-EG" sz="2800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3CCBAD1F-B6ED-DF23-EA4F-34C2AB2FE8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579" y="1827084"/>
            <a:ext cx="7853375" cy="42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27469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2611</TotalTime>
  <Words>865</Words>
  <Application>Microsoft Macintosh PowerPoint</Application>
  <PresentationFormat>Widescreen</PresentationFormat>
  <Paragraphs>129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Calisto MT</vt:lpstr>
      <vt:lpstr>Google Sans Text</vt:lpstr>
      <vt:lpstr>Univers Condensed</vt:lpstr>
      <vt:lpstr>ChronicleVTI</vt:lpstr>
      <vt:lpstr>Comparison charts (column &amp; bar)</vt:lpstr>
      <vt:lpstr>Learning outcomes</vt:lpstr>
      <vt:lpstr>When to use a bar chart?</vt:lpstr>
      <vt:lpstr>When to use a bar chart?</vt:lpstr>
      <vt:lpstr>How to Draw a bar chart? (our guidelines)</vt:lpstr>
      <vt:lpstr>How to Draw a bar chart? (our guidelines)</vt:lpstr>
      <vt:lpstr>Practical Exercise 1: bar chart</vt:lpstr>
      <vt:lpstr>Practical Exercise 1: bar chart</vt:lpstr>
      <vt:lpstr>Answers 1: Categorical univariate Analysis Task</vt:lpstr>
      <vt:lpstr>Practical Exercise 2: bar chart</vt:lpstr>
      <vt:lpstr>Practical Exercise 2: bar chart</vt:lpstr>
      <vt:lpstr>Answers 2: Categorical vs. Categorical Bivariate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haitham ghallab</dc:creator>
  <cp:lastModifiedBy>haitham ghallab</cp:lastModifiedBy>
  <cp:revision>181</cp:revision>
  <dcterms:created xsi:type="dcterms:W3CDTF">2026-02-08T13:07:24Z</dcterms:created>
  <dcterms:modified xsi:type="dcterms:W3CDTF">2026-02-23T07:56:06Z</dcterms:modified>
</cp:coreProperties>
</file>