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8" r:id="rId1"/>
  </p:sldMasterIdLst>
  <p:notesMasterIdLst>
    <p:notesMasterId r:id="rId44"/>
  </p:notesMasterIdLst>
  <p:sldIdLst>
    <p:sldId id="256" r:id="rId2"/>
    <p:sldId id="300" r:id="rId3"/>
    <p:sldId id="301" r:id="rId4"/>
    <p:sldId id="308" r:id="rId5"/>
    <p:sldId id="309" r:id="rId6"/>
    <p:sldId id="302" r:id="rId7"/>
    <p:sldId id="310" r:id="rId8"/>
    <p:sldId id="311" r:id="rId9"/>
    <p:sldId id="312" r:id="rId10"/>
    <p:sldId id="303" r:id="rId11"/>
    <p:sldId id="313" r:id="rId12"/>
    <p:sldId id="314" r:id="rId13"/>
    <p:sldId id="316" r:id="rId14"/>
    <p:sldId id="315" r:id="rId15"/>
    <p:sldId id="304" r:id="rId16"/>
    <p:sldId id="318" r:id="rId17"/>
    <p:sldId id="317" r:id="rId18"/>
    <p:sldId id="305" r:id="rId19"/>
    <p:sldId id="322" r:id="rId20"/>
    <p:sldId id="323" r:id="rId21"/>
    <p:sldId id="324" r:id="rId22"/>
    <p:sldId id="307" r:id="rId23"/>
    <p:sldId id="325" r:id="rId24"/>
    <p:sldId id="326" r:id="rId25"/>
    <p:sldId id="327" r:id="rId26"/>
    <p:sldId id="306" r:id="rId27"/>
    <p:sldId id="328" r:id="rId28"/>
    <p:sldId id="329" r:id="rId29"/>
    <p:sldId id="330" r:id="rId30"/>
    <p:sldId id="331" r:id="rId31"/>
    <p:sldId id="332" r:id="rId32"/>
    <p:sldId id="333" r:id="rId33"/>
    <p:sldId id="334" r:id="rId34"/>
    <p:sldId id="335" r:id="rId35"/>
    <p:sldId id="336" r:id="rId36"/>
    <p:sldId id="337" r:id="rId37"/>
    <p:sldId id="338" r:id="rId38"/>
    <p:sldId id="339" r:id="rId39"/>
    <p:sldId id="340" r:id="rId40"/>
    <p:sldId id="341" r:id="rId41"/>
    <p:sldId id="342" r:id="rId42"/>
    <p:sldId id="343"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64"/>
    <p:restoredTop sz="94696"/>
  </p:normalViewPr>
  <p:slideViewPr>
    <p:cSldViewPr snapToGrid="0">
      <p:cViewPr varScale="1">
        <p:scale>
          <a:sx n="105" d="100"/>
          <a:sy n="105" d="100"/>
        </p:scale>
        <p:origin x="42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E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DFC152-F608-6B4D-A15E-FB048E816187}" type="datetimeFigureOut">
              <a:rPr lang="en-EG" smtClean="0"/>
              <a:t>21/02/2026</a:t>
            </a:fld>
            <a:endParaRPr lang="en-E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E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E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47CA16-4C66-994B-BEEA-F257DCF78D75}" type="slidenum">
              <a:rPr lang="en-EG" smtClean="0"/>
              <a:t>‹#›</a:t>
            </a:fld>
            <a:endParaRPr lang="en-EG"/>
          </a:p>
        </p:txBody>
      </p:sp>
    </p:spTree>
    <p:extLst>
      <p:ext uri="{BB962C8B-B14F-4D97-AF65-F5344CB8AC3E}">
        <p14:creationId xmlns:p14="http://schemas.microsoft.com/office/powerpoint/2010/main" val="341717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8447CA16-4C66-994B-BEEA-F257DCF78D75}" type="slidenum">
              <a:rPr lang="en-EG" smtClean="0"/>
              <a:t>35</a:t>
            </a:fld>
            <a:endParaRPr lang="en-EG"/>
          </a:p>
        </p:txBody>
      </p:sp>
    </p:spTree>
    <p:extLst>
      <p:ext uri="{BB962C8B-B14F-4D97-AF65-F5344CB8AC3E}">
        <p14:creationId xmlns:p14="http://schemas.microsoft.com/office/powerpoint/2010/main" val="3576413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2/21/26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13333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2/21/26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14304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2/21/26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78602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2/21/26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28676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2/21/26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26641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2/21/26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78120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2/21/26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95701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2/21/26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25858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2/21/26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085240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2/21/26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37443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2/21/26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71824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2/21/26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4210519"/>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7" r:id="rId6"/>
    <p:sldLayoutId id="2147483692" r:id="rId7"/>
    <p:sldLayoutId id="2147483693" r:id="rId8"/>
    <p:sldLayoutId id="2147483694" r:id="rId9"/>
    <p:sldLayoutId id="2147483696" r:id="rId10"/>
    <p:sldLayoutId id="2147483695"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F3D318-CB8A-F900-C1F7-92F91A192F4A}"/>
              </a:ext>
            </a:extLst>
          </p:cNvPr>
          <p:cNvSpPr>
            <a:spLocks noGrp="1"/>
          </p:cNvSpPr>
          <p:nvPr>
            <p:ph type="ctrTitle"/>
          </p:nvPr>
        </p:nvSpPr>
        <p:spPr>
          <a:xfrm>
            <a:off x="703400" y="871758"/>
            <a:ext cx="5227171" cy="3871143"/>
          </a:xfrm>
        </p:spPr>
        <p:txBody>
          <a:bodyPr>
            <a:normAutofit/>
          </a:bodyPr>
          <a:lstStyle/>
          <a:p>
            <a:r>
              <a:rPr lang="en-EG" dirty="0"/>
              <a:t>Comparison charts (column &amp; bar)</a:t>
            </a:r>
          </a:p>
        </p:txBody>
      </p:sp>
      <p:sp>
        <p:nvSpPr>
          <p:cNvPr id="3" name="Subtitle 2">
            <a:extLst>
              <a:ext uri="{FF2B5EF4-FFF2-40B4-BE49-F238E27FC236}">
                <a16:creationId xmlns:a16="http://schemas.microsoft.com/office/drawing/2014/main" id="{4AFEEBEF-27BE-665A-96F1-62A0FD1D2B7D}"/>
              </a:ext>
            </a:extLst>
          </p:cNvPr>
          <p:cNvSpPr>
            <a:spLocks noGrp="1"/>
          </p:cNvSpPr>
          <p:nvPr>
            <p:ph type="subTitle" idx="1"/>
          </p:nvPr>
        </p:nvSpPr>
        <p:spPr>
          <a:xfrm>
            <a:off x="721688" y="4785543"/>
            <a:ext cx="4857857" cy="1005657"/>
          </a:xfrm>
        </p:spPr>
        <p:txBody>
          <a:bodyPr>
            <a:normAutofit/>
          </a:bodyPr>
          <a:lstStyle/>
          <a:p>
            <a:r>
              <a:rPr lang="en-EG"/>
              <a:t>Data Visualization</a:t>
            </a:r>
            <a:endParaRPr lang="en-EG" dirty="0"/>
          </a:p>
        </p:txBody>
      </p:sp>
      <p:cxnSp>
        <p:nvCxnSpPr>
          <p:cNvPr id="15" name="Straight Connector 14">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914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914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Picture 15" descr="A green cubes with lights&#10;&#10;AI-generated content may be incorrect.">
            <a:extLst>
              <a:ext uri="{FF2B5EF4-FFF2-40B4-BE49-F238E27FC236}">
                <a16:creationId xmlns:a16="http://schemas.microsoft.com/office/drawing/2014/main" id="{3BA9F730-B238-9C31-0CA6-EA5188D673E0}"/>
              </a:ext>
            </a:extLst>
          </p:cNvPr>
          <p:cNvPicPr>
            <a:picLocks noChangeAspect="1"/>
          </p:cNvPicPr>
          <p:nvPr/>
        </p:nvPicPr>
        <p:blipFill>
          <a:blip r:embed="rId2"/>
          <a:srcRect l="9997" r="43440"/>
          <a:stretch>
            <a:fillRect/>
          </a:stretch>
        </p:blipFill>
        <p:spPr>
          <a:xfrm>
            <a:off x="6515100" y="10"/>
            <a:ext cx="5676900" cy="6857990"/>
          </a:xfrm>
          <a:prstGeom prst="rect">
            <a:avLst/>
          </a:prstGeom>
        </p:spPr>
      </p:pic>
    </p:spTree>
    <p:extLst>
      <p:ext uri="{BB962C8B-B14F-4D97-AF65-F5344CB8AC3E}">
        <p14:creationId xmlns:p14="http://schemas.microsoft.com/office/powerpoint/2010/main" val="1397048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DB338-D08B-6066-7F8E-04A9C7EFAD0F}"/>
              </a:ext>
            </a:extLst>
          </p:cNvPr>
          <p:cNvSpPr>
            <a:spLocks noGrp="1"/>
          </p:cNvSpPr>
          <p:nvPr>
            <p:ph type="title"/>
          </p:nvPr>
        </p:nvSpPr>
        <p:spPr/>
        <p:txBody>
          <a:bodyPr/>
          <a:lstStyle/>
          <a:p>
            <a:r>
              <a:rPr lang="en-EG" dirty="0"/>
              <a:t>Learning outcomes</a:t>
            </a:r>
          </a:p>
        </p:txBody>
      </p:sp>
      <p:sp>
        <p:nvSpPr>
          <p:cNvPr id="3" name="Content Placeholder 2">
            <a:extLst>
              <a:ext uri="{FF2B5EF4-FFF2-40B4-BE49-F238E27FC236}">
                <a16:creationId xmlns:a16="http://schemas.microsoft.com/office/drawing/2014/main" id="{13B289F3-177E-2127-BFC5-0363A240F8C9}"/>
              </a:ext>
            </a:extLst>
          </p:cNvPr>
          <p:cNvSpPr>
            <a:spLocks noGrp="1"/>
          </p:cNvSpPr>
          <p:nvPr>
            <p:ph idx="1"/>
          </p:nvPr>
        </p:nvSpPr>
        <p:spPr/>
        <p:txBody>
          <a:bodyPr/>
          <a:lstStyle/>
          <a:p>
            <a:r>
              <a:rPr lang="en-US" dirty="0"/>
              <a:t>Concept refreshing in data visualization: </a:t>
            </a:r>
          </a:p>
          <a:p>
            <a:pPr marL="0" indent="0" algn="ctr">
              <a:buNone/>
            </a:pPr>
            <a:r>
              <a:rPr lang="en-US" dirty="0"/>
              <a:t>(Chart Junk, Magnitude, Scalar, Vector, Univariate, Bivariate, Multivariate)</a:t>
            </a:r>
          </a:p>
          <a:p>
            <a:r>
              <a:rPr lang="en-US" dirty="0"/>
              <a:t>What is meant by comparison charts?</a:t>
            </a:r>
          </a:p>
          <a:p>
            <a:r>
              <a:rPr lang="en-US" dirty="0"/>
              <a:t>What are the different types of datasets? </a:t>
            </a:r>
          </a:p>
          <a:p>
            <a:r>
              <a:rPr lang="en-US" dirty="0"/>
              <a:t>Which types of datasets are more relevant to column/bar charts?</a:t>
            </a:r>
          </a:p>
          <a:p>
            <a:r>
              <a:rPr lang="en-US" dirty="0"/>
              <a:t>When to use a column chart?</a:t>
            </a:r>
          </a:p>
          <a:p>
            <a:r>
              <a:rPr lang="en-US" dirty="0"/>
              <a:t>When to use a bar chart?</a:t>
            </a:r>
          </a:p>
          <a:p>
            <a:r>
              <a:rPr lang="en-EG" dirty="0"/>
              <a:t>Examples: (suggested dataset -&gt; questions -&gt; visualization -&gt; answers)</a:t>
            </a:r>
          </a:p>
        </p:txBody>
      </p:sp>
    </p:spTree>
    <p:extLst>
      <p:ext uri="{BB962C8B-B14F-4D97-AF65-F5344CB8AC3E}">
        <p14:creationId xmlns:p14="http://schemas.microsoft.com/office/powerpoint/2010/main" val="181608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20B4-3B94-E685-B92A-FC74A0ACE19B}"/>
              </a:ext>
            </a:extLst>
          </p:cNvPr>
          <p:cNvSpPr>
            <a:spLocks noGrp="1"/>
          </p:cNvSpPr>
          <p:nvPr>
            <p:ph type="title"/>
          </p:nvPr>
        </p:nvSpPr>
        <p:spPr/>
        <p:txBody>
          <a:bodyPr/>
          <a:lstStyle/>
          <a:p>
            <a:r>
              <a:rPr lang="en-US" dirty="0"/>
              <a:t>Concept refreshing - chart junk</a:t>
            </a:r>
            <a:endParaRPr lang="en-EG" dirty="0"/>
          </a:p>
        </p:txBody>
      </p:sp>
      <p:sp>
        <p:nvSpPr>
          <p:cNvPr id="3" name="Content Placeholder 2">
            <a:extLst>
              <a:ext uri="{FF2B5EF4-FFF2-40B4-BE49-F238E27FC236}">
                <a16:creationId xmlns:a16="http://schemas.microsoft.com/office/drawing/2014/main" id="{51AFFE44-908D-79AB-B9F4-E0BE5B85D4FD}"/>
              </a:ext>
            </a:extLst>
          </p:cNvPr>
          <p:cNvSpPr>
            <a:spLocks noGrp="1"/>
          </p:cNvSpPr>
          <p:nvPr>
            <p:ph idx="1"/>
          </p:nvPr>
        </p:nvSpPr>
        <p:spPr/>
        <p:txBody>
          <a:bodyPr>
            <a:normAutofit/>
          </a:bodyPr>
          <a:lstStyle/>
          <a:p>
            <a:pPr marL="0" indent="0" algn="ctr">
              <a:buNone/>
            </a:pPr>
            <a:r>
              <a:rPr lang="en-US" sz="2800" dirty="0">
                <a:solidFill>
                  <a:srgbClr val="FF0000"/>
                </a:solidFill>
              </a:rPr>
              <a:t>Refers to all visual elements in a chart that are </a:t>
            </a:r>
            <a:r>
              <a:rPr lang="en-US" sz="2800" b="1" dirty="0">
                <a:solidFill>
                  <a:srgbClr val="FF0000"/>
                </a:solidFill>
              </a:rPr>
              <a:t>not necessary</a:t>
            </a:r>
            <a:r>
              <a:rPr lang="en-US" sz="2800" dirty="0">
                <a:solidFill>
                  <a:srgbClr val="FF0000"/>
                </a:solidFill>
              </a:rPr>
              <a:t> to highlight the story or that distract the audience from the main point</a:t>
            </a:r>
          </a:p>
          <a:p>
            <a:pPr marL="0" indent="0" algn="ctr">
              <a:buNone/>
            </a:pPr>
            <a:r>
              <a:rPr lang="en-US" sz="2800" b="1" dirty="0"/>
              <a:t>“Chart Junk</a:t>
            </a:r>
            <a:r>
              <a:rPr lang="en-US" sz="2800" dirty="0"/>
              <a:t> is the direct cause of high </a:t>
            </a:r>
            <a:r>
              <a:rPr lang="en-US" sz="2800" b="1" dirty="0"/>
              <a:t>Extraneous Load”</a:t>
            </a:r>
            <a:endParaRPr lang="en-US" sz="2800" dirty="0">
              <a:solidFill>
                <a:srgbClr val="FF0000"/>
              </a:solidFill>
            </a:endParaRPr>
          </a:p>
          <a:p>
            <a:pPr marL="0" indent="0" algn="just">
              <a:buNone/>
            </a:pPr>
            <a:br>
              <a:rPr lang="en-US" sz="2800" dirty="0">
                <a:solidFill>
                  <a:srgbClr val="FF0000"/>
                </a:solidFill>
              </a:rPr>
            </a:br>
            <a:r>
              <a:rPr lang="en-US" dirty="0">
                <a:solidFill>
                  <a:schemeClr val="tx1">
                    <a:lumMod val="75000"/>
                    <a:lumOff val="25000"/>
                  </a:schemeClr>
                </a:solidFill>
              </a:rPr>
              <a:t>Such as: Heavy gridlines, 3D effects on bars, unnecessary background images, or decorative icons that don't represent data. If a chart has too much junk, the </a:t>
            </a:r>
            <a:r>
              <a:rPr lang="en-US" b="1" dirty="0">
                <a:solidFill>
                  <a:schemeClr val="tx1">
                    <a:lumMod val="75000"/>
                    <a:lumOff val="25000"/>
                  </a:schemeClr>
                </a:solidFill>
              </a:rPr>
              <a:t>extraneous load</a:t>
            </a:r>
            <a:r>
              <a:rPr lang="en-US" dirty="0">
                <a:solidFill>
                  <a:schemeClr val="tx1">
                    <a:lumMod val="75000"/>
                    <a:lumOff val="25000"/>
                  </a:schemeClr>
                </a:solidFill>
              </a:rPr>
              <a:t> will increase, leading to high </a:t>
            </a:r>
            <a:r>
              <a:rPr lang="en-US" b="1" dirty="0">
                <a:solidFill>
                  <a:schemeClr val="tx1">
                    <a:lumMod val="75000"/>
                    <a:lumOff val="25000"/>
                  </a:schemeClr>
                </a:solidFill>
              </a:rPr>
              <a:t>cognitive load</a:t>
            </a:r>
            <a:r>
              <a:rPr lang="en-US" dirty="0">
                <a:solidFill>
                  <a:schemeClr val="tx1">
                    <a:lumMod val="75000"/>
                    <a:lumOff val="25000"/>
                  </a:schemeClr>
                </a:solidFill>
              </a:rPr>
              <a:t> and preventing the audience from answering questions in a few seconds.</a:t>
            </a:r>
            <a:endParaRPr lang="en-EG" dirty="0">
              <a:solidFill>
                <a:schemeClr val="tx1">
                  <a:lumMod val="75000"/>
                  <a:lumOff val="25000"/>
                </a:schemeClr>
              </a:solidFill>
            </a:endParaRPr>
          </a:p>
        </p:txBody>
      </p:sp>
    </p:spTree>
    <p:extLst>
      <p:ext uri="{BB962C8B-B14F-4D97-AF65-F5344CB8AC3E}">
        <p14:creationId xmlns:p14="http://schemas.microsoft.com/office/powerpoint/2010/main" val="1017908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4103" name="Straight Connector 4102">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05" name="Straight Connector 4104">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4107" name="Rectangle 4106">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09" name="Straight Connector 4108">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098" name="Picture 2" descr="A graph of a bar chart&#10;&#10;AI-generated content may be incorrect.">
            <a:extLst>
              <a:ext uri="{FF2B5EF4-FFF2-40B4-BE49-F238E27FC236}">
                <a16:creationId xmlns:a16="http://schemas.microsoft.com/office/drawing/2014/main" id="{FDF981A3-2E28-C406-E23E-384EDEF5843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695498" y="861621"/>
            <a:ext cx="6801003" cy="5134757"/>
          </a:xfrm>
          <a:prstGeom prst="rect">
            <a:avLst/>
          </a:prstGeom>
          <a:noFill/>
          <a:extLst>
            <a:ext uri="{909E8E84-426E-40DD-AFC4-6F175D3DCCD1}">
              <a14:hiddenFill xmlns:a14="http://schemas.microsoft.com/office/drawing/2010/main">
                <a:solidFill>
                  <a:srgbClr val="FFFFFF"/>
                </a:solidFill>
              </a14:hiddenFill>
            </a:ext>
          </a:extLst>
        </p:spPr>
      </p:pic>
      <p:cxnSp>
        <p:nvCxnSpPr>
          <p:cNvPr id="4111" name="Straight Connector 4110">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885"/>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9220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0DDA34-61CE-EF89-0A72-D086EE23263F}"/>
            </a:ext>
          </a:extLst>
        </p:cNvPr>
        <p:cNvGrpSpPr/>
        <p:nvPr/>
      </p:nvGrpSpPr>
      <p:grpSpPr>
        <a:xfrm>
          <a:off x="0" y="0"/>
          <a:ext cx="0" cy="0"/>
          <a:chOff x="0" y="0"/>
          <a:chExt cx="0" cy="0"/>
        </a:xfrm>
      </p:grpSpPr>
      <p:cxnSp>
        <p:nvCxnSpPr>
          <p:cNvPr id="6151" name="Straight Connector 6150">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53" name="Straight Connector 6152">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6155" name="Rectangle 6154">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57" name="Straight Connector 6156">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6146" name="Picture 2" descr="A graph of different shapes and colors&#10;&#10;AI-generated content may be incorrect.">
            <a:extLst>
              <a:ext uri="{FF2B5EF4-FFF2-40B4-BE49-F238E27FC236}">
                <a16:creationId xmlns:a16="http://schemas.microsoft.com/office/drawing/2014/main" id="{C168251F-D3A2-489E-2D48-21EF5E386EF5}"/>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7712"/>
          <a:stretch>
            <a:fillRect/>
          </a:stretch>
        </p:blipFill>
        <p:spPr bwMode="auto">
          <a:xfrm>
            <a:off x="2329711" y="1256415"/>
            <a:ext cx="7532578" cy="4536000"/>
          </a:xfrm>
          <a:prstGeom prst="rect">
            <a:avLst/>
          </a:prstGeom>
          <a:noFill/>
          <a:extLst>
            <a:ext uri="{909E8E84-426E-40DD-AFC4-6F175D3DCCD1}">
              <a14:hiddenFill xmlns:a14="http://schemas.microsoft.com/office/drawing/2010/main">
                <a:solidFill>
                  <a:srgbClr val="FFFFFF"/>
                </a:solidFill>
              </a14:hiddenFill>
            </a:ext>
          </a:extLst>
        </p:spPr>
      </p:pic>
      <p:cxnSp>
        <p:nvCxnSpPr>
          <p:cNvPr id="6159" name="Straight Connector 6158">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885"/>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314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E6A01-1D6F-AEDE-E685-66608F7FBC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518D5F-2BDD-59B6-576E-1F97283D6246}"/>
              </a:ext>
            </a:extLst>
          </p:cNvPr>
          <p:cNvSpPr>
            <a:spLocks noGrp="1"/>
          </p:cNvSpPr>
          <p:nvPr>
            <p:ph type="title"/>
          </p:nvPr>
        </p:nvSpPr>
        <p:spPr/>
        <p:txBody>
          <a:bodyPr/>
          <a:lstStyle/>
          <a:p>
            <a:r>
              <a:rPr lang="en-US" dirty="0"/>
              <a:t>Concept refreshing - Magnitude</a:t>
            </a:r>
            <a:endParaRPr lang="en-EG" dirty="0"/>
          </a:p>
        </p:txBody>
      </p:sp>
      <p:sp>
        <p:nvSpPr>
          <p:cNvPr id="3" name="Content Placeholder 2">
            <a:extLst>
              <a:ext uri="{FF2B5EF4-FFF2-40B4-BE49-F238E27FC236}">
                <a16:creationId xmlns:a16="http://schemas.microsoft.com/office/drawing/2014/main" id="{9F19EB13-6828-988C-6374-2C3058448EFD}"/>
              </a:ext>
            </a:extLst>
          </p:cNvPr>
          <p:cNvSpPr>
            <a:spLocks noGrp="1"/>
          </p:cNvSpPr>
          <p:nvPr>
            <p:ph idx="1"/>
          </p:nvPr>
        </p:nvSpPr>
        <p:spPr/>
        <p:txBody>
          <a:bodyPr>
            <a:normAutofit/>
          </a:bodyPr>
          <a:lstStyle/>
          <a:p>
            <a:pPr marL="0" indent="0" algn="ctr">
              <a:buNone/>
            </a:pPr>
            <a:r>
              <a:rPr lang="en-US" sz="2600" dirty="0">
                <a:solidFill>
                  <a:srgbClr val="FF0000"/>
                </a:solidFill>
              </a:rPr>
              <a:t>Refers to the relative </a:t>
            </a:r>
            <a:r>
              <a:rPr lang="en-US" sz="2600" b="1" dirty="0">
                <a:solidFill>
                  <a:srgbClr val="FF0000"/>
                </a:solidFill>
              </a:rPr>
              <a:t>size</a:t>
            </a:r>
            <a:r>
              <a:rPr lang="en-US" sz="2600" dirty="0">
                <a:solidFill>
                  <a:srgbClr val="FF0000"/>
                </a:solidFill>
              </a:rPr>
              <a:t> or </a:t>
            </a:r>
            <a:r>
              <a:rPr lang="en-US" sz="2600" b="1" dirty="0">
                <a:solidFill>
                  <a:srgbClr val="FF0000"/>
                </a:solidFill>
              </a:rPr>
              <a:t>"how much"</a:t>
            </a:r>
            <a:r>
              <a:rPr lang="en-US" sz="2600" dirty="0">
                <a:solidFill>
                  <a:srgbClr val="FF0000"/>
                </a:solidFill>
              </a:rPr>
              <a:t> of something. It is a quantitative measure that tells the audience the </a:t>
            </a:r>
            <a:r>
              <a:rPr lang="en-US" sz="2600" b="1" dirty="0">
                <a:solidFill>
                  <a:srgbClr val="FF0000"/>
                </a:solidFill>
              </a:rPr>
              <a:t>"bigness"</a:t>
            </a:r>
            <a:r>
              <a:rPr lang="en-US" sz="2600" dirty="0">
                <a:solidFill>
                  <a:srgbClr val="FF0000"/>
                </a:solidFill>
              </a:rPr>
              <a:t> of a data point.</a:t>
            </a:r>
          </a:p>
          <a:p>
            <a:pPr marL="0" indent="0" algn="ctr">
              <a:buNone/>
            </a:pPr>
            <a:endParaRPr lang="en-US" sz="2800" dirty="0">
              <a:solidFill>
                <a:srgbClr val="FF0000"/>
              </a:solidFill>
            </a:endParaRPr>
          </a:p>
          <a:p>
            <a:pPr marL="0" indent="0" algn="just">
              <a:buNone/>
            </a:pPr>
            <a:br>
              <a:rPr lang="en-US" sz="2800" dirty="0">
                <a:solidFill>
                  <a:srgbClr val="FF0000"/>
                </a:solidFill>
              </a:rPr>
            </a:br>
            <a:r>
              <a:rPr lang="en-US" dirty="0">
                <a:solidFill>
                  <a:schemeClr val="tx1">
                    <a:lumMod val="75000"/>
                    <a:lumOff val="25000"/>
                  </a:schemeClr>
                </a:solidFill>
              </a:rPr>
              <a:t>If Apple sold 80 million phones and Samsung sold 40 million, the magnitude of Apple's sales is exactly double that of Samsung's. The visual length of the bar/column represents this magnitude.</a:t>
            </a:r>
            <a:endParaRPr lang="en-EG" dirty="0">
              <a:solidFill>
                <a:schemeClr val="tx1">
                  <a:lumMod val="75000"/>
                  <a:lumOff val="25000"/>
                </a:schemeClr>
              </a:solidFill>
            </a:endParaRPr>
          </a:p>
        </p:txBody>
      </p:sp>
    </p:spTree>
    <p:extLst>
      <p:ext uri="{BB962C8B-B14F-4D97-AF65-F5344CB8AC3E}">
        <p14:creationId xmlns:p14="http://schemas.microsoft.com/office/powerpoint/2010/main" val="1395188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185" name="Straight Connector 7184">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87" name="Straight Connector 7186">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7189" name="Rectangle 718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91" name="Straight Connector 719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7180" name="Picture 12">
            <a:extLst>
              <a:ext uri="{FF2B5EF4-FFF2-40B4-BE49-F238E27FC236}">
                <a16:creationId xmlns:a16="http://schemas.microsoft.com/office/drawing/2014/main" id="{CF93290E-D89F-5AA7-0D0E-8B2A2EFB046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636855" y="862014"/>
            <a:ext cx="6918290" cy="5134757"/>
          </a:xfrm>
          <a:prstGeom prst="rect">
            <a:avLst/>
          </a:prstGeom>
          <a:noFill/>
          <a:extLst>
            <a:ext uri="{909E8E84-426E-40DD-AFC4-6F175D3DCCD1}">
              <a14:hiddenFill xmlns:a14="http://schemas.microsoft.com/office/drawing/2010/main">
                <a:solidFill>
                  <a:srgbClr val="FFFFFF"/>
                </a:solidFill>
              </a14:hiddenFill>
            </a:ext>
          </a:extLst>
        </p:spPr>
      </p:pic>
      <p:cxnSp>
        <p:nvCxnSpPr>
          <p:cNvPr id="7193" name="Straight Connector 7192">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885"/>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7996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747FD4-7D5A-4FE2-4175-F00186747026}"/>
            </a:ext>
          </a:extLst>
        </p:cNvPr>
        <p:cNvGrpSpPr/>
        <p:nvPr/>
      </p:nvGrpSpPr>
      <p:grpSpPr>
        <a:xfrm>
          <a:off x="0" y="0"/>
          <a:ext cx="0" cy="0"/>
          <a:chOff x="0" y="0"/>
          <a:chExt cx="0" cy="0"/>
        </a:xfrm>
      </p:grpSpPr>
      <p:cxnSp>
        <p:nvCxnSpPr>
          <p:cNvPr id="9232" name="Straight Connector 9231">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33" name="Straight Connector 9232">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9234" name="Rectangle 9233">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235" name="Straight Connector 9234">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9218" name="Picture 2" descr="A graph with green squares&#10;&#10;AI-generated content may be incorrect.">
            <a:extLst>
              <a:ext uri="{FF2B5EF4-FFF2-40B4-BE49-F238E27FC236}">
                <a16:creationId xmlns:a16="http://schemas.microsoft.com/office/drawing/2014/main" id="{E5366B43-AE0F-8946-E703-842A45B22CC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542535" y="861621"/>
            <a:ext cx="7106930" cy="5134757"/>
          </a:xfrm>
          <a:prstGeom prst="rect">
            <a:avLst/>
          </a:prstGeom>
          <a:noFill/>
          <a:extLst>
            <a:ext uri="{909E8E84-426E-40DD-AFC4-6F175D3DCCD1}">
              <a14:hiddenFill xmlns:a14="http://schemas.microsoft.com/office/drawing/2010/main">
                <a:solidFill>
                  <a:srgbClr val="FFFFFF"/>
                </a:solidFill>
              </a14:hiddenFill>
            </a:ext>
          </a:extLst>
        </p:spPr>
      </p:pic>
      <p:cxnSp>
        <p:nvCxnSpPr>
          <p:cNvPr id="9231" name="Straight Connector 9230">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885"/>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2450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6E1ED1-732E-7C86-7F0C-F14866ADF80A}"/>
            </a:ext>
          </a:extLst>
        </p:cNvPr>
        <p:cNvGrpSpPr/>
        <p:nvPr/>
      </p:nvGrpSpPr>
      <p:grpSpPr>
        <a:xfrm>
          <a:off x="0" y="0"/>
          <a:ext cx="0" cy="0"/>
          <a:chOff x="0" y="0"/>
          <a:chExt cx="0" cy="0"/>
        </a:xfrm>
      </p:grpSpPr>
      <p:cxnSp>
        <p:nvCxnSpPr>
          <p:cNvPr id="11284" name="Straight Connector 11283">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86" name="Straight Connector 11285">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1288" name="Rectangle 11287">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290" name="Straight Connector 11289">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11268" name="Picture 4" descr="A group of colored squares&#10;&#10;AI-generated content may be incorrect.">
            <a:extLst>
              <a:ext uri="{FF2B5EF4-FFF2-40B4-BE49-F238E27FC236}">
                <a16:creationId xmlns:a16="http://schemas.microsoft.com/office/drawing/2014/main" id="{59BB766B-7EE1-48B6-3216-1A5C6B91929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946902" y="1067588"/>
            <a:ext cx="10298193" cy="4248000"/>
          </a:xfrm>
          <a:prstGeom prst="rect">
            <a:avLst/>
          </a:prstGeom>
          <a:noFill/>
          <a:extLst>
            <a:ext uri="{909E8E84-426E-40DD-AFC4-6F175D3DCCD1}">
              <a14:hiddenFill xmlns:a14="http://schemas.microsoft.com/office/drawing/2010/main">
                <a:solidFill>
                  <a:srgbClr val="FFFFFF"/>
                </a:solidFill>
              </a14:hiddenFill>
            </a:ext>
          </a:extLst>
        </p:spPr>
      </p:pic>
      <p:cxnSp>
        <p:nvCxnSpPr>
          <p:cNvPr id="11292" name="Straight Connector 11291">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885"/>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5E27839-20CF-563F-A121-FBA24F4874C0}"/>
              </a:ext>
            </a:extLst>
          </p:cNvPr>
          <p:cNvSpPr txBox="1"/>
          <p:nvPr/>
        </p:nvSpPr>
        <p:spPr>
          <a:xfrm>
            <a:off x="4235301" y="5659276"/>
            <a:ext cx="3721396" cy="369332"/>
          </a:xfrm>
          <a:prstGeom prst="rect">
            <a:avLst/>
          </a:prstGeom>
          <a:noFill/>
        </p:spPr>
        <p:txBody>
          <a:bodyPr wrap="square" rtlCol="0">
            <a:spAutoFit/>
          </a:bodyPr>
          <a:lstStyle/>
          <a:p>
            <a:pPr algn="ctr"/>
            <a:r>
              <a:rPr lang="en-EG" dirty="0"/>
              <a:t>Magnitude vs Distorted Magnitude </a:t>
            </a:r>
          </a:p>
        </p:txBody>
      </p:sp>
    </p:spTree>
    <p:extLst>
      <p:ext uri="{BB962C8B-B14F-4D97-AF65-F5344CB8AC3E}">
        <p14:creationId xmlns:p14="http://schemas.microsoft.com/office/powerpoint/2010/main" val="2953760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62FB7-9687-CE08-193F-5551D2EF3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798F0-CCD3-F4A7-81DE-CE8CEFC66966}"/>
              </a:ext>
            </a:extLst>
          </p:cNvPr>
          <p:cNvSpPr>
            <a:spLocks noGrp="1"/>
          </p:cNvSpPr>
          <p:nvPr>
            <p:ph type="title"/>
          </p:nvPr>
        </p:nvSpPr>
        <p:spPr/>
        <p:txBody>
          <a:bodyPr/>
          <a:lstStyle/>
          <a:p>
            <a:r>
              <a:rPr lang="en-US" dirty="0"/>
              <a:t>Concept refreshing - scalar</a:t>
            </a:r>
            <a:endParaRPr lang="en-EG" dirty="0"/>
          </a:p>
        </p:txBody>
      </p:sp>
      <p:sp>
        <p:nvSpPr>
          <p:cNvPr id="3" name="Content Placeholder 2">
            <a:extLst>
              <a:ext uri="{FF2B5EF4-FFF2-40B4-BE49-F238E27FC236}">
                <a16:creationId xmlns:a16="http://schemas.microsoft.com/office/drawing/2014/main" id="{5A295B07-662C-B815-E86E-98CD45A508AE}"/>
              </a:ext>
            </a:extLst>
          </p:cNvPr>
          <p:cNvSpPr>
            <a:spLocks noGrp="1"/>
          </p:cNvSpPr>
          <p:nvPr>
            <p:ph idx="1"/>
          </p:nvPr>
        </p:nvSpPr>
        <p:spPr/>
        <p:txBody>
          <a:bodyPr>
            <a:normAutofit fontScale="92500" lnSpcReduction="20000"/>
          </a:bodyPr>
          <a:lstStyle/>
          <a:p>
            <a:pPr marL="0" indent="0" algn="ctr">
              <a:buNone/>
            </a:pPr>
            <a:r>
              <a:rPr lang="en-US" sz="2600" dirty="0">
                <a:solidFill>
                  <a:srgbClr val="FF0000"/>
                </a:solidFill>
              </a:rPr>
              <a:t>Refers to a </a:t>
            </a:r>
            <a:r>
              <a:rPr lang="en-US" sz="2600" b="1" dirty="0">
                <a:solidFill>
                  <a:srgbClr val="FF0000"/>
                </a:solidFill>
              </a:rPr>
              <a:t>single numerical value</a:t>
            </a:r>
            <a:r>
              <a:rPr lang="en-US" sz="2600" dirty="0">
                <a:solidFill>
                  <a:srgbClr val="FF0000"/>
                </a:solidFill>
              </a:rPr>
              <a:t> that represents only the magnitude. A scalar value is just a number that tells you, </a:t>
            </a:r>
            <a:r>
              <a:rPr lang="en-US" sz="2600" b="1" dirty="0">
                <a:solidFill>
                  <a:srgbClr val="FF0000"/>
                </a:solidFill>
              </a:rPr>
              <a:t>"how many"</a:t>
            </a:r>
            <a:r>
              <a:rPr lang="en-US" sz="2600" dirty="0">
                <a:solidFill>
                  <a:srgbClr val="FF0000"/>
                </a:solidFill>
              </a:rPr>
              <a:t> or </a:t>
            </a:r>
            <a:r>
              <a:rPr lang="en-US" sz="2600" b="1" dirty="0">
                <a:solidFill>
                  <a:srgbClr val="FF0000"/>
                </a:solidFill>
              </a:rPr>
              <a:t>"how much.” </a:t>
            </a:r>
          </a:p>
          <a:p>
            <a:pPr marL="0" indent="0">
              <a:buNone/>
            </a:pPr>
            <a:endParaRPr lang="en-US" sz="1800" b="1" dirty="0"/>
          </a:p>
          <a:p>
            <a:pPr marL="0" indent="0">
              <a:buNone/>
            </a:pPr>
            <a:r>
              <a:rPr lang="en-US" sz="1800" b="1" dirty="0"/>
              <a:t>In the code:</a:t>
            </a:r>
            <a:r>
              <a:rPr lang="en-US" sz="1800" dirty="0"/>
              <a:t> x = 50, then 50 is the scalar.</a:t>
            </a:r>
            <a:endParaRPr lang="en-US" sz="1800" b="1" dirty="0">
              <a:solidFill>
                <a:srgbClr val="FF0000"/>
              </a:solidFill>
            </a:endParaRPr>
          </a:p>
          <a:p>
            <a:pPr marL="0" indent="0">
              <a:buNone/>
            </a:pPr>
            <a:r>
              <a:rPr lang="en-US" sz="1800" b="1" dirty="0"/>
              <a:t>Scalar</a:t>
            </a:r>
            <a:r>
              <a:rPr lang="en-US" sz="1800" dirty="0"/>
              <a:t> = The Number.</a:t>
            </a:r>
          </a:p>
          <a:p>
            <a:pPr marL="0" indent="0">
              <a:buNone/>
            </a:pPr>
            <a:r>
              <a:rPr lang="en-US" sz="1800" b="1" dirty="0"/>
              <a:t>Magnitude</a:t>
            </a:r>
            <a:r>
              <a:rPr lang="en-US" sz="1800" dirty="0"/>
              <a:t> = The "Bigness" of that number. And the visual representation of the scalar</a:t>
            </a:r>
          </a:p>
          <a:p>
            <a:pPr marL="0" indent="0" algn="ctr">
              <a:buNone/>
            </a:pPr>
            <a:endParaRPr lang="en-US" sz="2800" dirty="0">
              <a:solidFill>
                <a:srgbClr val="FF0000"/>
              </a:solidFill>
            </a:endParaRPr>
          </a:p>
          <a:p>
            <a:pPr marL="0" indent="0" algn="just">
              <a:buNone/>
            </a:pPr>
            <a:r>
              <a:rPr lang="en-US" dirty="0">
                <a:solidFill>
                  <a:schemeClr val="tx1">
                    <a:lumMod val="75000"/>
                    <a:lumOff val="25000"/>
                  </a:schemeClr>
                </a:solidFill>
              </a:rPr>
              <a:t>Comparison charts are used to visualize </a:t>
            </a:r>
            <a:r>
              <a:rPr lang="en-US" b="1" dirty="0">
                <a:solidFill>
                  <a:schemeClr val="tx1">
                    <a:lumMod val="75000"/>
                    <a:lumOff val="25000"/>
                  </a:schemeClr>
                </a:solidFill>
              </a:rPr>
              <a:t>Scalar values</a:t>
            </a:r>
            <a:r>
              <a:rPr lang="en-US" dirty="0">
                <a:solidFill>
                  <a:schemeClr val="tx1">
                    <a:lumMod val="75000"/>
                    <a:lumOff val="25000"/>
                  </a:schemeClr>
                </a:solidFill>
              </a:rPr>
              <a:t>. Each bar in a Column or Bar chart represents one scalar value (e.g., Temperature: 30°C, Sales: $500, Population: 1 million).</a:t>
            </a:r>
            <a:br>
              <a:rPr lang="en-US" dirty="0">
                <a:solidFill>
                  <a:schemeClr val="tx1">
                    <a:lumMod val="75000"/>
                    <a:lumOff val="25000"/>
                  </a:schemeClr>
                </a:solidFill>
              </a:rPr>
            </a:br>
            <a:endParaRPr lang="en-EG" sz="1600" dirty="0">
              <a:solidFill>
                <a:schemeClr val="tx1">
                  <a:lumMod val="75000"/>
                  <a:lumOff val="25000"/>
                </a:schemeClr>
              </a:solidFill>
            </a:endParaRPr>
          </a:p>
        </p:txBody>
      </p:sp>
    </p:spTree>
    <p:extLst>
      <p:ext uri="{BB962C8B-B14F-4D97-AF65-F5344CB8AC3E}">
        <p14:creationId xmlns:p14="http://schemas.microsoft.com/office/powerpoint/2010/main" val="4023808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A92C3F4-42D9-B9D8-00BD-F49D531C9C9D}"/>
              </a:ext>
            </a:extLst>
          </p:cNvPr>
          <p:cNvSpPr txBox="1"/>
          <p:nvPr/>
        </p:nvSpPr>
        <p:spPr>
          <a:xfrm>
            <a:off x="7691162" y="2274838"/>
            <a:ext cx="3030279" cy="2308324"/>
          </a:xfrm>
          <a:prstGeom prst="rect">
            <a:avLst/>
          </a:prstGeom>
          <a:noFill/>
        </p:spPr>
        <p:txBody>
          <a:bodyPr wrap="square" rtlCol="0">
            <a:spAutoFit/>
          </a:bodyPr>
          <a:lstStyle/>
          <a:p>
            <a:pPr algn="just"/>
            <a:r>
              <a:rPr lang="en-US" dirty="0"/>
              <a:t>Scalar values are represented by using a scatter plot (No comparison needed) to show the temperature value of each city. Notice that there is no arrow telling us which way the temperature is 'pushing'.</a:t>
            </a:r>
          </a:p>
        </p:txBody>
      </p:sp>
      <p:pic>
        <p:nvPicPr>
          <p:cNvPr id="12292" name="Picture 4">
            <a:extLst>
              <a:ext uri="{FF2B5EF4-FFF2-40B4-BE49-F238E27FC236}">
                <a16:creationId xmlns:a16="http://schemas.microsoft.com/office/drawing/2014/main" id="{520AABCA-3EA7-6FF9-CCDC-C14F0E0B823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3533" y="1017000"/>
            <a:ext cx="7317629" cy="482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0514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B35F1-A662-EB4A-DB7B-3C3F91DB8EB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B0B4214-2C21-A9D9-0955-218EC195F4C6}"/>
              </a:ext>
            </a:extLst>
          </p:cNvPr>
          <p:cNvSpPr txBox="1"/>
          <p:nvPr/>
        </p:nvSpPr>
        <p:spPr>
          <a:xfrm>
            <a:off x="8954197" y="2690336"/>
            <a:ext cx="2773515" cy="1477328"/>
          </a:xfrm>
          <a:prstGeom prst="rect">
            <a:avLst/>
          </a:prstGeom>
          <a:noFill/>
        </p:spPr>
        <p:txBody>
          <a:bodyPr wrap="square" rtlCol="0">
            <a:spAutoFit/>
          </a:bodyPr>
          <a:lstStyle/>
          <a:p>
            <a:pPr algn="just"/>
            <a:r>
              <a:rPr lang="en-US" dirty="0"/>
              <a:t>Scalar values tell us 'how many’ employees are in each department, with no arrow showing where the employees are moving.</a:t>
            </a:r>
          </a:p>
        </p:txBody>
      </p:sp>
      <p:pic>
        <p:nvPicPr>
          <p:cNvPr id="14338" name="Picture 2">
            <a:extLst>
              <a:ext uri="{FF2B5EF4-FFF2-40B4-BE49-F238E27FC236}">
                <a16:creationId xmlns:a16="http://schemas.microsoft.com/office/drawing/2014/main" id="{8E5DE049-DCB3-EB7E-6563-E183FAC909E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26156" y="1035000"/>
            <a:ext cx="7528041" cy="478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1921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6ED7B-2481-E067-D8EA-0959B3A800A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581AD01-8ADC-0888-E877-137CD99E2E41}"/>
              </a:ext>
            </a:extLst>
          </p:cNvPr>
          <p:cNvSpPr txBox="1"/>
          <p:nvPr/>
        </p:nvSpPr>
        <p:spPr>
          <a:xfrm>
            <a:off x="7265727" y="3244334"/>
            <a:ext cx="3728338" cy="369332"/>
          </a:xfrm>
          <a:prstGeom prst="rect">
            <a:avLst/>
          </a:prstGeom>
          <a:noFill/>
        </p:spPr>
        <p:txBody>
          <a:bodyPr wrap="square" rtlCol="0">
            <a:spAutoFit/>
          </a:bodyPr>
          <a:lstStyle/>
          <a:p>
            <a:pPr algn="just"/>
            <a:r>
              <a:rPr lang="en-US" dirty="0"/>
              <a:t>Scalar could have negative values.</a:t>
            </a:r>
          </a:p>
        </p:txBody>
      </p:sp>
      <p:pic>
        <p:nvPicPr>
          <p:cNvPr id="18434" name="Picture 2">
            <a:extLst>
              <a:ext uri="{FF2B5EF4-FFF2-40B4-BE49-F238E27FC236}">
                <a16:creationId xmlns:a16="http://schemas.microsoft.com/office/drawing/2014/main" id="{4708AD9B-72D4-468A-86E0-379B33865A2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4288" y="1107000"/>
            <a:ext cx="6801439" cy="464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7096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0351BD-DD78-5230-CDD6-8E0B768B88FF}"/>
            </a:ext>
          </a:extLst>
        </p:cNvPr>
        <p:cNvGrpSpPr/>
        <p:nvPr/>
      </p:nvGrpSpPr>
      <p:grpSpPr>
        <a:xfrm>
          <a:off x="0" y="0"/>
          <a:ext cx="0" cy="0"/>
          <a:chOff x="0" y="0"/>
          <a:chExt cx="0" cy="0"/>
        </a:xfrm>
      </p:grpSpPr>
      <p:sp useBgFill="1">
        <p:nvSpPr>
          <p:cNvPr id="16402" name="Rectangle 16401">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392" name="Picture 8" descr="A graph with green and red bars&#10;&#10;AI-generated content may be incorrect.">
            <a:extLst>
              <a:ext uri="{FF2B5EF4-FFF2-40B4-BE49-F238E27FC236}">
                <a16:creationId xmlns:a16="http://schemas.microsoft.com/office/drawing/2014/main" id="{0CD43DBF-C7EE-A54B-2FD5-A1A9B325DE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810"/>
          <a:stretch>
            <a:fillRect/>
          </a:stretch>
        </p:blipFill>
        <p:spPr bwMode="auto">
          <a:xfrm>
            <a:off x="20" y="10"/>
            <a:ext cx="5686740" cy="6857990"/>
          </a:xfrm>
          <a:prstGeom prst="rect">
            <a:avLst/>
          </a:prstGeom>
          <a:noFill/>
          <a:extLst>
            <a:ext uri="{909E8E84-426E-40DD-AFC4-6F175D3DCCD1}">
              <a14:hiddenFill xmlns:a14="http://schemas.microsoft.com/office/drawing/2010/main">
                <a:solidFill>
                  <a:srgbClr val="FFFFFF"/>
                </a:solidFill>
              </a14:hiddenFill>
            </a:ext>
          </a:extLst>
        </p:spPr>
      </p:pic>
      <p:cxnSp>
        <p:nvCxnSpPr>
          <p:cNvPr id="16404" name="Straight Connector 16403">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22739" y="722376"/>
            <a:ext cx="16002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Content Placeholder 5">
            <a:extLst>
              <a:ext uri="{FF2B5EF4-FFF2-40B4-BE49-F238E27FC236}">
                <a16:creationId xmlns:a16="http://schemas.microsoft.com/office/drawing/2014/main" id="{B048A749-BC6A-0255-2396-0EE87753BCB4}"/>
              </a:ext>
            </a:extLst>
          </p:cNvPr>
          <p:cNvSpPr>
            <a:spLocks noGrp="1"/>
          </p:cNvSpPr>
          <p:nvPr>
            <p:ph idx="1"/>
          </p:nvPr>
        </p:nvSpPr>
        <p:spPr>
          <a:xfrm>
            <a:off x="5686760" y="3154558"/>
            <a:ext cx="5201121" cy="548883"/>
          </a:xfrm>
        </p:spPr>
        <p:txBody>
          <a:bodyPr vert="horz" lIns="91440" tIns="45720" rIns="91440" bIns="45720" rtlCol="0">
            <a:normAutofit/>
          </a:bodyPr>
          <a:lstStyle/>
          <a:p>
            <a:pPr marL="0" indent="0">
              <a:spcAft>
                <a:spcPts val="600"/>
              </a:spcAft>
              <a:buNone/>
            </a:pPr>
            <a:r>
              <a:rPr lang="en-US" dirty="0"/>
              <a:t>Scalar could have negative values.</a:t>
            </a:r>
          </a:p>
        </p:txBody>
      </p:sp>
    </p:spTree>
    <p:extLst>
      <p:ext uri="{BB962C8B-B14F-4D97-AF65-F5344CB8AC3E}">
        <p14:creationId xmlns:p14="http://schemas.microsoft.com/office/powerpoint/2010/main" val="2568343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D8576-93E6-E61C-4A79-E9323A14CA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56068-9D3F-F8C9-3B0A-437AFCC1C758}"/>
              </a:ext>
            </a:extLst>
          </p:cNvPr>
          <p:cNvSpPr>
            <a:spLocks noGrp="1"/>
          </p:cNvSpPr>
          <p:nvPr>
            <p:ph type="title"/>
          </p:nvPr>
        </p:nvSpPr>
        <p:spPr/>
        <p:txBody>
          <a:bodyPr/>
          <a:lstStyle/>
          <a:p>
            <a:r>
              <a:rPr lang="en-US" dirty="0"/>
              <a:t>Concept refreshing - vector</a:t>
            </a:r>
            <a:endParaRPr lang="en-EG" dirty="0"/>
          </a:p>
        </p:txBody>
      </p:sp>
      <p:sp>
        <p:nvSpPr>
          <p:cNvPr id="3" name="Content Placeholder 2">
            <a:extLst>
              <a:ext uri="{FF2B5EF4-FFF2-40B4-BE49-F238E27FC236}">
                <a16:creationId xmlns:a16="http://schemas.microsoft.com/office/drawing/2014/main" id="{60EF0370-CED3-B73C-F8DB-A0AFCF4221E6}"/>
              </a:ext>
            </a:extLst>
          </p:cNvPr>
          <p:cNvSpPr>
            <a:spLocks noGrp="1"/>
          </p:cNvSpPr>
          <p:nvPr>
            <p:ph idx="1"/>
          </p:nvPr>
        </p:nvSpPr>
        <p:spPr/>
        <p:txBody>
          <a:bodyPr>
            <a:normAutofit lnSpcReduction="10000"/>
          </a:bodyPr>
          <a:lstStyle/>
          <a:p>
            <a:pPr marL="0" indent="0" algn="ctr">
              <a:buNone/>
            </a:pPr>
            <a:r>
              <a:rPr lang="en-US" sz="2800" dirty="0">
                <a:solidFill>
                  <a:srgbClr val="FF0000"/>
                </a:solidFill>
              </a:rPr>
              <a:t>Refers to a quantity that has both </a:t>
            </a:r>
            <a:r>
              <a:rPr lang="en-US" sz="2800" b="1" dirty="0">
                <a:solidFill>
                  <a:srgbClr val="FF0000"/>
                </a:solidFill>
              </a:rPr>
              <a:t>Magnitude</a:t>
            </a:r>
            <a:r>
              <a:rPr lang="en-US" sz="2800" dirty="0">
                <a:solidFill>
                  <a:srgbClr val="FF0000"/>
                </a:solidFill>
              </a:rPr>
              <a:t> (how much) and </a:t>
            </a:r>
            <a:r>
              <a:rPr lang="en-US" sz="2800" b="1" dirty="0">
                <a:solidFill>
                  <a:srgbClr val="FF0000"/>
                </a:solidFill>
              </a:rPr>
              <a:t>Direction</a:t>
            </a:r>
            <a:r>
              <a:rPr lang="en-US" sz="2800" dirty="0">
                <a:solidFill>
                  <a:srgbClr val="FF0000"/>
                </a:solidFill>
              </a:rPr>
              <a:t> (where).</a:t>
            </a:r>
            <a:endParaRPr lang="en-US" sz="2700" dirty="0">
              <a:solidFill>
                <a:srgbClr val="FF0000"/>
              </a:solidFill>
            </a:endParaRPr>
          </a:p>
          <a:p>
            <a:pPr marL="0" indent="0" algn="ctr">
              <a:buNone/>
            </a:pPr>
            <a:endParaRPr lang="en-US" sz="2800" dirty="0">
              <a:solidFill>
                <a:srgbClr val="FF0000"/>
              </a:solidFill>
            </a:endParaRPr>
          </a:p>
          <a:p>
            <a:pPr marL="0" indent="0">
              <a:buNone/>
            </a:pPr>
            <a:r>
              <a:rPr lang="en-US" b="1" dirty="0">
                <a:solidFill>
                  <a:schemeClr val="tx1">
                    <a:lumMod val="75000"/>
                    <a:lumOff val="25000"/>
                  </a:schemeClr>
                </a:solidFill>
              </a:rPr>
              <a:t>Scalar:</a:t>
            </a:r>
            <a:r>
              <a:rPr lang="en-US" dirty="0">
                <a:solidFill>
                  <a:schemeClr val="tx1">
                    <a:lumMod val="75000"/>
                    <a:lumOff val="25000"/>
                  </a:schemeClr>
                </a:solidFill>
              </a:rPr>
              <a:t> "The wind speed is </a:t>
            </a:r>
            <a:r>
              <a:rPr lang="en-US" b="1" dirty="0">
                <a:solidFill>
                  <a:schemeClr val="tx1">
                    <a:lumMod val="75000"/>
                    <a:lumOff val="25000"/>
                  </a:schemeClr>
                </a:solidFill>
              </a:rPr>
              <a:t>20 km/h</a:t>
            </a:r>
            <a:r>
              <a:rPr lang="en-US" dirty="0">
                <a:solidFill>
                  <a:schemeClr val="tx1">
                    <a:lumMod val="75000"/>
                    <a:lumOff val="25000"/>
                  </a:schemeClr>
                </a:solidFill>
              </a:rPr>
              <a:t>." (This is just a magnitude. You can use a </a:t>
            </a:r>
            <a:r>
              <a:rPr lang="en-US" b="1" dirty="0">
                <a:solidFill>
                  <a:schemeClr val="tx1">
                    <a:lumMod val="75000"/>
                    <a:lumOff val="25000"/>
                  </a:schemeClr>
                </a:solidFill>
              </a:rPr>
              <a:t>Column chart</a:t>
            </a:r>
            <a:r>
              <a:rPr lang="en-US" dirty="0">
                <a:solidFill>
                  <a:schemeClr val="tx1">
                    <a:lumMod val="75000"/>
                    <a:lumOff val="25000"/>
                  </a:schemeClr>
                </a:solidFill>
              </a:rPr>
              <a:t> to compare wind speeds in different cities).</a:t>
            </a:r>
            <a:br>
              <a:rPr lang="en-US" dirty="0">
                <a:solidFill>
                  <a:schemeClr val="tx1">
                    <a:lumMod val="75000"/>
                    <a:lumOff val="25000"/>
                  </a:schemeClr>
                </a:solidFill>
              </a:rPr>
            </a:br>
            <a:br>
              <a:rPr lang="en-US" dirty="0">
                <a:solidFill>
                  <a:schemeClr val="tx1">
                    <a:lumMod val="75000"/>
                    <a:lumOff val="25000"/>
                  </a:schemeClr>
                </a:solidFill>
              </a:rPr>
            </a:br>
            <a:r>
              <a:rPr lang="en-US" b="1" dirty="0">
                <a:solidFill>
                  <a:schemeClr val="tx1">
                    <a:lumMod val="75000"/>
                    <a:lumOff val="25000"/>
                  </a:schemeClr>
                </a:solidFill>
              </a:rPr>
              <a:t>Vector:</a:t>
            </a:r>
            <a:r>
              <a:rPr lang="en-US" dirty="0">
                <a:solidFill>
                  <a:schemeClr val="tx1">
                    <a:lumMod val="75000"/>
                    <a:lumOff val="25000"/>
                  </a:schemeClr>
                </a:solidFill>
              </a:rPr>
              <a:t> "The wind is blowing at </a:t>
            </a:r>
            <a:r>
              <a:rPr lang="en-US" b="1" dirty="0">
                <a:solidFill>
                  <a:schemeClr val="tx1">
                    <a:lumMod val="75000"/>
                    <a:lumOff val="25000"/>
                  </a:schemeClr>
                </a:solidFill>
              </a:rPr>
              <a:t>20 km/h</a:t>
            </a:r>
            <a:r>
              <a:rPr lang="en-US" dirty="0">
                <a:solidFill>
                  <a:schemeClr val="tx1">
                    <a:lumMod val="75000"/>
                    <a:lumOff val="25000"/>
                  </a:schemeClr>
                </a:solidFill>
              </a:rPr>
              <a:t> towards the </a:t>
            </a:r>
            <a:r>
              <a:rPr lang="en-US" b="1" dirty="0">
                <a:solidFill>
                  <a:schemeClr val="tx1">
                    <a:lumMod val="75000"/>
                    <a:lumOff val="25000"/>
                  </a:schemeClr>
                </a:solidFill>
              </a:rPr>
              <a:t>North-East</a:t>
            </a:r>
            <a:r>
              <a:rPr lang="en-US" dirty="0">
                <a:solidFill>
                  <a:schemeClr val="tx1">
                    <a:lumMod val="75000"/>
                    <a:lumOff val="25000"/>
                  </a:schemeClr>
                </a:solidFill>
              </a:rPr>
              <a:t>." (This has magnitude AND direction. You would typically use a different type of visualization, like an arrow or a flow map, to show this).</a:t>
            </a:r>
            <a:br>
              <a:rPr lang="en-US" dirty="0">
                <a:solidFill>
                  <a:schemeClr val="tx1">
                    <a:lumMod val="50000"/>
                    <a:lumOff val="50000"/>
                  </a:schemeClr>
                </a:solidFill>
              </a:rPr>
            </a:br>
            <a:endParaRPr lang="en-EG" sz="1600" dirty="0">
              <a:solidFill>
                <a:schemeClr val="tx1">
                  <a:lumMod val="50000"/>
                  <a:lumOff val="50000"/>
                </a:schemeClr>
              </a:solidFill>
            </a:endParaRPr>
          </a:p>
        </p:txBody>
      </p:sp>
    </p:spTree>
    <p:extLst>
      <p:ext uri="{BB962C8B-B14F-4D97-AF65-F5344CB8AC3E}">
        <p14:creationId xmlns:p14="http://schemas.microsoft.com/office/powerpoint/2010/main" val="1435335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7EB2F-E37A-4BBF-9CAA-FD74C4AAE000}"/>
            </a:ext>
          </a:extLst>
        </p:cNvPr>
        <p:cNvGrpSpPr/>
        <p:nvPr/>
      </p:nvGrpSpPr>
      <p:grpSpPr>
        <a:xfrm>
          <a:off x="0" y="0"/>
          <a:ext cx="0" cy="0"/>
          <a:chOff x="0" y="0"/>
          <a:chExt cx="0" cy="0"/>
        </a:xfrm>
      </p:grpSpPr>
      <p:pic>
        <p:nvPicPr>
          <p:cNvPr id="19458" name="Picture 2">
            <a:extLst>
              <a:ext uri="{FF2B5EF4-FFF2-40B4-BE49-F238E27FC236}">
                <a16:creationId xmlns:a16="http://schemas.microsoft.com/office/drawing/2014/main" id="{4A9DDA4C-3C54-73C5-B290-1F98F0988B6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10984" y="1161000"/>
            <a:ext cx="7069997" cy="4536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ADF98FE-7764-D755-89FD-32F47A4B5D9D}"/>
              </a:ext>
            </a:extLst>
          </p:cNvPr>
          <p:cNvSpPr txBox="1"/>
          <p:nvPr/>
        </p:nvSpPr>
        <p:spPr>
          <a:xfrm>
            <a:off x="7580981" y="2828835"/>
            <a:ext cx="3955345" cy="923330"/>
          </a:xfrm>
          <a:prstGeom prst="rect">
            <a:avLst/>
          </a:prstGeom>
          <a:noFill/>
        </p:spPr>
        <p:txBody>
          <a:bodyPr wrap="square" rtlCol="0">
            <a:spAutoFit/>
          </a:bodyPr>
          <a:lstStyle/>
          <a:p>
            <a:pPr algn="just"/>
            <a:r>
              <a:rPr lang="en-US" dirty="0"/>
              <a:t>A time series of price changes is a series of </a:t>
            </a:r>
            <a:r>
              <a:rPr lang="en-US" b="1" dirty="0"/>
              <a:t>Signed Scalars </a:t>
            </a:r>
            <a:r>
              <a:rPr lang="en-US" dirty="0"/>
              <a:t>(Not a vector) because you only see </a:t>
            </a:r>
            <a:r>
              <a:rPr lang="en-US" b="1" dirty="0"/>
              <a:t>one fact</a:t>
            </a:r>
            <a:r>
              <a:rPr lang="en-US" dirty="0"/>
              <a:t> per day</a:t>
            </a:r>
            <a:endParaRPr lang="en-EG" dirty="0"/>
          </a:p>
        </p:txBody>
      </p:sp>
    </p:spTree>
    <p:extLst>
      <p:ext uri="{BB962C8B-B14F-4D97-AF65-F5344CB8AC3E}">
        <p14:creationId xmlns:p14="http://schemas.microsoft.com/office/powerpoint/2010/main" val="139425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96A33FB-2CB4-AD32-4A9D-E3159E01411C}"/>
              </a:ext>
            </a:extLst>
          </p:cNvPr>
          <p:cNvSpPr txBox="1"/>
          <p:nvPr/>
        </p:nvSpPr>
        <p:spPr>
          <a:xfrm>
            <a:off x="5198656" y="2028616"/>
            <a:ext cx="6909614" cy="2800767"/>
          </a:xfrm>
          <a:prstGeom prst="rect">
            <a:avLst/>
          </a:prstGeom>
          <a:noFill/>
        </p:spPr>
        <p:txBody>
          <a:bodyPr wrap="square" rtlCol="0">
            <a:spAutoFit/>
          </a:bodyPr>
          <a:lstStyle/>
          <a:p>
            <a:r>
              <a:rPr lang="en-US" sz="1600" dirty="0"/>
              <a:t>* The </a:t>
            </a:r>
            <a:r>
              <a:rPr lang="en-US" sz="1600" b="1" dirty="0"/>
              <a:t>Direction</a:t>
            </a:r>
            <a:r>
              <a:rPr lang="en-US" sz="1600" dirty="0"/>
              <a:t> of the arrow tells you a story. An arrow pointing to the 'Top-Right' means a healthy price increase. An arrow pointing to the 'Bottom-Left' means a price drop confirmed by high selling volume. That is the power of a </a:t>
            </a:r>
            <a:r>
              <a:rPr lang="en-US" sz="1600" b="1" dirty="0"/>
              <a:t>Vector</a:t>
            </a:r>
            <a:r>
              <a:rPr lang="en-US" sz="1600" dirty="0"/>
              <a:t> over a </a:t>
            </a:r>
            <a:r>
              <a:rPr lang="en-US" sz="1600" b="1" dirty="0"/>
              <a:t>Scalar</a:t>
            </a:r>
            <a:r>
              <a:rPr lang="en-US" sz="1600" dirty="0"/>
              <a:t>.</a:t>
            </a:r>
            <a:br>
              <a:rPr lang="en-US" sz="1600" dirty="0"/>
            </a:br>
            <a:br>
              <a:rPr lang="en-US" sz="1600" dirty="0"/>
            </a:br>
            <a:r>
              <a:rPr lang="en-US" sz="1600" dirty="0"/>
              <a:t>* Price went up, and people were buying heavily (High volume)</a:t>
            </a:r>
            <a:br>
              <a:rPr lang="en-US" sz="1600" dirty="0"/>
            </a:br>
            <a:br>
              <a:rPr lang="en-US" sz="1600" dirty="0"/>
            </a:br>
            <a:r>
              <a:rPr lang="en-US" sz="1600" dirty="0"/>
              <a:t>* Price went down, and people were selling heavily (High negative volume)</a:t>
            </a:r>
            <a:br>
              <a:rPr lang="en-US" sz="1600" dirty="0"/>
            </a:br>
            <a:br>
              <a:rPr lang="en-US" sz="1600" dirty="0"/>
            </a:br>
            <a:r>
              <a:rPr lang="en-US" sz="1600" dirty="0"/>
              <a:t>* Vector could be "Positive" when moving toward a goal, and  negative when moving away from a goal.</a:t>
            </a:r>
            <a:endParaRPr lang="en-EG" sz="1600" dirty="0"/>
          </a:p>
        </p:txBody>
      </p:sp>
      <p:pic>
        <p:nvPicPr>
          <p:cNvPr id="19464" name="Picture 8">
            <a:extLst>
              <a:ext uri="{FF2B5EF4-FFF2-40B4-BE49-F238E27FC236}">
                <a16:creationId xmlns:a16="http://schemas.microsoft.com/office/drawing/2014/main" id="{33CBE71D-E545-8AEC-A01C-3C2B6EAE6E8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855000"/>
            <a:ext cx="5198656" cy="51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0516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3A26E-3F0E-F5DF-7AD4-375073256C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970237-2DFD-EF78-C9A1-9D395E8078E3}"/>
              </a:ext>
            </a:extLst>
          </p:cNvPr>
          <p:cNvSpPr>
            <a:spLocks noGrp="1"/>
          </p:cNvSpPr>
          <p:nvPr>
            <p:ph type="title"/>
          </p:nvPr>
        </p:nvSpPr>
        <p:spPr/>
        <p:txBody>
          <a:bodyPr/>
          <a:lstStyle/>
          <a:p>
            <a:r>
              <a:rPr lang="en-US" dirty="0"/>
              <a:t>Concept refreshing - Univariate</a:t>
            </a:r>
            <a:endParaRPr lang="en-EG" dirty="0"/>
          </a:p>
        </p:txBody>
      </p:sp>
      <p:sp>
        <p:nvSpPr>
          <p:cNvPr id="3" name="Content Placeholder 2">
            <a:extLst>
              <a:ext uri="{FF2B5EF4-FFF2-40B4-BE49-F238E27FC236}">
                <a16:creationId xmlns:a16="http://schemas.microsoft.com/office/drawing/2014/main" id="{C994F0EC-A2F9-6720-1C4B-81F8990F15D4}"/>
              </a:ext>
            </a:extLst>
          </p:cNvPr>
          <p:cNvSpPr>
            <a:spLocks noGrp="1"/>
          </p:cNvSpPr>
          <p:nvPr>
            <p:ph idx="1"/>
          </p:nvPr>
        </p:nvSpPr>
        <p:spPr>
          <a:xfrm>
            <a:off x="700635" y="1760608"/>
            <a:ext cx="10691265" cy="1834484"/>
          </a:xfrm>
        </p:spPr>
        <p:txBody>
          <a:bodyPr>
            <a:normAutofit fontScale="85000" lnSpcReduction="20000"/>
          </a:bodyPr>
          <a:lstStyle/>
          <a:p>
            <a:pPr marL="0" indent="0" algn="ctr">
              <a:buNone/>
            </a:pPr>
            <a:r>
              <a:rPr lang="en-US" sz="2600" dirty="0">
                <a:solidFill>
                  <a:srgbClr val="FF0000"/>
                </a:solidFill>
              </a:rPr>
              <a:t>“Uni” means one. This is the simplest form of analyzing data where you examine only </a:t>
            </a:r>
            <a:r>
              <a:rPr lang="en-US" sz="2600" b="1" dirty="0">
                <a:solidFill>
                  <a:srgbClr val="FF0000"/>
                </a:solidFill>
              </a:rPr>
              <a:t>one variable</a:t>
            </a:r>
            <a:r>
              <a:rPr lang="en-US" sz="2600" dirty="0">
                <a:solidFill>
                  <a:srgbClr val="FF0000"/>
                </a:solidFill>
              </a:rPr>
              <a:t> at a time (highlight </a:t>
            </a:r>
            <a:r>
              <a:rPr lang="en-US" sz="2600" b="1" dirty="0">
                <a:solidFill>
                  <a:srgbClr val="FF0000"/>
                </a:solidFill>
              </a:rPr>
              <a:t>magnitude, frequency, or count</a:t>
            </a:r>
            <a:r>
              <a:rPr lang="en-US" sz="2600" dirty="0">
                <a:solidFill>
                  <a:srgbClr val="FF0000"/>
                </a:solidFill>
              </a:rPr>
              <a:t> and ignore </a:t>
            </a:r>
            <a:r>
              <a:rPr lang="en-US" sz="2600" b="1" dirty="0">
                <a:solidFill>
                  <a:srgbClr val="FF0000"/>
                </a:solidFill>
              </a:rPr>
              <a:t>causes</a:t>
            </a:r>
            <a:r>
              <a:rPr lang="en-US" sz="2600" dirty="0">
                <a:solidFill>
                  <a:srgbClr val="FF0000"/>
                </a:solidFill>
              </a:rPr>
              <a:t> and </a:t>
            </a:r>
            <a:r>
              <a:rPr lang="en-US" sz="2600" b="1" dirty="0">
                <a:solidFill>
                  <a:srgbClr val="FF0000"/>
                </a:solidFill>
              </a:rPr>
              <a:t>relationships</a:t>
            </a:r>
            <a:r>
              <a:rPr lang="en-US" sz="2600" dirty="0">
                <a:solidFill>
                  <a:srgbClr val="FF0000"/>
                </a:solidFill>
              </a:rPr>
              <a:t>)</a:t>
            </a:r>
            <a:endParaRPr lang="en-US" sz="3800" dirty="0">
              <a:solidFill>
                <a:srgbClr val="FF0000"/>
              </a:solidFill>
            </a:endParaRPr>
          </a:p>
          <a:p>
            <a:pPr marL="0" indent="0" algn="ctr">
              <a:buNone/>
            </a:pPr>
            <a:r>
              <a:rPr lang="en-US" sz="2800" b="1" dirty="0"/>
              <a:t>Uni</a:t>
            </a:r>
            <a:r>
              <a:rPr lang="en-US" sz="2800" dirty="0"/>
              <a:t> (One) + </a:t>
            </a:r>
            <a:r>
              <a:rPr lang="en-US" sz="2800" b="1" dirty="0"/>
              <a:t>Variate</a:t>
            </a:r>
            <a:r>
              <a:rPr lang="en-US" sz="2800" dirty="0"/>
              <a:t> (Variable)</a:t>
            </a:r>
            <a:br>
              <a:rPr lang="en-US" sz="2800" dirty="0">
                <a:solidFill>
                  <a:srgbClr val="FF0000"/>
                </a:solidFill>
              </a:rPr>
            </a:br>
            <a:r>
              <a:rPr lang="en-US" sz="2400" dirty="0"/>
              <a:t>Most simple </a:t>
            </a:r>
            <a:r>
              <a:rPr lang="en-US" sz="2400" b="1" dirty="0"/>
              <a:t>Column and Bar charts</a:t>
            </a:r>
            <a:r>
              <a:rPr lang="en-US" sz="2400" dirty="0"/>
              <a:t> used for basic ranking are univariate</a:t>
            </a:r>
            <a:endParaRPr lang="en-EG" sz="1600" dirty="0">
              <a:solidFill>
                <a:schemeClr val="tx1">
                  <a:lumMod val="50000"/>
                  <a:lumOff val="50000"/>
                </a:schemeClr>
              </a:solidFill>
            </a:endParaRPr>
          </a:p>
        </p:txBody>
      </p:sp>
      <p:graphicFrame>
        <p:nvGraphicFramePr>
          <p:cNvPr id="4" name="Table 3">
            <a:extLst>
              <a:ext uri="{FF2B5EF4-FFF2-40B4-BE49-F238E27FC236}">
                <a16:creationId xmlns:a16="http://schemas.microsoft.com/office/drawing/2014/main" id="{C748FAF8-7588-AB58-07D2-D50A4D8A3346}"/>
              </a:ext>
            </a:extLst>
          </p:cNvPr>
          <p:cNvGraphicFramePr>
            <a:graphicFrameLocks noGrp="1"/>
          </p:cNvGraphicFramePr>
          <p:nvPr>
            <p:extLst>
              <p:ext uri="{D42A27DB-BD31-4B8C-83A1-F6EECF244321}">
                <p14:modId xmlns:p14="http://schemas.microsoft.com/office/powerpoint/2010/main" val="1412939396"/>
              </p:ext>
            </p:extLst>
          </p:nvPr>
        </p:nvGraphicFramePr>
        <p:xfrm>
          <a:off x="5591311" y="3595092"/>
          <a:ext cx="6126241" cy="2488020"/>
        </p:xfrm>
        <a:graphic>
          <a:graphicData uri="http://schemas.openxmlformats.org/drawingml/2006/table">
            <a:tbl>
              <a:tblPr>
                <a:tableStyleId>{5940675A-B579-460E-94D1-54222C63F5DA}</a:tableStyleId>
              </a:tblPr>
              <a:tblGrid>
                <a:gridCol w="1821860">
                  <a:extLst>
                    <a:ext uri="{9D8B030D-6E8A-4147-A177-3AD203B41FA5}">
                      <a16:colId xmlns:a16="http://schemas.microsoft.com/office/drawing/2014/main" val="2894959514"/>
                    </a:ext>
                  </a:extLst>
                </a:gridCol>
                <a:gridCol w="2047353">
                  <a:extLst>
                    <a:ext uri="{9D8B030D-6E8A-4147-A177-3AD203B41FA5}">
                      <a16:colId xmlns:a16="http://schemas.microsoft.com/office/drawing/2014/main" val="1863374032"/>
                    </a:ext>
                  </a:extLst>
                </a:gridCol>
                <a:gridCol w="725468">
                  <a:extLst>
                    <a:ext uri="{9D8B030D-6E8A-4147-A177-3AD203B41FA5}">
                      <a16:colId xmlns:a16="http://schemas.microsoft.com/office/drawing/2014/main" val="811139019"/>
                    </a:ext>
                  </a:extLst>
                </a:gridCol>
                <a:gridCol w="1531560">
                  <a:extLst>
                    <a:ext uri="{9D8B030D-6E8A-4147-A177-3AD203B41FA5}">
                      <a16:colId xmlns:a16="http://schemas.microsoft.com/office/drawing/2014/main" val="1858601627"/>
                    </a:ext>
                  </a:extLst>
                </a:gridCol>
              </a:tblGrid>
              <a:tr h="724360">
                <a:tc>
                  <a:txBody>
                    <a:bodyPr/>
                    <a:lstStyle/>
                    <a:p>
                      <a:pPr rtl="0">
                        <a:buNone/>
                      </a:pPr>
                      <a:r>
                        <a:rPr lang="en-US" sz="1600" b="1" strike="sngStrike" dirty="0">
                          <a:solidFill>
                            <a:srgbClr val="1F1F1F"/>
                          </a:solidFill>
                          <a:effectLst/>
                        </a:rPr>
                        <a:t>Employee Name</a:t>
                      </a:r>
                      <a:endParaRPr lang="en-US" sz="1600" strike="sngStrike" dirty="0">
                        <a:solidFill>
                          <a:srgbClr val="1F1F1F"/>
                        </a:solidFill>
                        <a:effectLst/>
                        <a:latin typeface="Google Sans Text"/>
                      </a:endParaRPr>
                    </a:p>
                  </a:txBody>
                  <a:tcPr marL="114300" marR="114300" marT="76200" marB="76200" anchor="ctr"/>
                </a:tc>
                <a:tc>
                  <a:txBody>
                    <a:bodyPr/>
                    <a:lstStyle/>
                    <a:p>
                      <a:pPr rtl="0">
                        <a:buNone/>
                      </a:pPr>
                      <a:r>
                        <a:rPr lang="en-US" sz="1600" b="1" dirty="0">
                          <a:solidFill>
                            <a:srgbClr val="1F1F1F"/>
                          </a:solidFill>
                          <a:effectLst/>
                        </a:rPr>
                        <a:t>Years of Experience (The Only Variable)</a:t>
                      </a:r>
                      <a:endParaRPr lang="en-US" sz="1600" dirty="0">
                        <a:solidFill>
                          <a:srgbClr val="1F1F1F"/>
                        </a:solidFill>
                        <a:effectLst/>
                        <a:latin typeface="Google Sans Text"/>
                      </a:endParaRPr>
                    </a:p>
                  </a:txBody>
                  <a:tcPr marL="114300" marR="114300" marT="76200" marB="76200" anchor="ctr">
                    <a:solidFill>
                      <a:schemeClr val="bg1">
                        <a:lumMod val="95000"/>
                      </a:schemeClr>
                    </a:solidFill>
                  </a:tcPr>
                </a:tc>
                <a:tc>
                  <a:txBody>
                    <a:bodyPr/>
                    <a:lstStyle/>
                    <a:p>
                      <a:pPr algn="ctr" rtl="0">
                        <a:buNone/>
                      </a:pPr>
                      <a:r>
                        <a:rPr lang="en-US" sz="1600" strike="sngStrike" dirty="0">
                          <a:solidFill>
                            <a:srgbClr val="1F1F1F"/>
                          </a:solidFill>
                          <a:effectLst/>
                          <a:latin typeface="Google Sans Text"/>
                        </a:rPr>
                        <a:t>Age</a:t>
                      </a:r>
                    </a:p>
                  </a:txBody>
                  <a:tcPr marL="114300" marR="114300" marT="76200" marB="76200" anchor="ctr"/>
                </a:tc>
                <a:tc>
                  <a:txBody>
                    <a:bodyPr/>
                    <a:lstStyle/>
                    <a:p>
                      <a:pPr algn="ctr" rtl="0">
                        <a:buNone/>
                      </a:pPr>
                      <a:r>
                        <a:rPr lang="en-US" sz="1600" strike="sngStrike" dirty="0">
                          <a:solidFill>
                            <a:srgbClr val="1F1F1F"/>
                          </a:solidFill>
                          <a:effectLst/>
                          <a:latin typeface="Google Sans Text"/>
                        </a:rPr>
                        <a:t>Department</a:t>
                      </a:r>
                    </a:p>
                  </a:txBody>
                  <a:tcPr marL="114300" marR="114300" marT="76200" marB="76200" anchor="ctr"/>
                </a:tc>
                <a:extLst>
                  <a:ext uri="{0D108BD9-81ED-4DB2-BD59-A6C34878D82A}">
                    <a16:rowId xmlns:a16="http://schemas.microsoft.com/office/drawing/2014/main" val="2199496662"/>
                  </a:ext>
                </a:extLst>
              </a:tr>
              <a:tr h="440915">
                <a:tc>
                  <a:txBody>
                    <a:bodyPr/>
                    <a:lstStyle/>
                    <a:p>
                      <a:pPr algn="ctr" rtl="0">
                        <a:buNone/>
                      </a:pPr>
                      <a:r>
                        <a:rPr lang="en-US" sz="1600" strike="sngStrike" dirty="0">
                          <a:solidFill>
                            <a:srgbClr val="1F1F1F"/>
                          </a:solidFill>
                          <a:effectLst/>
                        </a:rPr>
                        <a:t>John</a:t>
                      </a:r>
                      <a:endParaRPr lang="en-US" sz="1600" strike="sngStrike" dirty="0">
                        <a:solidFill>
                          <a:srgbClr val="1F1F1F"/>
                        </a:solidFill>
                        <a:effectLst/>
                        <a:latin typeface="Google Sans Text"/>
                      </a:endParaRPr>
                    </a:p>
                  </a:txBody>
                  <a:tcPr marL="114300" marR="114300" marT="76200" marB="76200" anchor="ctr"/>
                </a:tc>
                <a:tc>
                  <a:txBody>
                    <a:bodyPr/>
                    <a:lstStyle/>
                    <a:p>
                      <a:pPr algn="ctr" rtl="0">
                        <a:buNone/>
                      </a:pPr>
                      <a:r>
                        <a:rPr lang="en-EG" sz="1600" dirty="0">
                          <a:solidFill>
                            <a:srgbClr val="1F1F1F"/>
                          </a:solidFill>
                          <a:effectLst/>
                        </a:rPr>
                        <a:t>3</a:t>
                      </a:r>
                      <a:endParaRPr lang="en-EG" sz="1600" dirty="0">
                        <a:solidFill>
                          <a:srgbClr val="1F1F1F"/>
                        </a:solidFill>
                        <a:effectLst/>
                        <a:latin typeface="Google Sans Text"/>
                      </a:endParaRPr>
                    </a:p>
                  </a:txBody>
                  <a:tcPr marL="114300" marR="114300" marT="76200" marB="76200" anchor="ctr">
                    <a:solidFill>
                      <a:schemeClr val="bg1">
                        <a:lumMod val="95000"/>
                      </a:schemeClr>
                    </a:solidFill>
                  </a:tcPr>
                </a:tc>
                <a:tc>
                  <a:txBody>
                    <a:bodyPr/>
                    <a:lstStyle/>
                    <a:p>
                      <a:pPr algn="ctr" rtl="0">
                        <a:buNone/>
                      </a:pPr>
                      <a:r>
                        <a:rPr lang="en-EG" sz="1600" strike="sngStrike" dirty="0">
                          <a:solidFill>
                            <a:srgbClr val="1F1F1F"/>
                          </a:solidFill>
                          <a:effectLst/>
                          <a:latin typeface="Google Sans Text"/>
                        </a:rPr>
                        <a:t>24</a:t>
                      </a:r>
                    </a:p>
                  </a:txBody>
                  <a:tcPr marL="114300" marR="114300" marT="76200" marB="76200" anchor="ctr"/>
                </a:tc>
                <a:tc>
                  <a:txBody>
                    <a:bodyPr/>
                    <a:lstStyle/>
                    <a:p>
                      <a:pPr algn="ctr" rtl="0">
                        <a:buNone/>
                      </a:pPr>
                      <a:r>
                        <a:rPr lang="en-EG" sz="1600" strike="sngStrike" dirty="0">
                          <a:solidFill>
                            <a:srgbClr val="1F1F1F"/>
                          </a:solidFill>
                          <a:effectLst/>
                          <a:latin typeface="Google Sans Text"/>
                        </a:rPr>
                        <a:t>IT</a:t>
                      </a:r>
                    </a:p>
                  </a:txBody>
                  <a:tcPr marL="114300" marR="114300" marT="76200" marB="76200" anchor="ctr"/>
                </a:tc>
                <a:extLst>
                  <a:ext uri="{0D108BD9-81ED-4DB2-BD59-A6C34878D82A}">
                    <a16:rowId xmlns:a16="http://schemas.microsoft.com/office/drawing/2014/main" val="2119401008"/>
                  </a:ext>
                </a:extLst>
              </a:tr>
              <a:tr h="440915">
                <a:tc>
                  <a:txBody>
                    <a:bodyPr/>
                    <a:lstStyle/>
                    <a:p>
                      <a:pPr algn="ctr" rtl="0">
                        <a:buNone/>
                      </a:pPr>
                      <a:r>
                        <a:rPr lang="en-US" sz="1600" strike="sngStrike" dirty="0">
                          <a:solidFill>
                            <a:srgbClr val="1F1F1F"/>
                          </a:solidFill>
                          <a:effectLst/>
                        </a:rPr>
                        <a:t>Sarah</a:t>
                      </a:r>
                      <a:endParaRPr lang="en-US" sz="1600" strike="sngStrike" dirty="0">
                        <a:solidFill>
                          <a:srgbClr val="1F1F1F"/>
                        </a:solidFill>
                        <a:effectLst/>
                        <a:latin typeface="Google Sans Text"/>
                      </a:endParaRPr>
                    </a:p>
                  </a:txBody>
                  <a:tcPr marL="114300" marR="114300" marT="76200" marB="76200" anchor="ctr"/>
                </a:tc>
                <a:tc>
                  <a:txBody>
                    <a:bodyPr/>
                    <a:lstStyle/>
                    <a:p>
                      <a:pPr algn="ctr" rtl="0">
                        <a:buNone/>
                      </a:pPr>
                      <a:r>
                        <a:rPr lang="en-EG" sz="1600" dirty="0">
                          <a:solidFill>
                            <a:srgbClr val="1F1F1F"/>
                          </a:solidFill>
                          <a:effectLst/>
                        </a:rPr>
                        <a:t>5</a:t>
                      </a:r>
                      <a:endParaRPr lang="en-EG" sz="1600" dirty="0">
                        <a:solidFill>
                          <a:srgbClr val="1F1F1F"/>
                        </a:solidFill>
                        <a:effectLst/>
                        <a:latin typeface="Google Sans Text"/>
                      </a:endParaRPr>
                    </a:p>
                  </a:txBody>
                  <a:tcPr marL="114300" marR="114300" marT="76200" marB="76200" anchor="ctr">
                    <a:solidFill>
                      <a:schemeClr val="bg1">
                        <a:lumMod val="95000"/>
                      </a:schemeClr>
                    </a:solidFill>
                  </a:tcPr>
                </a:tc>
                <a:tc>
                  <a:txBody>
                    <a:bodyPr/>
                    <a:lstStyle/>
                    <a:p>
                      <a:pPr algn="ctr" rtl="0">
                        <a:buNone/>
                      </a:pPr>
                      <a:r>
                        <a:rPr lang="en-EG" sz="1600" strike="sngStrike" dirty="0">
                          <a:solidFill>
                            <a:srgbClr val="1F1F1F"/>
                          </a:solidFill>
                          <a:effectLst/>
                          <a:latin typeface="Google Sans Text"/>
                        </a:rPr>
                        <a:t>26</a:t>
                      </a:r>
                    </a:p>
                  </a:txBody>
                  <a:tcPr marL="114300" marR="114300" marT="76200" marB="76200" anchor="ctr"/>
                </a:tc>
                <a:tc>
                  <a:txBody>
                    <a:bodyPr/>
                    <a:lstStyle/>
                    <a:p>
                      <a:pPr algn="ctr" rtl="0">
                        <a:buNone/>
                      </a:pPr>
                      <a:r>
                        <a:rPr lang="en-EG" sz="1600" strike="sngStrike" dirty="0">
                          <a:solidFill>
                            <a:srgbClr val="1F1F1F"/>
                          </a:solidFill>
                          <a:effectLst/>
                          <a:latin typeface="Google Sans Text"/>
                        </a:rPr>
                        <a:t>IT</a:t>
                      </a:r>
                    </a:p>
                  </a:txBody>
                  <a:tcPr marL="114300" marR="114300" marT="76200" marB="76200" anchor="ctr"/>
                </a:tc>
                <a:extLst>
                  <a:ext uri="{0D108BD9-81ED-4DB2-BD59-A6C34878D82A}">
                    <a16:rowId xmlns:a16="http://schemas.microsoft.com/office/drawing/2014/main" val="94872192"/>
                  </a:ext>
                </a:extLst>
              </a:tr>
              <a:tr h="440915">
                <a:tc>
                  <a:txBody>
                    <a:bodyPr/>
                    <a:lstStyle/>
                    <a:p>
                      <a:pPr algn="ctr" rtl="0">
                        <a:buNone/>
                      </a:pPr>
                      <a:r>
                        <a:rPr lang="en-US" sz="1600" strike="sngStrike" dirty="0">
                          <a:solidFill>
                            <a:srgbClr val="1F1F1F"/>
                          </a:solidFill>
                          <a:effectLst/>
                        </a:rPr>
                        <a:t>Mike</a:t>
                      </a:r>
                      <a:endParaRPr lang="en-US" sz="1600" strike="sngStrike" dirty="0">
                        <a:solidFill>
                          <a:srgbClr val="1F1F1F"/>
                        </a:solidFill>
                        <a:effectLst/>
                        <a:latin typeface="Google Sans Text"/>
                      </a:endParaRPr>
                    </a:p>
                  </a:txBody>
                  <a:tcPr marL="114300" marR="114300" marT="76200" marB="76200" anchor="ctr"/>
                </a:tc>
                <a:tc>
                  <a:txBody>
                    <a:bodyPr/>
                    <a:lstStyle/>
                    <a:p>
                      <a:pPr algn="ctr" rtl="0">
                        <a:buNone/>
                      </a:pPr>
                      <a:r>
                        <a:rPr lang="en-EG" sz="1600" dirty="0">
                          <a:solidFill>
                            <a:srgbClr val="1F1F1F"/>
                          </a:solidFill>
                          <a:effectLst/>
                        </a:rPr>
                        <a:t>3</a:t>
                      </a:r>
                      <a:endParaRPr lang="en-EG" sz="1600" dirty="0">
                        <a:solidFill>
                          <a:srgbClr val="1F1F1F"/>
                        </a:solidFill>
                        <a:effectLst/>
                        <a:latin typeface="Google Sans Text"/>
                      </a:endParaRPr>
                    </a:p>
                  </a:txBody>
                  <a:tcPr marL="114300" marR="114300" marT="76200" marB="76200" anchor="ctr">
                    <a:solidFill>
                      <a:schemeClr val="bg1">
                        <a:lumMod val="95000"/>
                      </a:schemeClr>
                    </a:solidFill>
                  </a:tcPr>
                </a:tc>
                <a:tc>
                  <a:txBody>
                    <a:bodyPr/>
                    <a:lstStyle/>
                    <a:p>
                      <a:pPr algn="ctr" rtl="0">
                        <a:buNone/>
                      </a:pPr>
                      <a:r>
                        <a:rPr lang="en-EG" sz="1600" strike="sngStrike" dirty="0">
                          <a:solidFill>
                            <a:srgbClr val="1F1F1F"/>
                          </a:solidFill>
                          <a:effectLst/>
                          <a:latin typeface="Google Sans Text"/>
                        </a:rPr>
                        <a:t>23</a:t>
                      </a:r>
                    </a:p>
                  </a:txBody>
                  <a:tcPr marL="114300" marR="114300" marT="76200" marB="76200" anchor="ctr"/>
                </a:tc>
                <a:tc>
                  <a:txBody>
                    <a:bodyPr/>
                    <a:lstStyle/>
                    <a:p>
                      <a:pPr algn="ctr" rtl="0">
                        <a:buNone/>
                      </a:pPr>
                      <a:r>
                        <a:rPr lang="en-EG" sz="1600" strike="sngStrike" dirty="0">
                          <a:solidFill>
                            <a:srgbClr val="1F1F1F"/>
                          </a:solidFill>
                          <a:effectLst/>
                          <a:latin typeface="Google Sans Text"/>
                        </a:rPr>
                        <a:t>Marketing</a:t>
                      </a:r>
                    </a:p>
                  </a:txBody>
                  <a:tcPr marL="114300" marR="114300" marT="76200" marB="76200" anchor="ctr"/>
                </a:tc>
                <a:extLst>
                  <a:ext uri="{0D108BD9-81ED-4DB2-BD59-A6C34878D82A}">
                    <a16:rowId xmlns:a16="http://schemas.microsoft.com/office/drawing/2014/main" val="1417871756"/>
                  </a:ext>
                </a:extLst>
              </a:tr>
              <a:tr h="440915">
                <a:tc>
                  <a:txBody>
                    <a:bodyPr/>
                    <a:lstStyle/>
                    <a:p>
                      <a:pPr algn="ctr" rtl="0">
                        <a:buNone/>
                      </a:pPr>
                      <a:r>
                        <a:rPr lang="en-US" sz="1600" strike="sngStrike" dirty="0">
                          <a:solidFill>
                            <a:srgbClr val="1F1F1F"/>
                          </a:solidFill>
                          <a:effectLst/>
                        </a:rPr>
                        <a:t>Anna</a:t>
                      </a:r>
                      <a:endParaRPr lang="en-US" sz="1600" strike="sngStrike" dirty="0">
                        <a:solidFill>
                          <a:srgbClr val="1F1F1F"/>
                        </a:solidFill>
                        <a:effectLst/>
                        <a:latin typeface="Google Sans Text"/>
                      </a:endParaRPr>
                    </a:p>
                  </a:txBody>
                  <a:tcPr marL="114300" marR="114300" marT="76200" marB="76200" anchor="ctr"/>
                </a:tc>
                <a:tc>
                  <a:txBody>
                    <a:bodyPr/>
                    <a:lstStyle/>
                    <a:p>
                      <a:pPr algn="ctr" rtl="0">
                        <a:buNone/>
                      </a:pPr>
                      <a:r>
                        <a:rPr lang="en-EG" sz="1600" dirty="0">
                          <a:solidFill>
                            <a:srgbClr val="1F1F1F"/>
                          </a:solidFill>
                          <a:effectLst/>
                        </a:rPr>
                        <a:t>3</a:t>
                      </a:r>
                      <a:endParaRPr lang="en-EG" sz="1600" dirty="0">
                        <a:solidFill>
                          <a:srgbClr val="1F1F1F"/>
                        </a:solidFill>
                        <a:effectLst/>
                        <a:latin typeface="Google Sans Text"/>
                      </a:endParaRPr>
                    </a:p>
                  </a:txBody>
                  <a:tcPr marL="114300" marR="114300" marT="76200" marB="76200" anchor="ctr">
                    <a:solidFill>
                      <a:schemeClr val="bg1">
                        <a:lumMod val="95000"/>
                      </a:schemeClr>
                    </a:solidFill>
                  </a:tcPr>
                </a:tc>
                <a:tc>
                  <a:txBody>
                    <a:bodyPr/>
                    <a:lstStyle/>
                    <a:p>
                      <a:pPr algn="ctr" rtl="0">
                        <a:buNone/>
                      </a:pPr>
                      <a:r>
                        <a:rPr lang="en-EG" sz="1600" strike="sngStrike" dirty="0">
                          <a:solidFill>
                            <a:srgbClr val="1F1F1F"/>
                          </a:solidFill>
                          <a:effectLst/>
                          <a:latin typeface="Google Sans Text"/>
                        </a:rPr>
                        <a:t>26</a:t>
                      </a:r>
                    </a:p>
                  </a:txBody>
                  <a:tcPr marL="114300" marR="114300" marT="76200" marB="76200" anchor="ctr"/>
                </a:tc>
                <a:tc>
                  <a:txBody>
                    <a:bodyPr/>
                    <a:lstStyle/>
                    <a:p>
                      <a:pPr algn="ctr" rtl="0">
                        <a:buNone/>
                      </a:pPr>
                      <a:r>
                        <a:rPr lang="en-EG" sz="1600" strike="sngStrike" dirty="0">
                          <a:solidFill>
                            <a:srgbClr val="1F1F1F"/>
                          </a:solidFill>
                          <a:effectLst/>
                          <a:latin typeface="Google Sans Text"/>
                        </a:rPr>
                        <a:t>Marketing</a:t>
                      </a:r>
                    </a:p>
                  </a:txBody>
                  <a:tcPr marL="114300" marR="114300" marT="76200" marB="76200" anchor="ctr"/>
                </a:tc>
                <a:extLst>
                  <a:ext uri="{0D108BD9-81ED-4DB2-BD59-A6C34878D82A}">
                    <a16:rowId xmlns:a16="http://schemas.microsoft.com/office/drawing/2014/main" val="1881312276"/>
                  </a:ext>
                </a:extLst>
              </a:tr>
            </a:tbl>
          </a:graphicData>
        </a:graphic>
      </p:graphicFrame>
      <p:sp>
        <p:nvSpPr>
          <p:cNvPr id="5" name="TextBox 4">
            <a:extLst>
              <a:ext uri="{FF2B5EF4-FFF2-40B4-BE49-F238E27FC236}">
                <a16:creationId xmlns:a16="http://schemas.microsoft.com/office/drawing/2014/main" id="{8B5F3E66-C898-C16A-0883-93CA660ABDBF}"/>
              </a:ext>
            </a:extLst>
          </p:cNvPr>
          <p:cNvSpPr txBox="1"/>
          <p:nvPr/>
        </p:nvSpPr>
        <p:spPr>
          <a:xfrm>
            <a:off x="700634" y="3808050"/>
            <a:ext cx="4691743" cy="2308324"/>
          </a:xfrm>
          <a:prstGeom prst="rect">
            <a:avLst/>
          </a:prstGeom>
          <a:noFill/>
        </p:spPr>
        <p:txBody>
          <a:bodyPr wrap="square" rtlCol="0">
            <a:spAutoFit/>
          </a:bodyPr>
          <a:lstStyle/>
          <a:p>
            <a:pPr algn="just"/>
            <a:r>
              <a:rPr lang="en-US" sz="1600" dirty="0">
                <a:solidFill>
                  <a:schemeClr val="tx1">
                    <a:lumMod val="85000"/>
                    <a:lumOff val="15000"/>
                  </a:schemeClr>
                </a:solidFill>
              </a:rPr>
              <a:t>Imagine you have a list of 100 employees. Your spreadsheet has many columns: Name, Years of Experience, Age, Department, and Salary. If you hide every column except </a:t>
            </a:r>
            <a:r>
              <a:rPr lang="en-US" sz="1600" b="1" dirty="0">
                <a:solidFill>
                  <a:schemeClr val="tx1">
                    <a:lumMod val="85000"/>
                    <a:lumOff val="15000"/>
                  </a:schemeClr>
                </a:solidFill>
              </a:rPr>
              <a:t>Years of Experience</a:t>
            </a:r>
            <a:r>
              <a:rPr lang="en-US" sz="1600" dirty="0">
                <a:solidFill>
                  <a:schemeClr val="tx1">
                    <a:lumMod val="85000"/>
                    <a:lumOff val="15000"/>
                  </a:schemeClr>
                </a:solidFill>
              </a:rPr>
              <a:t> and just look at those numbers, you are doing </a:t>
            </a:r>
            <a:r>
              <a:rPr lang="en-US" sz="1600" b="1" dirty="0">
                <a:solidFill>
                  <a:schemeClr val="tx1">
                    <a:lumMod val="85000"/>
                    <a:lumOff val="15000"/>
                  </a:schemeClr>
                </a:solidFill>
              </a:rPr>
              <a:t>Univariate Analysis</a:t>
            </a:r>
            <a:r>
              <a:rPr lang="en-US" sz="1600" dirty="0">
                <a:solidFill>
                  <a:schemeClr val="tx1">
                    <a:lumMod val="85000"/>
                    <a:lumOff val="15000"/>
                  </a:schemeClr>
                </a:solidFill>
              </a:rPr>
              <a:t>. </a:t>
            </a:r>
            <a:r>
              <a:rPr lang="en-US" sz="1600" dirty="0"/>
              <a:t>You aren't asking "Does age affect experience?" (That would be two variables). You are only asking "What do our experience levels look like?"</a:t>
            </a:r>
            <a:endParaRPr lang="en-EG" sz="1600" dirty="0"/>
          </a:p>
        </p:txBody>
      </p:sp>
    </p:spTree>
    <p:extLst>
      <p:ext uri="{BB962C8B-B14F-4D97-AF65-F5344CB8AC3E}">
        <p14:creationId xmlns:p14="http://schemas.microsoft.com/office/powerpoint/2010/main" val="1523365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C081B-259B-03F3-E98E-D9541C08A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0BB2F0-6F68-3CEF-CA0A-BEBF3CA8257D}"/>
              </a:ext>
            </a:extLst>
          </p:cNvPr>
          <p:cNvSpPr>
            <a:spLocks noGrp="1"/>
          </p:cNvSpPr>
          <p:nvPr>
            <p:ph type="title"/>
          </p:nvPr>
        </p:nvSpPr>
        <p:spPr/>
        <p:txBody>
          <a:bodyPr/>
          <a:lstStyle/>
          <a:p>
            <a:r>
              <a:rPr lang="en-US" dirty="0"/>
              <a:t>Concept refreshing - Univariate</a:t>
            </a:r>
            <a:endParaRPr lang="en-EG" dirty="0"/>
          </a:p>
        </p:txBody>
      </p:sp>
      <p:sp>
        <p:nvSpPr>
          <p:cNvPr id="3" name="Content Placeholder 2">
            <a:extLst>
              <a:ext uri="{FF2B5EF4-FFF2-40B4-BE49-F238E27FC236}">
                <a16:creationId xmlns:a16="http://schemas.microsoft.com/office/drawing/2014/main" id="{55EF86F8-B780-C5DA-4C38-755A9ADBCCFE}"/>
              </a:ext>
            </a:extLst>
          </p:cNvPr>
          <p:cNvSpPr>
            <a:spLocks noGrp="1"/>
          </p:cNvSpPr>
          <p:nvPr>
            <p:ph idx="1"/>
          </p:nvPr>
        </p:nvSpPr>
        <p:spPr/>
        <p:txBody>
          <a:bodyPr>
            <a:normAutofit fontScale="92500" lnSpcReduction="10000"/>
          </a:bodyPr>
          <a:lstStyle/>
          <a:p>
            <a:pPr marL="0" indent="0">
              <a:spcBef>
                <a:spcPts val="0"/>
              </a:spcBef>
              <a:buNone/>
            </a:pPr>
            <a:r>
              <a:rPr lang="en-US" sz="2400" b="1" dirty="0"/>
              <a:t>The Three Questions of Univariate Analysis: </a:t>
            </a:r>
          </a:p>
          <a:p>
            <a:pPr marL="0" indent="0">
              <a:spcBef>
                <a:spcPts val="0"/>
              </a:spcBef>
              <a:buNone/>
            </a:pPr>
            <a:r>
              <a:rPr lang="en-US" sz="1800" dirty="0"/>
              <a:t>(When you look at that one column of data, you only care about three things</a:t>
            </a:r>
            <a:r>
              <a:rPr lang="en-US" sz="1800" dirty="0">
                <a:sym typeface="Wingdings" pitchFamily="2" charset="2"/>
              </a:rPr>
              <a:t>)</a:t>
            </a:r>
          </a:p>
          <a:p>
            <a:pPr marL="0" indent="0">
              <a:spcBef>
                <a:spcPts val="0"/>
              </a:spcBef>
              <a:buNone/>
            </a:pPr>
            <a:r>
              <a:rPr lang="en-US" sz="1800" dirty="0">
                <a:solidFill>
                  <a:schemeClr val="tx1">
                    <a:lumMod val="50000"/>
                    <a:lumOff val="50000"/>
                  </a:schemeClr>
                </a:solidFill>
                <a:sym typeface="Wingdings" pitchFamily="2" charset="2"/>
              </a:rPr>
              <a:t>  </a:t>
            </a:r>
          </a:p>
          <a:p>
            <a:pPr marL="0" indent="0">
              <a:spcBef>
                <a:spcPts val="0"/>
              </a:spcBef>
              <a:buNone/>
            </a:pPr>
            <a:r>
              <a:rPr lang="en-US" sz="1800" b="1" dirty="0">
                <a:solidFill>
                  <a:schemeClr val="tx1">
                    <a:lumMod val="75000"/>
                    <a:lumOff val="25000"/>
                  </a:schemeClr>
                </a:solidFill>
                <a:sym typeface="Wingdings" pitchFamily="2" charset="2"/>
              </a:rPr>
              <a:t>1)</a:t>
            </a:r>
            <a:r>
              <a:rPr lang="en-US" sz="1800" dirty="0">
                <a:solidFill>
                  <a:schemeClr val="tx1">
                    <a:lumMod val="75000"/>
                    <a:lumOff val="25000"/>
                  </a:schemeClr>
                </a:solidFill>
                <a:sym typeface="Wingdings" pitchFamily="2" charset="2"/>
              </a:rPr>
              <a:t> </a:t>
            </a:r>
            <a:r>
              <a:rPr lang="en-US" sz="1800" b="1" dirty="0">
                <a:solidFill>
                  <a:schemeClr val="tx1">
                    <a:lumMod val="75000"/>
                    <a:lumOff val="25000"/>
                  </a:schemeClr>
                </a:solidFill>
              </a:rPr>
              <a:t>The Central Tendency:</a:t>
            </a:r>
            <a:r>
              <a:rPr lang="en-US" sz="1800" dirty="0">
                <a:solidFill>
                  <a:schemeClr val="tx1">
                    <a:lumMod val="75000"/>
                    <a:lumOff val="25000"/>
                  </a:schemeClr>
                </a:solidFill>
              </a:rPr>
              <a:t> What is the "average" or "middle" number? (Mean/Median).</a:t>
            </a:r>
          </a:p>
          <a:p>
            <a:pPr marL="0" indent="0">
              <a:spcBef>
                <a:spcPts val="0"/>
              </a:spcBef>
              <a:buNone/>
            </a:pPr>
            <a:r>
              <a:rPr lang="en-US" sz="1800" b="1" dirty="0">
                <a:solidFill>
                  <a:schemeClr val="tx1">
                    <a:lumMod val="75000"/>
                    <a:lumOff val="25000"/>
                  </a:schemeClr>
                </a:solidFill>
              </a:rPr>
              <a:t> </a:t>
            </a:r>
          </a:p>
          <a:p>
            <a:pPr marL="0" indent="0">
              <a:spcBef>
                <a:spcPts val="0"/>
              </a:spcBef>
              <a:buNone/>
            </a:pPr>
            <a:r>
              <a:rPr lang="en-US" sz="1800" b="1" dirty="0">
                <a:solidFill>
                  <a:schemeClr val="tx1">
                    <a:lumMod val="75000"/>
                    <a:lumOff val="25000"/>
                  </a:schemeClr>
                </a:solidFill>
              </a:rPr>
              <a:t>2) The Dispersion:</a:t>
            </a:r>
            <a:r>
              <a:rPr lang="en-US" sz="1800" dirty="0">
                <a:solidFill>
                  <a:schemeClr val="tx1">
                    <a:lumMod val="75000"/>
                    <a:lumOff val="25000"/>
                  </a:schemeClr>
                </a:solidFill>
              </a:rPr>
              <a:t> How spread out are the numbers? Are they all close to 5 years, or do we have 1 year and 20 years? (Range/Standard Deviation).</a:t>
            </a:r>
            <a:br>
              <a:rPr lang="en-US" sz="1800" dirty="0">
                <a:solidFill>
                  <a:schemeClr val="tx1">
                    <a:lumMod val="75000"/>
                    <a:lumOff val="25000"/>
                  </a:schemeClr>
                </a:solidFill>
              </a:rPr>
            </a:br>
            <a:r>
              <a:rPr lang="en-US" sz="1800" dirty="0">
                <a:solidFill>
                  <a:schemeClr val="tx1">
                    <a:lumMod val="75000"/>
                    <a:lumOff val="25000"/>
                  </a:schemeClr>
                </a:solidFill>
              </a:rPr>
              <a:t>  </a:t>
            </a:r>
          </a:p>
          <a:p>
            <a:pPr marL="0" indent="0">
              <a:spcBef>
                <a:spcPts val="0"/>
              </a:spcBef>
              <a:buNone/>
            </a:pPr>
            <a:r>
              <a:rPr lang="en-US" sz="1800" b="1" dirty="0">
                <a:solidFill>
                  <a:schemeClr val="tx1">
                    <a:lumMod val="75000"/>
                    <a:lumOff val="25000"/>
                  </a:schemeClr>
                </a:solidFill>
              </a:rPr>
              <a:t>3)</a:t>
            </a:r>
            <a:r>
              <a:rPr lang="en-US" sz="1800" dirty="0">
                <a:solidFill>
                  <a:schemeClr val="tx1">
                    <a:lumMod val="75000"/>
                    <a:lumOff val="25000"/>
                  </a:schemeClr>
                </a:solidFill>
              </a:rPr>
              <a:t> </a:t>
            </a:r>
            <a:r>
              <a:rPr lang="en-US" sz="1800" b="1" dirty="0">
                <a:solidFill>
                  <a:schemeClr val="tx1">
                    <a:lumMod val="75000"/>
                    <a:lumOff val="25000"/>
                  </a:schemeClr>
                </a:solidFill>
              </a:rPr>
              <a:t>The Distribution:</a:t>
            </a:r>
            <a:r>
              <a:rPr lang="en-US" sz="1800" dirty="0">
                <a:solidFill>
                  <a:schemeClr val="tx1">
                    <a:lumMod val="75000"/>
                    <a:lumOff val="25000"/>
                  </a:schemeClr>
                </a:solidFill>
              </a:rPr>
              <a:t> What is the "shape" of the data? (This is where the charts come in).</a:t>
            </a:r>
          </a:p>
          <a:p>
            <a:pPr marL="0" indent="0">
              <a:spcBef>
                <a:spcPts val="0"/>
              </a:spcBef>
              <a:buNone/>
            </a:pPr>
            <a:endParaRPr lang="en-US" sz="1800" dirty="0">
              <a:solidFill>
                <a:schemeClr val="tx1">
                  <a:lumMod val="75000"/>
                  <a:lumOff val="25000"/>
                </a:schemeClr>
              </a:solidFill>
            </a:endParaRPr>
          </a:p>
          <a:p>
            <a:pPr marL="0" indent="0">
              <a:spcBef>
                <a:spcPts val="0"/>
              </a:spcBef>
              <a:buNone/>
            </a:pPr>
            <a:r>
              <a:rPr lang="en-US" sz="2400" b="1" dirty="0"/>
              <a:t>There are two ways to visualize that one column of data:</a:t>
            </a:r>
            <a:br>
              <a:rPr lang="en-US" sz="2400" b="1" dirty="0"/>
            </a:br>
            <a:r>
              <a:rPr lang="en-US" sz="1800" dirty="0">
                <a:solidFill>
                  <a:schemeClr val="tx1">
                    <a:lumMod val="75000"/>
                    <a:lumOff val="25000"/>
                  </a:schemeClr>
                </a:solidFill>
              </a:rPr>
              <a:t>A. Categorical Univariate</a:t>
            </a:r>
            <a:br>
              <a:rPr lang="en-US" sz="1800" dirty="0">
                <a:solidFill>
                  <a:schemeClr val="tx1">
                    <a:lumMod val="75000"/>
                    <a:lumOff val="25000"/>
                  </a:schemeClr>
                </a:solidFill>
              </a:rPr>
            </a:br>
            <a:r>
              <a:rPr lang="en-US" sz="1800" dirty="0">
                <a:solidFill>
                  <a:schemeClr val="tx1">
                    <a:lumMod val="75000"/>
                    <a:lumOff val="25000"/>
                  </a:schemeClr>
                </a:solidFill>
              </a:rPr>
              <a:t>B. Numerical Univariate</a:t>
            </a:r>
            <a:endParaRPr lang="en-EG" sz="1800" dirty="0">
              <a:solidFill>
                <a:schemeClr val="tx1">
                  <a:lumMod val="75000"/>
                  <a:lumOff val="25000"/>
                </a:schemeClr>
              </a:solidFill>
            </a:endParaRPr>
          </a:p>
        </p:txBody>
      </p:sp>
    </p:spTree>
    <p:extLst>
      <p:ext uri="{BB962C8B-B14F-4D97-AF65-F5344CB8AC3E}">
        <p14:creationId xmlns:p14="http://schemas.microsoft.com/office/powerpoint/2010/main" val="3368769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715259-1014-9DCE-A9B2-B47A936734A8}"/>
            </a:ext>
          </a:extLst>
        </p:cNvPr>
        <p:cNvGrpSpPr/>
        <p:nvPr/>
      </p:nvGrpSpPr>
      <p:grpSpPr>
        <a:xfrm>
          <a:off x="0" y="0"/>
          <a:ext cx="0" cy="0"/>
          <a:chOff x="0" y="0"/>
          <a:chExt cx="0" cy="0"/>
        </a:xfrm>
      </p:grpSpPr>
      <p:cxnSp>
        <p:nvCxnSpPr>
          <p:cNvPr id="3081" name="Straight Connector 3080">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3" name="Straight Connector 3082">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3085" name="Rectangle 3084">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E64141-89E9-544A-1B71-7D8470867007}"/>
              </a:ext>
            </a:extLst>
          </p:cNvPr>
          <p:cNvSpPr>
            <a:spLocks noGrp="1"/>
          </p:cNvSpPr>
          <p:nvPr>
            <p:ph type="title"/>
          </p:nvPr>
        </p:nvSpPr>
        <p:spPr>
          <a:xfrm>
            <a:off x="800099" y="752592"/>
            <a:ext cx="10591799" cy="532724"/>
          </a:xfrm>
        </p:spPr>
        <p:txBody>
          <a:bodyPr vert="horz" lIns="91440" tIns="45720" rIns="91440" bIns="45720" rtlCol="0" anchor="t">
            <a:noAutofit/>
          </a:bodyPr>
          <a:lstStyle/>
          <a:p>
            <a:r>
              <a:rPr lang="en-US" sz="3200" dirty="0"/>
              <a:t>Categorical Univariate</a:t>
            </a:r>
          </a:p>
        </p:txBody>
      </p:sp>
      <p:cxnSp>
        <p:nvCxnSpPr>
          <p:cNvPr id="3087" name="Straight Connector 3086">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9" name="Straight Connector 3088">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885"/>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38D07B05-28E8-3ADB-0BB1-0108BAFC8DA2}"/>
              </a:ext>
            </a:extLst>
          </p:cNvPr>
          <p:cNvSpPr>
            <a:spLocks noGrp="1"/>
          </p:cNvSpPr>
          <p:nvPr>
            <p:ph idx="1"/>
          </p:nvPr>
        </p:nvSpPr>
        <p:spPr>
          <a:xfrm>
            <a:off x="800099" y="1483742"/>
            <a:ext cx="10866195" cy="1323187"/>
          </a:xfrm>
        </p:spPr>
        <p:txBody>
          <a:bodyPr>
            <a:normAutofit/>
          </a:bodyPr>
          <a:lstStyle/>
          <a:p>
            <a:pPr marL="0" indent="0">
              <a:buNone/>
            </a:pPr>
            <a:r>
              <a:rPr lang="en-US" sz="1600" b="1" dirty="0"/>
              <a:t>The Condition:</a:t>
            </a:r>
            <a:r>
              <a:rPr lang="en-US" sz="1600" dirty="0"/>
              <a:t> Use this when your one variable is attached to </a:t>
            </a:r>
            <a:r>
              <a:rPr lang="en-US" sz="1600" b="1" dirty="0"/>
              <a:t>names or categories</a:t>
            </a:r>
            <a:r>
              <a:rPr lang="en-US" sz="1600" dirty="0"/>
              <a:t>.</a:t>
            </a:r>
            <a:br>
              <a:rPr lang="en-US" sz="1600" dirty="0"/>
            </a:br>
            <a:r>
              <a:rPr lang="en-US" sz="1600" b="1" dirty="0"/>
              <a:t>The Question:</a:t>
            </a:r>
            <a:r>
              <a:rPr lang="en-US" sz="1600" dirty="0"/>
              <a:t> The owner wants to know which type of drink is most popular.</a:t>
            </a:r>
            <a:br>
              <a:rPr lang="en-US" sz="1600" dirty="0"/>
            </a:br>
            <a:r>
              <a:rPr lang="en-US" sz="1600" b="1" dirty="0"/>
              <a:t>The Single Variable:</a:t>
            </a:r>
            <a:r>
              <a:rPr lang="en-US" sz="1600" dirty="0"/>
              <a:t> Drink Type.</a:t>
            </a:r>
            <a:br>
              <a:rPr lang="en-US" sz="1600" dirty="0"/>
            </a:br>
            <a:r>
              <a:rPr lang="en-US" sz="1600" b="1" dirty="0"/>
              <a:t>The Goal:</a:t>
            </a:r>
            <a:r>
              <a:rPr lang="en-US" sz="1600" dirty="0"/>
              <a:t> Compare the </a:t>
            </a:r>
            <a:r>
              <a:rPr lang="en-US" sz="1600" b="1" dirty="0"/>
              <a:t>magnitude</a:t>
            </a:r>
            <a:r>
              <a:rPr lang="en-US" sz="1600" dirty="0"/>
              <a:t> of sales between distinct categories.</a:t>
            </a:r>
            <a:endParaRPr lang="en-EG" sz="1600" dirty="0"/>
          </a:p>
        </p:txBody>
      </p:sp>
      <p:graphicFrame>
        <p:nvGraphicFramePr>
          <p:cNvPr id="6" name="Table 5">
            <a:extLst>
              <a:ext uri="{FF2B5EF4-FFF2-40B4-BE49-F238E27FC236}">
                <a16:creationId xmlns:a16="http://schemas.microsoft.com/office/drawing/2014/main" id="{58A128C5-C74B-B685-CA83-4E0B0502F17A}"/>
              </a:ext>
            </a:extLst>
          </p:cNvPr>
          <p:cNvGraphicFramePr>
            <a:graphicFrameLocks noGrp="1"/>
          </p:cNvGraphicFramePr>
          <p:nvPr>
            <p:extLst>
              <p:ext uri="{D42A27DB-BD31-4B8C-83A1-F6EECF244321}">
                <p14:modId xmlns:p14="http://schemas.microsoft.com/office/powerpoint/2010/main" val="2718185112"/>
              </p:ext>
            </p:extLst>
          </p:nvPr>
        </p:nvGraphicFramePr>
        <p:xfrm>
          <a:off x="7256592" y="3160590"/>
          <a:ext cx="4536622" cy="2266973"/>
        </p:xfrm>
        <a:graphic>
          <a:graphicData uri="http://schemas.openxmlformats.org/drawingml/2006/table">
            <a:tbl>
              <a:tblPr>
                <a:tableStyleId>{5940675A-B579-460E-94D1-54222C63F5DA}</a:tableStyleId>
              </a:tblPr>
              <a:tblGrid>
                <a:gridCol w="1839686">
                  <a:extLst>
                    <a:ext uri="{9D8B030D-6E8A-4147-A177-3AD203B41FA5}">
                      <a16:colId xmlns:a16="http://schemas.microsoft.com/office/drawing/2014/main" val="1137062538"/>
                    </a:ext>
                  </a:extLst>
                </a:gridCol>
                <a:gridCol w="2696936">
                  <a:extLst>
                    <a:ext uri="{9D8B030D-6E8A-4147-A177-3AD203B41FA5}">
                      <a16:colId xmlns:a16="http://schemas.microsoft.com/office/drawing/2014/main" val="3265754096"/>
                    </a:ext>
                  </a:extLst>
                </a:gridCol>
              </a:tblGrid>
              <a:tr h="438173">
                <a:tc>
                  <a:txBody>
                    <a:bodyPr/>
                    <a:lstStyle/>
                    <a:p>
                      <a:pPr algn="ctr" rtl="0">
                        <a:buNone/>
                      </a:pPr>
                      <a:r>
                        <a:rPr lang="en-US" sz="1400" b="1" strike="sngStrike" dirty="0">
                          <a:solidFill>
                            <a:srgbClr val="1F1F1F"/>
                          </a:solidFill>
                          <a:effectLst/>
                        </a:rPr>
                        <a:t>Transaction ID</a:t>
                      </a:r>
                      <a:endParaRPr lang="en-US" sz="1400" strike="sngStrike" dirty="0">
                        <a:solidFill>
                          <a:srgbClr val="1F1F1F"/>
                        </a:solidFill>
                        <a:effectLst/>
                        <a:latin typeface="Google Sans Text"/>
                      </a:endParaRPr>
                    </a:p>
                  </a:txBody>
                  <a:tcPr marL="114300" marR="114300" marT="76200" marB="76200" anchor="ctr"/>
                </a:tc>
                <a:tc>
                  <a:txBody>
                    <a:bodyPr/>
                    <a:lstStyle/>
                    <a:p>
                      <a:pPr algn="ctr" rtl="0">
                        <a:buNone/>
                      </a:pPr>
                      <a:r>
                        <a:rPr lang="en-US" sz="1400" b="1" dirty="0">
                          <a:solidFill>
                            <a:srgbClr val="1F1F1F"/>
                          </a:solidFill>
                          <a:effectLst/>
                        </a:rPr>
                        <a:t>Drink Type (The Variable)</a:t>
                      </a:r>
                      <a:endParaRPr lang="en-US"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666461171"/>
                  </a:ext>
                </a:extLst>
              </a:tr>
              <a:tr h="266714">
                <a:tc>
                  <a:txBody>
                    <a:bodyPr/>
                    <a:lstStyle/>
                    <a:p>
                      <a:pPr algn="ctr" rtl="0">
                        <a:buNone/>
                      </a:pPr>
                      <a:r>
                        <a:rPr lang="en-EG" sz="1400" strike="sngStrike" dirty="0">
                          <a:solidFill>
                            <a:srgbClr val="1F1F1F"/>
                          </a:solidFill>
                          <a:effectLst/>
                        </a:rPr>
                        <a:t>#001</a:t>
                      </a:r>
                      <a:endParaRPr lang="en-EG" sz="1400" strike="sngStrike" dirty="0">
                        <a:solidFill>
                          <a:srgbClr val="1F1F1F"/>
                        </a:solidFill>
                        <a:effectLst/>
                        <a:latin typeface="Google Sans Text"/>
                      </a:endParaRPr>
                    </a:p>
                  </a:txBody>
                  <a:tcPr marL="114300" marR="114300" marT="76200" marB="76200" anchor="ctr"/>
                </a:tc>
                <a:tc>
                  <a:txBody>
                    <a:bodyPr/>
                    <a:lstStyle/>
                    <a:p>
                      <a:pPr algn="ctr" rtl="0">
                        <a:buNone/>
                      </a:pPr>
                      <a:r>
                        <a:rPr lang="en-US" sz="1400" dirty="0">
                          <a:solidFill>
                            <a:srgbClr val="1F1F1F"/>
                          </a:solidFill>
                          <a:effectLst/>
                        </a:rPr>
                        <a:t>Latte</a:t>
                      </a:r>
                      <a:endParaRPr lang="en-US"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501053172"/>
                  </a:ext>
                </a:extLst>
              </a:tr>
              <a:tr h="266714">
                <a:tc>
                  <a:txBody>
                    <a:bodyPr/>
                    <a:lstStyle/>
                    <a:p>
                      <a:pPr algn="ctr" rtl="0">
                        <a:buNone/>
                      </a:pPr>
                      <a:r>
                        <a:rPr lang="en-EG" sz="1400" strike="sngStrike" dirty="0">
                          <a:solidFill>
                            <a:srgbClr val="1F1F1F"/>
                          </a:solidFill>
                          <a:effectLst/>
                        </a:rPr>
                        <a:t>#002</a:t>
                      </a:r>
                      <a:endParaRPr lang="en-EG" sz="1400" strike="sngStrike" dirty="0">
                        <a:solidFill>
                          <a:srgbClr val="1F1F1F"/>
                        </a:solidFill>
                        <a:effectLst/>
                        <a:latin typeface="Google Sans Text"/>
                      </a:endParaRPr>
                    </a:p>
                  </a:txBody>
                  <a:tcPr marL="114300" marR="114300" marT="76200" marB="76200" anchor="ctr"/>
                </a:tc>
                <a:tc>
                  <a:txBody>
                    <a:bodyPr/>
                    <a:lstStyle/>
                    <a:p>
                      <a:pPr algn="ctr" rtl="0">
                        <a:buNone/>
                      </a:pPr>
                      <a:r>
                        <a:rPr lang="en-US" sz="1400" dirty="0">
                          <a:solidFill>
                            <a:srgbClr val="1F1F1F"/>
                          </a:solidFill>
                          <a:effectLst/>
                        </a:rPr>
                        <a:t>Espresso</a:t>
                      </a:r>
                      <a:endParaRPr lang="en-US"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978462397"/>
                  </a:ext>
                </a:extLst>
              </a:tr>
              <a:tr h="266714">
                <a:tc>
                  <a:txBody>
                    <a:bodyPr/>
                    <a:lstStyle/>
                    <a:p>
                      <a:pPr algn="ctr" rtl="0">
                        <a:buNone/>
                      </a:pPr>
                      <a:r>
                        <a:rPr lang="en-EG" sz="1400" strike="sngStrike" dirty="0">
                          <a:solidFill>
                            <a:srgbClr val="1F1F1F"/>
                          </a:solidFill>
                          <a:effectLst/>
                        </a:rPr>
                        <a:t>#003</a:t>
                      </a:r>
                      <a:endParaRPr lang="en-EG" sz="1400" strike="sngStrike" dirty="0">
                        <a:solidFill>
                          <a:srgbClr val="1F1F1F"/>
                        </a:solidFill>
                        <a:effectLst/>
                        <a:latin typeface="Google Sans Text"/>
                      </a:endParaRPr>
                    </a:p>
                  </a:txBody>
                  <a:tcPr marL="114300" marR="114300" marT="76200" marB="76200" anchor="ctr"/>
                </a:tc>
                <a:tc>
                  <a:txBody>
                    <a:bodyPr/>
                    <a:lstStyle/>
                    <a:p>
                      <a:pPr algn="ctr" rtl="0">
                        <a:buNone/>
                      </a:pPr>
                      <a:r>
                        <a:rPr lang="en-US" sz="1400" dirty="0">
                          <a:solidFill>
                            <a:srgbClr val="1F1F1F"/>
                          </a:solidFill>
                          <a:effectLst/>
                        </a:rPr>
                        <a:t>Latte</a:t>
                      </a:r>
                      <a:endParaRPr lang="en-US"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00868901"/>
                  </a:ext>
                </a:extLst>
              </a:tr>
              <a:tr h="266714">
                <a:tc>
                  <a:txBody>
                    <a:bodyPr/>
                    <a:lstStyle/>
                    <a:p>
                      <a:pPr algn="ctr" rtl="0">
                        <a:buNone/>
                      </a:pPr>
                      <a:r>
                        <a:rPr lang="en-EG" sz="1400" strike="sngStrike" dirty="0">
                          <a:solidFill>
                            <a:srgbClr val="1F1F1F"/>
                          </a:solidFill>
                          <a:effectLst/>
                        </a:rPr>
                        <a:t>#004</a:t>
                      </a:r>
                      <a:endParaRPr lang="en-EG" sz="1400" strike="sngStrike" dirty="0">
                        <a:solidFill>
                          <a:srgbClr val="1F1F1F"/>
                        </a:solidFill>
                        <a:effectLst/>
                        <a:latin typeface="Google Sans Text"/>
                      </a:endParaRPr>
                    </a:p>
                  </a:txBody>
                  <a:tcPr marL="114300" marR="114300" marT="76200" marB="76200" anchor="ctr"/>
                </a:tc>
                <a:tc>
                  <a:txBody>
                    <a:bodyPr/>
                    <a:lstStyle/>
                    <a:p>
                      <a:pPr algn="ctr" rtl="0">
                        <a:buNone/>
                      </a:pPr>
                      <a:r>
                        <a:rPr lang="en-US" sz="1400" dirty="0">
                          <a:solidFill>
                            <a:srgbClr val="1F1F1F"/>
                          </a:solidFill>
                          <a:effectLst/>
                        </a:rPr>
                        <a:t>Americano</a:t>
                      </a:r>
                      <a:endParaRPr lang="en-US"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625176646"/>
                  </a:ext>
                </a:extLst>
              </a:tr>
              <a:tr h="266714">
                <a:tc>
                  <a:txBody>
                    <a:bodyPr/>
                    <a:lstStyle/>
                    <a:p>
                      <a:pPr algn="ctr" rtl="0">
                        <a:buNone/>
                      </a:pPr>
                      <a:r>
                        <a:rPr lang="en-EG" sz="1400" strike="sngStrike" dirty="0">
                          <a:solidFill>
                            <a:srgbClr val="1F1F1F"/>
                          </a:solidFill>
                          <a:effectLst/>
                        </a:rPr>
                        <a:t>#005</a:t>
                      </a:r>
                      <a:endParaRPr lang="en-EG" sz="1400" strike="sngStrike" dirty="0">
                        <a:solidFill>
                          <a:srgbClr val="1F1F1F"/>
                        </a:solidFill>
                        <a:effectLst/>
                        <a:latin typeface="Google Sans Text"/>
                      </a:endParaRPr>
                    </a:p>
                  </a:txBody>
                  <a:tcPr marL="114300" marR="114300" marT="76200" marB="76200" anchor="ctr"/>
                </a:tc>
                <a:tc>
                  <a:txBody>
                    <a:bodyPr/>
                    <a:lstStyle/>
                    <a:p>
                      <a:pPr algn="ctr" rtl="0">
                        <a:buNone/>
                      </a:pPr>
                      <a:r>
                        <a:rPr lang="en-US" sz="1400" dirty="0">
                          <a:solidFill>
                            <a:srgbClr val="1F1F1F"/>
                          </a:solidFill>
                          <a:effectLst/>
                        </a:rPr>
                        <a:t>Latte</a:t>
                      </a:r>
                      <a:endParaRPr lang="en-US"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416474247"/>
                  </a:ext>
                </a:extLst>
              </a:tr>
            </a:tbl>
          </a:graphicData>
        </a:graphic>
      </p:graphicFrame>
      <p:pic>
        <p:nvPicPr>
          <p:cNvPr id="3078" name="Picture 6">
            <a:extLst>
              <a:ext uri="{FF2B5EF4-FFF2-40B4-BE49-F238E27FC236}">
                <a16:creationId xmlns:a16="http://schemas.microsoft.com/office/drawing/2014/main" id="{2FF1E2A7-46C4-66F7-AEA3-323A34AC1F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786" y="2770344"/>
            <a:ext cx="6768000" cy="3356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66267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C54B01-3DF2-1942-461C-06C87A3D1540}"/>
            </a:ext>
          </a:extLst>
        </p:cNvPr>
        <p:cNvGrpSpPr/>
        <p:nvPr/>
      </p:nvGrpSpPr>
      <p:grpSpPr>
        <a:xfrm>
          <a:off x="0" y="0"/>
          <a:ext cx="0" cy="0"/>
          <a:chOff x="0" y="0"/>
          <a:chExt cx="0" cy="0"/>
        </a:xfrm>
      </p:grpSpPr>
      <p:cxnSp>
        <p:nvCxnSpPr>
          <p:cNvPr id="3081" name="Straight Connector 3080">
            <a:extLst>
              <a:ext uri="{FF2B5EF4-FFF2-40B4-BE49-F238E27FC236}">
                <a16:creationId xmlns:a16="http://schemas.microsoft.com/office/drawing/2014/main" id="{46F9D3D0-5602-E53E-1B4D-A45BA16C6B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3" name="Straight Connector 3082">
            <a:extLst>
              <a:ext uri="{FF2B5EF4-FFF2-40B4-BE49-F238E27FC236}">
                <a16:creationId xmlns:a16="http://schemas.microsoft.com/office/drawing/2014/main" id="{961B28D6-DE0B-6DB9-3533-20234C1F83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3085" name="Rectangle 3084">
            <a:extLst>
              <a:ext uri="{FF2B5EF4-FFF2-40B4-BE49-F238E27FC236}">
                <a16:creationId xmlns:a16="http://schemas.microsoft.com/office/drawing/2014/main" id="{A858AB34-C71B-0745-AB73-2977A80141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9D1F3C-2686-6619-90CE-6D1FB5328A4B}"/>
              </a:ext>
            </a:extLst>
          </p:cNvPr>
          <p:cNvSpPr>
            <a:spLocks noGrp="1"/>
          </p:cNvSpPr>
          <p:nvPr>
            <p:ph type="title"/>
          </p:nvPr>
        </p:nvSpPr>
        <p:spPr>
          <a:xfrm>
            <a:off x="5531487" y="740277"/>
            <a:ext cx="5574428" cy="609550"/>
          </a:xfrm>
        </p:spPr>
        <p:txBody>
          <a:bodyPr vert="horz" lIns="91440" tIns="45720" rIns="91440" bIns="45720" rtlCol="0" anchor="t">
            <a:noAutofit/>
          </a:bodyPr>
          <a:lstStyle/>
          <a:p>
            <a:r>
              <a:rPr lang="en-US" sz="3200" dirty="0"/>
              <a:t>Numerical Univariate</a:t>
            </a:r>
          </a:p>
        </p:txBody>
      </p:sp>
      <p:cxnSp>
        <p:nvCxnSpPr>
          <p:cNvPr id="3087" name="Straight Connector 3086">
            <a:extLst>
              <a:ext uri="{FF2B5EF4-FFF2-40B4-BE49-F238E27FC236}">
                <a16:creationId xmlns:a16="http://schemas.microsoft.com/office/drawing/2014/main" id="{2FD2AE79-6DE3-FCAA-9AA4-A8446335A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9" name="Straight Connector 3088">
            <a:extLst>
              <a:ext uri="{FF2B5EF4-FFF2-40B4-BE49-F238E27FC236}">
                <a16:creationId xmlns:a16="http://schemas.microsoft.com/office/drawing/2014/main" id="{54A10262-C7F4-6614-00B1-61044B3A7C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885"/>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2CF6343E-87F3-FE1A-4B08-BAE5532B3F3A}"/>
              </a:ext>
            </a:extLst>
          </p:cNvPr>
          <p:cNvSpPr>
            <a:spLocks noGrp="1"/>
          </p:cNvSpPr>
          <p:nvPr>
            <p:ph idx="1"/>
          </p:nvPr>
        </p:nvSpPr>
        <p:spPr>
          <a:xfrm>
            <a:off x="5531487" y="1231943"/>
            <a:ext cx="6421026" cy="2708678"/>
          </a:xfrm>
        </p:spPr>
        <p:txBody>
          <a:bodyPr>
            <a:normAutofit/>
          </a:bodyPr>
          <a:lstStyle/>
          <a:p>
            <a:pPr marL="0" indent="0">
              <a:buNone/>
            </a:pPr>
            <a:r>
              <a:rPr lang="en-US" sz="1400" b="1" dirty="0"/>
              <a:t>The Condition:</a:t>
            </a:r>
            <a:r>
              <a:rPr lang="en-US" sz="1400" dirty="0"/>
              <a:t> Use this when you don't care about names and just want to see the </a:t>
            </a:r>
            <a:r>
              <a:rPr lang="en-US" sz="1400" b="1" dirty="0"/>
              <a:t>frequency of the numbers.</a:t>
            </a:r>
          </a:p>
          <a:p>
            <a:pPr marL="0" indent="0">
              <a:buNone/>
            </a:pPr>
            <a:br>
              <a:rPr lang="en-US" sz="1400" dirty="0"/>
            </a:br>
            <a:r>
              <a:rPr lang="en-US" sz="1400" b="1" dirty="0"/>
              <a:t>The Question:</a:t>
            </a:r>
            <a:r>
              <a:rPr lang="en-US" sz="1400" dirty="0"/>
              <a:t> The owner wants to know how much time customers spend in the shop.</a:t>
            </a:r>
            <a:br>
              <a:rPr lang="en-US" sz="1400" dirty="0"/>
            </a:br>
            <a:endParaRPr lang="en-US" sz="1400" dirty="0"/>
          </a:p>
          <a:p>
            <a:pPr marL="0" indent="0">
              <a:buNone/>
            </a:pPr>
            <a:r>
              <a:rPr lang="en-US" sz="1400" b="1" dirty="0"/>
              <a:t>The Single Variable:</a:t>
            </a:r>
            <a:r>
              <a:rPr lang="en-US" sz="1400" dirty="0"/>
              <a:t> Time Spent (in minutes).</a:t>
            </a:r>
            <a:br>
              <a:rPr lang="en-US" sz="1400" dirty="0"/>
            </a:br>
            <a:endParaRPr lang="en-US" sz="1400" dirty="0"/>
          </a:p>
          <a:p>
            <a:pPr marL="0" indent="0">
              <a:buNone/>
            </a:pPr>
            <a:r>
              <a:rPr lang="en-US" sz="1400" b="1" dirty="0"/>
              <a:t>The Goal:</a:t>
            </a:r>
            <a:r>
              <a:rPr lang="en-US" sz="1400" dirty="0"/>
              <a:t> Understand the </a:t>
            </a:r>
            <a:r>
              <a:rPr lang="en-US" sz="1400" b="1" dirty="0"/>
              <a:t>distribution</a:t>
            </a:r>
            <a:r>
              <a:rPr lang="en-US" sz="1400" dirty="0"/>
              <a:t> or "flow" of the day.</a:t>
            </a:r>
            <a:endParaRPr lang="en-EG" sz="1400" dirty="0"/>
          </a:p>
        </p:txBody>
      </p:sp>
      <p:pic>
        <p:nvPicPr>
          <p:cNvPr id="6146" name="Picture 2">
            <a:extLst>
              <a:ext uri="{FF2B5EF4-FFF2-40B4-BE49-F238E27FC236}">
                <a16:creationId xmlns:a16="http://schemas.microsoft.com/office/drawing/2014/main" id="{8504D176-D0D2-0633-49F4-C2D8E235D9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487" y="790123"/>
            <a:ext cx="5292000" cy="5292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C0AAD7C1-AAD1-E00F-3EEF-BD0FAC7C6ED7}"/>
              </a:ext>
            </a:extLst>
          </p:cNvPr>
          <p:cNvGraphicFramePr>
            <a:graphicFrameLocks noGrp="1"/>
          </p:cNvGraphicFramePr>
          <p:nvPr>
            <p:extLst>
              <p:ext uri="{D42A27DB-BD31-4B8C-83A1-F6EECF244321}">
                <p14:modId xmlns:p14="http://schemas.microsoft.com/office/powerpoint/2010/main" val="4166057576"/>
              </p:ext>
            </p:extLst>
          </p:nvPr>
        </p:nvGraphicFramePr>
        <p:xfrm>
          <a:off x="5531487" y="3873317"/>
          <a:ext cx="5620926" cy="2194560"/>
        </p:xfrm>
        <a:graphic>
          <a:graphicData uri="http://schemas.openxmlformats.org/drawingml/2006/table">
            <a:tbl>
              <a:tblPr>
                <a:tableStyleId>{5940675A-B579-460E-94D1-54222C63F5DA}</a:tableStyleId>
              </a:tblPr>
              <a:tblGrid>
                <a:gridCol w="1576883">
                  <a:extLst>
                    <a:ext uri="{9D8B030D-6E8A-4147-A177-3AD203B41FA5}">
                      <a16:colId xmlns:a16="http://schemas.microsoft.com/office/drawing/2014/main" val="348422620"/>
                    </a:ext>
                  </a:extLst>
                </a:gridCol>
                <a:gridCol w="4044043">
                  <a:extLst>
                    <a:ext uri="{9D8B030D-6E8A-4147-A177-3AD203B41FA5}">
                      <a16:colId xmlns:a16="http://schemas.microsoft.com/office/drawing/2014/main" val="3288445566"/>
                    </a:ext>
                  </a:extLst>
                </a:gridCol>
              </a:tblGrid>
              <a:tr h="0">
                <a:tc>
                  <a:txBody>
                    <a:bodyPr/>
                    <a:lstStyle/>
                    <a:p>
                      <a:pPr algn="ctr" rtl="0">
                        <a:buNone/>
                      </a:pPr>
                      <a:r>
                        <a:rPr lang="en-US" sz="1400" b="1" strike="sngStrike" dirty="0">
                          <a:solidFill>
                            <a:srgbClr val="1F1F1F"/>
                          </a:solidFill>
                          <a:effectLst/>
                        </a:rPr>
                        <a:t>Customer ID</a:t>
                      </a:r>
                      <a:endParaRPr lang="en-US" sz="1400" strike="sngStrike" dirty="0">
                        <a:solidFill>
                          <a:srgbClr val="1F1F1F"/>
                        </a:solidFill>
                        <a:effectLst/>
                        <a:latin typeface="Google Sans Text"/>
                      </a:endParaRPr>
                    </a:p>
                  </a:txBody>
                  <a:tcPr marL="114300" marR="114300" marT="76200" marB="76200" anchor="ctr"/>
                </a:tc>
                <a:tc>
                  <a:txBody>
                    <a:bodyPr/>
                    <a:lstStyle/>
                    <a:p>
                      <a:pPr algn="ctr" rtl="0">
                        <a:buNone/>
                      </a:pPr>
                      <a:r>
                        <a:rPr lang="en-US" sz="1400" b="1">
                          <a:solidFill>
                            <a:srgbClr val="1F1F1F"/>
                          </a:solidFill>
                          <a:effectLst/>
                        </a:rPr>
                        <a:t>Minutes Spent (The Variable)</a:t>
                      </a:r>
                      <a:endParaRPr lang="en-US" sz="14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335349578"/>
                  </a:ext>
                </a:extLst>
              </a:tr>
              <a:tr h="0">
                <a:tc>
                  <a:txBody>
                    <a:bodyPr/>
                    <a:lstStyle/>
                    <a:p>
                      <a:pPr algn="ctr" rtl="0">
                        <a:buNone/>
                      </a:pPr>
                      <a:r>
                        <a:rPr lang="en-EG" sz="1400" strike="sngStrike" dirty="0">
                          <a:solidFill>
                            <a:srgbClr val="1F1F1F"/>
                          </a:solidFill>
                          <a:effectLst/>
                        </a:rPr>
                        <a:t>#101</a:t>
                      </a:r>
                      <a:endParaRPr lang="en-EG" sz="1400" strike="sngStrike" dirty="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12.5</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976895283"/>
                  </a:ext>
                </a:extLst>
              </a:tr>
              <a:tr h="0">
                <a:tc>
                  <a:txBody>
                    <a:bodyPr/>
                    <a:lstStyle/>
                    <a:p>
                      <a:pPr algn="ctr" rtl="0">
                        <a:buNone/>
                      </a:pPr>
                      <a:r>
                        <a:rPr lang="en-EG" sz="1400" strike="sngStrike" dirty="0">
                          <a:solidFill>
                            <a:srgbClr val="1F1F1F"/>
                          </a:solidFill>
                          <a:effectLst/>
                        </a:rPr>
                        <a:t>#102</a:t>
                      </a:r>
                      <a:endParaRPr lang="en-EG" sz="1400" strike="sngStrike" dirty="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45.0</a:t>
                      </a:r>
                      <a:endParaRPr lang="en-EG" sz="14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93756198"/>
                  </a:ext>
                </a:extLst>
              </a:tr>
              <a:tr h="0">
                <a:tc>
                  <a:txBody>
                    <a:bodyPr/>
                    <a:lstStyle/>
                    <a:p>
                      <a:pPr algn="ctr" rtl="0">
                        <a:buNone/>
                      </a:pPr>
                      <a:r>
                        <a:rPr lang="en-EG" sz="1400" strike="sngStrike" dirty="0">
                          <a:solidFill>
                            <a:srgbClr val="1F1F1F"/>
                          </a:solidFill>
                          <a:effectLst/>
                        </a:rPr>
                        <a:t>#103</a:t>
                      </a:r>
                      <a:endParaRPr lang="en-EG" sz="1400" strike="sngStrike" dirty="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18.2</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546255645"/>
                  </a:ext>
                </a:extLst>
              </a:tr>
              <a:tr h="0">
                <a:tc>
                  <a:txBody>
                    <a:bodyPr/>
                    <a:lstStyle/>
                    <a:p>
                      <a:pPr algn="ctr" rtl="0">
                        <a:buNone/>
                      </a:pPr>
                      <a:r>
                        <a:rPr lang="en-EG" sz="1400" strike="sngStrike" dirty="0">
                          <a:solidFill>
                            <a:srgbClr val="1F1F1F"/>
                          </a:solidFill>
                          <a:effectLst/>
                        </a:rPr>
                        <a:t>#104</a:t>
                      </a:r>
                      <a:endParaRPr lang="en-EG" sz="1400" strike="sngStrike" dirty="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22.1</a:t>
                      </a:r>
                      <a:endParaRPr lang="en-EG" sz="14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468483790"/>
                  </a:ext>
                </a:extLst>
              </a:tr>
              <a:tr h="0">
                <a:tc>
                  <a:txBody>
                    <a:bodyPr/>
                    <a:lstStyle/>
                    <a:p>
                      <a:pPr algn="ctr" rtl="0">
                        <a:buNone/>
                      </a:pPr>
                      <a:r>
                        <a:rPr lang="en-EG" sz="1400" strike="sngStrike" dirty="0">
                          <a:solidFill>
                            <a:srgbClr val="1F1F1F"/>
                          </a:solidFill>
                          <a:effectLst/>
                        </a:rPr>
                        <a:t>#105</a:t>
                      </a:r>
                      <a:endParaRPr lang="en-EG" sz="1400" strike="sngStrike" dirty="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58.9</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948591571"/>
                  </a:ext>
                </a:extLst>
              </a:tr>
            </a:tbl>
          </a:graphicData>
        </a:graphic>
      </p:graphicFrame>
    </p:spTree>
    <p:extLst>
      <p:ext uri="{BB962C8B-B14F-4D97-AF65-F5344CB8AC3E}">
        <p14:creationId xmlns:p14="http://schemas.microsoft.com/office/powerpoint/2010/main" val="3268489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A17A3-8B54-75C2-D6C9-79076A468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B85526-0F5F-ED8F-17BD-D228E04643B1}"/>
              </a:ext>
            </a:extLst>
          </p:cNvPr>
          <p:cNvSpPr>
            <a:spLocks noGrp="1"/>
          </p:cNvSpPr>
          <p:nvPr>
            <p:ph type="title"/>
          </p:nvPr>
        </p:nvSpPr>
        <p:spPr/>
        <p:txBody>
          <a:bodyPr/>
          <a:lstStyle/>
          <a:p>
            <a:r>
              <a:rPr lang="en-US" dirty="0"/>
              <a:t>Concept refreshing - bivariate</a:t>
            </a:r>
            <a:endParaRPr lang="en-E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9D94205-D7C7-8C09-3BBF-71785595B79D}"/>
                  </a:ext>
                </a:extLst>
              </p:cNvPr>
              <p:cNvSpPr>
                <a:spLocks noGrp="1"/>
              </p:cNvSpPr>
              <p:nvPr>
                <p:ph idx="1"/>
              </p:nvPr>
            </p:nvSpPr>
            <p:spPr>
              <a:xfrm>
                <a:off x="700635" y="2221992"/>
                <a:ext cx="11023279" cy="3739896"/>
              </a:xfrm>
            </p:spPr>
            <p:txBody>
              <a:bodyPr>
                <a:normAutofit/>
              </a:bodyPr>
              <a:lstStyle/>
              <a:p>
                <a:pPr marL="0" indent="0" algn="ctr">
                  <a:buNone/>
                </a:pPr>
                <a:r>
                  <a:rPr lang="en-US" sz="2800" dirty="0">
                    <a:solidFill>
                      <a:srgbClr val="FF0000"/>
                    </a:solidFill>
                  </a:rPr>
                  <a:t>“Bi” means two. This is the analysis of exactly </a:t>
                </a:r>
                <a:r>
                  <a:rPr lang="en-US" sz="2800" b="1" dirty="0">
                    <a:solidFill>
                      <a:srgbClr val="FF0000"/>
                    </a:solidFill>
                  </a:rPr>
                  <a:t>two variables</a:t>
                </a:r>
                <a:r>
                  <a:rPr lang="en-US" sz="2800" dirty="0">
                    <a:solidFill>
                      <a:srgbClr val="FF0000"/>
                    </a:solidFill>
                  </a:rPr>
                  <a:t> to find a relationship or correlation (highlight </a:t>
                </a:r>
                <a:r>
                  <a:rPr lang="en-US" sz="2800" b="1" dirty="0">
                    <a:solidFill>
                      <a:srgbClr val="FF0000"/>
                    </a:solidFill>
                  </a:rPr>
                  <a:t>causes</a:t>
                </a:r>
                <a:r>
                  <a:rPr lang="en-US" sz="2800" dirty="0">
                    <a:solidFill>
                      <a:srgbClr val="FF0000"/>
                    </a:solidFill>
                  </a:rPr>
                  <a:t> and </a:t>
                </a:r>
                <a:r>
                  <a:rPr lang="en-US" sz="2800" b="1" dirty="0">
                    <a:solidFill>
                      <a:srgbClr val="FF0000"/>
                    </a:solidFill>
                  </a:rPr>
                  <a:t>relationships</a:t>
                </a:r>
                <a:r>
                  <a:rPr lang="en-US" sz="2800" dirty="0">
                    <a:solidFill>
                      <a:srgbClr val="FF0000"/>
                    </a:solidFill>
                  </a:rPr>
                  <a:t>)</a:t>
                </a:r>
                <a:br>
                  <a:rPr lang="en-US" sz="2800" dirty="0">
                    <a:solidFill>
                      <a:srgbClr val="FF0000"/>
                    </a:solidFill>
                  </a:rPr>
                </a:br>
                <a:r>
                  <a:rPr lang="en-US" sz="2400" dirty="0"/>
                  <a:t>Think of it as finding how </a:t>
                </a:r>
                <a14:m>
                  <m:oMath xmlns:m="http://schemas.openxmlformats.org/officeDocument/2006/math">
                    <m:r>
                      <a:rPr lang="en-US" sz="2400" b="0" i="1" smtClean="0">
                        <a:latin typeface="Cambria Math" panose="02040503050406030204" pitchFamily="18" charset="0"/>
                      </a:rPr>
                      <m:t>𝑦</m:t>
                    </m:r>
                  </m:oMath>
                </a14:m>
                <a:r>
                  <a:rPr lang="en-US" sz="2400" dirty="0"/>
                  <a:t> changes in relation to </a:t>
                </a:r>
                <a14:m>
                  <m:oMath xmlns:m="http://schemas.openxmlformats.org/officeDocument/2006/math">
                    <m:r>
                      <a:rPr lang="en-US" sz="2400" b="0" i="1" smtClean="0">
                        <a:latin typeface="Cambria Math" panose="02040503050406030204" pitchFamily="18" charset="0"/>
                      </a:rPr>
                      <m:t>𝑥</m:t>
                    </m:r>
                  </m:oMath>
                </a14:m>
                <a:endParaRPr lang="en-US" sz="2700" dirty="0">
                  <a:solidFill>
                    <a:srgbClr val="FF0000"/>
                  </a:solidFill>
                </a:endParaRPr>
              </a:p>
              <a:p>
                <a:pPr marL="0" indent="0" algn="ctr">
                  <a:buNone/>
                </a:pPr>
                <a:endParaRPr lang="en-US" sz="2800" dirty="0">
                  <a:solidFill>
                    <a:srgbClr val="FF0000"/>
                  </a:solidFill>
                </a:endParaRPr>
              </a:p>
              <a:p>
                <a:pPr marL="0" indent="0">
                  <a:buNone/>
                </a:pPr>
                <a:r>
                  <a:rPr lang="en-US" dirty="0">
                    <a:solidFill>
                      <a:schemeClr val="tx1">
                        <a:lumMod val="75000"/>
                        <a:lumOff val="25000"/>
                      </a:schemeClr>
                    </a:solidFill>
                  </a:rPr>
                  <a:t>In Bivariate analysis, we have three common combinations. We think of them as "relationships"</a:t>
                </a:r>
                <a:r>
                  <a:rPr lang="ar-SA" dirty="0">
                    <a:solidFill>
                      <a:schemeClr val="tx1">
                        <a:lumMod val="75000"/>
                        <a:lumOff val="25000"/>
                      </a:schemeClr>
                    </a:solidFill>
                  </a:rPr>
                  <a:t>:</a:t>
                </a:r>
                <a:br>
                  <a:rPr lang="en-US" sz="2800" dirty="0">
                    <a:solidFill>
                      <a:schemeClr val="tx1">
                        <a:lumMod val="75000"/>
                        <a:lumOff val="25000"/>
                      </a:schemeClr>
                    </a:solidFill>
                  </a:rPr>
                </a:br>
                <a:r>
                  <a:rPr lang="en-US" sz="2800" dirty="0">
                    <a:solidFill>
                      <a:schemeClr val="tx1">
                        <a:lumMod val="75000"/>
                        <a:lumOff val="25000"/>
                      </a:schemeClr>
                    </a:solidFill>
                  </a:rPr>
                  <a:t>  </a:t>
                </a:r>
                <a:r>
                  <a:rPr lang="en-US" sz="1600" b="1" dirty="0">
                    <a:solidFill>
                      <a:schemeClr val="tx1">
                        <a:lumMod val="75000"/>
                        <a:lumOff val="25000"/>
                      </a:schemeClr>
                    </a:solidFill>
                  </a:rPr>
                  <a:t>1)</a:t>
                </a:r>
                <a:r>
                  <a:rPr lang="en-US" sz="2800" dirty="0">
                    <a:solidFill>
                      <a:schemeClr val="tx1">
                        <a:lumMod val="75000"/>
                        <a:lumOff val="25000"/>
                      </a:schemeClr>
                    </a:solidFill>
                  </a:rPr>
                  <a:t> </a:t>
                </a:r>
                <a:r>
                  <a:rPr lang="en-US" sz="1600" b="1" dirty="0">
                    <a:solidFill>
                      <a:schemeClr val="tx1">
                        <a:lumMod val="75000"/>
                        <a:lumOff val="25000"/>
                      </a:schemeClr>
                    </a:solidFill>
                  </a:rPr>
                  <a:t>Numerical vs. Numerical:</a:t>
                </a:r>
                <a:r>
                  <a:rPr lang="en-US" sz="1600" dirty="0">
                    <a:solidFill>
                      <a:schemeClr val="tx1">
                        <a:lumMod val="75000"/>
                        <a:lumOff val="25000"/>
                      </a:schemeClr>
                    </a:solidFill>
                  </a:rPr>
                  <a:t> (e.g., Price vs. Units Sold). Usually shown with a </a:t>
                </a:r>
                <a:r>
                  <a:rPr lang="en-US" sz="1600" b="1" dirty="0">
                    <a:solidFill>
                      <a:schemeClr val="tx1">
                        <a:lumMod val="75000"/>
                        <a:lumOff val="25000"/>
                      </a:schemeClr>
                    </a:solidFill>
                  </a:rPr>
                  <a:t>Scatter Plot</a:t>
                </a:r>
                <a:br>
                  <a:rPr lang="en-US" sz="1600" b="1" dirty="0">
                    <a:solidFill>
                      <a:schemeClr val="tx1">
                        <a:lumMod val="75000"/>
                        <a:lumOff val="25000"/>
                      </a:schemeClr>
                    </a:solidFill>
                  </a:rPr>
                </a:br>
                <a:r>
                  <a:rPr lang="en-US" sz="1600" b="1" dirty="0">
                    <a:solidFill>
                      <a:schemeClr val="tx1">
                        <a:lumMod val="75000"/>
                        <a:lumOff val="25000"/>
                      </a:schemeClr>
                    </a:solidFill>
                  </a:rPr>
                  <a:t>    2) Categorical vs. Numerical:</a:t>
                </a:r>
                <a:r>
                  <a:rPr lang="en-US" sz="1600" dirty="0">
                    <a:solidFill>
                      <a:schemeClr val="tx1">
                        <a:lumMod val="75000"/>
                        <a:lumOff val="25000"/>
                      </a:schemeClr>
                    </a:solidFill>
                  </a:rPr>
                  <a:t> (e.g., Department vs. Salary). Usually shown with a </a:t>
                </a:r>
                <a:r>
                  <a:rPr lang="en-US" sz="1600" b="1" dirty="0">
                    <a:solidFill>
                      <a:schemeClr val="tx1">
                        <a:lumMod val="75000"/>
                        <a:lumOff val="25000"/>
                      </a:schemeClr>
                    </a:solidFill>
                  </a:rPr>
                  <a:t>Bar Chart</a:t>
                </a:r>
                <a:r>
                  <a:rPr lang="en-US" sz="1600" dirty="0">
                    <a:solidFill>
                      <a:schemeClr val="tx1">
                        <a:lumMod val="75000"/>
                        <a:lumOff val="25000"/>
                      </a:schemeClr>
                    </a:solidFill>
                  </a:rPr>
                  <a:t> or </a:t>
                </a:r>
                <a:r>
                  <a:rPr lang="en-US" sz="1600" b="1" dirty="0">
                    <a:solidFill>
                      <a:schemeClr val="tx1">
                        <a:lumMod val="75000"/>
                        <a:lumOff val="25000"/>
                      </a:schemeClr>
                    </a:solidFill>
                  </a:rPr>
                  <a:t>Box Plot</a:t>
                </a:r>
                <a:br>
                  <a:rPr lang="en-US" sz="1600" b="1" dirty="0">
                    <a:solidFill>
                      <a:schemeClr val="tx1">
                        <a:lumMod val="75000"/>
                        <a:lumOff val="25000"/>
                      </a:schemeClr>
                    </a:solidFill>
                  </a:rPr>
                </a:br>
                <a:r>
                  <a:rPr lang="en-US" sz="1600" b="1" dirty="0">
                    <a:solidFill>
                      <a:schemeClr val="tx1">
                        <a:lumMod val="75000"/>
                        <a:lumOff val="25000"/>
                      </a:schemeClr>
                    </a:solidFill>
                  </a:rPr>
                  <a:t>    3) Categorical vs. Categorical:</a:t>
                </a:r>
                <a:r>
                  <a:rPr lang="en-US" sz="1600" dirty="0">
                    <a:solidFill>
                      <a:schemeClr val="tx1">
                        <a:lumMod val="75000"/>
                        <a:lumOff val="25000"/>
                      </a:schemeClr>
                    </a:solidFill>
                  </a:rPr>
                  <a:t> (e.g., Gender vs. Phone Preference). Usually shown with a </a:t>
                </a:r>
                <a:r>
                  <a:rPr lang="en-US" sz="1600" b="1" dirty="0">
                    <a:solidFill>
                      <a:schemeClr val="tx1">
                        <a:lumMod val="75000"/>
                        <a:lumOff val="25000"/>
                      </a:schemeClr>
                    </a:solidFill>
                  </a:rPr>
                  <a:t>Stacked Bar Chart</a:t>
                </a:r>
                <a:r>
                  <a:rPr lang="en-US" sz="1600" dirty="0">
                    <a:solidFill>
                      <a:schemeClr val="tx1">
                        <a:lumMod val="75000"/>
                        <a:lumOff val="25000"/>
                      </a:schemeClr>
                    </a:solidFill>
                  </a:rPr>
                  <a:t> or </a:t>
                </a:r>
                <a:r>
                  <a:rPr lang="en-US" sz="1600" b="1" dirty="0">
                    <a:solidFill>
                      <a:schemeClr val="tx1">
                        <a:lumMod val="75000"/>
                        <a:lumOff val="25000"/>
                      </a:schemeClr>
                    </a:solidFill>
                  </a:rPr>
                  <a:t>Heatmap</a:t>
                </a:r>
                <a:endParaRPr lang="en-EG" sz="2200" dirty="0">
                  <a:solidFill>
                    <a:schemeClr val="tx1">
                      <a:lumMod val="75000"/>
                      <a:lumOff val="25000"/>
                    </a:schemeClr>
                  </a:solidFill>
                </a:endParaRPr>
              </a:p>
            </p:txBody>
          </p:sp>
        </mc:Choice>
        <mc:Fallback xmlns="">
          <p:sp>
            <p:nvSpPr>
              <p:cNvPr id="3" name="Content Placeholder 2">
                <a:extLst>
                  <a:ext uri="{FF2B5EF4-FFF2-40B4-BE49-F238E27FC236}">
                    <a16:creationId xmlns:a16="http://schemas.microsoft.com/office/drawing/2014/main" id="{99D94205-D7C7-8C09-3BBF-71785595B79D}"/>
                  </a:ext>
                </a:extLst>
              </p:cNvPr>
              <p:cNvSpPr>
                <a:spLocks noGrp="1" noRot="1" noChangeAspect="1" noMove="1" noResize="1" noEditPoints="1" noAdjustHandles="1" noChangeArrowheads="1" noChangeShapeType="1" noTextEdit="1"/>
              </p:cNvSpPr>
              <p:nvPr>
                <p:ph idx="1"/>
              </p:nvPr>
            </p:nvSpPr>
            <p:spPr>
              <a:xfrm>
                <a:off x="700635" y="2221992"/>
                <a:ext cx="11023279" cy="3739896"/>
              </a:xfrm>
              <a:blipFill>
                <a:blip r:embed="rId2"/>
                <a:stretch>
                  <a:fillRect l="-690" t="-1695" r="-345"/>
                </a:stretch>
              </a:blipFill>
            </p:spPr>
            <p:txBody>
              <a:bodyPr/>
              <a:lstStyle/>
              <a:p>
                <a:r>
                  <a:rPr lang="en-EG">
                    <a:noFill/>
                  </a:rPr>
                  <a:t> </a:t>
                </a:r>
              </a:p>
            </p:txBody>
          </p:sp>
        </mc:Fallback>
      </mc:AlternateContent>
    </p:spTree>
    <p:extLst>
      <p:ext uri="{BB962C8B-B14F-4D97-AF65-F5344CB8AC3E}">
        <p14:creationId xmlns:p14="http://schemas.microsoft.com/office/powerpoint/2010/main" val="2301874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BF60A-0563-36A6-F437-F44D3228C4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37A4B-B943-6EA9-95BE-4F57B5E54909}"/>
              </a:ext>
            </a:extLst>
          </p:cNvPr>
          <p:cNvSpPr>
            <a:spLocks noGrp="1"/>
          </p:cNvSpPr>
          <p:nvPr>
            <p:ph type="title"/>
          </p:nvPr>
        </p:nvSpPr>
        <p:spPr>
          <a:xfrm>
            <a:off x="651930" y="847997"/>
            <a:ext cx="10778070" cy="511193"/>
          </a:xfrm>
        </p:spPr>
        <p:txBody>
          <a:bodyPr>
            <a:normAutofit fontScale="90000"/>
          </a:bodyPr>
          <a:lstStyle/>
          <a:p>
            <a:r>
              <a:rPr lang="en-US" sz="2800" dirty="0"/>
              <a:t>Concept refreshing – bivariate (Numerical vs. Numerical)</a:t>
            </a:r>
            <a:endParaRPr lang="en-EG" sz="2800" dirty="0"/>
          </a:p>
        </p:txBody>
      </p:sp>
      <p:sp>
        <p:nvSpPr>
          <p:cNvPr id="3" name="Content Placeholder 2">
            <a:extLst>
              <a:ext uri="{FF2B5EF4-FFF2-40B4-BE49-F238E27FC236}">
                <a16:creationId xmlns:a16="http://schemas.microsoft.com/office/drawing/2014/main" id="{B6E4ACFC-6530-6E98-79CB-4F84112E0305}"/>
              </a:ext>
            </a:extLst>
          </p:cNvPr>
          <p:cNvSpPr>
            <a:spLocks noGrp="1"/>
          </p:cNvSpPr>
          <p:nvPr>
            <p:ph idx="1"/>
          </p:nvPr>
        </p:nvSpPr>
        <p:spPr>
          <a:xfrm>
            <a:off x="6697714" y="1483376"/>
            <a:ext cx="5374543" cy="2576214"/>
          </a:xfrm>
        </p:spPr>
        <p:txBody>
          <a:bodyPr>
            <a:normAutofit fontScale="92500" lnSpcReduction="20000"/>
          </a:bodyPr>
          <a:lstStyle/>
          <a:p>
            <a:pPr marL="0" indent="0">
              <a:spcBef>
                <a:spcPts val="0"/>
              </a:spcBef>
              <a:buNone/>
            </a:pPr>
            <a:r>
              <a:rPr lang="en-US" sz="1400" b="1" dirty="0"/>
              <a:t>The Scenario:</a:t>
            </a:r>
            <a:r>
              <a:rPr lang="en-US" sz="1400" dirty="0"/>
              <a:t> We want to see if </a:t>
            </a:r>
            <a:r>
              <a:rPr lang="en-US" sz="1400" b="1" dirty="0"/>
              <a:t>Price</a:t>
            </a:r>
            <a:r>
              <a:rPr lang="en-US" sz="1400" dirty="0"/>
              <a:t> (Var 1) has a relationship with </a:t>
            </a:r>
            <a:r>
              <a:rPr lang="en-US" sz="1400" b="1" dirty="0"/>
              <a:t>Units Sold </a:t>
            </a:r>
            <a:r>
              <a:rPr lang="en-US" sz="1400" dirty="0"/>
              <a:t>(Var 2). </a:t>
            </a:r>
          </a:p>
          <a:p>
            <a:pPr marL="0" indent="0">
              <a:spcBef>
                <a:spcPts val="0"/>
              </a:spcBef>
              <a:buNone/>
            </a:pPr>
            <a:endParaRPr lang="en-US" sz="1400" b="1" dirty="0"/>
          </a:p>
          <a:p>
            <a:pPr marL="0" indent="0">
              <a:spcBef>
                <a:spcPts val="0"/>
              </a:spcBef>
              <a:buNone/>
            </a:pPr>
            <a:r>
              <a:rPr lang="en-US" sz="1400" b="1" dirty="0"/>
              <a:t>The Variables:</a:t>
            </a:r>
            <a:r>
              <a:rPr lang="en-US" sz="1400" dirty="0"/>
              <a:t> Two variables—</a:t>
            </a:r>
            <a:r>
              <a:rPr lang="en-US" sz="1400" b="1" dirty="0"/>
              <a:t>Price</a:t>
            </a:r>
            <a:r>
              <a:rPr lang="en-US" sz="1400" dirty="0"/>
              <a:t> and </a:t>
            </a:r>
            <a:r>
              <a:rPr lang="en-US" sz="1400" b="1" dirty="0"/>
              <a:t>Units Sold</a:t>
            </a:r>
            <a:r>
              <a:rPr lang="ar-SA" sz="1400" b="1" dirty="0"/>
              <a:t>.</a:t>
            </a:r>
            <a:br>
              <a:rPr lang="ar-SA" sz="1400" b="1" dirty="0"/>
            </a:br>
            <a:endParaRPr lang="en-US" sz="1400" b="1" dirty="0"/>
          </a:p>
          <a:p>
            <a:pPr marL="0" indent="0">
              <a:spcBef>
                <a:spcPts val="0"/>
              </a:spcBef>
              <a:buNone/>
            </a:pPr>
            <a:r>
              <a:rPr lang="en-US" sz="1400" b="1" dirty="0"/>
              <a:t>The Relationship:</a:t>
            </a:r>
            <a:r>
              <a:rPr lang="en-US" sz="1400" dirty="0"/>
              <a:t> This is a </a:t>
            </a:r>
            <a:r>
              <a:rPr lang="en-US" sz="1400" b="1" dirty="0"/>
              <a:t>Negative Correlation</a:t>
            </a:r>
            <a:r>
              <a:rPr lang="en-US" sz="1400" dirty="0"/>
              <a:t>. As Price goes up, Units Sold go down</a:t>
            </a:r>
            <a:r>
              <a:rPr lang="ar-SA" sz="1400" dirty="0"/>
              <a:t>.</a:t>
            </a:r>
            <a:br>
              <a:rPr lang="ar-SA" sz="1400" dirty="0"/>
            </a:br>
            <a:endParaRPr lang="en-US" sz="1400" dirty="0"/>
          </a:p>
          <a:p>
            <a:pPr marL="0" indent="0">
              <a:spcBef>
                <a:spcPts val="0"/>
              </a:spcBef>
              <a:buNone/>
            </a:pPr>
            <a:r>
              <a:rPr lang="en-US" sz="1400" b="1" dirty="0"/>
              <a:t>The Question:</a:t>
            </a:r>
            <a:r>
              <a:rPr lang="en-US" sz="1400" dirty="0"/>
              <a:t> "Does the price of a phone affect how many units are sold?”</a:t>
            </a:r>
          </a:p>
          <a:p>
            <a:pPr marL="0" indent="0">
              <a:buNone/>
            </a:pPr>
            <a:br>
              <a:rPr lang="ar-SA" sz="1400" dirty="0"/>
            </a:br>
            <a:r>
              <a:rPr lang="en-US" sz="1400" dirty="0"/>
              <a:t>In this example: A scatter plot is the "Gold Standard" for Bivariate analysis because it shows if one variable "moves" in response to the other.</a:t>
            </a:r>
            <a:endParaRPr lang="en-EG" sz="1400" dirty="0"/>
          </a:p>
        </p:txBody>
      </p:sp>
      <p:graphicFrame>
        <p:nvGraphicFramePr>
          <p:cNvPr id="4" name="Table 3">
            <a:extLst>
              <a:ext uri="{FF2B5EF4-FFF2-40B4-BE49-F238E27FC236}">
                <a16:creationId xmlns:a16="http://schemas.microsoft.com/office/drawing/2014/main" id="{F00CED51-B4E4-CB2C-5E35-4451A259F62B}"/>
              </a:ext>
            </a:extLst>
          </p:cNvPr>
          <p:cNvGraphicFramePr>
            <a:graphicFrameLocks noGrp="1"/>
          </p:cNvGraphicFramePr>
          <p:nvPr>
            <p:extLst>
              <p:ext uri="{D42A27DB-BD31-4B8C-83A1-F6EECF244321}">
                <p14:modId xmlns:p14="http://schemas.microsoft.com/office/powerpoint/2010/main" val="2904039772"/>
              </p:ext>
            </p:extLst>
          </p:nvPr>
        </p:nvGraphicFramePr>
        <p:xfrm>
          <a:off x="6801130" y="4059590"/>
          <a:ext cx="4806042" cy="2011680"/>
        </p:xfrm>
        <a:graphic>
          <a:graphicData uri="http://schemas.openxmlformats.org/drawingml/2006/table">
            <a:tbl>
              <a:tblPr>
                <a:tableStyleId>{5940675A-B579-460E-94D1-54222C63F5DA}</a:tableStyleId>
              </a:tblPr>
              <a:tblGrid>
                <a:gridCol w="1003927">
                  <a:extLst>
                    <a:ext uri="{9D8B030D-6E8A-4147-A177-3AD203B41FA5}">
                      <a16:colId xmlns:a16="http://schemas.microsoft.com/office/drawing/2014/main" val="1392441174"/>
                    </a:ext>
                  </a:extLst>
                </a:gridCol>
                <a:gridCol w="1621972">
                  <a:extLst>
                    <a:ext uri="{9D8B030D-6E8A-4147-A177-3AD203B41FA5}">
                      <a16:colId xmlns:a16="http://schemas.microsoft.com/office/drawing/2014/main" val="1305492043"/>
                    </a:ext>
                  </a:extLst>
                </a:gridCol>
                <a:gridCol w="2180143">
                  <a:extLst>
                    <a:ext uri="{9D8B030D-6E8A-4147-A177-3AD203B41FA5}">
                      <a16:colId xmlns:a16="http://schemas.microsoft.com/office/drawing/2014/main" val="605982613"/>
                    </a:ext>
                  </a:extLst>
                </a:gridCol>
              </a:tblGrid>
              <a:tr h="0">
                <a:tc>
                  <a:txBody>
                    <a:bodyPr/>
                    <a:lstStyle/>
                    <a:p>
                      <a:pPr algn="ctr" rtl="0">
                        <a:buNone/>
                      </a:pPr>
                      <a:r>
                        <a:rPr lang="en-US" sz="1200" b="1" dirty="0">
                          <a:solidFill>
                            <a:srgbClr val="1F1F1F"/>
                          </a:solidFill>
                          <a:effectLst/>
                        </a:rPr>
                        <a:t>Brand</a:t>
                      </a:r>
                      <a:endParaRPr lang="en-US" sz="1200" dirty="0">
                        <a:solidFill>
                          <a:srgbClr val="1F1F1F"/>
                        </a:solidFill>
                        <a:effectLst/>
                        <a:latin typeface="Google Sans Text"/>
                      </a:endParaRPr>
                    </a:p>
                  </a:txBody>
                  <a:tcPr marL="114300" marR="114300" marT="76200" marB="76200" anchor="ctr"/>
                </a:tc>
                <a:tc>
                  <a:txBody>
                    <a:bodyPr/>
                    <a:lstStyle/>
                    <a:p>
                      <a:pPr algn="ctr" rtl="0">
                        <a:buNone/>
                      </a:pPr>
                      <a:r>
                        <a:rPr lang="en-US" sz="1200" b="1" dirty="0">
                          <a:solidFill>
                            <a:srgbClr val="1F1F1F"/>
                          </a:solidFill>
                          <a:effectLst/>
                        </a:rPr>
                        <a:t>Price (USD) (Var 1)</a:t>
                      </a:r>
                      <a:endParaRPr lang="en-US" sz="1200" dirty="0">
                        <a:solidFill>
                          <a:srgbClr val="1F1F1F"/>
                        </a:solidFill>
                        <a:effectLst/>
                        <a:latin typeface="Google Sans Text"/>
                      </a:endParaRPr>
                    </a:p>
                  </a:txBody>
                  <a:tcPr marL="114300" marR="114300" marT="76200" marB="76200" anchor="ctr"/>
                </a:tc>
                <a:tc>
                  <a:txBody>
                    <a:bodyPr/>
                    <a:lstStyle/>
                    <a:p>
                      <a:pPr algn="ctr" rtl="0">
                        <a:buNone/>
                      </a:pPr>
                      <a:r>
                        <a:rPr lang="en-US" sz="1200" b="1" dirty="0">
                          <a:solidFill>
                            <a:srgbClr val="1F1F1F"/>
                          </a:solidFill>
                          <a:effectLst/>
                        </a:rPr>
                        <a:t>Units Sold (Millions) (Var 2)</a:t>
                      </a:r>
                      <a:endParaRPr lang="en-US" sz="12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039775501"/>
                  </a:ext>
                </a:extLst>
              </a:tr>
              <a:tr h="0">
                <a:tc>
                  <a:txBody>
                    <a:bodyPr/>
                    <a:lstStyle/>
                    <a:p>
                      <a:pPr algn="ctr" rtl="0">
                        <a:buNone/>
                      </a:pPr>
                      <a:r>
                        <a:rPr lang="en-US" sz="1200">
                          <a:solidFill>
                            <a:srgbClr val="1F1F1F"/>
                          </a:solidFill>
                          <a:effectLst/>
                        </a:rPr>
                        <a:t>Brand A</a:t>
                      </a:r>
                      <a:endParaRPr lang="en-US" sz="1200">
                        <a:solidFill>
                          <a:srgbClr val="1F1F1F"/>
                        </a:solidFill>
                        <a:effectLst/>
                        <a:latin typeface="Google Sans Text"/>
                      </a:endParaRPr>
                    </a:p>
                  </a:txBody>
                  <a:tcPr marL="114300" marR="114300" marT="76200" marB="76200" anchor="ctr"/>
                </a:tc>
                <a:tc>
                  <a:txBody>
                    <a:bodyPr/>
                    <a:lstStyle/>
                    <a:p>
                      <a:pPr algn="ctr" rtl="0">
                        <a:buNone/>
                      </a:pPr>
                      <a:r>
                        <a:rPr lang="en-EG" sz="1200" dirty="0">
                          <a:solidFill>
                            <a:srgbClr val="1F1F1F"/>
                          </a:solidFill>
                          <a:effectLst/>
                        </a:rPr>
                        <a:t>1200</a:t>
                      </a:r>
                      <a:endParaRPr lang="en-EG" sz="1200" dirty="0">
                        <a:solidFill>
                          <a:srgbClr val="1F1F1F"/>
                        </a:solidFill>
                        <a:effectLst/>
                        <a:latin typeface="Google Sans Text"/>
                      </a:endParaRPr>
                    </a:p>
                  </a:txBody>
                  <a:tcPr marL="114300" marR="114300" marT="76200" marB="76200" anchor="ctr"/>
                </a:tc>
                <a:tc>
                  <a:txBody>
                    <a:bodyPr/>
                    <a:lstStyle/>
                    <a:p>
                      <a:pPr algn="ctr" rtl="0">
                        <a:buNone/>
                      </a:pPr>
                      <a:r>
                        <a:rPr lang="en-EG" sz="1200" dirty="0">
                          <a:solidFill>
                            <a:srgbClr val="1F1F1F"/>
                          </a:solidFill>
                          <a:effectLst/>
                        </a:rPr>
                        <a:t>15</a:t>
                      </a:r>
                      <a:endParaRPr lang="en-EG" sz="12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851455727"/>
                  </a:ext>
                </a:extLst>
              </a:tr>
              <a:tr h="0">
                <a:tc>
                  <a:txBody>
                    <a:bodyPr/>
                    <a:lstStyle/>
                    <a:p>
                      <a:pPr algn="ctr" rtl="0">
                        <a:buNone/>
                      </a:pPr>
                      <a:r>
                        <a:rPr lang="en-US" sz="1200">
                          <a:solidFill>
                            <a:srgbClr val="1F1F1F"/>
                          </a:solidFill>
                          <a:effectLst/>
                        </a:rPr>
                        <a:t>Brand B</a:t>
                      </a:r>
                      <a:endParaRPr lang="en-US" sz="1200">
                        <a:solidFill>
                          <a:srgbClr val="1F1F1F"/>
                        </a:solidFill>
                        <a:effectLst/>
                        <a:latin typeface="Google Sans Text"/>
                      </a:endParaRPr>
                    </a:p>
                  </a:txBody>
                  <a:tcPr marL="114300" marR="114300" marT="76200" marB="76200" anchor="ctr"/>
                </a:tc>
                <a:tc>
                  <a:txBody>
                    <a:bodyPr/>
                    <a:lstStyle/>
                    <a:p>
                      <a:pPr algn="ctr" rtl="0">
                        <a:buNone/>
                      </a:pPr>
                      <a:r>
                        <a:rPr lang="en-EG" sz="1200" dirty="0">
                          <a:solidFill>
                            <a:srgbClr val="1F1F1F"/>
                          </a:solidFill>
                          <a:effectLst/>
                        </a:rPr>
                        <a:t>800</a:t>
                      </a:r>
                      <a:endParaRPr lang="en-EG" sz="1200" dirty="0">
                        <a:solidFill>
                          <a:srgbClr val="1F1F1F"/>
                        </a:solidFill>
                        <a:effectLst/>
                        <a:latin typeface="Google Sans Text"/>
                      </a:endParaRPr>
                    </a:p>
                  </a:txBody>
                  <a:tcPr marL="114300" marR="114300" marT="76200" marB="76200" anchor="ctr"/>
                </a:tc>
                <a:tc>
                  <a:txBody>
                    <a:bodyPr/>
                    <a:lstStyle/>
                    <a:p>
                      <a:pPr algn="ctr" rtl="0">
                        <a:buNone/>
                      </a:pPr>
                      <a:r>
                        <a:rPr lang="en-EG" sz="1200" dirty="0">
                          <a:solidFill>
                            <a:srgbClr val="1F1F1F"/>
                          </a:solidFill>
                          <a:effectLst/>
                        </a:rPr>
                        <a:t>35</a:t>
                      </a:r>
                      <a:endParaRPr lang="en-EG" sz="12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275386769"/>
                  </a:ext>
                </a:extLst>
              </a:tr>
              <a:tr h="0">
                <a:tc>
                  <a:txBody>
                    <a:bodyPr/>
                    <a:lstStyle/>
                    <a:p>
                      <a:pPr algn="ctr" rtl="0">
                        <a:buNone/>
                      </a:pPr>
                      <a:r>
                        <a:rPr lang="en-US" sz="1200">
                          <a:solidFill>
                            <a:srgbClr val="1F1F1F"/>
                          </a:solidFill>
                          <a:effectLst/>
                        </a:rPr>
                        <a:t>Brand C</a:t>
                      </a:r>
                      <a:endParaRPr lang="en-US" sz="1200">
                        <a:solidFill>
                          <a:srgbClr val="1F1F1F"/>
                        </a:solidFill>
                        <a:effectLst/>
                        <a:latin typeface="Google Sans Text"/>
                      </a:endParaRPr>
                    </a:p>
                  </a:txBody>
                  <a:tcPr marL="114300" marR="114300" marT="76200" marB="76200" anchor="ctr"/>
                </a:tc>
                <a:tc>
                  <a:txBody>
                    <a:bodyPr/>
                    <a:lstStyle/>
                    <a:p>
                      <a:pPr algn="ctr" rtl="0">
                        <a:buNone/>
                      </a:pPr>
                      <a:r>
                        <a:rPr lang="en-EG" sz="1200">
                          <a:solidFill>
                            <a:srgbClr val="1F1F1F"/>
                          </a:solidFill>
                          <a:effectLst/>
                        </a:rPr>
                        <a:t>500</a:t>
                      </a:r>
                      <a:endParaRPr lang="en-EG" sz="1200">
                        <a:solidFill>
                          <a:srgbClr val="1F1F1F"/>
                        </a:solidFill>
                        <a:effectLst/>
                        <a:latin typeface="Google Sans Text"/>
                      </a:endParaRPr>
                    </a:p>
                  </a:txBody>
                  <a:tcPr marL="114300" marR="114300" marT="76200" marB="76200" anchor="ctr"/>
                </a:tc>
                <a:tc>
                  <a:txBody>
                    <a:bodyPr/>
                    <a:lstStyle/>
                    <a:p>
                      <a:pPr algn="ctr" rtl="0">
                        <a:buNone/>
                      </a:pPr>
                      <a:r>
                        <a:rPr lang="en-EG" sz="1200" dirty="0">
                          <a:solidFill>
                            <a:srgbClr val="1F1F1F"/>
                          </a:solidFill>
                          <a:effectLst/>
                        </a:rPr>
                        <a:t>55</a:t>
                      </a:r>
                      <a:endParaRPr lang="en-EG" sz="12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571369122"/>
                  </a:ext>
                </a:extLst>
              </a:tr>
              <a:tr h="0">
                <a:tc>
                  <a:txBody>
                    <a:bodyPr/>
                    <a:lstStyle/>
                    <a:p>
                      <a:pPr algn="ctr" rtl="0">
                        <a:buNone/>
                      </a:pPr>
                      <a:r>
                        <a:rPr lang="en-US" sz="1200">
                          <a:solidFill>
                            <a:srgbClr val="1F1F1F"/>
                          </a:solidFill>
                          <a:effectLst/>
                        </a:rPr>
                        <a:t>Brand D</a:t>
                      </a:r>
                      <a:endParaRPr lang="en-US" sz="1200">
                        <a:solidFill>
                          <a:srgbClr val="1F1F1F"/>
                        </a:solidFill>
                        <a:effectLst/>
                        <a:latin typeface="Google Sans Text"/>
                      </a:endParaRPr>
                    </a:p>
                  </a:txBody>
                  <a:tcPr marL="114300" marR="114300" marT="76200" marB="76200" anchor="ctr"/>
                </a:tc>
                <a:tc>
                  <a:txBody>
                    <a:bodyPr/>
                    <a:lstStyle/>
                    <a:p>
                      <a:pPr algn="ctr" rtl="0">
                        <a:buNone/>
                      </a:pPr>
                      <a:r>
                        <a:rPr lang="en-EG" sz="1200">
                          <a:solidFill>
                            <a:srgbClr val="1F1F1F"/>
                          </a:solidFill>
                          <a:effectLst/>
                        </a:rPr>
                        <a:t>300</a:t>
                      </a:r>
                      <a:endParaRPr lang="en-EG" sz="1200">
                        <a:solidFill>
                          <a:srgbClr val="1F1F1F"/>
                        </a:solidFill>
                        <a:effectLst/>
                        <a:latin typeface="Google Sans Text"/>
                      </a:endParaRPr>
                    </a:p>
                  </a:txBody>
                  <a:tcPr marL="114300" marR="114300" marT="76200" marB="76200" anchor="ctr"/>
                </a:tc>
                <a:tc>
                  <a:txBody>
                    <a:bodyPr/>
                    <a:lstStyle/>
                    <a:p>
                      <a:pPr algn="ctr" rtl="0">
                        <a:buNone/>
                      </a:pPr>
                      <a:r>
                        <a:rPr lang="en-EG" sz="1200" dirty="0">
                          <a:solidFill>
                            <a:srgbClr val="1F1F1F"/>
                          </a:solidFill>
                          <a:effectLst/>
                        </a:rPr>
                        <a:t>80</a:t>
                      </a:r>
                      <a:endParaRPr lang="en-EG" sz="12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139305289"/>
                  </a:ext>
                </a:extLst>
              </a:tr>
              <a:tr h="0">
                <a:tc>
                  <a:txBody>
                    <a:bodyPr/>
                    <a:lstStyle/>
                    <a:p>
                      <a:pPr algn="ctr" rtl="0">
                        <a:buNone/>
                      </a:pPr>
                      <a:r>
                        <a:rPr lang="en-US" sz="1200">
                          <a:solidFill>
                            <a:srgbClr val="1F1F1F"/>
                          </a:solidFill>
                          <a:effectLst/>
                        </a:rPr>
                        <a:t>Brand E</a:t>
                      </a:r>
                      <a:endParaRPr lang="en-US" sz="1200">
                        <a:solidFill>
                          <a:srgbClr val="1F1F1F"/>
                        </a:solidFill>
                        <a:effectLst/>
                        <a:latin typeface="Google Sans Text"/>
                      </a:endParaRPr>
                    </a:p>
                  </a:txBody>
                  <a:tcPr marL="114300" marR="114300" marT="76200" marB="76200" anchor="ctr"/>
                </a:tc>
                <a:tc>
                  <a:txBody>
                    <a:bodyPr/>
                    <a:lstStyle/>
                    <a:p>
                      <a:pPr algn="ctr" rtl="0">
                        <a:buNone/>
                      </a:pPr>
                      <a:r>
                        <a:rPr lang="en-EG" sz="1200" dirty="0">
                          <a:solidFill>
                            <a:srgbClr val="1F1F1F"/>
                          </a:solidFill>
                          <a:effectLst/>
                        </a:rPr>
                        <a:t>150</a:t>
                      </a:r>
                      <a:endParaRPr lang="en-EG" sz="1200" dirty="0">
                        <a:solidFill>
                          <a:srgbClr val="1F1F1F"/>
                        </a:solidFill>
                        <a:effectLst/>
                        <a:latin typeface="Google Sans Text"/>
                      </a:endParaRPr>
                    </a:p>
                  </a:txBody>
                  <a:tcPr marL="114300" marR="114300" marT="76200" marB="76200" anchor="ctr"/>
                </a:tc>
                <a:tc>
                  <a:txBody>
                    <a:bodyPr/>
                    <a:lstStyle/>
                    <a:p>
                      <a:pPr algn="ctr" rtl="0">
                        <a:buNone/>
                      </a:pPr>
                      <a:r>
                        <a:rPr lang="en-EG" sz="1200" dirty="0">
                          <a:solidFill>
                            <a:srgbClr val="1F1F1F"/>
                          </a:solidFill>
                          <a:effectLst/>
                        </a:rPr>
                        <a:t>110</a:t>
                      </a:r>
                      <a:endParaRPr lang="en-EG" sz="12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898843328"/>
                  </a:ext>
                </a:extLst>
              </a:tr>
            </a:tbl>
          </a:graphicData>
        </a:graphic>
      </p:graphicFrame>
      <p:pic>
        <p:nvPicPr>
          <p:cNvPr id="7170" name="Picture 2">
            <a:extLst>
              <a:ext uri="{FF2B5EF4-FFF2-40B4-BE49-F238E27FC236}">
                <a16:creationId xmlns:a16="http://schemas.microsoft.com/office/drawing/2014/main" id="{433BB726-CD50-9836-049A-BFA94C9E01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714" y="1483376"/>
            <a:ext cx="6480000" cy="4422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48322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F5A98-303A-45CE-3CAE-6C3D0E79D4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1D933-79B0-C20D-A2B8-8910D8BEE124}"/>
              </a:ext>
            </a:extLst>
          </p:cNvPr>
          <p:cNvSpPr>
            <a:spLocks noGrp="1"/>
          </p:cNvSpPr>
          <p:nvPr>
            <p:ph type="title"/>
          </p:nvPr>
        </p:nvSpPr>
        <p:spPr>
          <a:xfrm>
            <a:off x="651930" y="847997"/>
            <a:ext cx="10723641" cy="654232"/>
          </a:xfrm>
        </p:spPr>
        <p:txBody>
          <a:bodyPr>
            <a:normAutofit/>
          </a:bodyPr>
          <a:lstStyle/>
          <a:p>
            <a:r>
              <a:rPr lang="en-US" sz="2800" dirty="0"/>
              <a:t>Concept refreshing – bivariate (Categorical vs. Numerical)</a:t>
            </a:r>
            <a:endParaRPr lang="en-EG" sz="2800" dirty="0"/>
          </a:p>
        </p:txBody>
      </p:sp>
      <p:sp>
        <p:nvSpPr>
          <p:cNvPr id="3" name="Content Placeholder 2">
            <a:extLst>
              <a:ext uri="{FF2B5EF4-FFF2-40B4-BE49-F238E27FC236}">
                <a16:creationId xmlns:a16="http://schemas.microsoft.com/office/drawing/2014/main" id="{ADA82B48-3E09-91C7-8615-D3A6C90EB000}"/>
              </a:ext>
            </a:extLst>
          </p:cNvPr>
          <p:cNvSpPr>
            <a:spLocks noGrp="1"/>
          </p:cNvSpPr>
          <p:nvPr>
            <p:ph idx="1"/>
          </p:nvPr>
        </p:nvSpPr>
        <p:spPr>
          <a:xfrm>
            <a:off x="6637844" y="1665078"/>
            <a:ext cx="5557156" cy="2612572"/>
          </a:xfrm>
        </p:spPr>
        <p:txBody>
          <a:bodyPr>
            <a:normAutofit fontScale="92500" lnSpcReduction="20000"/>
          </a:bodyPr>
          <a:lstStyle/>
          <a:p>
            <a:pPr marL="0" indent="0">
              <a:buNone/>
            </a:pPr>
            <a:r>
              <a:rPr lang="en-US" sz="1400" b="1" dirty="0"/>
              <a:t>The Scenario:</a:t>
            </a:r>
            <a:r>
              <a:rPr lang="en-US" sz="1400" dirty="0"/>
              <a:t> We want to see if the </a:t>
            </a:r>
            <a:r>
              <a:rPr lang="en-US" sz="1400" b="1" dirty="0"/>
              <a:t>Region</a:t>
            </a:r>
            <a:r>
              <a:rPr lang="en-US" sz="1400" dirty="0"/>
              <a:t> (Variable 1: Categorical) influences the </a:t>
            </a:r>
            <a:r>
              <a:rPr lang="en-US" sz="1400" b="1" dirty="0"/>
              <a:t>Average Sales Price</a:t>
            </a:r>
            <a:r>
              <a:rPr lang="en-US" sz="1400" dirty="0"/>
              <a:t> (Variable 2: Numerical).</a:t>
            </a:r>
            <a:endParaRPr lang="en-US" sz="1400" b="1" dirty="0"/>
          </a:p>
          <a:p>
            <a:pPr marL="0" indent="0">
              <a:buNone/>
            </a:pPr>
            <a:r>
              <a:rPr lang="en-US" sz="1400" b="1" dirty="0"/>
              <a:t>The Variables:</a:t>
            </a:r>
            <a:r>
              <a:rPr lang="en-US" sz="1400" dirty="0"/>
              <a:t> </a:t>
            </a:r>
            <a:r>
              <a:rPr lang="en-US" sz="1400" b="1" dirty="0"/>
              <a:t>Region</a:t>
            </a:r>
            <a:r>
              <a:rPr lang="en-US" sz="1400" dirty="0"/>
              <a:t> (Categorical) and </a:t>
            </a:r>
            <a:r>
              <a:rPr lang="en-US" sz="1400" b="1" dirty="0"/>
              <a:t>Avg Sales Price</a:t>
            </a:r>
            <a:r>
              <a:rPr lang="en-US" sz="1400" dirty="0"/>
              <a:t> (Numerical).</a:t>
            </a:r>
          </a:p>
          <a:p>
            <a:pPr marL="0" indent="0">
              <a:buNone/>
            </a:pPr>
            <a:br>
              <a:rPr lang="en-US" sz="1400" dirty="0"/>
            </a:br>
            <a:r>
              <a:rPr lang="en-US" sz="1400" b="1" dirty="0"/>
              <a:t>The Relationship:</a:t>
            </a:r>
            <a:r>
              <a:rPr lang="en-US" sz="1400" dirty="0"/>
              <a:t> We are looking at how the "Price" variable differs across "Region" groups.</a:t>
            </a:r>
          </a:p>
          <a:p>
            <a:pPr marL="0" indent="0">
              <a:buNone/>
            </a:pPr>
            <a:br>
              <a:rPr lang="en-US" sz="1400" dirty="0"/>
            </a:br>
            <a:r>
              <a:rPr lang="en-US" sz="1400" b="1" dirty="0"/>
              <a:t>The Question:</a:t>
            </a:r>
            <a:r>
              <a:rPr lang="en-US" sz="1400" dirty="0"/>
              <a:t> "Does the geographical location impact how much people are willing to pay for a phone?”</a:t>
            </a:r>
            <a:br>
              <a:rPr lang="en-US" sz="1400" dirty="0"/>
            </a:br>
            <a:br>
              <a:rPr lang="ar-SA" sz="1400" dirty="0"/>
            </a:br>
            <a:r>
              <a:rPr lang="en-US" sz="1400" dirty="0"/>
              <a:t>In this example: a </a:t>
            </a:r>
            <a:r>
              <a:rPr lang="en-US" sz="1400" b="1" dirty="0"/>
              <a:t>Column Chart</a:t>
            </a:r>
            <a:r>
              <a:rPr lang="en-US" sz="1400" dirty="0"/>
              <a:t> is the best tool.</a:t>
            </a:r>
            <a:endParaRPr lang="en-EG" sz="1400" dirty="0"/>
          </a:p>
        </p:txBody>
      </p:sp>
      <p:graphicFrame>
        <p:nvGraphicFramePr>
          <p:cNvPr id="5" name="Table 4">
            <a:extLst>
              <a:ext uri="{FF2B5EF4-FFF2-40B4-BE49-F238E27FC236}">
                <a16:creationId xmlns:a16="http://schemas.microsoft.com/office/drawing/2014/main" id="{1BCD8A8A-799C-0BB7-FB8F-2A0B552FF73A}"/>
              </a:ext>
            </a:extLst>
          </p:cNvPr>
          <p:cNvGraphicFramePr>
            <a:graphicFrameLocks noGrp="1"/>
          </p:cNvGraphicFramePr>
          <p:nvPr>
            <p:extLst>
              <p:ext uri="{D42A27DB-BD31-4B8C-83A1-F6EECF244321}">
                <p14:modId xmlns:p14="http://schemas.microsoft.com/office/powerpoint/2010/main" val="4214697737"/>
              </p:ext>
            </p:extLst>
          </p:nvPr>
        </p:nvGraphicFramePr>
        <p:xfrm>
          <a:off x="6749142" y="4277649"/>
          <a:ext cx="5121730" cy="1828800"/>
        </p:xfrm>
        <a:graphic>
          <a:graphicData uri="http://schemas.openxmlformats.org/drawingml/2006/table">
            <a:tbl>
              <a:tblPr>
                <a:tableStyleId>{5940675A-B579-460E-94D1-54222C63F5DA}</a:tableStyleId>
              </a:tblPr>
              <a:tblGrid>
                <a:gridCol w="2394858">
                  <a:extLst>
                    <a:ext uri="{9D8B030D-6E8A-4147-A177-3AD203B41FA5}">
                      <a16:colId xmlns:a16="http://schemas.microsoft.com/office/drawing/2014/main" val="1210276425"/>
                    </a:ext>
                  </a:extLst>
                </a:gridCol>
                <a:gridCol w="2726872">
                  <a:extLst>
                    <a:ext uri="{9D8B030D-6E8A-4147-A177-3AD203B41FA5}">
                      <a16:colId xmlns:a16="http://schemas.microsoft.com/office/drawing/2014/main" val="579792750"/>
                    </a:ext>
                  </a:extLst>
                </a:gridCol>
              </a:tblGrid>
              <a:tr h="0">
                <a:tc>
                  <a:txBody>
                    <a:bodyPr/>
                    <a:lstStyle/>
                    <a:p>
                      <a:pPr algn="ctr" rtl="0">
                        <a:buNone/>
                      </a:pPr>
                      <a:r>
                        <a:rPr lang="en-US" sz="1400" b="1">
                          <a:solidFill>
                            <a:srgbClr val="1F1F1F"/>
                          </a:solidFill>
                          <a:effectLst/>
                        </a:rPr>
                        <a:t>Region (Variable 1)</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US" sz="1400" b="1">
                          <a:solidFill>
                            <a:srgbClr val="1F1F1F"/>
                          </a:solidFill>
                          <a:effectLst/>
                        </a:rPr>
                        <a:t>Avg Sales Price (Variable 2)</a:t>
                      </a:r>
                      <a:endParaRPr lang="en-US" sz="14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105827302"/>
                  </a:ext>
                </a:extLst>
              </a:tr>
              <a:tr h="0">
                <a:tc>
                  <a:txBody>
                    <a:bodyPr/>
                    <a:lstStyle/>
                    <a:p>
                      <a:pPr algn="ctr" rtl="0">
                        <a:buNone/>
                      </a:pPr>
                      <a:r>
                        <a:rPr lang="en-US" sz="1400">
                          <a:solidFill>
                            <a:srgbClr val="1F1F1F"/>
                          </a:solidFill>
                          <a:effectLst/>
                        </a:rPr>
                        <a:t>North America</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$850</a:t>
                      </a:r>
                      <a:endParaRPr lang="en-EG" sz="14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095078985"/>
                  </a:ext>
                </a:extLst>
              </a:tr>
              <a:tr h="0">
                <a:tc>
                  <a:txBody>
                    <a:bodyPr/>
                    <a:lstStyle/>
                    <a:p>
                      <a:pPr algn="ctr" rtl="0">
                        <a:buNone/>
                      </a:pPr>
                      <a:r>
                        <a:rPr lang="en-US" sz="1400">
                          <a:solidFill>
                            <a:srgbClr val="1F1F1F"/>
                          </a:solidFill>
                          <a:effectLst/>
                        </a:rPr>
                        <a:t>Europe</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$780</a:t>
                      </a:r>
                      <a:endParaRPr lang="en-EG" sz="14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626213171"/>
                  </a:ext>
                </a:extLst>
              </a:tr>
              <a:tr h="0">
                <a:tc>
                  <a:txBody>
                    <a:bodyPr/>
                    <a:lstStyle/>
                    <a:p>
                      <a:pPr algn="ctr" rtl="0">
                        <a:buNone/>
                      </a:pPr>
                      <a:r>
                        <a:rPr lang="en-US" sz="1400">
                          <a:solidFill>
                            <a:srgbClr val="1F1F1F"/>
                          </a:solidFill>
                          <a:effectLst/>
                        </a:rPr>
                        <a:t>Asia</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$450</a:t>
                      </a:r>
                      <a:endParaRPr lang="en-EG" sz="14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432089537"/>
                  </a:ext>
                </a:extLst>
              </a:tr>
              <a:tr h="0">
                <a:tc>
                  <a:txBody>
                    <a:bodyPr/>
                    <a:lstStyle/>
                    <a:p>
                      <a:pPr algn="ctr" rtl="0">
                        <a:buNone/>
                      </a:pPr>
                      <a:r>
                        <a:rPr lang="en-US" sz="1400" dirty="0">
                          <a:solidFill>
                            <a:srgbClr val="1F1F1F"/>
                          </a:solidFill>
                          <a:effectLst/>
                        </a:rPr>
                        <a:t>South America</a:t>
                      </a:r>
                      <a:endParaRPr lang="en-US" sz="1400" dirty="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$320</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673107923"/>
                  </a:ext>
                </a:extLst>
              </a:tr>
            </a:tbl>
          </a:graphicData>
        </a:graphic>
      </p:graphicFrame>
      <p:pic>
        <p:nvPicPr>
          <p:cNvPr id="9218" name="Picture 2">
            <a:extLst>
              <a:ext uri="{FF2B5EF4-FFF2-40B4-BE49-F238E27FC236}">
                <a16:creationId xmlns:a16="http://schemas.microsoft.com/office/drawing/2014/main" id="{7440DF7F-9392-8D30-4A38-0590DA7614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844" y="1463368"/>
            <a:ext cx="6480000" cy="4546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8312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31996-BA67-6205-4DE8-842F3D155A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5BAD76-157B-184E-98FD-A3EA4E8B574C}"/>
              </a:ext>
            </a:extLst>
          </p:cNvPr>
          <p:cNvSpPr>
            <a:spLocks noGrp="1"/>
          </p:cNvSpPr>
          <p:nvPr>
            <p:ph type="title"/>
          </p:nvPr>
        </p:nvSpPr>
        <p:spPr>
          <a:xfrm>
            <a:off x="651930" y="847997"/>
            <a:ext cx="11197169" cy="654232"/>
          </a:xfrm>
        </p:spPr>
        <p:txBody>
          <a:bodyPr>
            <a:normAutofit/>
          </a:bodyPr>
          <a:lstStyle/>
          <a:p>
            <a:r>
              <a:rPr lang="en-US" sz="2800" dirty="0"/>
              <a:t>Concept refreshing – bivariate (Categorical vs. Categorical)</a:t>
            </a:r>
            <a:endParaRPr lang="en-EG" sz="2800" dirty="0"/>
          </a:p>
        </p:txBody>
      </p:sp>
      <p:sp>
        <p:nvSpPr>
          <p:cNvPr id="3" name="Content Placeholder 2">
            <a:extLst>
              <a:ext uri="{FF2B5EF4-FFF2-40B4-BE49-F238E27FC236}">
                <a16:creationId xmlns:a16="http://schemas.microsoft.com/office/drawing/2014/main" id="{4DD3BF9D-684B-337C-6388-08EFFBC3F77E}"/>
              </a:ext>
            </a:extLst>
          </p:cNvPr>
          <p:cNvSpPr>
            <a:spLocks noGrp="1"/>
          </p:cNvSpPr>
          <p:nvPr>
            <p:ph idx="1"/>
          </p:nvPr>
        </p:nvSpPr>
        <p:spPr>
          <a:xfrm>
            <a:off x="6633621" y="1665078"/>
            <a:ext cx="5292847" cy="2819707"/>
          </a:xfrm>
        </p:spPr>
        <p:txBody>
          <a:bodyPr>
            <a:normAutofit fontScale="85000" lnSpcReduction="10000"/>
          </a:bodyPr>
          <a:lstStyle/>
          <a:p>
            <a:pPr marL="0" indent="0" algn="just">
              <a:spcBef>
                <a:spcPts val="0"/>
              </a:spcBef>
              <a:buNone/>
            </a:pPr>
            <a:r>
              <a:rPr lang="en-US" sz="1400" b="1" dirty="0"/>
              <a:t>The Scenario:</a:t>
            </a:r>
            <a:r>
              <a:rPr lang="en-US" sz="1400" dirty="0"/>
              <a:t> We want to see if </a:t>
            </a:r>
            <a:r>
              <a:rPr lang="en-US" sz="1400" b="1" dirty="0"/>
              <a:t>Region</a:t>
            </a:r>
            <a:r>
              <a:rPr lang="en-US" sz="1400" dirty="0"/>
              <a:t> (Var 1) has a relationship with </a:t>
            </a:r>
            <a:r>
              <a:rPr lang="en-US" sz="1400" b="1" dirty="0"/>
              <a:t>Preferred Phone Color</a:t>
            </a:r>
            <a:r>
              <a:rPr lang="en-US" sz="1400" dirty="0"/>
              <a:t> (Var 2). </a:t>
            </a:r>
          </a:p>
          <a:p>
            <a:pPr marL="0" indent="0" algn="just">
              <a:spcBef>
                <a:spcPts val="0"/>
              </a:spcBef>
              <a:buNone/>
            </a:pPr>
            <a:endParaRPr lang="en-US" sz="1400" dirty="0"/>
          </a:p>
          <a:p>
            <a:pPr marL="0" indent="0">
              <a:spcBef>
                <a:spcPts val="0"/>
              </a:spcBef>
              <a:buNone/>
            </a:pPr>
            <a:r>
              <a:rPr lang="en-US" sz="1400" b="1" dirty="0"/>
              <a:t>The Variables:</a:t>
            </a:r>
            <a:r>
              <a:rPr lang="en-US" sz="1400" dirty="0"/>
              <a:t> </a:t>
            </a:r>
            <a:r>
              <a:rPr lang="en-US" sz="1400" b="1" dirty="0"/>
              <a:t>Region</a:t>
            </a:r>
            <a:r>
              <a:rPr lang="en-US" sz="1400" dirty="0"/>
              <a:t> (Categorical) and </a:t>
            </a:r>
            <a:r>
              <a:rPr lang="en-US" sz="1400" b="1" dirty="0"/>
              <a:t>Color Preference</a:t>
            </a:r>
            <a:r>
              <a:rPr lang="en-US" sz="1400" dirty="0"/>
              <a:t> (Categorical).</a:t>
            </a:r>
          </a:p>
          <a:p>
            <a:pPr marL="0" indent="0" algn="just">
              <a:spcBef>
                <a:spcPts val="0"/>
              </a:spcBef>
              <a:buNone/>
            </a:pPr>
            <a:br>
              <a:rPr lang="en-US" sz="1400" dirty="0"/>
            </a:br>
            <a:r>
              <a:rPr lang="en-US" sz="1400" b="1" dirty="0"/>
              <a:t>The Relationship:</a:t>
            </a:r>
            <a:r>
              <a:rPr lang="en-US" sz="1400" dirty="0"/>
              <a:t> </a:t>
            </a:r>
            <a:r>
              <a:rPr lang="en-US" sz="1400" b="1" dirty="0"/>
              <a:t>Association</a:t>
            </a:r>
            <a:r>
              <a:rPr lang="en-US" sz="1400" dirty="0"/>
              <a:t>. We are looking to see if certain regions are "associated" with certain color choices (e.g., Is Gold significantly more popular in Asia?).</a:t>
            </a:r>
          </a:p>
          <a:p>
            <a:pPr marL="0" indent="0" algn="just">
              <a:spcBef>
                <a:spcPts val="0"/>
              </a:spcBef>
              <a:buNone/>
            </a:pPr>
            <a:endParaRPr lang="en-US" sz="1400" dirty="0"/>
          </a:p>
          <a:p>
            <a:pPr marL="0" indent="0" algn="just">
              <a:spcBef>
                <a:spcPts val="0"/>
              </a:spcBef>
              <a:buNone/>
            </a:pPr>
            <a:r>
              <a:rPr lang="en-US" sz="1400" b="1" dirty="0"/>
              <a:t>The Question:</a:t>
            </a:r>
            <a:r>
              <a:rPr lang="en-US" sz="1400" dirty="0"/>
              <a:t> "Does the region influence which color of phone a customer chooses?"</a:t>
            </a:r>
          </a:p>
          <a:p>
            <a:pPr marL="0" indent="0" algn="just">
              <a:buNone/>
            </a:pPr>
            <a:r>
              <a:rPr lang="en-US" sz="1400" dirty="0"/>
              <a:t>A </a:t>
            </a:r>
            <a:r>
              <a:rPr lang="en-US" sz="1400" b="1" dirty="0"/>
              <a:t>Stacked Bar Chart</a:t>
            </a:r>
            <a:r>
              <a:rPr lang="en-US" sz="1400" dirty="0"/>
              <a:t> is the best way to visualize this. It allows you to see the total volume of the first category (Region) while seeing the "split" of the second category (Color) inside it.</a:t>
            </a:r>
            <a:endParaRPr lang="en-EG" sz="1400" dirty="0"/>
          </a:p>
        </p:txBody>
      </p:sp>
      <p:graphicFrame>
        <p:nvGraphicFramePr>
          <p:cNvPr id="4" name="Table 3">
            <a:extLst>
              <a:ext uri="{FF2B5EF4-FFF2-40B4-BE49-F238E27FC236}">
                <a16:creationId xmlns:a16="http://schemas.microsoft.com/office/drawing/2014/main" id="{6FB8E950-0120-C04F-34BA-8372E23C1741}"/>
              </a:ext>
            </a:extLst>
          </p:cNvPr>
          <p:cNvGraphicFramePr>
            <a:graphicFrameLocks noGrp="1"/>
          </p:cNvGraphicFramePr>
          <p:nvPr>
            <p:extLst>
              <p:ext uri="{D42A27DB-BD31-4B8C-83A1-F6EECF244321}">
                <p14:modId xmlns:p14="http://schemas.microsoft.com/office/powerpoint/2010/main" val="4150164644"/>
              </p:ext>
            </p:extLst>
          </p:nvPr>
        </p:nvGraphicFramePr>
        <p:xfrm>
          <a:off x="6837398" y="4484785"/>
          <a:ext cx="5089070" cy="1557875"/>
        </p:xfrm>
        <a:graphic>
          <a:graphicData uri="http://schemas.openxmlformats.org/drawingml/2006/table">
            <a:tbl>
              <a:tblPr>
                <a:tableStyleId>{5940675A-B579-460E-94D1-54222C63F5DA}</a:tableStyleId>
              </a:tblPr>
              <a:tblGrid>
                <a:gridCol w="1328057">
                  <a:extLst>
                    <a:ext uri="{9D8B030D-6E8A-4147-A177-3AD203B41FA5}">
                      <a16:colId xmlns:a16="http://schemas.microsoft.com/office/drawing/2014/main" val="3254741646"/>
                    </a:ext>
                  </a:extLst>
                </a:gridCol>
                <a:gridCol w="707571">
                  <a:extLst>
                    <a:ext uri="{9D8B030D-6E8A-4147-A177-3AD203B41FA5}">
                      <a16:colId xmlns:a16="http://schemas.microsoft.com/office/drawing/2014/main" val="621370111"/>
                    </a:ext>
                  </a:extLst>
                </a:gridCol>
                <a:gridCol w="783772">
                  <a:extLst>
                    <a:ext uri="{9D8B030D-6E8A-4147-A177-3AD203B41FA5}">
                      <a16:colId xmlns:a16="http://schemas.microsoft.com/office/drawing/2014/main" val="4102971716"/>
                    </a:ext>
                  </a:extLst>
                </a:gridCol>
                <a:gridCol w="653142">
                  <a:extLst>
                    <a:ext uri="{9D8B030D-6E8A-4147-A177-3AD203B41FA5}">
                      <a16:colId xmlns:a16="http://schemas.microsoft.com/office/drawing/2014/main" val="3209972121"/>
                    </a:ext>
                  </a:extLst>
                </a:gridCol>
                <a:gridCol w="1616528">
                  <a:extLst>
                    <a:ext uri="{9D8B030D-6E8A-4147-A177-3AD203B41FA5}">
                      <a16:colId xmlns:a16="http://schemas.microsoft.com/office/drawing/2014/main" val="751535373"/>
                    </a:ext>
                  </a:extLst>
                </a:gridCol>
              </a:tblGrid>
              <a:tr h="480965">
                <a:tc>
                  <a:txBody>
                    <a:bodyPr/>
                    <a:lstStyle/>
                    <a:p>
                      <a:pPr algn="ctr" rtl="0">
                        <a:buNone/>
                      </a:pPr>
                      <a:r>
                        <a:rPr lang="en-EG" sz="1200" b="1" dirty="0">
                          <a:solidFill>
                            <a:srgbClr val="1F1F1F"/>
                          </a:solidFill>
                          <a:effectLst/>
                        </a:rPr>
                        <a:t>Region</a:t>
                      </a:r>
                      <a:endParaRPr lang="en-EG" sz="1200" b="1" dirty="0">
                        <a:solidFill>
                          <a:srgbClr val="1F1F1F"/>
                        </a:solidFill>
                        <a:effectLst/>
                        <a:latin typeface="Google Sans Text"/>
                      </a:endParaRPr>
                    </a:p>
                  </a:txBody>
                  <a:tcPr marL="114300" marR="114300" marT="76200" marB="76200" anchor="ctr"/>
                </a:tc>
                <a:tc>
                  <a:txBody>
                    <a:bodyPr/>
                    <a:lstStyle/>
                    <a:p>
                      <a:pPr algn="ctr" rtl="0">
                        <a:buNone/>
                      </a:pPr>
                      <a:r>
                        <a:rPr lang="en-US" sz="1200" b="1">
                          <a:solidFill>
                            <a:srgbClr val="1F1F1F"/>
                          </a:solidFill>
                          <a:effectLst/>
                        </a:rPr>
                        <a:t>Black</a:t>
                      </a:r>
                      <a:endParaRPr lang="en-US" sz="1200">
                        <a:solidFill>
                          <a:srgbClr val="1F1F1F"/>
                        </a:solidFill>
                        <a:effectLst/>
                        <a:latin typeface="Google Sans Text"/>
                      </a:endParaRPr>
                    </a:p>
                  </a:txBody>
                  <a:tcPr marL="114300" marR="114300" marT="76200" marB="76200" anchor="ctr"/>
                </a:tc>
                <a:tc>
                  <a:txBody>
                    <a:bodyPr/>
                    <a:lstStyle/>
                    <a:p>
                      <a:pPr algn="ctr" rtl="0">
                        <a:buNone/>
                      </a:pPr>
                      <a:r>
                        <a:rPr lang="en-US" sz="1200" b="1">
                          <a:solidFill>
                            <a:srgbClr val="1F1F1F"/>
                          </a:solidFill>
                          <a:effectLst/>
                        </a:rPr>
                        <a:t>White</a:t>
                      </a:r>
                      <a:endParaRPr lang="en-US" sz="1200">
                        <a:solidFill>
                          <a:srgbClr val="1F1F1F"/>
                        </a:solidFill>
                        <a:effectLst/>
                        <a:latin typeface="Google Sans Text"/>
                      </a:endParaRPr>
                    </a:p>
                  </a:txBody>
                  <a:tcPr marL="114300" marR="114300" marT="76200" marB="76200" anchor="ctr"/>
                </a:tc>
                <a:tc>
                  <a:txBody>
                    <a:bodyPr/>
                    <a:lstStyle/>
                    <a:p>
                      <a:pPr algn="ctr" rtl="0">
                        <a:buNone/>
                      </a:pPr>
                      <a:r>
                        <a:rPr lang="en-US" sz="1200" b="1">
                          <a:solidFill>
                            <a:srgbClr val="1F1F1F"/>
                          </a:solidFill>
                          <a:effectLst/>
                        </a:rPr>
                        <a:t>Gold</a:t>
                      </a:r>
                      <a:endParaRPr lang="en-US" sz="1200">
                        <a:solidFill>
                          <a:srgbClr val="1F1F1F"/>
                        </a:solidFill>
                        <a:effectLst/>
                        <a:latin typeface="Google Sans Text"/>
                      </a:endParaRPr>
                    </a:p>
                  </a:txBody>
                  <a:tcPr marL="114300" marR="114300" marT="76200" marB="76200" anchor="ctr"/>
                </a:tc>
                <a:tc>
                  <a:txBody>
                    <a:bodyPr/>
                    <a:lstStyle/>
                    <a:p>
                      <a:pPr algn="ctr" rtl="0">
                        <a:buNone/>
                      </a:pPr>
                      <a:r>
                        <a:rPr lang="en-US" sz="1200" b="1">
                          <a:solidFill>
                            <a:srgbClr val="1F1F1F"/>
                          </a:solidFill>
                          <a:effectLst/>
                        </a:rPr>
                        <a:t>Total (by Region)</a:t>
                      </a:r>
                      <a:endParaRPr lang="en-US" sz="12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085767355"/>
                  </a:ext>
                </a:extLst>
              </a:tr>
              <a:tr h="406350">
                <a:tc>
                  <a:txBody>
                    <a:bodyPr/>
                    <a:lstStyle/>
                    <a:p>
                      <a:pPr algn="ctr" rtl="0">
                        <a:buNone/>
                      </a:pPr>
                      <a:r>
                        <a:rPr lang="en-US" sz="1200" b="1">
                          <a:solidFill>
                            <a:srgbClr val="1F1F1F"/>
                          </a:solidFill>
                          <a:effectLst/>
                        </a:rPr>
                        <a:t>North America</a:t>
                      </a:r>
                      <a:endParaRPr lang="en-US" sz="1200">
                        <a:solidFill>
                          <a:srgbClr val="1F1F1F"/>
                        </a:solidFill>
                        <a:effectLst/>
                        <a:latin typeface="Google Sans Text"/>
                      </a:endParaRPr>
                    </a:p>
                  </a:txBody>
                  <a:tcPr marL="114300" marR="114300" marT="76200" marB="76200" anchor="ctr"/>
                </a:tc>
                <a:tc>
                  <a:txBody>
                    <a:bodyPr/>
                    <a:lstStyle/>
                    <a:p>
                      <a:pPr algn="ctr" rtl="0">
                        <a:buNone/>
                      </a:pPr>
                      <a:r>
                        <a:rPr lang="en-EG" sz="1100" dirty="0">
                          <a:solidFill>
                            <a:srgbClr val="1F1F1F"/>
                          </a:solidFill>
                          <a:effectLst/>
                        </a:rPr>
                        <a:t>50</a:t>
                      </a:r>
                      <a:endParaRPr lang="en-EG" sz="1200" dirty="0">
                        <a:solidFill>
                          <a:srgbClr val="1F1F1F"/>
                        </a:solidFill>
                        <a:effectLst/>
                        <a:latin typeface="Google Sans Text"/>
                      </a:endParaRPr>
                    </a:p>
                  </a:txBody>
                  <a:tcPr marL="114300" marR="114300" marT="76200" marB="76200" anchor="ctr"/>
                </a:tc>
                <a:tc>
                  <a:txBody>
                    <a:bodyPr/>
                    <a:lstStyle/>
                    <a:p>
                      <a:pPr algn="ctr" rtl="0">
                        <a:buNone/>
                      </a:pPr>
                      <a:r>
                        <a:rPr lang="en-EG" sz="1200">
                          <a:solidFill>
                            <a:srgbClr val="1F1F1F"/>
                          </a:solidFill>
                          <a:effectLst/>
                        </a:rPr>
                        <a:t>30</a:t>
                      </a:r>
                      <a:endParaRPr lang="en-EG" sz="1200">
                        <a:solidFill>
                          <a:srgbClr val="1F1F1F"/>
                        </a:solidFill>
                        <a:effectLst/>
                        <a:latin typeface="Google Sans Text"/>
                      </a:endParaRPr>
                    </a:p>
                  </a:txBody>
                  <a:tcPr marL="114300" marR="114300" marT="76200" marB="76200" anchor="ctr"/>
                </a:tc>
                <a:tc>
                  <a:txBody>
                    <a:bodyPr/>
                    <a:lstStyle/>
                    <a:p>
                      <a:pPr algn="ctr" rtl="0">
                        <a:buNone/>
                      </a:pPr>
                      <a:r>
                        <a:rPr lang="en-EG" sz="1200">
                          <a:solidFill>
                            <a:srgbClr val="1F1F1F"/>
                          </a:solidFill>
                          <a:effectLst/>
                        </a:rPr>
                        <a:t>20</a:t>
                      </a:r>
                      <a:endParaRPr lang="en-EG" sz="1200">
                        <a:solidFill>
                          <a:srgbClr val="1F1F1F"/>
                        </a:solidFill>
                        <a:effectLst/>
                        <a:latin typeface="Google Sans Text"/>
                      </a:endParaRPr>
                    </a:p>
                  </a:txBody>
                  <a:tcPr marL="114300" marR="114300" marT="76200" marB="76200" anchor="ctr"/>
                </a:tc>
                <a:tc>
                  <a:txBody>
                    <a:bodyPr/>
                    <a:lstStyle/>
                    <a:p>
                      <a:pPr algn="ctr" rtl="0">
                        <a:buNone/>
                      </a:pPr>
                      <a:r>
                        <a:rPr lang="en-EG" sz="1200" b="1">
                          <a:solidFill>
                            <a:srgbClr val="1F1F1F"/>
                          </a:solidFill>
                          <a:effectLst/>
                        </a:rPr>
                        <a:t>100</a:t>
                      </a:r>
                      <a:endParaRPr lang="en-EG" sz="12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063695356"/>
                  </a:ext>
                </a:extLst>
              </a:tr>
              <a:tr h="303767">
                <a:tc>
                  <a:txBody>
                    <a:bodyPr/>
                    <a:lstStyle/>
                    <a:p>
                      <a:pPr algn="ctr" rtl="0">
                        <a:buNone/>
                      </a:pPr>
                      <a:r>
                        <a:rPr lang="en-US" sz="1200" b="1">
                          <a:solidFill>
                            <a:srgbClr val="1F1F1F"/>
                          </a:solidFill>
                          <a:effectLst/>
                        </a:rPr>
                        <a:t>Asia</a:t>
                      </a:r>
                      <a:endParaRPr lang="en-US" sz="1200">
                        <a:solidFill>
                          <a:srgbClr val="1F1F1F"/>
                        </a:solidFill>
                        <a:effectLst/>
                        <a:latin typeface="Google Sans Text"/>
                      </a:endParaRPr>
                    </a:p>
                  </a:txBody>
                  <a:tcPr marL="114300" marR="114300" marT="76200" marB="76200" anchor="ctr"/>
                </a:tc>
                <a:tc>
                  <a:txBody>
                    <a:bodyPr/>
                    <a:lstStyle/>
                    <a:p>
                      <a:pPr algn="ctr" rtl="0">
                        <a:buNone/>
                      </a:pPr>
                      <a:r>
                        <a:rPr lang="en-EG" sz="1200">
                          <a:solidFill>
                            <a:srgbClr val="1F1F1F"/>
                          </a:solidFill>
                          <a:effectLst/>
                        </a:rPr>
                        <a:t>20</a:t>
                      </a:r>
                      <a:endParaRPr lang="en-EG" sz="1200">
                        <a:solidFill>
                          <a:srgbClr val="1F1F1F"/>
                        </a:solidFill>
                        <a:effectLst/>
                        <a:latin typeface="Google Sans Text"/>
                      </a:endParaRPr>
                    </a:p>
                  </a:txBody>
                  <a:tcPr marL="114300" marR="114300" marT="76200" marB="76200" anchor="ctr"/>
                </a:tc>
                <a:tc>
                  <a:txBody>
                    <a:bodyPr/>
                    <a:lstStyle/>
                    <a:p>
                      <a:pPr algn="ctr" rtl="0">
                        <a:buNone/>
                      </a:pPr>
                      <a:r>
                        <a:rPr lang="en-EG" sz="1200">
                          <a:solidFill>
                            <a:srgbClr val="1F1F1F"/>
                          </a:solidFill>
                          <a:effectLst/>
                        </a:rPr>
                        <a:t>20</a:t>
                      </a:r>
                      <a:endParaRPr lang="en-EG" sz="1200">
                        <a:solidFill>
                          <a:srgbClr val="1F1F1F"/>
                        </a:solidFill>
                        <a:effectLst/>
                        <a:latin typeface="Google Sans Text"/>
                      </a:endParaRPr>
                    </a:p>
                  </a:txBody>
                  <a:tcPr marL="114300" marR="114300" marT="76200" marB="76200" anchor="ctr"/>
                </a:tc>
                <a:tc>
                  <a:txBody>
                    <a:bodyPr/>
                    <a:lstStyle/>
                    <a:p>
                      <a:pPr algn="ctr" rtl="0">
                        <a:buNone/>
                      </a:pPr>
                      <a:r>
                        <a:rPr lang="en-EG" sz="1200">
                          <a:solidFill>
                            <a:srgbClr val="1F1F1F"/>
                          </a:solidFill>
                          <a:effectLst/>
                        </a:rPr>
                        <a:t>60</a:t>
                      </a:r>
                      <a:endParaRPr lang="en-EG" sz="1200">
                        <a:solidFill>
                          <a:srgbClr val="1F1F1F"/>
                        </a:solidFill>
                        <a:effectLst/>
                        <a:latin typeface="Google Sans Text"/>
                      </a:endParaRPr>
                    </a:p>
                  </a:txBody>
                  <a:tcPr marL="114300" marR="114300" marT="76200" marB="76200" anchor="ctr"/>
                </a:tc>
                <a:tc>
                  <a:txBody>
                    <a:bodyPr/>
                    <a:lstStyle/>
                    <a:p>
                      <a:pPr algn="ctr" rtl="0">
                        <a:buNone/>
                      </a:pPr>
                      <a:r>
                        <a:rPr lang="en-EG" sz="1200" b="1" dirty="0">
                          <a:solidFill>
                            <a:srgbClr val="1F1F1F"/>
                          </a:solidFill>
                          <a:effectLst/>
                        </a:rPr>
                        <a:t>100</a:t>
                      </a:r>
                      <a:endParaRPr lang="en-EG" sz="12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372326096"/>
                  </a:ext>
                </a:extLst>
              </a:tr>
              <a:tr h="303767">
                <a:tc>
                  <a:txBody>
                    <a:bodyPr/>
                    <a:lstStyle/>
                    <a:p>
                      <a:pPr algn="ctr" rtl="0">
                        <a:buNone/>
                      </a:pPr>
                      <a:r>
                        <a:rPr lang="en-US" sz="1200" b="1">
                          <a:solidFill>
                            <a:srgbClr val="1F1F1F"/>
                          </a:solidFill>
                          <a:effectLst/>
                        </a:rPr>
                        <a:t>Europe</a:t>
                      </a:r>
                      <a:endParaRPr lang="en-US" sz="1200">
                        <a:solidFill>
                          <a:srgbClr val="1F1F1F"/>
                        </a:solidFill>
                        <a:effectLst/>
                        <a:latin typeface="Google Sans Text"/>
                      </a:endParaRPr>
                    </a:p>
                  </a:txBody>
                  <a:tcPr marL="114300" marR="114300" marT="76200" marB="76200" anchor="ctr"/>
                </a:tc>
                <a:tc>
                  <a:txBody>
                    <a:bodyPr/>
                    <a:lstStyle/>
                    <a:p>
                      <a:pPr algn="ctr" rtl="0">
                        <a:buNone/>
                      </a:pPr>
                      <a:r>
                        <a:rPr lang="en-EG" sz="1200">
                          <a:solidFill>
                            <a:srgbClr val="1F1F1F"/>
                          </a:solidFill>
                          <a:effectLst/>
                        </a:rPr>
                        <a:t>40</a:t>
                      </a:r>
                      <a:endParaRPr lang="en-EG" sz="1200">
                        <a:solidFill>
                          <a:srgbClr val="1F1F1F"/>
                        </a:solidFill>
                        <a:effectLst/>
                        <a:latin typeface="Google Sans Text"/>
                      </a:endParaRPr>
                    </a:p>
                  </a:txBody>
                  <a:tcPr marL="114300" marR="114300" marT="76200" marB="76200" anchor="ctr"/>
                </a:tc>
                <a:tc>
                  <a:txBody>
                    <a:bodyPr/>
                    <a:lstStyle/>
                    <a:p>
                      <a:pPr algn="ctr" rtl="0">
                        <a:buNone/>
                      </a:pPr>
                      <a:r>
                        <a:rPr lang="en-EG" sz="1200">
                          <a:solidFill>
                            <a:srgbClr val="1F1F1F"/>
                          </a:solidFill>
                          <a:effectLst/>
                        </a:rPr>
                        <a:t>40</a:t>
                      </a:r>
                      <a:endParaRPr lang="en-EG" sz="1200">
                        <a:solidFill>
                          <a:srgbClr val="1F1F1F"/>
                        </a:solidFill>
                        <a:effectLst/>
                        <a:latin typeface="Google Sans Text"/>
                      </a:endParaRPr>
                    </a:p>
                  </a:txBody>
                  <a:tcPr marL="114300" marR="114300" marT="76200" marB="76200" anchor="ctr"/>
                </a:tc>
                <a:tc>
                  <a:txBody>
                    <a:bodyPr/>
                    <a:lstStyle/>
                    <a:p>
                      <a:pPr algn="ctr" rtl="0">
                        <a:buNone/>
                      </a:pPr>
                      <a:r>
                        <a:rPr lang="en-EG" sz="1200">
                          <a:solidFill>
                            <a:srgbClr val="1F1F1F"/>
                          </a:solidFill>
                          <a:effectLst/>
                        </a:rPr>
                        <a:t>20</a:t>
                      </a:r>
                      <a:endParaRPr lang="en-EG" sz="1200">
                        <a:solidFill>
                          <a:srgbClr val="1F1F1F"/>
                        </a:solidFill>
                        <a:effectLst/>
                        <a:latin typeface="Google Sans Text"/>
                      </a:endParaRPr>
                    </a:p>
                  </a:txBody>
                  <a:tcPr marL="114300" marR="114300" marT="76200" marB="76200" anchor="ctr"/>
                </a:tc>
                <a:tc>
                  <a:txBody>
                    <a:bodyPr/>
                    <a:lstStyle/>
                    <a:p>
                      <a:pPr algn="ctr" rtl="0">
                        <a:buNone/>
                      </a:pPr>
                      <a:r>
                        <a:rPr lang="en-EG" sz="1200" b="1" dirty="0">
                          <a:solidFill>
                            <a:srgbClr val="1F1F1F"/>
                          </a:solidFill>
                          <a:effectLst/>
                        </a:rPr>
                        <a:t>100</a:t>
                      </a:r>
                      <a:endParaRPr lang="en-EG" sz="12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054466464"/>
                  </a:ext>
                </a:extLst>
              </a:tr>
            </a:tbl>
          </a:graphicData>
        </a:graphic>
      </p:graphicFrame>
      <p:pic>
        <p:nvPicPr>
          <p:cNvPr id="11268" name="Picture 4">
            <a:extLst>
              <a:ext uri="{FF2B5EF4-FFF2-40B4-BE49-F238E27FC236}">
                <a16:creationId xmlns:a16="http://schemas.microsoft.com/office/drawing/2014/main" id="{8F4CFB23-8C54-97E8-F2DA-9CEE6C3BCE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0" y="1887765"/>
            <a:ext cx="6552000" cy="3614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66865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5D9C8-49FD-CA9F-DC7C-CD88384DD3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18143-41F3-DB65-C109-1E6AB6173087}"/>
              </a:ext>
            </a:extLst>
          </p:cNvPr>
          <p:cNvSpPr>
            <a:spLocks noGrp="1"/>
          </p:cNvSpPr>
          <p:nvPr>
            <p:ph type="title"/>
          </p:nvPr>
        </p:nvSpPr>
        <p:spPr/>
        <p:txBody>
          <a:bodyPr/>
          <a:lstStyle/>
          <a:p>
            <a:r>
              <a:rPr lang="en-US" dirty="0"/>
              <a:t>Concept refreshing - multivariate</a:t>
            </a:r>
            <a:endParaRPr lang="en-EG" dirty="0"/>
          </a:p>
        </p:txBody>
      </p:sp>
      <p:sp>
        <p:nvSpPr>
          <p:cNvPr id="3" name="Content Placeholder 2">
            <a:extLst>
              <a:ext uri="{FF2B5EF4-FFF2-40B4-BE49-F238E27FC236}">
                <a16:creationId xmlns:a16="http://schemas.microsoft.com/office/drawing/2014/main" id="{F1D622A5-AB95-13E4-413D-7E355371EF36}"/>
              </a:ext>
            </a:extLst>
          </p:cNvPr>
          <p:cNvSpPr>
            <a:spLocks noGrp="1"/>
          </p:cNvSpPr>
          <p:nvPr>
            <p:ph idx="1"/>
          </p:nvPr>
        </p:nvSpPr>
        <p:spPr/>
        <p:txBody>
          <a:bodyPr>
            <a:normAutofit fontScale="70000" lnSpcReduction="20000"/>
          </a:bodyPr>
          <a:lstStyle/>
          <a:p>
            <a:pPr marL="0" indent="0" algn="ctr">
              <a:buNone/>
            </a:pPr>
            <a:r>
              <a:rPr lang="en-US" sz="4600" dirty="0">
                <a:solidFill>
                  <a:srgbClr val="FF0000"/>
                </a:solidFill>
              </a:rPr>
              <a:t>"Multi" means many. This involves the analysis of </a:t>
            </a:r>
            <a:r>
              <a:rPr lang="en-US" sz="4600" b="1" dirty="0">
                <a:solidFill>
                  <a:srgbClr val="FF0000"/>
                </a:solidFill>
              </a:rPr>
              <a:t>more than two variables</a:t>
            </a:r>
            <a:r>
              <a:rPr lang="en-US" sz="4600" dirty="0">
                <a:solidFill>
                  <a:srgbClr val="FF0000"/>
                </a:solidFill>
              </a:rPr>
              <a:t> at the same time to see how they interact.</a:t>
            </a:r>
            <a:endParaRPr lang="en-US" sz="2400" dirty="0">
              <a:solidFill>
                <a:srgbClr val="FF0000"/>
              </a:solidFill>
            </a:endParaRPr>
          </a:p>
          <a:p>
            <a:pPr marL="0" indent="0">
              <a:lnSpc>
                <a:spcPct val="120000"/>
              </a:lnSpc>
              <a:spcBef>
                <a:spcPts val="0"/>
              </a:spcBef>
              <a:buNone/>
            </a:pPr>
            <a:br>
              <a:rPr lang="en-US" dirty="0">
                <a:solidFill>
                  <a:schemeClr val="tx1">
                    <a:lumMod val="50000"/>
                    <a:lumOff val="50000"/>
                  </a:schemeClr>
                </a:solidFill>
              </a:rPr>
            </a:br>
            <a:r>
              <a:rPr lang="en-US" sz="3000" dirty="0">
                <a:solidFill>
                  <a:schemeClr val="tx1">
                    <a:lumMod val="75000"/>
                    <a:lumOff val="25000"/>
                  </a:schemeClr>
                </a:solidFill>
              </a:rPr>
              <a:t>Imagine you are analyzing the sales of a tech company:</a:t>
            </a:r>
          </a:p>
          <a:p>
            <a:pPr marL="0" indent="0">
              <a:lnSpc>
                <a:spcPct val="120000"/>
              </a:lnSpc>
              <a:spcBef>
                <a:spcPts val="0"/>
              </a:spcBef>
              <a:buNone/>
            </a:pPr>
            <a:br>
              <a:rPr lang="en-US" dirty="0">
                <a:solidFill>
                  <a:schemeClr val="tx1">
                    <a:lumMod val="75000"/>
                    <a:lumOff val="25000"/>
                  </a:schemeClr>
                </a:solidFill>
              </a:rPr>
            </a:br>
            <a:r>
              <a:rPr lang="en-US" sz="2900" dirty="0">
                <a:solidFill>
                  <a:schemeClr val="tx1">
                    <a:lumMod val="75000"/>
                    <a:lumOff val="25000"/>
                  </a:schemeClr>
                </a:solidFill>
              </a:rPr>
              <a:t>   -</a:t>
            </a:r>
            <a:r>
              <a:rPr lang="en-US" dirty="0">
                <a:solidFill>
                  <a:schemeClr val="tx1">
                    <a:lumMod val="75000"/>
                    <a:lumOff val="25000"/>
                  </a:schemeClr>
                </a:solidFill>
              </a:rPr>
              <a:t> </a:t>
            </a:r>
            <a:r>
              <a:rPr lang="en-US" sz="2800" dirty="0">
                <a:solidFill>
                  <a:schemeClr val="tx1">
                    <a:lumMod val="75000"/>
                    <a:lumOff val="25000"/>
                  </a:schemeClr>
                </a:solidFill>
              </a:rPr>
              <a:t>If you only look at "Units Sold," that is </a:t>
            </a:r>
            <a:r>
              <a:rPr lang="en-US" sz="2800" b="1" dirty="0">
                <a:solidFill>
                  <a:schemeClr val="tx1">
                    <a:lumMod val="75000"/>
                    <a:lumOff val="25000"/>
                  </a:schemeClr>
                </a:solidFill>
              </a:rPr>
              <a:t>Univariate</a:t>
            </a:r>
            <a:r>
              <a:rPr lang="en-US" sz="2800" dirty="0">
                <a:solidFill>
                  <a:schemeClr val="tx1">
                    <a:lumMod val="75000"/>
                    <a:lumOff val="25000"/>
                  </a:schemeClr>
                </a:solidFill>
              </a:rPr>
              <a:t>. </a:t>
            </a:r>
            <a:br>
              <a:rPr lang="en-US" sz="2800" dirty="0">
                <a:solidFill>
                  <a:schemeClr val="tx1">
                    <a:lumMod val="75000"/>
                    <a:lumOff val="25000"/>
                  </a:schemeClr>
                </a:solidFill>
              </a:rPr>
            </a:br>
            <a:r>
              <a:rPr lang="en-US" sz="2800" dirty="0">
                <a:solidFill>
                  <a:schemeClr val="tx1">
                    <a:lumMod val="75000"/>
                    <a:lumOff val="25000"/>
                  </a:schemeClr>
                </a:solidFill>
              </a:rPr>
              <a:t>   - If you look at "Units Sold" vs. "Price," that is </a:t>
            </a:r>
            <a:r>
              <a:rPr lang="en-US" sz="2800" b="1" dirty="0">
                <a:solidFill>
                  <a:schemeClr val="tx1">
                    <a:lumMod val="75000"/>
                    <a:lumOff val="25000"/>
                  </a:schemeClr>
                </a:solidFill>
              </a:rPr>
              <a:t>Bivariate</a:t>
            </a:r>
            <a:r>
              <a:rPr lang="en-US" sz="2800" dirty="0">
                <a:solidFill>
                  <a:schemeClr val="tx1">
                    <a:lumMod val="75000"/>
                    <a:lumOff val="25000"/>
                  </a:schemeClr>
                </a:solidFill>
              </a:rPr>
              <a:t>.</a:t>
            </a:r>
          </a:p>
          <a:p>
            <a:pPr marL="0" indent="0">
              <a:spcBef>
                <a:spcPts val="0"/>
              </a:spcBef>
              <a:buNone/>
            </a:pPr>
            <a:r>
              <a:rPr lang="en-US" sz="2800" dirty="0">
                <a:solidFill>
                  <a:schemeClr val="tx1">
                    <a:lumMod val="75000"/>
                    <a:lumOff val="25000"/>
                  </a:schemeClr>
                </a:solidFill>
              </a:rPr>
              <a:t>   - In </a:t>
            </a:r>
            <a:r>
              <a:rPr lang="en-US" sz="2800" b="1" dirty="0">
                <a:solidFill>
                  <a:schemeClr val="tx1">
                    <a:lumMod val="75000"/>
                    <a:lumOff val="25000"/>
                  </a:schemeClr>
                </a:solidFill>
              </a:rPr>
              <a:t>Multivariate Analysis</a:t>
            </a:r>
            <a:r>
              <a:rPr lang="en-US" sz="2800" dirty="0">
                <a:solidFill>
                  <a:schemeClr val="tx1">
                    <a:lumMod val="75000"/>
                    <a:lumOff val="25000"/>
                  </a:schemeClr>
                </a:solidFill>
              </a:rPr>
              <a:t>, you would look at:</a:t>
            </a:r>
          </a:p>
          <a:p>
            <a:pPr marL="0" indent="0">
              <a:spcBef>
                <a:spcPts val="0"/>
              </a:spcBef>
              <a:buNone/>
            </a:pPr>
            <a:r>
              <a:rPr lang="en-US" sz="2800" b="1" dirty="0">
                <a:solidFill>
                  <a:schemeClr val="tx1">
                    <a:lumMod val="75000"/>
                    <a:lumOff val="25000"/>
                  </a:schemeClr>
                </a:solidFill>
              </a:rPr>
              <a:t>          Variable 1:</a:t>
            </a:r>
            <a:r>
              <a:rPr lang="en-US" sz="2800" dirty="0">
                <a:solidFill>
                  <a:schemeClr val="tx1">
                    <a:lumMod val="75000"/>
                    <a:lumOff val="25000"/>
                  </a:schemeClr>
                </a:solidFill>
              </a:rPr>
              <a:t> Units Sold (The Magnitude).</a:t>
            </a:r>
          </a:p>
          <a:p>
            <a:pPr marL="0" indent="0">
              <a:spcBef>
                <a:spcPts val="0"/>
              </a:spcBef>
              <a:buNone/>
            </a:pPr>
            <a:r>
              <a:rPr lang="en-US" sz="2800" b="1" dirty="0">
                <a:solidFill>
                  <a:schemeClr val="tx1">
                    <a:lumMod val="75000"/>
                    <a:lumOff val="25000"/>
                  </a:schemeClr>
                </a:solidFill>
              </a:rPr>
              <a:t>          Variable 2:</a:t>
            </a:r>
            <a:r>
              <a:rPr lang="en-US" sz="2800" dirty="0">
                <a:solidFill>
                  <a:schemeClr val="tx1">
                    <a:lumMod val="75000"/>
                    <a:lumOff val="25000"/>
                  </a:schemeClr>
                </a:solidFill>
              </a:rPr>
              <a:t> Product Category (e.g., Laptops, Tablets).</a:t>
            </a:r>
          </a:p>
          <a:p>
            <a:pPr marL="0" indent="0">
              <a:spcBef>
                <a:spcPts val="0"/>
              </a:spcBef>
              <a:buNone/>
            </a:pPr>
            <a:r>
              <a:rPr lang="en-US" sz="2800" b="1" dirty="0">
                <a:solidFill>
                  <a:schemeClr val="tx1">
                    <a:lumMod val="75000"/>
                    <a:lumOff val="25000"/>
                  </a:schemeClr>
                </a:solidFill>
              </a:rPr>
              <a:t>          Variable 3:</a:t>
            </a:r>
            <a:r>
              <a:rPr lang="en-US" sz="2800" dirty="0">
                <a:solidFill>
                  <a:schemeClr val="tx1">
                    <a:lumMod val="75000"/>
                    <a:lumOff val="25000"/>
                  </a:schemeClr>
                </a:solidFill>
              </a:rPr>
              <a:t> Region (e.g., North America, Europe).</a:t>
            </a:r>
            <a:br>
              <a:rPr lang="en-US" sz="2800" dirty="0">
                <a:solidFill>
                  <a:schemeClr val="tx1">
                    <a:lumMod val="75000"/>
                    <a:lumOff val="25000"/>
                  </a:schemeClr>
                </a:solidFill>
              </a:rPr>
            </a:br>
            <a:r>
              <a:rPr lang="en-US" sz="2800" dirty="0">
                <a:solidFill>
                  <a:schemeClr val="tx1">
                    <a:lumMod val="75000"/>
                    <a:lumOff val="25000"/>
                  </a:schemeClr>
                </a:solidFill>
              </a:rPr>
              <a:t>          </a:t>
            </a:r>
            <a:r>
              <a:rPr lang="en-US" sz="2800" b="1" dirty="0">
                <a:solidFill>
                  <a:schemeClr val="tx1">
                    <a:lumMod val="75000"/>
                    <a:lumOff val="25000"/>
                  </a:schemeClr>
                </a:solidFill>
              </a:rPr>
              <a:t>Variable 4:</a:t>
            </a:r>
            <a:r>
              <a:rPr lang="en-US" sz="2800" dirty="0">
                <a:solidFill>
                  <a:schemeClr val="tx1">
                    <a:lumMod val="75000"/>
                    <a:lumOff val="25000"/>
                  </a:schemeClr>
                </a:solidFill>
              </a:rPr>
              <a:t> Time (e.g., Q1, Q2, Q3).</a:t>
            </a:r>
          </a:p>
          <a:p>
            <a:pPr marL="0" indent="0" algn="ctr">
              <a:buNone/>
            </a:pPr>
            <a:endParaRPr lang="en-EG" sz="1600" dirty="0">
              <a:solidFill>
                <a:schemeClr val="tx1">
                  <a:lumMod val="50000"/>
                  <a:lumOff val="50000"/>
                </a:schemeClr>
              </a:solidFill>
            </a:endParaRPr>
          </a:p>
        </p:txBody>
      </p:sp>
    </p:spTree>
    <p:extLst>
      <p:ext uri="{BB962C8B-B14F-4D97-AF65-F5344CB8AC3E}">
        <p14:creationId xmlns:p14="http://schemas.microsoft.com/office/powerpoint/2010/main" val="12573010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2DFD3-B099-FB8D-EB1A-3C74FBC0ED0D}"/>
              </a:ext>
            </a:extLst>
          </p:cNvPr>
          <p:cNvSpPr>
            <a:spLocks noGrp="1"/>
          </p:cNvSpPr>
          <p:nvPr>
            <p:ph type="title"/>
          </p:nvPr>
        </p:nvSpPr>
        <p:spPr/>
        <p:txBody>
          <a:bodyPr>
            <a:normAutofit fontScale="90000"/>
          </a:bodyPr>
          <a:lstStyle/>
          <a:p>
            <a:r>
              <a:rPr lang="en-US" dirty="0"/>
              <a:t>What is meant by comparison charts?</a:t>
            </a:r>
            <a:br>
              <a:rPr lang="en-US" dirty="0"/>
            </a:br>
            <a:endParaRPr lang="en-EG" dirty="0"/>
          </a:p>
        </p:txBody>
      </p:sp>
      <p:sp>
        <p:nvSpPr>
          <p:cNvPr id="3" name="Content Placeholder 2">
            <a:extLst>
              <a:ext uri="{FF2B5EF4-FFF2-40B4-BE49-F238E27FC236}">
                <a16:creationId xmlns:a16="http://schemas.microsoft.com/office/drawing/2014/main" id="{BF95D8C5-A097-F9F3-7BFE-CE9C7FF18B15}"/>
              </a:ext>
            </a:extLst>
          </p:cNvPr>
          <p:cNvSpPr>
            <a:spLocks noGrp="1"/>
          </p:cNvSpPr>
          <p:nvPr>
            <p:ph idx="1"/>
          </p:nvPr>
        </p:nvSpPr>
        <p:spPr/>
        <p:txBody>
          <a:bodyPr/>
          <a:lstStyle/>
          <a:p>
            <a:pPr marL="0" indent="0" algn="just">
              <a:buNone/>
            </a:pPr>
            <a:r>
              <a:rPr lang="en-US" b="1" dirty="0"/>
              <a:t>Comparison Charts</a:t>
            </a:r>
            <a:r>
              <a:rPr lang="en-US" dirty="0"/>
              <a:t> are visual tools used to show the </a:t>
            </a:r>
            <a:r>
              <a:rPr lang="en-US" b="1" dirty="0"/>
              <a:t>differences and similarities </a:t>
            </a:r>
            <a:r>
              <a:rPr lang="en-US" dirty="0"/>
              <a:t>between two or more items or data points. </a:t>
            </a:r>
          </a:p>
          <a:p>
            <a:pPr marL="0" indent="0" algn="just">
              <a:buNone/>
            </a:pPr>
            <a:endParaRPr lang="en-US" dirty="0"/>
          </a:p>
          <a:p>
            <a:pPr marL="0" indent="0" algn="just">
              <a:buNone/>
            </a:pPr>
            <a:r>
              <a:rPr lang="en-US" dirty="0"/>
              <a:t>It identify which item is the </a:t>
            </a:r>
            <a:r>
              <a:rPr lang="en-US" b="1" dirty="0"/>
              <a:t>"best," </a:t>
            </a:r>
            <a:r>
              <a:rPr lang="en-US" dirty="0"/>
              <a:t>the </a:t>
            </a:r>
            <a:r>
              <a:rPr lang="en-US" b="1" dirty="0"/>
              <a:t>"largest," </a:t>
            </a:r>
            <a:r>
              <a:rPr lang="en-US" dirty="0"/>
              <a:t>or the </a:t>
            </a:r>
            <a:r>
              <a:rPr lang="en-US" b="1" dirty="0"/>
              <a:t>"fastest" </a:t>
            </a:r>
            <a:r>
              <a:rPr lang="en-US" dirty="0"/>
              <a:t>by placing the values side-by-side or on a shared scale. Instead of looking at a single number in isolation</a:t>
            </a:r>
          </a:p>
          <a:p>
            <a:endParaRPr lang="en-EG" dirty="0"/>
          </a:p>
        </p:txBody>
      </p:sp>
    </p:spTree>
    <p:extLst>
      <p:ext uri="{BB962C8B-B14F-4D97-AF65-F5344CB8AC3E}">
        <p14:creationId xmlns:p14="http://schemas.microsoft.com/office/powerpoint/2010/main" val="1320964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8823D-015E-ACBC-0516-D6C2BCCD761D}"/>
              </a:ext>
            </a:extLst>
          </p:cNvPr>
          <p:cNvSpPr>
            <a:spLocks noGrp="1"/>
          </p:cNvSpPr>
          <p:nvPr>
            <p:ph type="title"/>
          </p:nvPr>
        </p:nvSpPr>
        <p:spPr/>
        <p:txBody>
          <a:bodyPr/>
          <a:lstStyle/>
          <a:p>
            <a:r>
              <a:rPr lang="en-US" dirty="0"/>
              <a:t>What are the different types of datasets?</a:t>
            </a:r>
            <a:endParaRPr lang="en-EG" dirty="0"/>
          </a:p>
        </p:txBody>
      </p:sp>
      <p:sp>
        <p:nvSpPr>
          <p:cNvPr id="3" name="Content Placeholder 2">
            <a:extLst>
              <a:ext uri="{FF2B5EF4-FFF2-40B4-BE49-F238E27FC236}">
                <a16:creationId xmlns:a16="http://schemas.microsoft.com/office/drawing/2014/main" id="{D58C43ED-1B48-4B07-10FC-697DEF5B4DC3}"/>
              </a:ext>
            </a:extLst>
          </p:cNvPr>
          <p:cNvSpPr>
            <a:spLocks noGrp="1"/>
          </p:cNvSpPr>
          <p:nvPr>
            <p:ph idx="1"/>
          </p:nvPr>
        </p:nvSpPr>
        <p:spPr/>
        <p:txBody>
          <a:bodyPr/>
          <a:lstStyle/>
          <a:p>
            <a:pPr marL="0" indent="0">
              <a:buNone/>
            </a:pPr>
            <a:r>
              <a:rPr lang="en-US" b="1" dirty="0"/>
              <a:t>Categorical: </a:t>
            </a:r>
            <a:r>
              <a:rPr lang="en-US" dirty="0"/>
              <a:t>It consists of </a:t>
            </a:r>
            <a:r>
              <a:rPr lang="en-US" b="1" dirty="0"/>
              <a:t>distinct groups or labels</a:t>
            </a:r>
            <a:r>
              <a:rPr lang="en-US" dirty="0"/>
              <a:t>. There is no mathematical "middle ground" between them—an item belongs to one group or another. You can’t do mathematical operations (addition, multiplication, mean, median, etc.) on it. If you can't add, subtract, or average a certain data value meaningfully, it’s </a:t>
            </a:r>
            <a:r>
              <a:rPr lang="en-US" b="1" dirty="0"/>
              <a:t>Categorical</a:t>
            </a:r>
            <a:r>
              <a:rPr lang="en-US" dirty="0"/>
              <a:t>.</a:t>
            </a:r>
            <a:br>
              <a:rPr lang="en-US" dirty="0"/>
            </a:br>
            <a:br>
              <a:rPr lang="en-US" dirty="0"/>
            </a:br>
            <a:r>
              <a:rPr lang="en-US" b="1" dirty="0"/>
              <a:t>Example:</a:t>
            </a:r>
            <a:r>
              <a:rPr lang="en-US" dirty="0"/>
              <a:t> Brand names, City names, Departments, or Product types.</a:t>
            </a:r>
          </a:p>
          <a:p>
            <a:pPr marL="0" indent="0">
              <a:buNone/>
            </a:pPr>
            <a:endParaRPr lang="en-EG" dirty="0"/>
          </a:p>
        </p:txBody>
      </p:sp>
      <p:graphicFrame>
        <p:nvGraphicFramePr>
          <p:cNvPr id="4" name="Table 3">
            <a:extLst>
              <a:ext uri="{FF2B5EF4-FFF2-40B4-BE49-F238E27FC236}">
                <a16:creationId xmlns:a16="http://schemas.microsoft.com/office/drawing/2014/main" id="{F91C3B8A-93F1-16BD-C1CA-285EAEDFAA3A}"/>
              </a:ext>
            </a:extLst>
          </p:cNvPr>
          <p:cNvGraphicFramePr>
            <a:graphicFrameLocks noGrp="1"/>
          </p:cNvGraphicFramePr>
          <p:nvPr>
            <p:extLst>
              <p:ext uri="{D42A27DB-BD31-4B8C-83A1-F6EECF244321}">
                <p14:modId xmlns:p14="http://schemas.microsoft.com/office/powerpoint/2010/main" val="1945777971"/>
              </p:ext>
            </p:extLst>
          </p:nvPr>
        </p:nvGraphicFramePr>
        <p:xfrm>
          <a:off x="750094" y="4255008"/>
          <a:ext cx="10691812" cy="1706880"/>
        </p:xfrm>
        <a:graphic>
          <a:graphicData uri="http://schemas.openxmlformats.org/drawingml/2006/table">
            <a:tbl>
              <a:tblPr>
                <a:tableStyleId>{5940675A-B579-460E-94D1-54222C63F5DA}</a:tableStyleId>
              </a:tblPr>
              <a:tblGrid>
                <a:gridCol w="5345906">
                  <a:extLst>
                    <a:ext uri="{9D8B030D-6E8A-4147-A177-3AD203B41FA5}">
                      <a16:colId xmlns:a16="http://schemas.microsoft.com/office/drawing/2014/main" val="1524675469"/>
                    </a:ext>
                  </a:extLst>
                </a:gridCol>
                <a:gridCol w="5345906">
                  <a:extLst>
                    <a:ext uri="{9D8B030D-6E8A-4147-A177-3AD203B41FA5}">
                      <a16:colId xmlns:a16="http://schemas.microsoft.com/office/drawing/2014/main" val="4066502094"/>
                    </a:ext>
                  </a:extLst>
                </a:gridCol>
              </a:tblGrid>
              <a:tr h="0">
                <a:tc>
                  <a:txBody>
                    <a:bodyPr/>
                    <a:lstStyle/>
                    <a:p>
                      <a:pPr rtl="0">
                        <a:buNone/>
                      </a:pPr>
                      <a:r>
                        <a:rPr lang="en-US" b="1">
                          <a:solidFill>
                            <a:srgbClr val="1F1F1F"/>
                          </a:solidFill>
                          <a:effectLst/>
                        </a:rPr>
                        <a:t>Product (Category)</a:t>
                      </a:r>
                      <a:endParaRPr lang="en-US">
                        <a:solidFill>
                          <a:srgbClr val="1F1F1F"/>
                        </a:solidFill>
                        <a:effectLst/>
                        <a:latin typeface="Google Sans Text"/>
                      </a:endParaRPr>
                    </a:p>
                  </a:txBody>
                  <a:tcPr marL="114300" marR="114300" marT="76200" marB="76200" anchor="ctr"/>
                </a:tc>
                <a:tc>
                  <a:txBody>
                    <a:bodyPr/>
                    <a:lstStyle/>
                    <a:p>
                      <a:pPr rtl="0">
                        <a:buNone/>
                      </a:pPr>
                      <a:r>
                        <a:rPr lang="en-US" b="1">
                          <a:solidFill>
                            <a:srgbClr val="1F1F1F"/>
                          </a:solidFill>
                          <a:effectLst/>
                        </a:rPr>
                        <a:t>Units Sold</a:t>
                      </a:r>
                      <a:endParaRPr lang="en-US">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167898842"/>
                  </a:ext>
                </a:extLst>
              </a:tr>
              <a:tr h="0">
                <a:tc>
                  <a:txBody>
                    <a:bodyPr/>
                    <a:lstStyle/>
                    <a:p>
                      <a:pPr rtl="0">
                        <a:buNone/>
                      </a:pPr>
                      <a:r>
                        <a:rPr lang="en-US">
                          <a:solidFill>
                            <a:srgbClr val="1F1F1F"/>
                          </a:solidFill>
                          <a:effectLst/>
                        </a:rPr>
                        <a:t>Laptop</a:t>
                      </a:r>
                      <a:endParaRPr lang="en-US">
                        <a:solidFill>
                          <a:srgbClr val="1F1F1F"/>
                        </a:solidFill>
                        <a:effectLst/>
                        <a:latin typeface="Google Sans Text"/>
                      </a:endParaRPr>
                    </a:p>
                  </a:txBody>
                  <a:tcPr marL="114300" marR="114300" marT="76200" marB="76200" anchor="ctr"/>
                </a:tc>
                <a:tc>
                  <a:txBody>
                    <a:bodyPr/>
                    <a:lstStyle/>
                    <a:p>
                      <a:pPr rtl="0">
                        <a:buNone/>
                      </a:pPr>
                      <a:r>
                        <a:rPr lang="en-EG">
                          <a:solidFill>
                            <a:srgbClr val="1F1F1F"/>
                          </a:solidFill>
                          <a:effectLst/>
                        </a:rPr>
                        <a:t>1,200</a:t>
                      </a:r>
                      <a:endParaRPr lang="en-EG">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978663111"/>
                  </a:ext>
                </a:extLst>
              </a:tr>
              <a:tr h="0">
                <a:tc>
                  <a:txBody>
                    <a:bodyPr/>
                    <a:lstStyle/>
                    <a:p>
                      <a:pPr rtl="0">
                        <a:buNone/>
                      </a:pPr>
                      <a:r>
                        <a:rPr lang="en-US">
                          <a:solidFill>
                            <a:srgbClr val="1F1F1F"/>
                          </a:solidFill>
                          <a:effectLst/>
                        </a:rPr>
                        <a:t>Tablet</a:t>
                      </a:r>
                      <a:endParaRPr lang="en-US">
                        <a:solidFill>
                          <a:srgbClr val="1F1F1F"/>
                        </a:solidFill>
                        <a:effectLst/>
                        <a:latin typeface="Google Sans Text"/>
                      </a:endParaRPr>
                    </a:p>
                  </a:txBody>
                  <a:tcPr marL="114300" marR="114300" marT="76200" marB="76200" anchor="ctr"/>
                </a:tc>
                <a:tc>
                  <a:txBody>
                    <a:bodyPr/>
                    <a:lstStyle/>
                    <a:p>
                      <a:pPr rtl="0">
                        <a:buNone/>
                      </a:pPr>
                      <a:r>
                        <a:rPr lang="en-EG">
                          <a:solidFill>
                            <a:srgbClr val="1F1F1F"/>
                          </a:solidFill>
                          <a:effectLst/>
                        </a:rPr>
                        <a:t>850</a:t>
                      </a:r>
                      <a:endParaRPr lang="en-EG">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449644077"/>
                  </a:ext>
                </a:extLst>
              </a:tr>
              <a:tr h="0">
                <a:tc>
                  <a:txBody>
                    <a:bodyPr/>
                    <a:lstStyle/>
                    <a:p>
                      <a:pPr rtl="0">
                        <a:buNone/>
                      </a:pPr>
                      <a:r>
                        <a:rPr lang="en-US">
                          <a:solidFill>
                            <a:srgbClr val="1F1F1F"/>
                          </a:solidFill>
                          <a:effectLst/>
                        </a:rPr>
                        <a:t>Smartphone</a:t>
                      </a:r>
                      <a:endParaRPr lang="en-US">
                        <a:solidFill>
                          <a:srgbClr val="1F1F1F"/>
                        </a:solidFill>
                        <a:effectLst/>
                        <a:latin typeface="Google Sans Text"/>
                      </a:endParaRPr>
                    </a:p>
                  </a:txBody>
                  <a:tcPr marL="114300" marR="114300" marT="76200" marB="76200" anchor="ctr"/>
                </a:tc>
                <a:tc>
                  <a:txBody>
                    <a:bodyPr/>
                    <a:lstStyle/>
                    <a:p>
                      <a:pPr rtl="0">
                        <a:buNone/>
                      </a:pPr>
                      <a:r>
                        <a:rPr lang="en-EG" dirty="0">
                          <a:solidFill>
                            <a:srgbClr val="1F1F1F"/>
                          </a:solidFill>
                          <a:effectLst/>
                        </a:rPr>
                        <a:t>2,500</a:t>
                      </a:r>
                      <a:endParaRPr lang="en-EG"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508024893"/>
                  </a:ext>
                </a:extLst>
              </a:tr>
            </a:tbl>
          </a:graphicData>
        </a:graphic>
      </p:graphicFrame>
    </p:spTree>
    <p:extLst>
      <p:ext uri="{BB962C8B-B14F-4D97-AF65-F5344CB8AC3E}">
        <p14:creationId xmlns:p14="http://schemas.microsoft.com/office/powerpoint/2010/main" val="25454146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4705C-BFA3-E739-70FB-D59EB5A350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E6A97F-7B20-232F-A0A8-F8156C2B4379}"/>
              </a:ext>
            </a:extLst>
          </p:cNvPr>
          <p:cNvSpPr>
            <a:spLocks noGrp="1"/>
          </p:cNvSpPr>
          <p:nvPr>
            <p:ph type="title"/>
          </p:nvPr>
        </p:nvSpPr>
        <p:spPr/>
        <p:txBody>
          <a:bodyPr/>
          <a:lstStyle/>
          <a:p>
            <a:r>
              <a:rPr lang="en-US" dirty="0"/>
              <a:t>What are the different types of datasets?</a:t>
            </a:r>
            <a:endParaRPr lang="en-EG" dirty="0"/>
          </a:p>
        </p:txBody>
      </p:sp>
      <p:sp>
        <p:nvSpPr>
          <p:cNvPr id="3" name="Content Placeholder 2">
            <a:extLst>
              <a:ext uri="{FF2B5EF4-FFF2-40B4-BE49-F238E27FC236}">
                <a16:creationId xmlns:a16="http://schemas.microsoft.com/office/drawing/2014/main" id="{E96773AE-EDC2-BDDF-B93A-B42EB8B1C0EA}"/>
              </a:ext>
            </a:extLst>
          </p:cNvPr>
          <p:cNvSpPr>
            <a:spLocks noGrp="1"/>
          </p:cNvSpPr>
          <p:nvPr>
            <p:ph idx="1"/>
          </p:nvPr>
        </p:nvSpPr>
        <p:spPr/>
        <p:txBody>
          <a:bodyPr/>
          <a:lstStyle/>
          <a:p>
            <a:pPr marL="0" indent="0" algn="just">
              <a:buNone/>
            </a:pPr>
            <a:r>
              <a:rPr lang="en-US" b="1" dirty="0"/>
              <a:t>Numerical:</a:t>
            </a:r>
            <a:r>
              <a:rPr lang="en-US" dirty="0"/>
              <a:t> It consists of </a:t>
            </a:r>
            <a:r>
              <a:rPr lang="en-US" b="1" dirty="0"/>
              <a:t>quantitative measurements</a:t>
            </a:r>
            <a:r>
              <a:rPr lang="en-US" dirty="0"/>
              <a:t> (numbers). These numbers represent a scale where you can perform calculations like averages, sums, or ranges.</a:t>
            </a:r>
          </a:p>
          <a:p>
            <a:pPr marL="0" indent="0" algn="just">
              <a:buNone/>
            </a:pPr>
            <a:endParaRPr lang="en-US" dirty="0"/>
          </a:p>
          <a:p>
            <a:pPr marL="0" indent="0" algn="just">
              <a:buNone/>
            </a:pPr>
            <a:r>
              <a:rPr lang="en-US" b="1" dirty="0"/>
              <a:t>Example:</a:t>
            </a:r>
            <a:r>
              <a:rPr lang="en-US" dirty="0"/>
              <a:t> Prices, Heights, Ages, or Test Scores.</a:t>
            </a:r>
          </a:p>
          <a:p>
            <a:pPr marL="0" indent="0" algn="just">
              <a:buNone/>
            </a:pPr>
            <a:endParaRPr lang="en-EG" dirty="0"/>
          </a:p>
        </p:txBody>
      </p:sp>
      <p:graphicFrame>
        <p:nvGraphicFramePr>
          <p:cNvPr id="5" name="Table 4">
            <a:extLst>
              <a:ext uri="{FF2B5EF4-FFF2-40B4-BE49-F238E27FC236}">
                <a16:creationId xmlns:a16="http://schemas.microsoft.com/office/drawing/2014/main" id="{6B932B9E-E7D9-C7F2-48B7-A40D2EEB35B9}"/>
              </a:ext>
            </a:extLst>
          </p:cNvPr>
          <p:cNvGraphicFramePr>
            <a:graphicFrameLocks noGrp="1"/>
          </p:cNvGraphicFramePr>
          <p:nvPr>
            <p:extLst>
              <p:ext uri="{D42A27DB-BD31-4B8C-83A1-F6EECF244321}">
                <p14:modId xmlns:p14="http://schemas.microsoft.com/office/powerpoint/2010/main" val="2624316206"/>
              </p:ext>
            </p:extLst>
          </p:nvPr>
        </p:nvGraphicFramePr>
        <p:xfrm>
          <a:off x="700089" y="4295047"/>
          <a:ext cx="10691811" cy="1706880"/>
        </p:xfrm>
        <a:graphic>
          <a:graphicData uri="http://schemas.openxmlformats.org/drawingml/2006/table">
            <a:tbl>
              <a:tblPr>
                <a:tableStyleId>{5940675A-B579-460E-94D1-54222C63F5DA}</a:tableStyleId>
              </a:tblPr>
              <a:tblGrid>
                <a:gridCol w="3563937">
                  <a:extLst>
                    <a:ext uri="{9D8B030D-6E8A-4147-A177-3AD203B41FA5}">
                      <a16:colId xmlns:a16="http://schemas.microsoft.com/office/drawing/2014/main" val="2469756687"/>
                    </a:ext>
                  </a:extLst>
                </a:gridCol>
                <a:gridCol w="3563937">
                  <a:extLst>
                    <a:ext uri="{9D8B030D-6E8A-4147-A177-3AD203B41FA5}">
                      <a16:colId xmlns:a16="http://schemas.microsoft.com/office/drawing/2014/main" val="3270141781"/>
                    </a:ext>
                  </a:extLst>
                </a:gridCol>
                <a:gridCol w="3563937">
                  <a:extLst>
                    <a:ext uri="{9D8B030D-6E8A-4147-A177-3AD203B41FA5}">
                      <a16:colId xmlns:a16="http://schemas.microsoft.com/office/drawing/2014/main" val="852244773"/>
                    </a:ext>
                  </a:extLst>
                </a:gridCol>
              </a:tblGrid>
              <a:tr h="0">
                <a:tc>
                  <a:txBody>
                    <a:bodyPr/>
                    <a:lstStyle/>
                    <a:p>
                      <a:pPr rtl="0">
                        <a:buNone/>
                      </a:pPr>
                      <a:r>
                        <a:rPr lang="en-US" b="1">
                          <a:solidFill>
                            <a:srgbClr val="1F1F1F"/>
                          </a:solidFill>
                          <a:effectLst/>
                        </a:rPr>
                        <a:t>Customer ID</a:t>
                      </a:r>
                      <a:endParaRPr lang="en-US">
                        <a:solidFill>
                          <a:srgbClr val="1F1F1F"/>
                        </a:solidFill>
                        <a:effectLst/>
                        <a:latin typeface="Google Sans Text"/>
                      </a:endParaRPr>
                    </a:p>
                  </a:txBody>
                  <a:tcPr marL="114300" marR="114300" marT="76200" marB="76200" anchor="ctr"/>
                </a:tc>
                <a:tc>
                  <a:txBody>
                    <a:bodyPr/>
                    <a:lstStyle/>
                    <a:p>
                      <a:pPr rtl="0">
                        <a:buNone/>
                      </a:pPr>
                      <a:r>
                        <a:rPr lang="en-US" b="1">
                          <a:solidFill>
                            <a:srgbClr val="1F1F1F"/>
                          </a:solidFill>
                          <a:effectLst/>
                        </a:rPr>
                        <a:t>Age (Numerical)</a:t>
                      </a:r>
                      <a:endParaRPr lang="en-US">
                        <a:solidFill>
                          <a:srgbClr val="1F1F1F"/>
                        </a:solidFill>
                        <a:effectLst/>
                        <a:latin typeface="Google Sans Text"/>
                      </a:endParaRPr>
                    </a:p>
                  </a:txBody>
                  <a:tcPr marL="114300" marR="114300" marT="76200" marB="76200" anchor="ctr"/>
                </a:tc>
                <a:tc>
                  <a:txBody>
                    <a:bodyPr/>
                    <a:lstStyle/>
                    <a:p>
                      <a:pPr rtl="0">
                        <a:buNone/>
                      </a:pPr>
                      <a:r>
                        <a:rPr lang="en-US" b="1">
                          <a:solidFill>
                            <a:srgbClr val="1F1F1F"/>
                          </a:solidFill>
                          <a:effectLst/>
                        </a:rPr>
                        <a:t>Spend Amount (Numerical)</a:t>
                      </a:r>
                      <a:endParaRPr lang="en-US">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59736143"/>
                  </a:ext>
                </a:extLst>
              </a:tr>
              <a:tr h="0">
                <a:tc>
                  <a:txBody>
                    <a:bodyPr/>
                    <a:lstStyle/>
                    <a:p>
                      <a:pPr rtl="0">
                        <a:buNone/>
                      </a:pPr>
                      <a:r>
                        <a:rPr lang="en-EG" dirty="0">
                          <a:solidFill>
                            <a:srgbClr val="1F1F1F"/>
                          </a:solidFill>
                          <a:effectLst/>
                        </a:rPr>
                        <a:t>#001</a:t>
                      </a:r>
                      <a:endParaRPr lang="en-EG" dirty="0">
                        <a:solidFill>
                          <a:srgbClr val="1F1F1F"/>
                        </a:solidFill>
                        <a:effectLst/>
                        <a:latin typeface="Google Sans Text"/>
                      </a:endParaRPr>
                    </a:p>
                  </a:txBody>
                  <a:tcPr marL="114300" marR="114300" marT="76200" marB="76200" anchor="ctr"/>
                </a:tc>
                <a:tc>
                  <a:txBody>
                    <a:bodyPr/>
                    <a:lstStyle/>
                    <a:p>
                      <a:pPr rtl="0">
                        <a:buNone/>
                      </a:pPr>
                      <a:r>
                        <a:rPr lang="en-EG">
                          <a:solidFill>
                            <a:srgbClr val="1F1F1F"/>
                          </a:solidFill>
                          <a:effectLst/>
                        </a:rPr>
                        <a:t>24</a:t>
                      </a:r>
                      <a:endParaRPr lang="en-EG">
                        <a:solidFill>
                          <a:srgbClr val="1F1F1F"/>
                        </a:solidFill>
                        <a:effectLst/>
                        <a:latin typeface="Google Sans Text"/>
                      </a:endParaRPr>
                    </a:p>
                  </a:txBody>
                  <a:tcPr marL="114300" marR="114300" marT="76200" marB="76200" anchor="ctr"/>
                </a:tc>
                <a:tc>
                  <a:txBody>
                    <a:bodyPr/>
                    <a:lstStyle/>
                    <a:p>
                      <a:pPr rtl="0">
                        <a:buNone/>
                      </a:pPr>
                      <a:r>
                        <a:rPr lang="en-EG">
                          <a:solidFill>
                            <a:srgbClr val="1F1F1F"/>
                          </a:solidFill>
                          <a:effectLst/>
                        </a:rPr>
                        <a:t>$150</a:t>
                      </a:r>
                      <a:endParaRPr lang="en-EG">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186896361"/>
                  </a:ext>
                </a:extLst>
              </a:tr>
              <a:tr h="0">
                <a:tc>
                  <a:txBody>
                    <a:bodyPr/>
                    <a:lstStyle/>
                    <a:p>
                      <a:pPr rtl="0">
                        <a:buNone/>
                      </a:pPr>
                      <a:r>
                        <a:rPr lang="en-EG">
                          <a:solidFill>
                            <a:srgbClr val="1F1F1F"/>
                          </a:solidFill>
                          <a:effectLst/>
                        </a:rPr>
                        <a:t>#002</a:t>
                      </a:r>
                      <a:endParaRPr lang="en-EG">
                        <a:solidFill>
                          <a:srgbClr val="1F1F1F"/>
                        </a:solidFill>
                        <a:effectLst/>
                        <a:latin typeface="Google Sans Text"/>
                      </a:endParaRPr>
                    </a:p>
                  </a:txBody>
                  <a:tcPr marL="114300" marR="114300" marT="76200" marB="76200" anchor="ctr"/>
                </a:tc>
                <a:tc>
                  <a:txBody>
                    <a:bodyPr/>
                    <a:lstStyle/>
                    <a:p>
                      <a:pPr rtl="0">
                        <a:buNone/>
                      </a:pPr>
                      <a:r>
                        <a:rPr lang="en-EG">
                          <a:solidFill>
                            <a:srgbClr val="1F1F1F"/>
                          </a:solidFill>
                          <a:effectLst/>
                        </a:rPr>
                        <a:t>45</a:t>
                      </a:r>
                      <a:endParaRPr lang="en-EG">
                        <a:solidFill>
                          <a:srgbClr val="1F1F1F"/>
                        </a:solidFill>
                        <a:effectLst/>
                        <a:latin typeface="Google Sans Text"/>
                      </a:endParaRPr>
                    </a:p>
                  </a:txBody>
                  <a:tcPr marL="114300" marR="114300" marT="76200" marB="76200" anchor="ctr"/>
                </a:tc>
                <a:tc>
                  <a:txBody>
                    <a:bodyPr/>
                    <a:lstStyle/>
                    <a:p>
                      <a:pPr rtl="0">
                        <a:buNone/>
                      </a:pPr>
                      <a:r>
                        <a:rPr lang="en-EG">
                          <a:solidFill>
                            <a:srgbClr val="1F1F1F"/>
                          </a:solidFill>
                          <a:effectLst/>
                        </a:rPr>
                        <a:t>$1,200</a:t>
                      </a:r>
                      <a:endParaRPr lang="en-EG">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88238801"/>
                  </a:ext>
                </a:extLst>
              </a:tr>
              <a:tr h="0">
                <a:tc>
                  <a:txBody>
                    <a:bodyPr/>
                    <a:lstStyle/>
                    <a:p>
                      <a:pPr rtl="0">
                        <a:buNone/>
                      </a:pPr>
                      <a:r>
                        <a:rPr lang="en-EG">
                          <a:solidFill>
                            <a:srgbClr val="1F1F1F"/>
                          </a:solidFill>
                          <a:effectLst/>
                        </a:rPr>
                        <a:t>#003</a:t>
                      </a:r>
                      <a:endParaRPr lang="en-EG">
                        <a:solidFill>
                          <a:srgbClr val="1F1F1F"/>
                        </a:solidFill>
                        <a:effectLst/>
                        <a:latin typeface="Google Sans Text"/>
                      </a:endParaRPr>
                    </a:p>
                  </a:txBody>
                  <a:tcPr marL="114300" marR="114300" marT="76200" marB="76200" anchor="ctr"/>
                </a:tc>
                <a:tc>
                  <a:txBody>
                    <a:bodyPr/>
                    <a:lstStyle/>
                    <a:p>
                      <a:pPr rtl="0">
                        <a:buNone/>
                      </a:pPr>
                      <a:r>
                        <a:rPr lang="en-EG">
                          <a:solidFill>
                            <a:srgbClr val="1F1F1F"/>
                          </a:solidFill>
                          <a:effectLst/>
                        </a:rPr>
                        <a:t>31</a:t>
                      </a:r>
                      <a:endParaRPr lang="en-EG">
                        <a:solidFill>
                          <a:srgbClr val="1F1F1F"/>
                        </a:solidFill>
                        <a:effectLst/>
                        <a:latin typeface="Google Sans Text"/>
                      </a:endParaRPr>
                    </a:p>
                  </a:txBody>
                  <a:tcPr marL="114300" marR="114300" marT="76200" marB="76200" anchor="ctr"/>
                </a:tc>
                <a:tc>
                  <a:txBody>
                    <a:bodyPr/>
                    <a:lstStyle/>
                    <a:p>
                      <a:pPr rtl="0">
                        <a:buNone/>
                      </a:pPr>
                      <a:r>
                        <a:rPr lang="en-EG" dirty="0">
                          <a:solidFill>
                            <a:srgbClr val="1F1F1F"/>
                          </a:solidFill>
                          <a:effectLst/>
                        </a:rPr>
                        <a:t>$450</a:t>
                      </a:r>
                      <a:endParaRPr lang="en-EG"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970490498"/>
                  </a:ext>
                </a:extLst>
              </a:tr>
            </a:tbl>
          </a:graphicData>
        </a:graphic>
      </p:graphicFrame>
    </p:spTree>
    <p:extLst>
      <p:ext uri="{BB962C8B-B14F-4D97-AF65-F5344CB8AC3E}">
        <p14:creationId xmlns:p14="http://schemas.microsoft.com/office/powerpoint/2010/main" val="1135924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DC659-14B2-B609-4E46-964C70811B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53FCDE-7438-9E01-D1AE-41A7CA674AB0}"/>
              </a:ext>
            </a:extLst>
          </p:cNvPr>
          <p:cNvSpPr>
            <a:spLocks noGrp="1"/>
          </p:cNvSpPr>
          <p:nvPr>
            <p:ph type="title"/>
          </p:nvPr>
        </p:nvSpPr>
        <p:spPr/>
        <p:txBody>
          <a:bodyPr/>
          <a:lstStyle/>
          <a:p>
            <a:r>
              <a:rPr lang="en-US" dirty="0"/>
              <a:t>What are the different types of datasets?</a:t>
            </a:r>
            <a:endParaRPr lang="en-EG" dirty="0"/>
          </a:p>
        </p:txBody>
      </p:sp>
      <p:sp>
        <p:nvSpPr>
          <p:cNvPr id="3" name="Content Placeholder 2">
            <a:extLst>
              <a:ext uri="{FF2B5EF4-FFF2-40B4-BE49-F238E27FC236}">
                <a16:creationId xmlns:a16="http://schemas.microsoft.com/office/drawing/2014/main" id="{A05514DC-C8D8-6580-391C-C3D71CEA18A0}"/>
              </a:ext>
            </a:extLst>
          </p:cNvPr>
          <p:cNvSpPr>
            <a:spLocks noGrp="1"/>
          </p:cNvSpPr>
          <p:nvPr>
            <p:ph idx="1"/>
          </p:nvPr>
        </p:nvSpPr>
        <p:spPr>
          <a:xfrm>
            <a:off x="700634" y="1671157"/>
            <a:ext cx="10691265" cy="2639586"/>
          </a:xfrm>
        </p:spPr>
        <p:txBody>
          <a:bodyPr/>
          <a:lstStyle/>
          <a:p>
            <a:pPr marL="0" indent="0" algn="just">
              <a:buNone/>
            </a:pPr>
            <a:r>
              <a:rPr lang="en-US" dirty="0"/>
              <a:t>Time Series: It is simply a list of numbers tracked in the </a:t>
            </a:r>
            <a:r>
              <a:rPr lang="en-US" b="1" dirty="0"/>
              <a:t>order they happened.</a:t>
            </a:r>
            <a:r>
              <a:rPr lang="en-US" dirty="0"/>
              <a:t> Think of it as a "Numerical dataset with a timeline." You aren't just comparing random values; you are comparing a value </a:t>
            </a:r>
            <a:r>
              <a:rPr lang="en-US" b="1" dirty="0"/>
              <a:t>against the clock. </a:t>
            </a:r>
            <a:r>
              <a:rPr lang="en-US" dirty="0"/>
              <a:t>The data </a:t>
            </a:r>
            <a:r>
              <a:rPr lang="en-US" b="1" dirty="0"/>
              <a:t>must</a:t>
            </a:r>
            <a:r>
              <a:rPr lang="en-US" dirty="0"/>
              <a:t> follow a sequence (Seconds, Minutes, Days, Months, or Years). If you shuffle the rows, the data loses its meaning.</a:t>
            </a:r>
          </a:p>
          <a:p>
            <a:pPr marL="0" indent="0" algn="just">
              <a:buNone/>
            </a:pPr>
            <a:endParaRPr lang="en-US" dirty="0"/>
          </a:p>
          <a:p>
            <a:pPr marL="0" indent="0" algn="just">
              <a:buNone/>
            </a:pPr>
            <a:r>
              <a:rPr lang="en-US" b="1" dirty="0"/>
              <a:t>Example:</a:t>
            </a:r>
            <a:r>
              <a:rPr lang="en-US" dirty="0"/>
              <a:t> Daily stock prices, Monthly revenue, or Yearly population growth.</a:t>
            </a:r>
          </a:p>
          <a:p>
            <a:pPr marL="0" indent="0" algn="just">
              <a:buNone/>
            </a:pPr>
            <a:endParaRPr lang="en-EG" dirty="0"/>
          </a:p>
        </p:txBody>
      </p:sp>
      <p:graphicFrame>
        <p:nvGraphicFramePr>
          <p:cNvPr id="4" name="Table 3">
            <a:extLst>
              <a:ext uri="{FF2B5EF4-FFF2-40B4-BE49-F238E27FC236}">
                <a16:creationId xmlns:a16="http://schemas.microsoft.com/office/drawing/2014/main" id="{589CA190-8000-29FE-C398-AE85B30238F8}"/>
              </a:ext>
            </a:extLst>
          </p:cNvPr>
          <p:cNvGraphicFramePr>
            <a:graphicFrameLocks noGrp="1"/>
          </p:cNvGraphicFramePr>
          <p:nvPr>
            <p:extLst>
              <p:ext uri="{D42A27DB-BD31-4B8C-83A1-F6EECF244321}">
                <p14:modId xmlns:p14="http://schemas.microsoft.com/office/powerpoint/2010/main" val="3625853020"/>
              </p:ext>
            </p:extLst>
          </p:nvPr>
        </p:nvGraphicFramePr>
        <p:xfrm>
          <a:off x="750094" y="4338593"/>
          <a:ext cx="10691812" cy="1706880"/>
        </p:xfrm>
        <a:graphic>
          <a:graphicData uri="http://schemas.openxmlformats.org/drawingml/2006/table">
            <a:tbl>
              <a:tblPr>
                <a:tableStyleId>{5940675A-B579-460E-94D1-54222C63F5DA}</a:tableStyleId>
              </a:tblPr>
              <a:tblGrid>
                <a:gridCol w="5345906">
                  <a:extLst>
                    <a:ext uri="{9D8B030D-6E8A-4147-A177-3AD203B41FA5}">
                      <a16:colId xmlns:a16="http://schemas.microsoft.com/office/drawing/2014/main" val="3457086613"/>
                    </a:ext>
                  </a:extLst>
                </a:gridCol>
                <a:gridCol w="5345906">
                  <a:extLst>
                    <a:ext uri="{9D8B030D-6E8A-4147-A177-3AD203B41FA5}">
                      <a16:colId xmlns:a16="http://schemas.microsoft.com/office/drawing/2014/main" val="1912212139"/>
                    </a:ext>
                  </a:extLst>
                </a:gridCol>
              </a:tblGrid>
              <a:tr h="0">
                <a:tc>
                  <a:txBody>
                    <a:bodyPr/>
                    <a:lstStyle/>
                    <a:p>
                      <a:pPr rtl="0">
                        <a:buNone/>
                      </a:pPr>
                      <a:r>
                        <a:rPr lang="en-US" b="1">
                          <a:solidFill>
                            <a:srgbClr val="1F1F1F"/>
                          </a:solidFill>
                          <a:effectLst/>
                        </a:rPr>
                        <a:t>Month (Time)</a:t>
                      </a:r>
                      <a:endParaRPr lang="en-US">
                        <a:solidFill>
                          <a:srgbClr val="1F1F1F"/>
                        </a:solidFill>
                        <a:effectLst/>
                        <a:latin typeface="Google Sans Text"/>
                      </a:endParaRPr>
                    </a:p>
                  </a:txBody>
                  <a:tcPr marL="114300" marR="114300" marT="76200" marB="76200" anchor="ctr"/>
                </a:tc>
                <a:tc>
                  <a:txBody>
                    <a:bodyPr/>
                    <a:lstStyle/>
                    <a:p>
                      <a:pPr rtl="0">
                        <a:buNone/>
                      </a:pPr>
                      <a:r>
                        <a:rPr lang="en-US" b="1">
                          <a:solidFill>
                            <a:srgbClr val="1F1F1F"/>
                          </a:solidFill>
                          <a:effectLst/>
                        </a:rPr>
                        <a:t>Revenue</a:t>
                      </a:r>
                      <a:endParaRPr lang="en-US">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583496418"/>
                  </a:ext>
                </a:extLst>
              </a:tr>
              <a:tr h="0">
                <a:tc>
                  <a:txBody>
                    <a:bodyPr/>
                    <a:lstStyle/>
                    <a:p>
                      <a:pPr rtl="0">
                        <a:buNone/>
                      </a:pPr>
                      <a:r>
                        <a:rPr lang="en-US">
                          <a:solidFill>
                            <a:srgbClr val="1F1F1F"/>
                          </a:solidFill>
                          <a:effectLst/>
                        </a:rPr>
                        <a:t>January</a:t>
                      </a:r>
                      <a:endParaRPr lang="en-US">
                        <a:solidFill>
                          <a:srgbClr val="1F1F1F"/>
                        </a:solidFill>
                        <a:effectLst/>
                        <a:latin typeface="Google Sans Text"/>
                      </a:endParaRPr>
                    </a:p>
                  </a:txBody>
                  <a:tcPr marL="114300" marR="114300" marT="76200" marB="76200" anchor="ctr"/>
                </a:tc>
                <a:tc>
                  <a:txBody>
                    <a:bodyPr/>
                    <a:lstStyle/>
                    <a:p>
                      <a:pPr rtl="0">
                        <a:buNone/>
                      </a:pPr>
                      <a:r>
                        <a:rPr lang="en-EG" dirty="0">
                          <a:solidFill>
                            <a:srgbClr val="1F1F1F"/>
                          </a:solidFill>
                          <a:effectLst/>
                        </a:rPr>
                        <a:t>$10,000</a:t>
                      </a:r>
                      <a:endParaRPr lang="en-EG"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546762487"/>
                  </a:ext>
                </a:extLst>
              </a:tr>
              <a:tr h="0">
                <a:tc>
                  <a:txBody>
                    <a:bodyPr/>
                    <a:lstStyle/>
                    <a:p>
                      <a:pPr rtl="0">
                        <a:buNone/>
                      </a:pPr>
                      <a:r>
                        <a:rPr lang="en-US">
                          <a:solidFill>
                            <a:srgbClr val="1F1F1F"/>
                          </a:solidFill>
                          <a:effectLst/>
                        </a:rPr>
                        <a:t>February</a:t>
                      </a:r>
                      <a:endParaRPr lang="en-US">
                        <a:solidFill>
                          <a:srgbClr val="1F1F1F"/>
                        </a:solidFill>
                        <a:effectLst/>
                        <a:latin typeface="Google Sans Text"/>
                      </a:endParaRPr>
                    </a:p>
                  </a:txBody>
                  <a:tcPr marL="114300" marR="114300" marT="76200" marB="76200" anchor="ctr"/>
                </a:tc>
                <a:tc>
                  <a:txBody>
                    <a:bodyPr/>
                    <a:lstStyle/>
                    <a:p>
                      <a:pPr rtl="0">
                        <a:buNone/>
                      </a:pPr>
                      <a:r>
                        <a:rPr lang="en-EG">
                          <a:solidFill>
                            <a:srgbClr val="1F1F1F"/>
                          </a:solidFill>
                          <a:effectLst/>
                        </a:rPr>
                        <a:t>$12,500</a:t>
                      </a:r>
                      <a:endParaRPr lang="en-EG">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630991315"/>
                  </a:ext>
                </a:extLst>
              </a:tr>
              <a:tr h="0">
                <a:tc>
                  <a:txBody>
                    <a:bodyPr/>
                    <a:lstStyle/>
                    <a:p>
                      <a:pPr rtl="0">
                        <a:buNone/>
                      </a:pPr>
                      <a:r>
                        <a:rPr lang="en-US">
                          <a:solidFill>
                            <a:srgbClr val="1F1F1F"/>
                          </a:solidFill>
                          <a:effectLst/>
                        </a:rPr>
                        <a:t>March</a:t>
                      </a:r>
                      <a:endParaRPr lang="en-US">
                        <a:solidFill>
                          <a:srgbClr val="1F1F1F"/>
                        </a:solidFill>
                        <a:effectLst/>
                        <a:latin typeface="Google Sans Text"/>
                      </a:endParaRPr>
                    </a:p>
                  </a:txBody>
                  <a:tcPr marL="114300" marR="114300" marT="76200" marB="76200" anchor="ctr"/>
                </a:tc>
                <a:tc>
                  <a:txBody>
                    <a:bodyPr/>
                    <a:lstStyle/>
                    <a:p>
                      <a:pPr rtl="0">
                        <a:buNone/>
                      </a:pPr>
                      <a:r>
                        <a:rPr lang="en-EG" dirty="0">
                          <a:solidFill>
                            <a:srgbClr val="1F1F1F"/>
                          </a:solidFill>
                          <a:effectLst/>
                        </a:rPr>
                        <a:t>$11,800</a:t>
                      </a:r>
                      <a:endParaRPr lang="en-EG"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92866859"/>
                  </a:ext>
                </a:extLst>
              </a:tr>
            </a:tbl>
          </a:graphicData>
        </a:graphic>
      </p:graphicFrame>
    </p:spTree>
    <p:extLst>
      <p:ext uri="{BB962C8B-B14F-4D97-AF65-F5344CB8AC3E}">
        <p14:creationId xmlns:p14="http://schemas.microsoft.com/office/powerpoint/2010/main" val="457901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B093D-D9C3-68A3-80D5-D72A1D5983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CCBC82-8926-456D-D063-A6708E0B9EC8}"/>
              </a:ext>
            </a:extLst>
          </p:cNvPr>
          <p:cNvSpPr>
            <a:spLocks noGrp="1"/>
          </p:cNvSpPr>
          <p:nvPr>
            <p:ph type="title"/>
          </p:nvPr>
        </p:nvSpPr>
        <p:spPr/>
        <p:txBody>
          <a:bodyPr/>
          <a:lstStyle/>
          <a:p>
            <a:r>
              <a:rPr lang="en-US" dirty="0"/>
              <a:t>What are the different types of datasets?</a:t>
            </a:r>
            <a:endParaRPr lang="en-EG" dirty="0"/>
          </a:p>
        </p:txBody>
      </p:sp>
      <p:sp>
        <p:nvSpPr>
          <p:cNvPr id="3" name="Content Placeholder 2">
            <a:extLst>
              <a:ext uri="{FF2B5EF4-FFF2-40B4-BE49-F238E27FC236}">
                <a16:creationId xmlns:a16="http://schemas.microsoft.com/office/drawing/2014/main" id="{E3F24D79-0491-7664-EE70-54A90B77223F}"/>
              </a:ext>
            </a:extLst>
          </p:cNvPr>
          <p:cNvSpPr>
            <a:spLocks noGrp="1"/>
          </p:cNvSpPr>
          <p:nvPr>
            <p:ph idx="1"/>
          </p:nvPr>
        </p:nvSpPr>
        <p:spPr>
          <a:xfrm>
            <a:off x="700634" y="1671157"/>
            <a:ext cx="10691265" cy="2247700"/>
          </a:xfrm>
        </p:spPr>
        <p:txBody>
          <a:bodyPr/>
          <a:lstStyle/>
          <a:p>
            <a:pPr marL="0" indent="0" algn="just">
              <a:buNone/>
            </a:pPr>
            <a:r>
              <a:rPr lang="en-US" b="1" dirty="0"/>
              <a:t>Time Series:</a:t>
            </a:r>
            <a:r>
              <a:rPr lang="en-US" dirty="0"/>
              <a:t> Imagine you track how many ice creams you sell every day for a week. Because you are looking for a </a:t>
            </a:r>
            <a:r>
              <a:rPr lang="en-US" b="1" dirty="0"/>
              <a:t>Trend</a:t>
            </a:r>
            <a:r>
              <a:rPr lang="en-US" dirty="0"/>
              <a:t>. You want to see if sales are going up as the week progresses toward the weekend. If you change the order of the days, the "story" of the week is destroyed.</a:t>
            </a:r>
            <a:br>
              <a:rPr lang="en-US" dirty="0"/>
            </a:br>
            <a:br>
              <a:rPr lang="en-US" dirty="0"/>
            </a:br>
            <a:r>
              <a:rPr lang="en-US" dirty="0"/>
              <a:t>If you shuffle the days, you still have the </a:t>
            </a:r>
            <a:r>
              <a:rPr lang="en-US" b="1" dirty="0"/>
              <a:t>numbers</a:t>
            </a:r>
            <a:r>
              <a:rPr lang="en-US" dirty="0"/>
              <a:t>, but you lose the </a:t>
            </a:r>
            <a:r>
              <a:rPr lang="en-US" b="1" dirty="0"/>
              <a:t>connection</a:t>
            </a:r>
            <a:r>
              <a:rPr lang="en-US" dirty="0"/>
              <a:t>. And the data becomes </a:t>
            </a:r>
            <a:r>
              <a:rPr lang="en-US" b="1" dirty="0"/>
              <a:t>numerical </a:t>
            </a:r>
            <a:r>
              <a:rPr lang="en-US" dirty="0"/>
              <a:t>not time-series.</a:t>
            </a:r>
          </a:p>
          <a:p>
            <a:pPr marL="0" indent="0" algn="just">
              <a:buNone/>
            </a:pPr>
            <a:endParaRPr lang="en-US" dirty="0"/>
          </a:p>
          <a:p>
            <a:pPr marL="0" indent="0" algn="just">
              <a:buNone/>
            </a:pPr>
            <a:endParaRPr lang="en-US" dirty="0"/>
          </a:p>
          <a:p>
            <a:pPr marL="0" indent="0" algn="just">
              <a:buNone/>
            </a:pPr>
            <a:endParaRPr lang="en-EG" dirty="0"/>
          </a:p>
        </p:txBody>
      </p:sp>
      <p:graphicFrame>
        <p:nvGraphicFramePr>
          <p:cNvPr id="7" name="Table 6">
            <a:extLst>
              <a:ext uri="{FF2B5EF4-FFF2-40B4-BE49-F238E27FC236}">
                <a16:creationId xmlns:a16="http://schemas.microsoft.com/office/drawing/2014/main" id="{8F89EF9B-1733-5A01-33DC-6AD6275EF18F}"/>
              </a:ext>
            </a:extLst>
          </p:cNvPr>
          <p:cNvGraphicFramePr>
            <a:graphicFrameLocks noGrp="1"/>
          </p:cNvGraphicFramePr>
          <p:nvPr>
            <p:extLst>
              <p:ext uri="{D42A27DB-BD31-4B8C-83A1-F6EECF244321}">
                <p14:modId xmlns:p14="http://schemas.microsoft.com/office/powerpoint/2010/main" val="1040452838"/>
              </p:ext>
            </p:extLst>
          </p:nvPr>
        </p:nvGraphicFramePr>
        <p:xfrm>
          <a:off x="700087" y="4000700"/>
          <a:ext cx="10691812" cy="2133600"/>
        </p:xfrm>
        <a:graphic>
          <a:graphicData uri="http://schemas.openxmlformats.org/drawingml/2006/table">
            <a:tbl>
              <a:tblPr>
                <a:tableStyleId>{5940675A-B579-460E-94D1-54222C63F5DA}</a:tableStyleId>
              </a:tblPr>
              <a:tblGrid>
                <a:gridCol w="5345906">
                  <a:extLst>
                    <a:ext uri="{9D8B030D-6E8A-4147-A177-3AD203B41FA5}">
                      <a16:colId xmlns:a16="http://schemas.microsoft.com/office/drawing/2014/main" val="3527124723"/>
                    </a:ext>
                  </a:extLst>
                </a:gridCol>
                <a:gridCol w="5345906">
                  <a:extLst>
                    <a:ext uri="{9D8B030D-6E8A-4147-A177-3AD203B41FA5}">
                      <a16:colId xmlns:a16="http://schemas.microsoft.com/office/drawing/2014/main" val="3448573716"/>
                    </a:ext>
                  </a:extLst>
                </a:gridCol>
              </a:tblGrid>
              <a:tr h="0">
                <a:tc>
                  <a:txBody>
                    <a:bodyPr/>
                    <a:lstStyle/>
                    <a:p>
                      <a:pPr rtl="0">
                        <a:buNone/>
                      </a:pPr>
                      <a:r>
                        <a:rPr lang="en-US" b="1">
                          <a:solidFill>
                            <a:srgbClr val="1F1F1F"/>
                          </a:solidFill>
                          <a:effectLst/>
                        </a:rPr>
                        <a:t>Day (Time)</a:t>
                      </a:r>
                      <a:endParaRPr lang="en-US">
                        <a:solidFill>
                          <a:srgbClr val="1F1F1F"/>
                        </a:solidFill>
                        <a:effectLst/>
                        <a:latin typeface="Google Sans Text"/>
                      </a:endParaRPr>
                    </a:p>
                  </a:txBody>
                  <a:tcPr marL="114300" marR="114300" marT="76200" marB="76200" anchor="ctr"/>
                </a:tc>
                <a:tc>
                  <a:txBody>
                    <a:bodyPr/>
                    <a:lstStyle/>
                    <a:p>
                      <a:pPr rtl="0">
                        <a:buNone/>
                      </a:pPr>
                      <a:r>
                        <a:rPr lang="en-US" b="1">
                          <a:solidFill>
                            <a:srgbClr val="1F1F1F"/>
                          </a:solidFill>
                          <a:effectLst/>
                        </a:rPr>
                        <a:t>Scoops Sold (Value)</a:t>
                      </a:r>
                      <a:endParaRPr lang="en-US">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401051774"/>
                  </a:ext>
                </a:extLst>
              </a:tr>
              <a:tr h="0">
                <a:tc>
                  <a:txBody>
                    <a:bodyPr/>
                    <a:lstStyle/>
                    <a:p>
                      <a:pPr rtl="0">
                        <a:buNone/>
                      </a:pPr>
                      <a:r>
                        <a:rPr lang="en-US">
                          <a:solidFill>
                            <a:srgbClr val="1F1F1F"/>
                          </a:solidFill>
                          <a:effectLst/>
                        </a:rPr>
                        <a:t>Monday</a:t>
                      </a:r>
                      <a:endParaRPr lang="en-US">
                        <a:solidFill>
                          <a:srgbClr val="1F1F1F"/>
                        </a:solidFill>
                        <a:effectLst/>
                        <a:latin typeface="Google Sans Text"/>
                      </a:endParaRPr>
                    </a:p>
                  </a:txBody>
                  <a:tcPr marL="114300" marR="114300" marT="76200" marB="76200" anchor="ctr"/>
                </a:tc>
                <a:tc>
                  <a:txBody>
                    <a:bodyPr/>
                    <a:lstStyle/>
                    <a:p>
                      <a:pPr rtl="0">
                        <a:buNone/>
                      </a:pPr>
                      <a:r>
                        <a:rPr lang="en-EG">
                          <a:solidFill>
                            <a:srgbClr val="1F1F1F"/>
                          </a:solidFill>
                          <a:effectLst/>
                        </a:rPr>
                        <a:t>10</a:t>
                      </a:r>
                      <a:endParaRPr lang="en-EG">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691128361"/>
                  </a:ext>
                </a:extLst>
              </a:tr>
              <a:tr h="0">
                <a:tc>
                  <a:txBody>
                    <a:bodyPr/>
                    <a:lstStyle/>
                    <a:p>
                      <a:pPr rtl="0">
                        <a:buNone/>
                      </a:pPr>
                      <a:r>
                        <a:rPr lang="en-US">
                          <a:solidFill>
                            <a:srgbClr val="1F1F1F"/>
                          </a:solidFill>
                          <a:effectLst/>
                        </a:rPr>
                        <a:t>Tuesday</a:t>
                      </a:r>
                      <a:endParaRPr lang="en-US">
                        <a:solidFill>
                          <a:srgbClr val="1F1F1F"/>
                        </a:solidFill>
                        <a:effectLst/>
                        <a:latin typeface="Google Sans Text"/>
                      </a:endParaRPr>
                    </a:p>
                  </a:txBody>
                  <a:tcPr marL="114300" marR="114300" marT="76200" marB="76200" anchor="ctr"/>
                </a:tc>
                <a:tc>
                  <a:txBody>
                    <a:bodyPr/>
                    <a:lstStyle/>
                    <a:p>
                      <a:pPr rtl="0">
                        <a:buNone/>
                      </a:pPr>
                      <a:r>
                        <a:rPr lang="en-EG" dirty="0">
                          <a:solidFill>
                            <a:srgbClr val="1F1F1F"/>
                          </a:solidFill>
                          <a:effectLst/>
                        </a:rPr>
                        <a:t>15</a:t>
                      </a:r>
                      <a:endParaRPr lang="en-EG"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470496272"/>
                  </a:ext>
                </a:extLst>
              </a:tr>
              <a:tr h="0">
                <a:tc>
                  <a:txBody>
                    <a:bodyPr/>
                    <a:lstStyle/>
                    <a:p>
                      <a:pPr rtl="0">
                        <a:buNone/>
                      </a:pPr>
                      <a:r>
                        <a:rPr lang="en-US">
                          <a:solidFill>
                            <a:srgbClr val="1F1F1F"/>
                          </a:solidFill>
                          <a:effectLst/>
                        </a:rPr>
                        <a:t>Wednesday</a:t>
                      </a:r>
                      <a:endParaRPr lang="en-US">
                        <a:solidFill>
                          <a:srgbClr val="1F1F1F"/>
                        </a:solidFill>
                        <a:effectLst/>
                        <a:latin typeface="Google Sans Text"/>
                      </a:endParaRPr>
                    </a:p>
                  </a:txBody>
                  <a:tcPr marL="114300" marR="114300" marT="76200" marB="76200" anchor="ctr"/>
                </a:tc>
                <a:tc>
                  <a:txBody>
                    <a:bodyPr/>
                    <a:lstStyle/>
                    <a:p>
                      <a:pPr rtl="0">
                        <a:buNone/>
                      </a:pPr>
                      <a:r>
                        <a:rPr lang="en-EG">
                          <a:solidFill>
                            <a:srgbClr val="1F1F1F"/>
                          </a:solidFill>
                          <a:effectLst/>
                        </a:rPr>
                        <a:t>7</a:t>
                      </a:r>
                      <a:endParaRPr lang="en-EG">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788729879"/>
                  </a:ext>
                </a:extLst>
              </a:tr>
              <a:tr h="0">
                <a:tc>
                  <a:txBody>
                    <a:bodyPr/>
                    <a:lstStyle/>
                    <a:p>
                      <a:pPr rtl="0">
                        <a:buNone/>
                      </a:pPr>
                      <a:r>
                        <a:rPr lang="en-US">
                          <a:solidFill>
                            <a:srgbClr val="1F1F1F"/>
                          </a:solidFill>
                          <a:effectLst/>
                        </a:rPr>
                        <a:t>Thursday</a:t>
                      </a:r>
                      <a:endParaRPr lang="en-US">
                        <a:solidFill>
                          <a:srgbClr val="1F1F1F"/>
                        </a:solidFill>
                        <a:effectLst/>
                        <a:latin typeface="Google Sans Text"/>
                      </a:endParaRPr>
                    </a:p>
                  </a:txBody>
                  <a:tcPr marL="114300" marR="114300" marT="76200" marB="76200" anchor="ctr"/>
                </a:tc>
                <a:tc>
                  <a:txBody>
                    <a:bodyPr/>
                    <a:lstStyle/>
                    <a:p>
                      <a:pPr rtl="0">
                        <a:buNone/>
                      </a:pPr>
                      <a:r>
                        <a:rPr lang="en-EG" dirty="0">
                          <a:solidFill>
                            <a:srgbClr val="1F1F1F"/>
                          </a:solidFill>
                          <a:effectLst/>
                        </a:rPr>
                        <a:t>22</a:t>
                      </a:r>
                      <a:endParaRPr lang="en-EG"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054786731"/>
                  </a:ext>
                </a:extLst>
              </a:tr>
            </a:tbl>
          </a:graphicData>
        </a:graphic>
      </p:graphicFrame>
    </p:spTree>
    <p:extLst>
      <p:ext uri="{BB962C8B-B14F-4D97-AF65-F5344CB8AC3E}">
        <p14:creationId xmlns:p14="http://schemas.microsoft.com/office/powerpoint/2010/main" val="8451726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740BA-DAD4-8604-8DCA-3B3C4943357D}"/>
              </a:ext>
            </a:extLst>
          </p:cNvPr>
          <p:cNvSpPr>
            <a:spLocks noGrp="1"/>
          </p:cNvSpPr>
          <p:nvPr>
            <p:ph type="title"/>
          </p:nvPr>
        </p:nvSpPr>
        <p:spPr/>
        <p:txBody>
          <a:bodyPr>
            <a:normAutofit fontScale="90000"/>
          </a:bodyPr>
          <a:lstStyle/>
          <a:p>
            <a:r>
              <a:rPr lang="en-US" dirty="0"/>
              <a:t>Which types of datasets are more relevant to column/bar charts?</a:t>
            </a:r>
            <a:endParaRPr lang="en-EG" dirty="0"/>
          </a:p>
        </p:txBody>
      </p:sp>
      <p:graphicFrame>
        <p:nvGraphicFramePr>
          <p:cNvPr id="4" name="Table 3">
            <a:extLst>
              <a:ext uri="{FF2B5EF4-FFF2-40B4-BE49-F238E27FC236}">
                <a16:creationId xmlns:a16="http://schemas.microsoft.com/office/drawing/2014/main" id="{703E7AE7-70EE-1832-F063-C999A9E91B73}"/>
              </a:ext>
            </a:extLst>
          </p:cNvPr>
          <p:cNvGraphicFramePr>
            <a:graphicFrameLocks noGrp="1"/>
          </p:cNvGraphicFramePr>
          <p:nvPr>
            <p:extLst>
              <p:ext uri="{D42A27DB-BD31-4B8C-83A1-F6EECF244321}">
                <p14:modId xmlns:p14="http://schemas.microsoft.com/office/powerpoint/2010/main" val="2290959347"/>
              </p:ext>
            </p:extLst>
          </p:nvPr>
        </p:nvGraphicFramePr>
        <p:xfrm>
          <a:off x="700088" y="2827655"/>
          <a:ext cx="10691811" cy="2529840"/>
        </p:xfrm>
        <a:graphic>
          <a:graphicData uri="http://schemas.openxmlformats.org/drawingml/2006/table">
            <a:tbl>
              <a:tblPr>
                <a:tableStyleId>{5940675A-B579-460E-94D1-54222C63F5DA}</a:tableStyleId>
              </a:tblPr>
              <a:tblGrid>
                <a:gridCol w="3563937">
                  <a:extLst>
                    <a:ext uri="{9D8B030D-6E8A-4147-A177-3AD203B41FA5}">
                      <a16:colId xmlns:a16="http://schemas.microsoft.com/office/drawing/2014/main" val="3952317793"/>
                    </a:ext>
                  </a:extLst>
                </a:gridCol>
                <a:gridCol w="3563937">
                  <a:extLst>
                    <a:ext uri="{9D8B030D-6E8A-4147-A177-3AD203B41FA5}">
                      <a16:colId xmlns:a16="http://schemas.microsoft.com/office/drawing/2014/main" val="4114028777"/>
                    </a:ext>
                  </a:extLst>
                </a:gridCol>
                <a:gridCol w="3563937">
                  <a:extLst>
                    <a:ext uri="{9D8B030D-6E8A-4147-A177-3AD203B41FA5}">
                      <a16:colId xmlns:a16="http://schemas.microsoft.com/office/drawing/2014/main" val="2741597849"/>
                    </a:ext>
                  </a:extLst>
                </a:gridCol>
              </a:tblGrid>
              <a:tr h="0">
                <a:tc>
                  <a:txBody>
                    <a:bodyPr/>
                    <a:lstStyle/>
                    <a:p>
                      <a:pPr algn="ctr" rtl="0">
                        <a:buNone/>
                      </a:pPr>
                      <a:r>
                        <a:rPr lang="en-US" b="1" dirty="0">
                          <a:solidFill>
                            <a:srgbClr val="1F1F1F"/>
                          </a:solidFill>
                          <a:effectLst/>
                        </a:rPr>
                        <a:t>Dataset Type</a:t>
                      </a:r>
                      <a:endParaRPr lang="en-US" dirty="0">
                        <a:solidFill>
                          <a:srgbClr val="1F1F1F"/>
                        </a:solidFill>
                        <a:effectLst/>
                        <a:latin typeface="Google Sans Text"/>
                      </a:endParaRPr>
                    </a:p>
                  </a:txBody>
                  <a:tcPr marL="114300" marR="114300" marT="76200" marB="76200" anchor="ctr">
                    <a:solidFill>
                      <a:schemeClr val="bg1">
                        <a:lumMod val="95000"/>
                      </a:schemeClr>
                    </a:solidFill>
                  </a:tcPr>
                </a:tc>
                <a:tc>
                  <a:txBody>
                    <a:bodyPr/>
                    <a:lstStyle/>
                    <a:p>
                      <a:pPr algn="ctr" rtl="0">
                        <a:buNone/>
                      </a:pPr>
                      <a:r>
                        <a:rPr lang="en-US" b="1" dirty="0">
                          <a:solidFill>
                            <a:srgbClr val="1F1F1F"/>
                          </a:solidFill>
                          <a:effectLst/>
                        </a:rPr>
                        <a:t>Can I use Column/Bar?</a:t>
                      </a:r>
                      <a:endParaRPr lang="en-US" dirty="0">
                        <a:solidFill>
                          <a:srgbClr val="1F1F1F"/>
                        </a:solidFill>
                        <a:effectLst/>
                        <a:latin typeface="Google Sans Text"/>
                      </a:endParaRPr>
                    </a:p>
                  </a:txBody>
                  <a:tcPr marL="114300" marR="114300" marT="76200" marB="76200" anchor="ctr">
                    <a:solidFill>
                      <a:schemeClr val="bg1">
                        <a:lumMod val="95000"/>
                      </a:schemeClr>
                    </a:solidFill>
                  </a:tcPr>
                </a:tc>
                <a:tc>
                  <a:txBody>
                    <a:bodyPr/>
                    <a:lstStyle/>
                    <a:p>
                      <a:pPr algn="ctr" rtl="0">
                        <a:buNone/>
                      </a:pPr>
                      <a:r>
                        <a:rPr lang="en-US" b="1" dirty="0">
                          <a:solidFill>
                            <a:srgbClr val="1F1F1F"/>
                          </a:solidFill>
                          <a:effectLst/>
                        </a:rPr>
                        <a:t>When is it the "Accurate" choice?</a:t>
                      </a:r>
                      <a:endParaRPr lang="en-US" dirty="0">
                        <a:solidFill>
                          <a:srgbClr val="1F1F1F"/>
                        </a:solidFill>
                        <a:effectLst/>
                        <a:latin typeface="Google Sans Text"/>
                      </a:endParaRPr>
                    </a:p>
                  </a:txBody>
                  <a:tcPr marL="114300" marR="114300" marT="76200" marB="76200" anchor="ctr">
                    <a:solidFill>
                      <a:schemeClr val="bg1">
                        <a:lumMod val="95000"/>
                      </a:schemeClr>
                    </a:solidFill>
                  </a:tcPr>
                </a:tc>
                <a:extLst>
                  <a:ext uri="{0D108BD9-81ED-4DB2-BD59-A6C34878D82A}">
                    <a16:rowId xmlns:a16="http://schemas.microsoft.com/office/drawing/2014/main" val="4170874855"/>
                  </a:ext>
                </a:extLst>
              </a:tr>
              <a:tr h="0">
                <a:tc>
                  <a:txBody>
                    <a:bodyPr/>
                    <a:lstStyle/>
                    <a:p>
                      <a:pPr algn="ctr" rtl="0">
                        <a:buNone/>
                      </a:pPr>
                      <a:r>
                        <a:rPr lang="en-US" b="1">
                          <a:solidFill>
                            <a:srgbClr val="1F1F1F"/>
                          </a:solidFill>
                          <a:effectLst/>
                        </a:rPr>
                        <a:t>Categorical</a:t>
                      </a:r>
                      <a:endParaRPr lang="en-US">
                        <a:solidFill>
                          <a:srgbClr val="1F1F1F"/>
                        </a:solidFill>
                        <a:effectLst/>
                        <a:latin typeface="Google Sans Text"/>
                      </a:endParaRPr>
                    </a:p>
                  </a:txBody>
                  <a:tcPr marL="114300" marR="114300" marT="76200" marB="76200" anchor="ctr"/>
                </a:tc>
                <a:tc>
                  <a:txBody>
                    <a:bodyPr/>
                    <a:lstStyle/>
                    <a:p>
                      <a:pPr algn="ctr" rtl="0">
                        <a:buNone/>
                      </a:pPr>
                      <a:r>
                        <a:rPr lang="en-US" b="0" dirty="0">
                          <a:solidFill>
                            <a:srgbClr val="1F1F1F"/>
                          </a:solidFill>
                          <a:effectLst/>
                        </a:rPr>
                        <a:t>YES </a:t>
                      </a:r>
                      <a:endParaRPr lang="en-US" b="0" dirty="0">
                        <a:solidFill>
                          <a:srgbClr val="1F1F1F"/>
                        </a:solidFill>
                        <a:effectLst/>
                        <a:latin typeface="Google Sans Text"/>
                      </a:endParaRPr>
                    </a:p>
                  </a:txBody>
                  <a:tcPr marL="114300" marR="114300" marT="76200" marB="76200" anchor="ctr"/>
                </a:tc>
                <a:tc>
                  <a:txBody>
                    <a:bodyPr/>
                    <a:lstStyle/>
                    <a:p>
                      <a:pPr algn="ctr" rtl="0">
                        <a:buNone/>
                      </a:pPr>
                      <a:r>
                        <a:rPr lang="en-US" b="0">
                          <a:solidFill>
                            <a:srgbClr val="1F1F1F"/>
                          </a:solidFill>
                          <a:effectLst/>
                        </a:rPr>
                        <a:t>When the audience wants to rank items (Top 10).</a:t>
                      </a:r>
                      <a:endParaRPr lang="en-US" b="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4222752824"/>
                  </a:ext>
                </a:extLst>
              </a:tr>
              <a:tr h="0">
                <a:tc>
                  <a:txBody>
                    <a:bodyPr/>
                    <a:lstStyle/>
                    <a:p>
                      <a:pPr algn="ctr" rtl="0">
                        <a:buNone/>
                      </a:pPr>
                      <a:r>
                        <a:rPr lang="en-US" b="1">
                          <a:solidFill>
                            <a:srgbClr val="1F1F1F"/>
                          </a:solidFill>
                          <a:effectLst/>
                        </a:rPr>
                        <a:t>Numerical</a:t>
                      </a:r>
                      <a:endParaRPr lang="en-US">
                        <a:solidFill>
                          <a:srgbClr val="1F1F1F"/>
                        </a:solidFill>
                        <a:effectLst/>
                        <a:latin typeface="Google Sans Text"/>
                      </a:endParaRPr>
                    </a:p>
                  </a:txBody>
                  <a:tcPr marL="114300" marR="114300" marT="76200" marB="76200" anchor="ctr"/>
                </a:tc>
                <a:tc>
                  <a:txBody>
                    <a:bodyPr/>
                    <a:lstStyle/>
                    <a:p>
                      <a:pPr algn="ctr" rtl="0">
                        <a:buNone/>
                      </a:pPr>
                      <a:r>
                        <a:rPr lang="en-US" b="0" dirty="0">
                          <a:solidFill>
                            <a:srgbClr val="1F1F1F"/>
                          </a:solidFill>
                          <a:effectLst/>
                        </a:rPr>
                        <a:t>YES</a:t>
                      </a:r>
                      <a:endParaRPr lang="en-US" b="0" dirty="0">
                        <a:solidFill>
                          <a:srgbClr val="1F1F1F"/>
                        </a:solidFill>
                        <a:effectLst/>
                        <a:latin typeface="Google Sans Text"/>
                      </a:endParaRPr>
                    </a:p>
                  </a:txBody>
                  <a:tcPr marL="114300" marR="114300" marT="76200" marB="76200" anchor="ctr"/>
                </a:tc>
                <a:tc>
                  <a:txBody>
                    <a:bodyPr/>
                    <a:lstStyle/>
                    <a:p>
                      <a:pPr algn="ctr" rtl="0">
                        <a:buNone/>
                      </a:pPr>
                      <a:r>
                        <a:rPr lang="en-US" b="0" dirty="0">
                          <a:solidFill>
                            <a:srgbClr val="1F1F1F"/>
                          </a:solidFill>
                          <a:effectLst/>
                        </a:rPr>
                        <a:t>When comparing a summary (Average/Total) of the numbers.</a:t>
                      </a:r>
                      <a:endParaRPr lang="en-US" b="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775184086"/>
                  </a:ext>
                </a:extLst>
              </a:tr>
              <a:tr h="0">
                <a:tc>
                  <a:txBody>
                    <a:bodyPr/>
                    <a:lstStyle/>
                    <a:p>
                      <a:pPr algn="ctr" rtl="0">
                        <a:buNone/>
                      </a:pPr>
                      <a:r>
                        <a:rPr lang="en-US" b="1">
                          <a:solidFill>
                            <a:srgbClr val="1F1F1F"/>
                          </a:solidFill>
                          <a:effectLst/>
                        </a:rPr>
                        <a:t>Time-Series</a:t>
                      </a:r>
                      <a:endParaRPr lang="en-US">
                        <a:solidFill>
                          <a:srgbClr val="1F1F1F"/>
                        </a:solidFill>
                        <a:effectLst/>
                        <a:latin typeface="Google Sans Text"/>
                      </a:endParaRPr>
                    </a:p>
                  </a:txBody>
                  <a:tcPr marL="114300" marR="114300" marT="76200" marB="76200" anchor="ctr"/>
                </a:tc>
                <a:tc>
                  <a:txBody>
                    <a:bodyPr/>
                    <a:lstStyle/>
                    <a:p>
                      <a:pPr algn="ctr" rtl="0">
                        <a:buNone/>
                      </a:pPr>
                      <a:r>
                        <a:rPr lang="en-US" b="0" dirty="0">
                          <a:solidFill>
                            <a:srgbClr val="1F1F1F"/>
                          </a:solidFill>
                          <a:effectLst/>
                        </a:rPr>
                        <a:t>No</a:t>
                      </a:r>
                      <a:endParaRPr lang="en-US" b="0" dirty="0">
                        <a:solidFill>
                          <a:srgbClr val="1F1F1F"/>
                        </a:solidFill>
                        <a:effectLst/>
                        <a:latin typeface="Google Sans Text"/>
                      </a:endParaRPr>
                    </a:p>
                  </a:txBody>
                  <a:tcPr marL="114300" marR="114300" marT="76200" marB="76200" anchor="ctr"/>
                </a:tc>
                <a:tc>
                  <a:txBody>
                    <a:bodyPr/>
                    <a:lstStyle/>
                    <a:p>
                      <a:pPr algn="ctr" rtl="0">
                        <a:buNone/>
                      </a:pPr>
                      <a:r>
                        <a:rPr lang="en-US" b="0" dirty="0">
                          <a:solidFill>
                            <a:srgbClr val="1F1F1F"/>
                          </a:solidFill>
                          <a:effectLst/>
                        </a:rPr>
                        <a:t>-</a:t>
                      </a:r>
                      <a:endParaRPr lang="en-US" b="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090879638"/>
                  </a:ext>
                </a:extLst>
              </a:tr>
            </a:tbl>
          </a:graphicData>
        </a:graphic>
      </p:graphicFrame>
    </p:spTree>
    <p:extLst>
      <p:ext uri="{BB962C8B-B14F-4D97-AF65-F5344CB8AC3E}">
        <p14:creationId xmlns:p14="http://schemas.microsoft.com/office/powerpoint/2010/main" val="2485682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B9A3D-BA20-B132-11F3-14CCB33D9217}"/>
              </a:ext>
            </a:extLst>
          </p:cNvPr>
          <p:cNvSpPr>
            <a:spLocks noGrp="1"/>
          </p:cNvSpPr>
          <p:nvPr>
            <p:ph type="title"/>
          </p:nvPr>
        </p:nvSpPr>
        <p:spPr>
          <a:xfrm>
            <a:off x="700635" y="914400"/>
            <a:ext cx="10691265" cy="805543"/>
          </a:xfrm>
        </p:spPr>
        <p:txBody>
          <a:bodyPr>
            <a:normAutofit fontScale="90000"/>
          </a:bodyPr>
          <a:lstStyle/>
          <a:p>
            <a:r>
              <a:rPr lang="en-US" dirty="0"/>
              <a:t>When to use a column chart?</a:t>
            </a:r>
            <a:br>
              <a:rPr lang="en-US" dirty="0"/>
            </a:br>
            <a:endParaRPr lang="en-EG" dirty="0"/>
          </a:p>
        </p:txBody>
      </p:sp>
      <p:sp>
        <p:nvSpPr>
          <p:cNvPr id="3" name="Content Placeholder 2">
            <a:extLst>
              <a:ext uri="{FF2B5EF4-FFF2-40B4-BE49-F238E27FC236}">
                <a16:creationId xmlns:a16="http://schemas.microsoft.com/office/drawing/2014/main" id="{90AF5A6B-FC27-E6B0-2FE7-0CFF47A54FB7}"/>
              </a:ext>
            </a:extLst>
          </p:cNvPr>
          <p:cNvSpPr>
            <a:spLocks noGrp="1"/>
          </p:cNvSpPr>
          <p:nvPr>
            <p:ph idx="1"/>
          </p:nvPr>
        </p:nvSpPr>
        <p:spPr>
          <a:xfrm>
            <a:off x="700635" y="2016315"/>
            <a:ext cx="5983194" cy="3927284"/>
          </a:xfrm>
        </p:spPr>
        <p:txBody>
          <a:bodyPr/>
          <a:lstStyle/>
          <a:p>
            <a:pPr marL="0" indent="0" algn="just">
              <a:buNone/>
            </a:pPr>
            <a:r>
              <a:rPr lang="en-US" sz="3200" dirty="0">
                <a:solidFill>
                  <a:srgbClr val="FF0000"/>
                </a:solidFill>
              </a:rPr>
              <a:t>Column chart is best for seeing which item stands tallest. Like a podium.</a:t>
            </a:r>
          </a:p>
          <a:p>
            <a:pPr marL="0" indent="0" algn="just">
              <a:buNone/>
            </a:pPr>
            <a:endParaRPr lang="en-EG" dirty="0">
              <a:solidFill>
                <a:srgbClr val="FF0000"/>
              </a:solidFill>
            </a:endParaRPr>
          </a:p>
        </p:txBody>
      </p:sp>
      <p:pic>
        <p:nvPicPr>
          <p:cNvPr id="5" name="Picture 4">
            <a:extLst>
              <a:ext uri="{FF2B5EF4-FFF2-40B4-BE49-F238E27FC236}">
                <a16:creationId xmlns:a16="http://schemas.microsoft.com/office/drawing/2014/main" id="{1A413961-C478-7D6A-CF03-46379EADC2EB}"/>
              </a:ext>
            </a:extLst>
          </p:cNvPr>
          <p:cNvPicPr>
            <a:picLocks noChangeAspect="1"/>
          </p:cNvPicPr>
          <p:nvPr/>
        </p:nvPicPr>
        <p:blipFill>
          <a:blip r:embed="rId2"/>
          <a:stretch>
            <a:fillRect/>
          </a:stretch>
        </p:blipFill>
        <p:spPr>
          <a:xfrm>
            <a:off x="7071900" y="2016315"/>
            <a:ext cx="4320000" cy="3927285"/>
          </a:xfrm>
          <a:prstGeom prst="rect">
            <a:avLst/>
          </a:prstGeom>
        </p:spPr>
      </p:pic>
    </p:spTree>
    <p:extLst>
      <p:ext uri="{BB962C8B-B14F-4D97-AF65-F5344CB8AC3E}">
        <p14:creationId xmlns:p14="http://schemas.microsoft.com/office/powerpoint/2010/main" val="21121863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50B9C-295E-B02A-B730-CD6B78DE3479}"/>
              </a:ext>
            </a:extLst>
          </p:cNvPr>
          <p:cNvSpPr>
            <a:spLocks noGrp="1"/>
          </p:cNvSpPr>
          <p:nvPr>
            <p:ph type="title"/>
          </p:nvPr>
        </p:nvSpPr>
        <p:spPr>
          <a:xfrm>
            <a:off x="700635" y="914400"/>
            <a:ext cx="10691265" cy="805543"/>
          </a:xfrm>
        </p:spPr>
        <p:txBody>
          <a:bodyPr/>
          <a:lstStyle/>
          <a:p>
            <a:r>
              <a:rPr lang="en-US" dirty="0"/>
              <a:t>When to use a column chart?</a:t>
            </a:r>
            <a:endParaRPr lang="en-EG" dirty="0"/>
          </a:p>
        </p:txBody>
      </p:sp>
      <p:graphicFrame>
        <p:nvGraphicFramePr>
          <p:cNvPr id="4" name="Content Placeholder 3">
            <a:extLst>
              <a:ext uri="{FF2B5EF4-FFF2-40B4-BE49-F238E27FC236}">
                <a16:creationId xmlns:a16="http://schemas.microsoft.com/office/drawing/2014/main" id="{5277D0C4-32B7-A3BD-F24D-010DF5F266EC}"/>
              </a:ext>
            </a:extLst>
          </p:cNvPr>
          <p:cNvGraphicFramePr>
            <a:graphicFrameLocks noGrp="1"/>
          </p:cNvGraphicFramePr>
          <p:nvPr>
            <p:ph idx="1"/>
            <p:extLst>
              <p:ext uri="{D42A27DB-BD31-4B8C-83A1-F6EECF244321}">
                <p14:modId xmlns:p14="http://schemas.microsoft.com/office/powerpoint/2010/main" val="2829176153"/>
              </p:ext>
            </p:extLst>
          </p:nvPr>
        </p:nvGraphicFramePr>
        <p:xfrm>
          <a:off x="700634" y="1862138"/>
          <a:ext cx="10691265" cy="4140459"/>
        </p:xfrm>
        <a:graphic>
          <a:graphicData uri="http://schemas.openxmlformats.org/drawingml/2006/table">
            <a:tbl>
              <a:tblPr>
                <a:tableStyleId>{5940675A-B579-460E-94D1-54222C63F5DA}</a:tableStyleId>
              </a:tblPr>
              <a:tblGrid>
                <a:gridCol w="3142023">
                  <a:extLst>
                    <a:ext uri="{9D8B030D-6E8A-4147-A177-3AD203B41FA5}">
                      <a16:colId xmlns:a16="http://schemas.microsoft.com/office/drawing/2014/main" val="1449295824"/>
                    </a:ext>
                  </a:extLst>
                </a:gridCol>
                <a:gridCol w="2514600">
                  <a:extLst>
                    <a:ext uri="{9D8B030D-6E8A-4147-A177-3AD203B41FA5}">
                      <a16:colId xmlns:a16="http://schemas.microsoft.com/office/drawing/2014/main" val="2687524326"/>
                    </a:ext>
                  </a:extLst>
                </a:gridCol>
                <a:gridCol w="5034642">
                  <a:extLst>
                    <a:ext uri="{9D8B030D-6E8A-4147-A177-3AD203B41FA5}">
                      <a16:colId xmlns:a16="http://schemas.microsoft.com/office/drawing/2014/main" val="1525357797"/>
                    </a:ext>
                  </a:extLst>
                </a:gridCol>
              </a:tblGrid>
              <a:tr h="317167">
                <a:tc>
                  <a:txBody>
                    <a:bodyPr/>
                    <a:lstStyle/>
                    <a:p>
                      <a:pPr rtl="0">
                        <a:buNone/>
                      </a:pPr>
                      <a:r>
                        <a:rPr lang="en-US" sz="1600" b="1">
                          <a:solidFill>
                            <a:srgbClr val="1F1F1F"/>
                          </a:solidFill>
                          <a:effectLst/>
                        </a:rPr>
                        <a:t>Rule / Condition for Use</a:t>
                      </a:r>
                      <a:endParaRPr lang="en-US" sz="1600">
                        <a:solidFill>
                          <a:srgbClr val="1F1F1F"/>
                        </a:solidFill>
                        <a:effectLst/>
                        <a:latin typeface="Google Sans Text"/>
                      </a:endParaRPr>
                    </a:p>
                  </a:txBody>
                  <a:tcPr marL="84955" marR="84955" marT="56637" marB="56637" anchor="ctr"/>
                </a:tc>
                <a:tc>
                  <a:txBody>
                    <a:bodyPr/>
                    <a:lstStyle/>
                    <a:p>
                      <a:pPr rtl="0">
                        <a:buNone/>
                      </a:pPr>
                      <a:r>
                        <a:rPr lang="en-US" sz="1600" b="1">
                          <a:solidFill>
                            <a:srgbClr val="1F1F1F"/>
                          </a:solidFill>
                          <a:effectLst/>
                        </a:rPr>
                        <a:t>Unique Keywords</a:t>
                      </a:r>
                      <a:endParaRPr lang="en-US" sz="1600">
                        <a:solidFill>
                          <a:srgbClr val="1F1F1F"/>
                        </a:solidFill>
                        <a:effectLst/>
                        <a:latin typeface="Google Sans Text"/>
                      </a:endParaRPr>
                    </a:p>
                  </a:txBody>
                  <a:tcPr marL="84955" marR="84955" marT="56637" marB="56637" anchor="ctr"/>
                </a:tc>
                <a:tc>
                  <a:txBody>
                    <a:bodyPr/>
                    <a:lstStyle/>
                    <a:p>
                      <a:pPr rtl="0">
                        <a:buNone/>
                      </a:pPr>
                      <a:r>
                        <a:rPr lang="en-US" sz="1600" b="1">
                          <a:solidFill>
                            <a:srgbClr val="1F1F1F"/>
                          </a:solidFill>
                          <a:effectLst/>
                        </a:rPr>
                        <a:t>Audience Question Examples</a:t>
                      </a:r>
                      <a:endParaRPr lang="en-US" sz="1600">
                        <a:solidFill>
                          <a:srgbClr val="1F1F1F"/>
                        </a:solidFill>
                        <a:effectLst/>
                        <a:latin typeface="Google Sans Text"/>
                      </a:endParaRPr>
                    </a:p>
                  </a:txBody>
                  <a:tcPr marL="84955" marR="84955" marT="56637" marB="56637" anchor="ctr"/>
                </a:tc>
                <a:extLst>
                  <a:ext uri="{0D108BD9-81ED-4DB2-BD59-A6C34878D82A}">
                    <a16:rowId xmlns:a16="http://schemas.microsoft.com/office/drawing/2014/main" val="3484700952"/>
                  </a:ext>
                </a:extLst>
              </a:tr>
              <a:tr h="3783345">
                <a:tc>
                  <a:txBody>
                    <a:bodyPr/>
                    <a:lstStyle/>
                    <a:p>
                      <a:pPr rtl="0">
                        <a:buNone/>
                      </a:pPr>
                      <a:r>
                        <a:rPr lang="en-US" sz="1600" dirty="0">
                          <a:solidFill>
                            <a:srgbClr val="1F1F1F"/>
                          </a:solidFill>
                          <a:effectLst/>
                        </a:rPr>
                        <a:t>Comparison: use when you have </a:t>
                      </a:r>
                      <a:r>
                        <a:rPr lang="en-US" sz="1600" b="1" dirty="0">
                          <a:solidFill>
                            <a:srgbClr val="1F1F1F"/>
                          </a:solidFill>
                          <a:effectLst/>
                        </a:rPr>
                        <a:t>few categories</a:t>
                      </a:r>
                      <a:r>
                        <a:rPr lang="en-US" sz="1600" dirty="0">
                          <a:solidFill>
                            <a:srgbClr val="1F1F1F"/>
                          </a:solidFill>
                          <a:effectLst/>
                        </a:rPr>
                        <a:t> (under 7) and the names are short. It is designed to look like a "ranking podium."</a:t>
                      </a:r>
                      <a:endParaRPr lang="en-US" sz="1600" dirty="0">
                        <a:solidFill>
                          <a:srgbClr val="1F1F1F"/>
                        </a:solidFill>
                        <a:effectLst/>
                        <a:latin typeface="Google Sans Text"/>
                      </a:endParaRPr>
                    </a:p>
                  </a:txBody>
                  <a:tcPr marL="84955" marR="84955" marT="56637" marB="56637" anchor="ctr"/>
                </a:tc>
                <a:tc>
                  <a:txBody>
                    <a:bodyPr/>
                    <a:lstStyle/>
                    <a:p>
                      <a:pPr algn="just" rtl="0">
                        <a:buNone/>
                      </a:pPr>
                      <a:r>
                        <a:rPr lang="en-US" sz="1600" b="1" dirty="0">
                          <a:solidFill>
                            <a:srgbClr val="1F1F1F"/>
                          </a:solidFill>
                          <a:effectLst/>
                        </a:rPr>
                        <a:t>Highest, Lowest, Least, Peak, Minimum, or Maximum</a:t>
                      </a:r>
                      <a:endParaRPr lang="en-US" sz="1600" dirty="0">
                        <a:solidFill>
                          <a:srgbClr val="1F1F1F"/>
                        </a:solidFill>
                        <a:effectLst/>
                        <a:latin typeface="Google Sans Text"/>
                      </a:endParaRPr>
                    </a:p>
                  </a:txBody>
                  <a:tcPr marL="84955" marR="84955" marT="56637" marB="56637" anchor="ctr"/>
                </a:tc>
                <a:tc>
                  <a:txBody>
                    <a:bodyPr/>
                    <a:lstStyle/>
                    <a:p>
                      <a:pPr rtl="0">
                        <a:buNone/>
                      </a:pPr>
                      <a:r>
                        <a:rPr lang="en-US" sz="1600" dirty="0">
                          <a:solidFill>
                            <a:srgbClr val="1F1F1F"/>
                          </a:solidFill>
                          <a:effectLst/>
                        </a:rPr>
                        <a:t>1. Which specific region had the </a:t>
                      </a:r>
                      <a:r>
                        <a:rPr lang="en-US" sz="1600" b="1" dirty="0">
                          <a:solidFill>
                            <a:srgbClr val="1F1F1F"/>
                          </a:solidFill>
                          <a:effectLst/>
                        </a:rPr>
                        <a:t>highest</a:t>
                      </a:r>
                      <a:r>
                        <a:rPr lang="en-US" sz="1600" dirty="0">
                          <a:solidFill>
                            <a:srgbClr val="1F1F1F"/>
                          </a:solidFill>
                          <a:effectLst/>
                        </a:rPr>
                        <a:t> sales? </a:t>
                      </a:r>
                    </a:p>
                    <a:p>
                      <a:pPr rtl="0">
                        <a:buNone/>
                      </a:pPr>
                      <a:br>
                        <a:rPr lang="en-US" sz="1600" dirty="0">
                          <a:solidFill>
                            <a:srgbClr val="1F1F1F"/>
                          </a:solidFill>
                          <a:effectLst/>
                        </a:rPr>
                      </a:br>
                      <a:endParaRPr lang="en-US" sz="1600" dirty="0">
                        <a:solidFill>
                          <a:srgbClr val="1F1F1F"/>
                        </a:solidFill>
                        <a:effectLst/>
                      </a:endParaRPr>
                    </a:p>
                    <a:p>
                      <a:pPr rtl="0">
                        <a:buNone/>
                      </a:pPr>
                      <a:r>
                        <a:rPr lang="en-US" sz="1600" dirty="0">
                          <a:solidFill>
                            <a:srgbClr val="1F1F1F"/>
                          </a:solidFill>
                          <a:effectLst/>
                        </a:rPr>
                        <a:t>2. Which product reached the </a:t>
                      </a:r>
                      <a:r>
                        <a:rPr lang="en-US" sz="1600" b="1" dirty="0">
                          <a:solidFill>
                            <a:srgbClr val="1F1F1F"/>
                          </a:solidFill>
                          <a:effectLst/>
                        </a:rPr>
                        <a:t>peak</a:t>
                      </a:r>
                      <a:r>
                        <a:rPr lang="en-US" sz="1600" dirty="0">
                          <a:solidFill>
                            <a:srgbClr val="1F1F1F"/>
                          </a:solidFill>
                          <a:effectLst/>
                        </a:rPr>
                        <a:t> units sold? </a:t>
                      </a:r>
                    </a:p>
                    <a:p>
                      <a:pPr rtl="0">
                        <a:buNone/>
                      </a:pPr>
                      <a:br>
                        <a:rPr lang="en-US" sz="1600" dirty="0">
                          <a:solidFill>
                            <a:srgbClr val="1F1F1F"/>
                          </a:solidFill>
                          <a:effectLst/>
                        </a:rPr>
                      </a:br>
                      <a:endParaRPr lang="en-US" sz="1600" dirty="0">
                        <a:solidFill>
                          <a:srgbClr val="1F1F1F"/>
                        </a:solidFill>
                        <a:effectLst/>
                      </a:endParaRPr>
                    </a:p>
                    <a:p>
                      <a:pPr rtl="0">
                        <a:buNone/>
                      </a:pPr>
                      <a:r>
                        <a:rPr lang="en-US" sz="1600" dirty="0">
                          <a:solidFill>
                            <a:srgbClr val="1F1F1F"/>
                          </a:solidFill>
                          <a:effectLst/>
                        </a:rPr>
                        <a:t>3. Which department recorded the </a:t>
                      </a:r>
                      <a:r>
                        <a:rPr lang="en-US" sz="1600" b="1" dirty="0">
                          <a:solidFill>
                            <a:srgbClr val="1F1F1F"/>
                          </a:solidFill>
                          <a:effectLst/>
                        </a:rPr>
                        <a:t>minimum</a:t>
                      </a:r>
                      <a:r>
                        <a:rPr lang="en-US" sz="1600" dirty="0">
                          <a:solidFill>
                            <a:srgbClr val="1F1F1F"/>
                          </a:solidFill>
                          <a:effectLst/>
                        </a:rPr>
                        <a:t> budget? </a:t>
                      </a:r>
                    </a:p>
                    <a:p>
                      <a:pPr rtl="0">
                        <a:buNone/>
                      </a:pPr>
                      <a:br>
                        <a:rPr lang="en-US" sz="1600" dirty="0">
                          <a:solidFill>
                            <a:srgbClr val="1F1F1F"/>
                          </a:solidFill>
                          <a:effectLst/>
                        </a:rPr>
                      </a:br>
                      <a:endParaRPr lang="en-US" sz="1600" dirty="0">
                        <a:solidFill>
                          <a:srgbClr val="1F1F1F"/>
                        </a:solidFill>
                        <a:effectLst/>
                      </a:endParaRPr>
                    </a:p>
                    <a:p>
                      <a:pPr rtl="0">
                        <a:buNone/>
                      </a:pPr>
                      <a:r>
                        <a:rPr lang="en-US" sz="1600" dirty="0">
                          <a:solidFill>
                            <a:srgbClr val="1F1F1F"/>
                          </a:solidFill>
                          <a:effectLst/>
                        </a:rPr>
                        <a:t>4. Which branch had the </a:t>
                      </a:r>
                      <a:r>
                        <a:rPr lang="en-US" sz="1600" b="1" dirty="0">
                          <a:solidFill>
                            <a:srgbClr val="1F1F1F"/>
                          </a:solidFill>
                          <a:effectLst/>
                        </a:rPr>
                        <a:t>lowest</a:t>
                      </a:r>
                      <a:r>
                        <a:rPr lang="en-US" sz="1600" dirty="0">
                          <a:solidFill>
                            <a:srgbClr val="1F1F1F"/>
                          </a:solidFill>
                          <a:effectLst/>
                        </a:rPr>
                        <a:t> customer complaints? </a:t>
                      </a:r>
                    </a:p>
                    <a:p>
                      <a:pPr rtl="0">
                        <a:buNone/>
                      </a:pPr>
                      <a:br>
                        <a:rPr lang="en-US" sz="1600" dirty="0">
                          <a:solidFill>
                            <a:srgbClr val="1F1F1F"/>
                          </a:solidFill>
                          <a:effectLst/>
                        </a:rPr>
                      </a:br>
                      <a:endParaRPr lang="en-US" sz="1600" dirty="0">
                        <a:solidFill>
                          <a:srgbClr val="1F1F1F"/>
                        </a:solidFill>
                        <a:effectLst/>
                      </a:endParaRPr>
                    </a:p>
                    <a:p>
                      <a:pPr rtl="0">
                        <a:buNone/>
                      </a:pPr>
                      <a:r>
                        <a:rPr lang="en-US" sz="1600" dirty="0">
                          <a:solidFill>
                            <a:srgbClr val="1F1F1F"/>
                          </a:solidFill>
                          <a:effectLst/>
                        </a:rPr>
                        <a:t>5. What was the </a:t>
                      </a:r>
                      <a:r>
                        <a:rPr lang="en-US" sz="1600" b="1" dirty="0">
                          <a:solidFill>
                            <a:srgbClr val="1F1F1F"/>
                          </a:solidFill>
                          <a:effectLst/>
                        </a:rPr>
                        <a:t>highest</a:t>
                      </a:r>
                      <a:r>
                        <a:rPr lang="en-US" sz="1600" dirty="0">
                          <a:solidFill>
                            <a:srgbClr val="1F1F1F"/>
                          </a:solidFill>
                          <a:effectLst/>
                        </a:rPr>
                        <a:t> revenue-generating category?</a:t>
                      </a:r>
                      <a:endParaRPr lang="en-US" sz="1600" dirty="0">
                        <a:solidFill>
                          <a:srgbClr val="1F1F1F"/>
                        </a:solidFill>
                        <a:effectLst/>
                        <a:latin typeface="Google Sans Text"/>
                      </a:endParaRPr>
                    </a:p>
                  </a:txBody>
                  <a:tcPr marL="84955" marR="84955" marT="56637" marB="56637" anchor="ctr"/>
                </a:tc>
                <a:extLst>
                  <a:ext uri="{0D108BD9-81ED-4DB2-BD59-A6C34878D82A}">
                    <a16:rowId xmlns:a16="http://schemas.microsoft.com/office/drawing/2014/main" val="2753903751"/>
                  </a:ext>
                </a:extLst>
              </a:tr>
            </a:tbl>
          </a:graphicData>
        </a:graphic>
      </p:graphicFrame>
    </p:spTree>
    <p:extLst>
      <p:ext uri="{BB962C8B-B14F-4D97-AF65-F5344CB8AC3E}">
        <p14:creationId xmlns:p14="http://schemas.microsoft.com/office/powerpoint/2010/main" val="25225605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0E461-9635-DED9-0843-A34AF8855DFE}"/>
              </a:ext>
            </a:extLst>
          </p:cNvPr>
          <p:cNvSpPr>
            <a:spLocks noGrp="1"/>
          </p:cNvSpPr>
          <p:nvPr>
            <p:ph type="title"/>
          </p:nvPr>
        </p:nvSpPr>
        <p:spPr>
          <a:xfrm>
            <a:off x="700635" y="816427"/>
            <a:ext cx="10691265" cy="696687"/>
          </a:xfrm>
        </p:spPr>
        <p:txBody>
          <a:bodyPr>
            <a:normAutofit fontScale="90000"/>
          </a:bodyPr>
          <a:lstStyle/>
          <a:p>
            <a:r>
              <a:rPr lang="en-US" dirty="0"/>
              <a:t>How to Draw a column chart? (our guidelines)</a:t>
            </a:r>
            <a:endParaRPr lang="en-EG" dirty="0"/>
          </a:p>
        </p:txBody>
      </p:sp>
      <p:graphicFrame>
        <p:nvGraphicFramePr>
          <p:cNvPr id="5" name="Content Placeholder 4">
            <a:extLst>
              <a:ext uri="{FF2B5EF4-FFF2-40B4-BE49-F238E27FC236}">
                <a16:creationId xmlns:a16="http://schemas.microsoft.com/office/drawing/2014/main" id="{7F2E8D73-0637-1457-267C-3F4E0F395B58}"/>
              </a:ext>
            </a:extLst>
          </p:cNvPr>
          <p:cNvGraphicFramePr>
            <a:graphicFrameLocks noGrp="1"/>
          </p:cNvGraphicFramePr>
          <p:nvPr>
            <p:ph idx="1"/>
            <p:extLst>
              <p:ext uri="{D42A27DB-BD31-4B8C-83A1-F6EECF244321}">
                <p14:modId xmlns:p14="http://schemas.microsoft.com/office/powerpoint/2010/main" val="59856060"/>
              </p:ext>
            </p:extLst>
          </p:nvPr>
        </p:nvGraphicFramePr>
        <p:xfrm>
          <a:off x="700635" y="1504001"/>
          <a:ext cx="10790730" cy="4645090"/>
        </p:xfrm>
        <a:graphic>
          <a:graphicData uri="http://schemas.openxmlformats.org/drawingml/2006/table">
            <a:tbl>
              <a:tblPr>
                <a:tableStyleId>{5940675A-B579-460E-94D1-54222C63F5DA}</a:tableStyleId>
              </a:tblPr>
              <a:tblGrid>
                <a:gridCol w="758051">
                  <a:extLst>
                    <a:ext uri="{9D8B030D-6E8A-4147-A177-3AD203B41FA5}">
                      <a16:colId xmlns:a16="http://schemas.microsoft.com/office/drawing/2014/main" val="2092327845"/>
                    </a:ext>
                  </a:extLst>
                </a:gridCol>
                <a:gridCol w="2188028">
                  <a:extLst>
                    <a:ext uri="{9D8B030D-6E8A-4147-A177-3AD203B41FA5}">
                      <a16:colId xmlns:a16="http://schemas.microsoft.com/office/drawing/2014/main" val="2401887369"/>
                    </a:ext>
                  </a:extLst>
                </a:gridCol>
                <a:gridCol w="7844651">
                  <a:extLst>
                    <a:ext uri="{9D8B030D-6E8A-4147-A177-3AD203B41FA5}">
                      <a16:colId xmlns:a16="http://schemas.microsoft.com/office/drawing/2014/main" val="3766790695"/>
                    </a:ext>
                  </a:extLst>
                </a:gridCol>
              </a:tblGrid>
              <a:tr h="451057">
                <a:tc>
                  <a:txBody>
                    <a:bodyPr/>
                    <a:lstStyle/>
                    <a:p>
                      <a:pPr algn="ctr" rtl="0">
                        <a:buNone/>
                      </a:pPr>
                      <a:r>
                        <a:rPr lang="en-US" sz="1400" b="1" dirty="0">
                          <a:solidFill>
                            <a:srgbClr val="1F1F1F"/>
                          </a:solidFill>
                          <a:effectLst/>
                        </a:rPr>
                        <a:t>Rule #</a:t>
                      </a:r>
                      <a:endParaRPr lang="en-US" sz="1400" dirty="0">
                        <a:solidFill>
                          <a:srgbClr val="1F1F1F"/>
                        </a:solidFill>
                        <a:effectLst/>
                        <a:latin typeface="Google Sans Text"/>
                      </a:endParaRPr>
                    </a:p>
                  </a:txBody>
                  <a:tcPr marL="53738" marR="53738" marT="35825" marB="35825" anchor="ctr">
                    <a:solidFill>
                      <a:schemeClr val="bg1">
                        <a:lumMod val="95000"/>
                      </a:schemeClr>
                    </a:solidFill>
                  </a:tcPr>
                </a:tc>
                <a:tc>
                  <a:txBody>
                    <a:bodyPr/>
                    <a:lstStyle/>
                    <a:p>
                      <a:pPr algn="ctr" rtl="0">
                        <a:buNone/>
                      </a:pPr>
                      <a:r>
                        <a:rPr lang="en-US" sz="1400" b="1" dirty="0">
                          <a:solidFill>
                            <a:srgbClr val="1F1F1F"/>
                          </a:solidFill>
                          <a:effectLst/>
                        </a:rPr>
                        <a:t>Guideline</a:t>
                      </a:r>
                      <a:endParaRPr lang="en-US" sz="1400" dirty="0">
                        <a:solidFill>
                          <a:srgbClr val="1F1F1F"/>
                        </a:solidFill>
                        <a:effectLst/>
                        <a:latin typeface="Google Sans Text"/>
                      </a:endParaRPr>
                    </a:p>
                  </a:txBody>
                  <a:tcPr marL="53738" marR="53738" marT="35825" marB="35825" anchor="ctr">
                    <a:solidFill>
                      <a:schemeClr val="bg1">
                        <a:lumMod val="95000"/>
                      </a:schemeClr>
                    </a:solidFill>
                  </a:tcPr>
                </a:tc>
                <a:tc>
                  <a:txBody>
                    <a:bodyPr/>
                    <a:lstStyle/>
                    <a:p>
                      <a:pPr rtl="0">
                        <a:buNone/>
                      </a:pPr>
                      <a:r>
                        <a:rPr lang="en-US" sz="1400" b="1" dirty="0">
                          <a:solidFill>
                            <a:srgbClr val="1F1F1F"/>
                          </a:solidFill>
                          <a:effectLst/>
                        </a:rPr>
                        <a:t>Purpose / Description</a:t>
                      </a:r>
                      <a:endParaRPr lang="en-US" sz="1400" dirty="0">
                        <a:solidFill>
                          <a:srgbClr val="1F1F1F"/>
                        </a:solidFill>
                        <a:effectLst/>
                        <a:latin typeface="Google Sans Text"/>
                      </a:endParaRPr>
                    </a:p>
                  </a:txBody>
                  <a:tcPr marL="53738" marR="53738" marT="35825" marB="35825" anchor="ctr">
                    <a:solidFill>
                      <a:schemeClr val="bg1">
                        <a:lumMod val="95000"/>
                      </a:schemeClr>
                    </a:solidFill>
                  </a:tcPr>
                </a:tc>
                <a:extLst>
                  <a:ext uri="{0D108BD9-81ED-4DB2-BD59-A6C34878D82A}">
                    <a16:rowId xmlns:a16="http://schemas.microsoft.com/office/drawing/2014/main" val="596583762"/>
                  </a:ext>
                </a:extLst>
              </a:tr>
              <a:tr h="276788">
                <a:tc>
                  <a:txBody>
                    <a:bodyPr/>
                    <a:lstStyle/>
                    <a:p>
                      <a:pPr algn="ctr" rtl="0">
                        <a:buNone/>
                      </a:pPr>
                      <a:r>
                        <a:rPr lang="en-US" sz="1400" b="1" kern="1200" dirty="0">
                          <a:solidFill>
                            <a:srgbClr val="1F1F1F"/>
                          </a:solidFill>
                          <a:effectLst/>
                          <a:latin typeface="+mn-lt"/>
                          <a:ea typeface="+mn-ea"/>
                          <a:cs typeface="+mn-cs"/>
                        </a:rPr>
                        <a:t>Rule 1</a:t>
                      </a:r>
                    </a:p>
                  </a:txBody>
                  <a:tcPr marL="53738" marR="53738" marT="35825" marB="35825" anchor="ctr"/>
                </a:tc>
                <a:tc>
                  <a:txBody>
                    <a:bodyPr/>
                    <a:lstStyle/>
                    <a:p>
                      <a:pPr algn="ctr" rtl="0">
                        <a:buNone/>
                      </a:pPr>
                      <a:r>
                        <a:rPr lang="en-US" sz="1400" b="1" kern="1200" dirty="0">
                          <a:solidFill>
                            <a:srgbClr val="1F1F1F"/>
                          </a:solidFill>
                          <a:effectLst/>
                          <a:latin typeface="+mn-lt"/>
                          <a:ea typeface="+mn-ea"/>
                          <a:cs typeface="+mn-cs"/>
                        </a:rPr>
                        <a:t>Chart Border</a:t>
                      </a:r>
                    </a:p>
                  </a:txBody>
                  <a:tcPr marL="53738" marR="53738" marT="35825" marB="35825" anchor="ctr"/>
                </a:tc>
                <a:tc>
                  <a:txBody>
                    <a:bodyPr/>
                    <a:lstStyle/>
                    <a:p>
                      <a:pPr rtl="0">
                        <a:buNone/>
                      </a:pPr>
                      <a:r>
                        <a:rPr lang="en-US" sz="1400" dirty="0">
                          <a:solidFill>
                            <a:srgbClr val="1F1F1F"/>
                          </a:solidFill>
                          <a:effectLst/>
                        </a:rPr>
                        <a:t>Ensure a black frame surrounds the data area to define the workspace.</a:t>
                      </a:r>
                      <a:endParaRPr lang="en-US" sz="1400" dirty="0">
                        <a:solidFill>
                          <a:srgbClr val="1F1F1F"/>
                        </a:solidFill>
                        <a:effectLst/>
                        <a:latin typeface="Google Sans Text"/>
                      </a:endParaRPr>
                    </a:p>
                  </a:txBody>
                  <a:tcPr marL="53738" marR="53738" marT="35825" marB="35825" anchor="ctr"/>
                </a:tc>
                <a:extLst>
                  <a:ext uri="{0D108BD9-81ED-4DB2-BD59-A6C34878D82A}">
                    <a16:rowId xmlns:a16="http://schemas.microsoft.com/office/drawing/2014/main" val="1307597587"/>
                  </a:ext>
                </a:extLst>
              </a:tr>
              <a:tr h="385095">
                <a:tc>
                  <a:txBody>
                    <a:bodyPr/>
                    <a:lstStyle/>
                    <a:p>
                      <a:pPr algn="ctr" rtl="0">
                        <a:buNone/>
                      </a:pPr>
                      <a:r>
                        <a:rPr lang="en-US" sz="1400" b="1" kern="1200" dirty="0">
                          <a:solidFill>
                            <a:srgbClr val="1F1F1F"/>
                          </a:solidFill>
                          <a:effectLst/>
                          <a:latin typeface="+mn-lt"/>
                          <a:ea typeface="+mn-ea"/>
                          <a:cs typeface="+mn-cs"/>
                        </a:rPr>
                        <a:t>Rule 2</a:t>
                      </a:r>
                    </a:p>
                  </a:txBody>
                  <a:tcPr marL="53738" marR="53738" marT="35825" marB="35825" anchor="ctr"/>
                </a:tc>
                <a:tc>
                  <a:txBody>
                    <a:bodyPr/>
                    <a:lstStyle/>
                    <a:p>
                      <a:pPr algn="ctr" rtl="0">
                        <a:buNone/>
                      </a:pPr>
                      <a:r>
                        <a:rPr lang="en-US" sz="1400" b="1" kern="1200" dirty="0">
                          <a:solidFill>
                            <a:srgbClr val="1F1F1F"/>
                          </a:solidFill>
                          <a:effectLst/>
                          <a:latin typeface="+mn-lt"/>
                          <a:ea typeface="+mn-ea"/>
                          <a:cs typeface="+mn-cs"/>
                        </a:rPr>
                        <a:t>Zero Baseline</a:t>
                      </a:r>
                    </a:p>
                  </a:txBody>
                  <a:tcPr marL="53738" marR="53738" marT="35825" marB="35825" anchor="ctr"/>
                </a:tc>
                <a:tc>
                  <a:txBody>
                    <a:bodyPr/>
                    <a:lstStyle/>
                    <a:p>
                      <a:pPr rtl="0">
                        <a:buNone/>
                      </a:pPr>
                      <a:r>
                        <a:rPr lang="en-US" sz="1400">
                          <a:solidFill>
                            <a:srgbClr val="1F1F1F"/>
                          </a:solidFill>
                          <a:effectLst/>
                        </a:rPr>
                        <a:t>The Y-axis </a:t>
                      </a:r>
                      <a:r>
                        <a:rPr lang="en-US" sz="1400" b="1">
                          <a:solidFill>
                            <a:srgbClr val="1F1F1F"/>
                          </a:solidFill>
                          <a:effectLst/>
                        </a:rPr>
                        <a:t>must</a:t>
                      </a:r>
                      <a:r>
                        <a:rPr lang="en-US" sz="1400">
                          <a:solidFill>
                            <a:srgbClr val="1F1F1F"/>
                          </a:solidFill>
                          <a:effectLst/>
                        </a:rPr>
                        <a:t> start at 0 to avoid distorting the magnitude of the bars.</a:t>
                      </a:r>
                      <a:endParaRPr lang="en-US" sz="1400">
                        <a:solidFill>
                          <a:srgbClr val="1F1F1F"/>
                        </a:solidFill>
                        <a:effectLst/>
                        <a:latin typeface="Google Sans Text"/>
                      </a:endParaRPr>
                    </a:p>
                  </a:txBody>
                  <a:tcPr marL="53738" marR="53738" marT="35825" marB="35825" anchor="ctr"/>
                </a:tc>
                <a:extLst>
                  <a:ext uri="{0D108BD9-81ED-4DB2-BD59-A6C34878D82A}">
                    <a16:rowId xmlns:a16="http://schemas.microsoft.com/office/drawing/2014/main" val="3913399402"/>
                  </a:ext>
                </a:extLst>
              </a:tr>
              <a:tr h="480241">
                <a:tc>
                  <a:txBody>
                    <a:bodyPr/>
                    <a:lstStyle/>
                    <a:p>
                      <a:pPr algn="ctr" rtl="0">
                        <a:buNone/>
                      </a:pPr>
                      <a:r>
                        <a:rPr lang="en-US" sz="1400" b="1" kern="1200" dirty="0">
                          <a:solidFill>
                            <a:srgbClr val="1F1F1F"/>
                          </a:solidFill>
                          <a:effectLst/>
                          <a:latin typeface="+mn-lt"/>
                          <a:ea typeface="+mn-ea"/>
                          <a:cs typeface="+mn-cs"/>
                        </a:rPr>
                        <a:t>Rule 3</a:t>
                      </a:r>
                    </a:p>
                  </a:txBody>
                  <a:tcPr marL="53738" marR="53738" marT="35825" marB="35825" anchor="ctr"/>
                </a:tc>
                <a:tc>
                  <a:txBody>
                    <a:bodyPr/>
                    <a:lstStyle/>
                    <a:p>
                      <a:pPr algn="ctr" rtl="0">
                        <a:buNone/>
                      </a:pPr>
                      <a:r>
                        <a:rPr lang="en-US" sz="1400" b="1" kern="1200" dirty="0">
                          <a:solidFill>
                            <a:srgbClr val="1F1F1F"/>
                          </a:solidFill>
                          <a:effectLst/>
                          <a:latin typeface="+mn-lt"/>
                          <a:ea typeface="+mn-ea"/>
                          <a:cs typeface="+mn-cs"/>
                        </a:rPr>
                        <a:t>Horizontal/Vertical Text</a:t>
                      </a:r>
                    </a:p>
                  </a:txBody>
                  <a:tcPr marL="53738" marR="53738" marT="35825" marB="35825" anchor="ctr"/>
                </a:tc>
                <a:tc>
                  <a:txBody>
                    <a:bodyPr/>
                    <a:lstStyle/>
                    <a:p>
                      <a:pPr rtl="0">
                        <a:buNone/>
                      </a:pPr>
                      <a:r>
                        <a:rPr lang="en-US" sz="1400" dirty="0">
                          <a:solidFill>
                            <a:srgbClr val="1F1F1F"/>
                          </a:solidFill>
                          <a:effectLst/>
                        </a:rPr>
                        <a:t>All labels in the chart, such as those in the X-axis, Legends, Bottom, and Top titles, must be horizontal for easy reading, except the Y-axis, which must be vertically oriented. </a:t>
                      </a:r>
                      <a:endParaRPr lang="en-US" sz="1400" dirty="0">
                        <a:solidFill>
                          <a:srgbClr val="1F1F1F"/>
                        </a:solidFill>
                        <a:effectLst/>
                        <a:latin typeface="Google Sans Text"/>
                      </a:endParaRPr>
                    </a:p>
                  </a:txBody>
                  <a:tcPr marL="53738" marR="53738" marT="35825" marB="35825" anchor="ctr"/>
                </a:tc>
                <a:extLst>
                  <a:ext uri="{0D108BD9-81ED-4DB2-BD59-A6C34878D82A}">
                    <a16:rowId xmlns:a16="http://schemas.microsoft.com/office/drawing/2014/main" val="1934749214"/>
                  </a:ext>
                </a:extLst>
              </a:tr>
              <a:tr h="385095">
                <a:tc>
                  <a:txBody>
                    <a:bodyPr/>
                    <a:lstStyle/>
                    <a:p>
                      <a:pPr algn="ctr" rtl="0">
                        <a:buNone/>
                      </a:pPr>
                      <a:r>
                        <a:rPr lang="en-US" sz="1400" b="1" kern="1200" dirty="0">
                          <a:solidFill>
                            <a:srgbClr val="1F1F1F"/>
                          </a:solidFill>
                          <a:effectLst/>
                          <a:latin typeface="+mn-lt"/>
                          <a:ea typeface="+mn-ea"/>
                          <a:cs typeface="+mn-cs"/>
                        </a:rPr>
                        <a:t>Rule 4</a:t>
                      </a:r>
                    </a:p>
                  </a:txBody>
                  <a:tcPr marL="53738" marR="53738" marT="35825" marB="35825" anchor="ctr"/>
                </a:tc>
                <a:tc>
                  <a:txBody>
                    <a:bodyPr/>
                    <a:lstStyle/>
                    <a:p>
                      <a:pPr algn="ctr" rtl="0">
                        <a:buNone/>
                      </a:pPr>
                      <a:r>
                        <a:rPr lang="en-US" sz="1400" b="1" kern="1200" dirty="0">
                          <a:solidFill>
                            <a:srgbClr val="1F1F1F"/>
                          </a:solidFill>
                          <a:effectLst/>
                          <a:latin typeface="+mn-lt"/>
                          <a:ea typeface="+mn-ea"/>
                          <a:cs typeface="+mn-cs"/>
                        </a:rPr>
                        <a:t>Summarize Labels</a:t>
                      </a:r>
                    </a:p>
                  </a:txBody>
                  <a:tcPr marL="53738" marR="53738" marT="35825" marB="35825" anchor="ctr"/>
                </a:tc>
                <a:tc>
                  <a:txBody>
                    <a:bodyPr/>
                    <a:lstStyle/>
                    <a:p>
                      <a:pPr rtl="0">
                        <a:buNone/>
                      </a:pPr>
                      <a:r>
                        <a:rPr lang="en-US" sz="1400" dirty="0">
                          <a:solidFill>
                            <a:srgbClr val="1F1F1F"/>
                          </a:solidFill>
                          <a:effectLst/>
                        </a:rPr>
                        <a:t>Shorten long X-axis names (e.g., "Prod. A" instead of "Product Alpha Deluxe") to prevent overlap.</a:t>
                      </a:r>
                      <a:endParaRPr lang="en-US" sz="1400" dirty="0">
                        <a:solidFill>
                          <a:srgbClr val="1F1F1F"/>
                        </a:solidFill>
                        <a:effectLst/>
                        <a:latin typeface="Google Sans Text"/>
                      </a:endParaRPr>
                    </a:p>
                  </a:txBody>
                  <a:tcPr marL="53738" marR="53738" marT="35825" marB="35825" anchor="ctr"/>
                </a:tc>
                <a:extLst>
                  <a:ext uri="{0D108BD9-81ED-4DB2-BD59-A6C34878D82A}">
                    <a16:rowId xmlns:a16="http://schemas.microsoft.com/office/drawing/2014/main" val="894096586"/>
                  </a:ext>
                </a:extLst>
              </a:tr>
              <a:tr h="385095">
                <a:tc>
                  <a:txBody>
                    <a:bodyPr/>
                    <a:lstStyle/>
                    <a:p>
                      <a:pPr algn="ctr" rtl="0">
                        <a:buNone/>
                      </a:pPr>
                      <a:r>
                        <a:rPr lang="en-US" sz="1400" b="1" kern="1200" dirty="0">
                          <a:solidFill>
                            <a:srgbClr val="1F1F1F"/>
                          </a:solidFill>
                          <a:effectLst/>
                          <a:latin typeface="+mn-lt"/>
                          <a:ea typeface="+mn-ea"/>
                          <a:cs typeface="+mn-cs"/>
                        </a:rPr>
                        <a:t>Rule 5</a:t>
                      </a:r>
                    </a:p>
                  </a:txBody>
                  <a:tcPr marL="53738" marR="53738" marT="35825" marB="35825" anchor="ctr"/>
                </a:tc>
                <a:tc>
                  <a:txBody>
                    <a:bodyPr/>
                    <a:lstStyle/>
                    <a:p>
                      <a:pPr algn="ctr" rtl="0">
                        <a:buNone/>
                      </a:pPr>
                      <a:r>
                        <a:rPr lang="en-US" sz="1400" b="1" kern="1200" dirty="0">
                          <a:solidFill>
                            <a:srgbClr val="1F1F1F"/>
                          </a:solidFill>
                          <a:effectLst/>
                          <a:latin typeface="+mn-lt"/>
                          <a:ea typeface="+mn-ea"/>
                          <a:cs typeface="+mn-cs"/>
                        </a:rPr>
                        <a:t>Show Magnitudes</a:t>
                      </a:r>
                    </a:p>
                  </a:txBody>
                  <a:tcPr marL="53738" marR="53738" marT="35825" marB="35825" anchor="ctr"/>
                </a:tc>
                <a:tc>
                  <a:txBody>
                    <a:bodyPr/>
                    <a:lstStyle/>
                    <a:p>
                      <a:pPr rtl="0">
                        <a:buNone/>
                      </a:pPr>
                      <a:r>
                        <a:rPr lang="en-US" sz="1400" dirty="0">
                          <a:solidFill>
                            <a:srgbClr val="1F1F1F"/>
                          </a:solidFill>
                          <a:effectLst/>
                        </a:rPr>
                        <a:t>Place the specific value (e.g., "82M") directly on or above each bar.</a:t>
                      </a:r>
                      <a:endParaRPr lang="en-US" sz="1400" dirty="0">
                        <a:solidFill>
                          <a:srgbClr val="1F1F1F"/>
                        </a:solidFill>
                        <a:effectLst/>
                        <a:latin typeface="Google Sans Text"/>
                      </a:endParaRPr>
                    </a:p>
                  </a:txBody>
                  <a:tcPr marL="53738" marR="53738" marT="35825" marB="35825" anchor="ctr"/>
                </a:tc>
                <a:extLst>
                  <a:ext uri="{0D108BD9-81ED-4DB2-BD59-A6C34878D82A}">
                    <a16:rowId xmlns:a16="http://schemas.microsoft.com/office/drawing/2014/main" val="2174755540"/>
                  </a:ext>
                </a:extLst>
              </a:tr>
              <a:tr h="385095">
                <a:tc>
                  <a:txBody>
                    <a:bodyPr/>
                    <a:lstStyle/>
                    <a:p>
                      <a:pPr algn="ctr" rtl="0">
                        <a:buNone/>
                      </a:pPr>
                      <a:r>
                        <a:rPr lang="en-US" sz="1400" b="1" kern="1200" dirty="0">
                          <a:solidFill>
                            <a:srgbClr val="1F1F1F"/>
                          </a:solidFill>
                          <a:effectLst/>
                          <a:latin typeface="+mn-lt"/>
                          <a:ea typeface="+mn-ea"/>
                          <a:cs typeface="+mn-cs"/>
                        </a:rPr>
                        <a:t>Rule 6</a:t>
                      </a:r>
                    </a:p>
                  </a:txBody>
                  <a:tcPr marL="53738" marR="53738" marT="35825" marB="35825" anchor="ctr"/>
                </a:tc>
                <a:tc>
                  <a:txBody>
                    <a:bodyPr/>
                    <a:lstStyle/>
                    <a:p>
                      <a:pPr algn="ctr" rtl="0">
                        <a:buNone/>
                      </a:pPr>
                      <a:r>
                        <a:rPr lang="en-US" sz="1400" b="1" kern="1200" dirty="0">
                          <a:solidFill>
                            <a:srgbClr val="1F1F1F"/>
                          </a:solidFill>
                          <a:effectLst/>
                          <a:latin typeface="+mn-lt"/>
                          <a:ea typeface="+mn-ea"/>
                          <a:cs typeface="+mn-cs"/>
                        </a:rPr>
                        <a:t>Include Legend</a:t>
                      </a:r>
                    </a:p>
                  </a:txBody>
                  <a:tcPr marL="53738" marR="53738" marT="35825" marB="35825" anchor="ctr"/>
                </a:tc>
                <a:tc>
                  <a:txBody>
                    <a:bodyPr/>
                    <a:lstStyle/>
                    <a:p>
                      <a:pPr rtl="0">
                        <a:buNone/>
                      </a:pPr>
                      <a:r>
                        <a:rPr lang="en-US" sz="1400" dirty="0">
                          <a:solidFill>
                            <a:srgbClr val="1F1F1F"/>
                          </a:solidFill>
                          <a:effectLst/>
                        </a:rPr>
                        <a:t>Place a legend (usually top-right) to explain what the bar colors represent.</a:t>
                      </a:r>
                      <a:endParaRPr lang="en-US" sz="1400" dirty="0">
                        <a:solidFill>
                          <a:srgbClr val="1F1F1F"/>
                        </a:solidFill>
                        <a:effectLst/>
                        <a:latin typeface="Google Sans Text"/>
                      </a:endParaRPr>
                    </a:p>
                  </a:txBody>
                  <a:tcPr marL="53738" marR="53738" marT="35825" marB="35825" anchor="ctr"/>
                </a:tc>
                <a:extLst>
                  <a:ext uri="{0D108BD9-81ED-4DB2-BD59-A6C34878D82A}">
                    <a16:rowId xmlns:a16="http://schemas.microsoft.com/office/drawing/2014/main" val="3018967591"/>
                  </a:ext>
                </a:extLst>
              </a:tr>
              <a:tr h="385095">
                <a:tc>
                  <a:txBody>
                    <a:bodyPr/>
                    <a:lstStyle/>
                    <a:p>
                      <a:pPr algn="ctr" rtl="0">
                        <a:buNone/>
                      </a:pPr>
                      <a:r>
                        <a:rPr lang="en-US" sz="1400" b="1" kern="1200" dirty="0">
                          <a:solidFill>
                            <a:srgbClr val="1F1F1F"/>
                          </a:solidFill>
                          <a:effectLst/>
                          <a:latin typeface="+mn-lt"/>
                          <a:ea typeface="+mn-ea"/>
                          <a:cs typeface="+mn-cs"/>
                        </a:rPr>
                        <a:t>Rule 7</a:t>
                      </a:r>
                    </a:p>
                  </a:txBody>
                  <a:tcPr marL="53738" marR="53738" marT="35825" marB="35825" anchor="ctr"/>
                </a:tc>
                <a:tc>
                  <a:txBody>
                    <a:bodyPr/>
                    <a:lstStyle/>
                    <a:p>
                      <a:pPr algn="ctr" rtl="0">
                        <a:buNone/>
                      </a:pPr>
                      <a:r>
                        <a:rPr lang="en-US" sz="1400" b="1" kern="1200" dirty="0">
                          <a:solidFill>
                            <a:srgbClr val="1F1F1F"/>
                          </a:solidFill>
                          <a:effectLst/>
                          <a:latin typeface="+mn-lt"/>
                          <a:ea typeface="+mn-ea"/>
                          <a:cs typeface="+mn-cs"/>
                        </a:rPr>
                        <a:t>Clear Titles</a:t>
                      </a:r>
                    </a:p>
                  </a:txBody>
                  <a:tcPr marL="53738" marR="53738" marT="35825" marB="35825" anchor="ctr"/>
                </a:tc>
                <a:tc>
                  <a:txBody>
                    <a:bodyPr/>
                    <a:lstStyle/>
                    <a:p>
                      <a:pPr rtl="0">
                        <a:buNone/>
                      </a:pPr>
                      <a:r>
                        <a:rPr lang="en-US" sz="1400">
                          <a:solidFill>
                            <a:srgbClr val="1F1F1F"/>
                          </a:solidFill>
                          <a:effectLst/>
                        </a:rPr>
                        <a:t>Every chart needs three: a </a:t>
                      </a:r>
                      <a:r>
                        <a:rPr lang="en-US" sz="1400" b="1">
                          <a:solidFill>
                            <a:srgbClr val="1F1F1F"/>
                          </a:solidFill>
                          <a:effectLst/>
                        </a:rPr>
                        <a:t>Main Title</a:t>
                      </a:r>
                      <a:r>
                        <a:rPr lang="en-US" sz="1400">
                          <a:solidFill>
                            <a:srgbClr val="1F1F1F"/>
                          </a:solidFill>
                          <a:effectLst/>
                        </a:rPr>
                        <a:t>, an </a:t>
                      </a:r>
                      <a:r>
                        <a:rPr lang="en-US" sz="1400" b="1">
                          <a:solidFill>
                            <a:srgbClr val="1F1F1F"/>
                          </a:solidFill>
                          <a:effectLst/>
                        </a:rPr>
                        <a:t>X-axis Title</a:t>
                      </a:r>
                      <a:r>
                        <a:rPr lang="en-US" sz="1400">
                          <a:solidFill>
                            <a:srgbClr val="1F1F1F"/>
                          </a:solidFill>
                          <a:effectLst/>
                        </a:rPr>
                        <a:t>, and a </a:t>
                      </a:r>
                      <a:r>
                        <a:rPr lang="en-US" sz="1400" b="1">
                          <a:solidFill>
                            <a:srgbClr val="1F1F1F"/>
                          </a:solidFill>
                          <a:effectLst/>
                        </a:rPr>
                        <a:t>Y-axis Title</a:t>
                      </a:r>
                      <a:r>
                        <a:rPr lang="en-US" sz="1400">
                          <a:solidFill>
                            <a:srgbClr val="1F1F1F"/>
                          </a:solidFill>
                          <a:effectLst/>
                        </a:rPr>
                        <a:t>.</a:t>
                      </a:r>
                      <a:endParaRPr lang="en-US" sz="1400">
                        <a:solidFill>
                          <a:srgbClr val="1F1F1F"/>
                        </a:solidFill>
                        <a:effectLst/>
                        <a:latin typeface="Google Sans Text"/>
                      </a:endParaRPr>
                    </a:p>
                  </a:txBody>
                  <a:tcPr marL="53738" marR="53738" marT="35825" marB="35825" anchor="ctr"/>
                </a:tc>
                <a:extLst>
                  <a:ext uri="{0D108BD9-81ED-4DB2-BD59-A6C34878D82A}">
                    <a16:rowId xmlns:a16="http://schemas.microsoft.com/office/drawing/2014/main" val="1827549170"/>
                  </a:ext>
                </a:extLst>
              </a:tr>
              <a:tr h="493404">
                <a:tc>
                  <a:txBody>
                    <a:bodyPr/>
                    <a:lstStyle/>
                    <a:p>
                      <a:pPr algn="ctr" rtl="0">
                        <a:buNone/>
                      </a:pPr>
                      <a:r>
                        <a:rPr lang="en-US" sz="1400" b="1" kern="1200" dirty="0">
                          <a:solidFill>
                            <a:srgbClr val="1F1F1F"/>
                          </a:solidFill>
                          <a:effectLst/>
                          <a:latin typeface="+mn-lt"/>
                          <a:ea typeface="+mn-ea"/>
                          <a:cs typeface="+mn-cs"/>
                        </a:rPr>
                        <a:t>Rule 8</a:t>
                      </a:r>
                    </a:p>
                  </a:txBody>
                  <a:tcPr marL="53738" marR="53738" marT="35825" marB="35825" anchor="ctr"/>
                </a:tc>
                <a:tc>
                  <a:txBody>
                    <a:bodyPr/>
                    <a:lstStyle/>
                    <a:p>
                      <a:pPr algn="ctr" rtl="0">
                        <a:buNone/>
                      </a:pPr>
                      <a:r>
                        <a:rPr lang="en-US" sz="1400" b="1" kern="1200" dirty="0">
                          <a:solidFill>
                            <a:srgbClr val="1F1F1F"/>
                          </a:solidFill>
                          <a:effectLst/>
                          <a:latin typeface="+mn-lt"/>
                          <a:ea typeface="+mn-ea"/>
                          <a:cs typeface="+mn-cs"/>
                        </a:rPr>
                        <a:t>Color Strategy</a:t>
                      </a:r>
                    </a:p>
                  </a:txBody>
                  <a:tcPr marL="53738" marR="53738" marT="35825" marB="35825" anchor="ctr"/>
                </a:tc>
                <a:tc>
                  <a:txBody>
                    <a:bodyPr/>
                    <a:lstStyle/>
                    <a:p>
                      <a:pPr rtl="0">
                        <a:buNone/>
                      </a:pPr>
                      <a:r>
                        <a:rPr lang="en-US" sz="1400" dirty="0">
                          <a:solidFill>
                            <a:srgbClr val="1F1F1F"/>
                          </a:solidFill>
                          <a:effectLst/>
                        </a:rPr>
                        <a:t>Use a uniform light color (e.g., </a:t>
                      </a:r>
                      <a:r>
                        <a:rPr lang="en-US" sz="1400" dirty="0">
                          <a:solidFill>
                            <a:srgbClr val="444746"/>
                          </a:solidFill>
                          <a:effectLst/>
                        </a:rPr>
                        <a:t>lightblue</a:t>
                      </a:r>
                      <a:r>
                        <a:rPr lang="en-US" sz="1400" dirty="0">
                          <a:solidFill>
                            <a:srgbClr val="1F1F1F"/>
                          </a:solidFill>
                          <a:effectLst/>
                        </a:rPr>
                        <a:t>) for most bars, and a different light color (e.g., </a:t>
                      </a:r>
                      <a:r>
                        <a:rPr lang="en-US" sz="1400" dirty="0">
                          <a:solidFill>
                            <a:srgbClr val="444746"/>
                          </a:solidFill>
                          <a:effectLst/>
                        </a:rPr>
                        <a:t>lightgreen</a:t>
                      </a:r>
                      <a:r>
                        <a:rPr lang="en-US" sz="1400" dirty="0">
                          <a:solidFill>
                            <a:srgbClr val="1F1F1F"/>
                          </a:solidFill>
                          <a:effectLst/>
                        </a:rPr>
                        <a:t>) for the Highest/Lowest. And black color for all the chart titles and labels. </a:t>
                      </a:r>
                      <a:endParaRPr lang="en-US" sz="1400" dirty="0">
                        <a:solidFill>
                          <a:srgbClr val="1F1F1F"/>
                        </a:solidFill>
                        <a:effectLst/>
                        <a:latin typeface="Google Sans Text"/>
                      </a:endParaRPr>
                    </a:p>
                  </a:txBody>
                  <a:tcPr marL="53738" marR="53738" marT="35825" marB="35825" anchor="ctr"/>
                </a:tc>
                <a:extLst>
                  <a:ext uri="{0D108BD9-81ED-4DB2-BD59-A6C34878D82A}">
                    <a16:rowId xmlns:a16="http://schemas.microsoft.com/office/drawing/2014/main" val="4209903674"/>
                  </a:ext>
                </a:extLst>
              </a:tr>
              <a:tr h="493404">
                <a:tc>
                  <a:txBody>
                    <a:bodyPr/>
                    <a:lstStyle/>
                    <a:p>
                      <a:pPr algn="ctr" rtl="0">
                        <a:buNone/>
                      </a:pPr>
                      <a:r>
                        <a:rPr lang="en-US" sz="1400" b="1" kern="1200" dirty="0">
                          <a:solidFill>
                            <a:srgbClr val="1F1F1F"/>
                          </a:solidFill>
                          <a:effectLst/>
                          <a:latin typeface="+mn-lt"/>
                          <a:ea typeface="+mn-ea"/>
                          <a:cs typeface="+mn-cs"/>
                        </a:rPr>
                        <a:t>Rule 9</a:t>
                      </a:r>
                    </a:p>
                  </a:txBody>
                  <a:tcPr marL="53738" marR="53738" marT="35825" marB="35825" anchor="ctr"/>
                </a:tc>
                <a:tc>
                  <a:txBody>
                    <a:bodyPr/>
                    <a:lstStyle/>
                    <a:p>
                      <a:pPr algn="ctr" rtl="0">
                        <a:buNone/>
                      </a:pPr>
                      <a:r>
                        <a:rPr lang="en-US" sz="1400" b="1" kern="1200" dirty="0">
                          <a:solidFill>
                            <a:srgbClr val="1F1F1F"/>
                          </a:solidFill>
                          <a:effectLst/>
                          <a:latin typeface="+mn-lt"/>
                          <a:ea typeface="+mn-ea"/>
                          <a:cs typeface="+mn-cs"/>
                        </a:rPr>
                        <a:t>Gridlines</a:t>
                      </a:r>
                    </a:p>
                  </a:txBody>
                  <a:tcPr marL="53738" marR="53738" marT="35825" marB="35825" anchor="ctr"/>
                </a:tc>
                <a:tc>
                  <a:txBody>
                    <a:bodyPr/>
                    <a:lstStyle/>
                    <a:p>
                      <a:pPr rtl="0">
                        <a:buNone/>
                      </a:pPr>
                      <a:r>
                        <a:rPr lang="en-US" sz="1400" kern="1200" dirty="0">
                          <a:solidFill>
                            <a:srgbClr val="1F1F1F"/>
                          </a:solidFill>
                          <a:effectLst/>
                          <a:latin typeface="+mn-lt"/>
                          <a:ea typeface="+mn-ea"/>
                          <a:cs typeface="+mn-cs"/>
                        </a:rPr>
                        <a:t>Draw the gridlines to assist in reading the values.</a:t>
                      </a:r>
                    </a:p>
                  </a:txBody>
                  <a:tcPr marL="53738" marR="53738" marT="35825" marB="35825" anchor="ctr"/>
                </a:tc>
                <a:extLst>
                  <a:ext uri="{0D108BD9-81ED-4DB2-BD59-A6C34878D82A}">
                    <a16:rowId xmlns:a16="http://schemas.microsoft.com/office/drawing/2014/main" val="58238060"/>
                  </a:ext>
                </a:extLst>
              </a:tr>
              <a:tr h="493404">
                <a:tc>
                  <a:txBody>
                    <a:bodyPr/>
                    <a:lstStyle/>
                    <a:p>
                      <a:pPr algn="ctr" rtl="0">
                        <a:buNone/>
                      </a:pPr>
                      <a:r>
                        <a:rPr lang="en-US" sz="1400" b="1" kern="1200" dirty="0">
                          <a:solidFill>
                            <a:srgbClr val="1F1F1F"/>
                          </a:solidFill>
                          <a:effectLst/>
                          <a:latin typeface="+mn-lt"/>
                          <a:ea typeface="+mn-ea"/>
                          <a:cs typeface="+mn-cs"/>
                        </a:rPr>
                        <a:t>Rule 10</a:t>
                      </a:r>
                    </a:p>
                  </a:txBody>
                  <a:tcPr marL="53738" marR="53738" marT="35825" marB="35825" anchor="ctr"/>
                </a:tc>
                <a:tc>
                  <a:txBody>
                    <a:bodyPr/>
                    <a:lstStyle/>
                    <a:p>
                      <a:pPr algn="ctr" rtl="0">
                        <a:buNone/>
                      </a:pPr>
                      <a:r>
                        <a:rPr lang="en-US" sz="1400" b="1" kern="1200" dirty="0">
                          <a:solidFill>
                            <a:srgbClr val="1F1F1F"/>
                          </a:solidFill>
                          <a:effectLst/>
                          <a:latin typeface="+mn-lt"/>
                          <a:ea typeface="+mn-ea"/>
                          <a:cs typeface="+mn-cs"/>
                        </a:rPr>
                        <a:t>Ordering</a:t>
                      </a:r>
                    </a:p>
                  </a:txBody>
                  <a:tcPr marL="53738" marR="53738" marT="35825" marB="35825" anchor="ctr"/>
                </a:tc>
                <a:tc>
                  <a:txBody>
                    <a:bodyPr/>
                    <a:lstStyle/>
                    <a:p>
                      <a:pPr rtl="0">
                        <a:buNone/>
                      </a:pPr>
                      <a:r>
                        <a:rPr lang="en-US" sz="1400" kern="1200" dirty="0">
                          <a:solidFill>
                            <a:srgbClr val="1F1F1F"/>
                          </a:solidFill>
                          <a:effectLst/>
                          <a:latin typeface="+mn-lt"/>
                          <a:ea typeface="+mn-ea"/>
                          <a:cs typeface="+mn-cs"/>
                        </a:rPr>
                        <a:t>Show the "winner" on the </a:t>
                      </a:r>
                      <a:r>
                        <a:rPr lang="en-US" sz="1400" kern="1200">
                          <a:solidFill>
                            <a:srgbClr val="1F1F1F"/>
                          </a:solidFill>
                          <a:effectLst/>
                          <a:latin typeface="+mn-lt"/>
                          <a:ea typeface="+mn-ea"/>
                          <a:cs typeface="+mn-cs"/>
                        </a:rPr>
                        <a:t>far left.</a:t>
                      </a:r>
                      <a:endParaRPr lang="en-US" sz="1400" kern="1200" dirty="0">
                        <a:solidFill>
                          <a:srgbClr val="1F1F1F"/>
                        </a:solidFill>
                        <a:effectLst/>
                        <a:latin typeface="+mn-lt"/>
                        <a:ea typeface="+mn-ea"/>
                        <a:cs typeface="+mn-cs"/>
                      </a:endParaRPr>
                    </a:p>
                  </a:txBody>
                  <a:tcPr marL="53738" marR="53738" marT="35825" marB="35825" anchor="ctr"/>
                </a:tc>
                <a:extLst>
                  <a:ext uri="{0D108BD9-81ED-4DB2-BD59-A6C34878D82A}">
                    <a16:rowId xmlns:a16="http://schemas.microsoft.com/office/drawing/2014/main" val="975447015"/>
                  </a:ext>
                </a:extLst>
              </a:tr>
            </a:tbl>
          </a:graphicData>
        </a:graphic>
      </p:graphicFrame>
    </p:spTree>
    <p:extLst>
      <p:ext uri="{BB962C8B-B14F-4D97-AF65-F5344CB8AC3E}">
        <p14:creationId xmlns:p14="http://schemas.microsoft.com/office/powerpoint/2010/main" val="4566459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E696C-9B13-DE9C-67C1-FEFFAB35F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008EB-9A30-08B4-EFB1-F9BF3B4B6D88}"/>
              </a:ext>
            </a:extLst>
          </p:cNvPr>
          <p:cNvSpPr>
            <a:spLocks noGrp="1"/>
          </p:cNvSpPr>
          <p:nvPr>
            <p:ph type="title"/>
          </p:nvPr>
        </p:nvSpPr>
        <p:spPr/>
        <p:txBody>
          <a:bodyPr>
            <a:normAutofit fontScale="90000"/>
          </a:bodyPr>
          <a:lstStyle/>
          <a:p>
            <a:r>
              <a:rPr lang="en-US" dirty="0"/>
              <a:t>How to Draw a column chart? (our guidelines)</a:t>
            </a:r>
            <a:endParaRPr lang="en-EG" dirty="0"/>
          </a:p>
        </p:txBody>
      </p:sp>
      <p:pic>
        <p:nvPicPr>
          <p:cNvPr id="25602" name="Picture 2">
            <a:extLst>
              <a:ext uri="{FF2B5EF4-FFF2-40B4-BE49-F238E27FC236}">
                <a16:creationId xmlns:a16="http://schemas.microsoft.com/office/drawing/2014/main" id="{AACF818A-6BF4-6A63-8988-E04742D5EF9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30000" y="1568196"/>
            <a:ext cx="6732000" cy="4571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33014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04B553-4CB7-A938-E838-D7562768C96E}"/>
              </a:ext>
            </a:extLst>
          </p:cNvPr>
          <p:cNvSpPr>
            <a:spLocks noGrp="1"/>
          </p:cNvSpPr>
          <p:nvPr>
            <p:ph type="title"/>
          </p:nvPr>
        </p:nvSpPr>
        <p:spPr>
          <a:xfrm>
            <a:off x="704088" y="914399"/>
            <a:ext cx="5239272" cy="1621147"/>
          </a:xfrm>
        </p:spPr>
        <p:txBody>
          <a:bodyPr>
            <a:normAutofit/>
          </a:bodyPr>
          <a:lstStyle/>
          <a:p>
            <a:r>
              <a:rPr lang="en-US" dirty="0"/>
              <a:t>Practical Exercise 1: column chart</a:t>
            </a:r>
            <a:endParaRPr lang="en-EG" dirty="0"/>
          </a:p>
        </p:txBody>
      </p:sp>
      <p:cxnSp>
        <p:nvCxnSpPr>
          <p:cNvPr id="11" name="Straight Connector 1">
            <a:extLst>
              <a:ext uri="{FF2B5EF4-FFF2-40B4-BE49-F238E27FC236}">
                <a16:creationId xmlns:a16="http://schemas.microsoft.com/office/drawing/2014/main" id="{7D3DF08D-8EDA-0FB3-59D9-B692F2ADD1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4324C50-2A55-456A-D0B3-17861EC977BA}"/>
              </a:ext>
            </a:extLst>
          </p:cNvPr>
          <p:cNvSpPr>
            <a:spLocks noGrp="1"/>
          </p:cNvSpPr>
          <p:nvPr>
            <p:ph idx="1"/>
          </p:nvPr>
        </p:nvSpPr>
        <p:spPr>
          <a:xfrm>
            <a:off x="6346176" y="914399"/>
            <a:ext cx="5138688" cy="5248657"/>
          </a:xfrm>
        </p:spPr>
        <p:txBody>
          <a:bodyPr>
            <a:normAutofit/>
          </a:bodyPr>
          <a:lstStyle/>
          <a:p>
            <a:pPr marL="0" indent="0">
              <a:buNone/>
            </a:pPr>
            <a:r>
              <a:rPr lang="en-US" b="1" dirty="0"/>
              <a:t>1. The Task</a:t>
            </a:r>
          </a:p>
          <a:p>
            <a:pPr marL="0" indent="0" algn="just">
              <a:buNone/>
            </a:pPr>
            <a:r>
              <a:rPr lang="en-US" dirty="0"/>
              <a:t>Perform a </a:t>
            </a:r>
            <a:r>
              <a:rPr lang="en-US" b="1" dirty="0"/>
              <a:t>Categorical vs Numerical Bivariate Analysis</a:t>
            </a:r>
            <a:r>
              <a:rPr lang="en-US" dirty="0"/>
              <a:t> to compare the performance of different sales branches. You must determine which branch is the top performer.</a:t>
            </a:r>
          </a:p>
          <a:p>
            <a:endParaRPr lang="en-US" dirty="0"/>
          </a:p>
          <a:p>
            <a:pPr marL="0" indent="0">
              <a:buNone/>
            </a:pPr>
            <a:r>
              <a:rPr lang="en-US" b="1" dirty="0"/>
              <a:t>2. The Dataset</a:t>
            </a:r>
          </a:p>
          <a:p>
            <a:pPr marL="0" indent="0" algn="just">
              <a:buNone/>
            </a:pPr>
            <a:r>
              <a:rPr lang="en-US" dirty="0"/>
              <a:t>The following table shows the </a:t>
            </a:r>
            <a:r>
              <a:rPr lang="en-US" b="1" dirty="0"/>
              <a:t>magnitude</a:t>
            </a:r>
            <a:r>
              <a:rPr lang="en-US" dirty="0"/>
              <a:t> (the size or extent) of sales across four different locations. In this context, the sales figure is a </a:t>
            </a:r>
            <a:r>
              <a:rPr lang="en-US" b="1" dirty="0"/>
              <a:t>scalar</a:t>
            </a:r>
            <a:r>
              <a:rPr lang="en-US" dirty="0"/>
              <a:t> quantity for the fiscal year.</a:t>
            </a:r>
          </a:p>
          <a:p>
            <a:endParaRPr lang="en-US" dirty="0"/>
          </a:p>
          <a:p>
            <a:endParaRPr lang="en-EG" dirty="0"/>
          </a:p>
        </p:txBody>
      </p:sp>
      <p:graphicFrame>
        <p:nvGraphicFramePr>
          <p:cNvPr id="4" name="Table 3">
            <a:extLst>
              <a:ext uri="{FF2B5EF4-FFF2-40B4-BE49-F238E27FC236}">
                <a16:creationId xmlns:a16="http://schemas.microsoft.com/office/drawing/2014/main" id="{6A149AAA-5098-507E-C3E6-0678952C1578}"/>
              </a:ext>
            </a:extLst>
          </p:cNvPr>
          <p:cNvGraphicFramePr>
            <a:graphicFrameLocks noGrp="1"/>
          </p:cNvGraphicFramePr>
          <p:nvPr>
            <p:extLst>
              <p:ext uri="{D42A27DB-BD31-4B8C-83A1-F6EECF244321}">
                <p14:modId xmlns:p14="http://schemas.microsoft.com/office/powerpoint/2010/main" val="1654109309"/>
              </p:ext>
            </p:extLst>
          </p:nvPr>
        </p:nvGraphicFramePr>
        <p:xfrm>
          <a:off x="804672" y="3197288"/>
          <a:ext cx="5138688" cy="2440560"/>
        </p:xfrm>
        <a:graphic>
          <a:graphicData uri="http://schemas.openxmlformats.org/drawingml/2006/table">
            <a:tbl>
              <a:tblPr firstRow="1" bandRow="1">
                <a:tableStyleId>{69012ECD-51FC-41F1-AA8D-1B2483CD663E}</a:tableStyleId>
              </a:tblPr>
              <a:tblGrid>
                <a:gridCol w="2468992">
                  <a:extLst>
                    <a:ext uri="{9D8B030D-6E8A-4147-A177-3AD203B41FA5}">
                      <a16:colId xmlns:a16="http://schemas.microsoft.com/office/drawing/2014/main" val="2656422826"/>
                    </a:ext>
                  </a:extLst>
                </a:gridCol>
                <a:gridCol w="2669696">
                  <a:extLst>
                    <a:ext uri="{9D8B030D-6E8A-4147-A177-3AD203B41FA5}">
                      <a16:colId xmlns:a16="http://schemas.microsoft.com/office/drawing/2014/main" val="1676281731"/>
                    </a:ext>
                  </a:extLst>
                </a:gridCol>
              </a:tblGrid>
              <a:tr h="488112">
                <a:tc>
                  <a:txBody>
                    <a:bodyPr/>
                    <a:lstStyle/>
                    <a:p>
                      <a:pPr rtl="0">
                        <a:buNone/>
                      </a:pPr>
                      <a:r>
                        <a:rPr lang="en-US" sz="1900" b="1" dirty="0">
                          <a:solidFill>
                            <a:srgbClr val="1F1F1F"/>
                          </a:solidFill>
                          <a:effectLst/>
                        </a:rPr>
                        <a:t>Branch</a:t>
                      </a:r>
                      <a:endParaRPr lang="en-US" sz="1900" dirty="0">
                        <a:solidFill>
                          <a:srgbClr val="1F1F1F"/>
                        </a:solidFill>
                        <a:effectLst/>
                        <a:latin typeface="Google Sans Text"/>
                      </a:endParaRPr>
                    </a:p>
                  </a:txBody>
                  <a:tcPr marL="120422" marR="120422" marT="80282" marB="80282" anchor="ctr">
                    <a:solidFill>
                      <a:schemeClr val="accent5">
                        <a:lumMod val="20000"/>
                        <a:lumOff val="80000"/>
                      </a:schemeClr>
                    </a:solidFill>
                  </a:tcPr>
                </a:tc>
                <a:tc>
                  <a:txBody>
                    <a:bodyPr/>
                    <a:lstStyle/>
                    <a:p>
                      <a:pPr rtl="0">
                        <a:buNone/>
                      </a:pPr>
                      <a:r>
                        <a:rPr lang="en-US" sz="1900" b="1" dirty="0">
                          <a:solidFill>
                            <a:srgbClr val="1F1F1F"/>
                          </a:solidFill>
                          <a:effectLst/>
                        </a:rPr>
                        <a:t>Sales Volume (USD)</a:t>
                      </a:r>
                      <a:endParaRPr lang="en-US" sz="1900" dirty="0">
                        <a:solidFill>
                          <a:srgbClr val="1F1F1F"/>
                        </a:solidFill>
                        <a:effectLst/>
                        <a:latin typeface="Google Sans Text"/>
                      </a:endParaRPr>
                    </a:p>
                  </a:txBody>
                  <a:tcPr marL="120422" marR="120422" marT="80282" marB="80282" anchor="ctr">
                    <a:solidFill>
                      <a:schemeClr val="accent5">
                        <a:lumMod val="20000"/>
                        <a:lumOff val="80000"/>
                      </a:schemeClr>
                    </a:solidFill>
                  </a:tcPr>
                </a:tc>
                <a:extLst>
                  <a:ext uri="{0D108BD9-81ED-4DB2-BD59-A6C34878D82A}">
                    <a16:rowId xmlns:a16="http://schemas.microsoft.com/office/drawing/2014/main" val="1053904991"/>
                  </a:ext>
                </a:extLst>
              </a:tr>
              <a:tr h="488112">
                <a:tc>
                  <a:txBody>
                    <a:bodyPr/>
                    <a:lstStyle/>
                    <a:p>
                      <a:pPr rtl="0">
                        <a:buNone/>
                      </a:pPr>
                      <a:r>
                        <a:rPr lang="en-US" sz="1900">
                          <a:solidFill>
                            <a:srgbClr val="1F1F1F"/>
                          </a:solidFill>
                          <a:effectLst/>
                        </a:rPr>
                        <a:t>North Office</a:t>
                      </a:r>
                      <a:endParaRPr lang="en-US" sz="1900">
                        <a:solidFill>
                          <a:srgbClr val="1F1F1F"/>
                        </a:solidFill>
                        <a:effectLst/>
                        <a:latin typeface="Google Sans Text"/>
                      </a:endParaRPr>
                    </a:p>
                  </a:txBody>
                  <a:tcPr marL="120422" marR="120422" marT="80282" marB="80282" anchor="ctr"/>
                </a:tc>
                <a:tc>
                  <a:txBody>
                    <a:bodyPr/>
                    <a:lstStyle/>
                    <a:p>
                      <a:pPr algn="ctr" rtl="0">
                        <a:buNone/>
                      </a:pPr>
                      <a:r>
                        <a:rPr lang="en-EG" sz="1900" dirty="0">
                          <a:solidFill>
                            <a:srgbClr val="1F1F1F"/>
                          </a:solidFill>
                          <a:effectLst/>
                        </a:rPr>
                        <a:t>420,000</a:t>
                      </a:r>
                      <a:endParaRPr lang="en-EG" sz="1900" dirty="0">
                        <a:solidFill>
                          <a:srgbClr val="1F1F1F"/>
                        </a:solidFill>
                        <a:effectLst/>
                        <a:latin typeface="Google Sans Text"/>
                      </a:endParaRPr>
                    </a:p>
                  </a:txBody>
                  <a:tcPr marL="120422" marR="120422" marT="80282" marB="80282" anchor="ctr"/>
                </a:tc>
                <a:extLst>
                  <a:ext uri="{0D108BD9-81ED-4DB2-BD59-A6C34878D82A}">
                    <a16:rowId xmlns:a16="http://schemas.microsoft.com/office/drawing/2014/main" val="3532351538"/>
                  </a:ext>
                </a:extLst>
              </a:tr>
              <a:tr h="488112">
                <a:tc>
                  <a:txBody>
                    <a:bodyPr/>
                    <a:lstStyle/>
                    <a:p>
                      <a:pPr rtl="0">
                        <a:buNone/>
                      </a:pPr>
                      <a:r>
                        <a:rPr lang="en-US" sz="1900">
                          <a:solidFill>
                            <a:srgbClr val="1F1F1F"/>
                          </a:solidFill>
                          <a:effectLst/>
                        </a:rPr>
                        <a:t>East Office</a:t>
                      </a:r>
                      <a:endParaRPr lang="en-US" sz="1900">
                        <a:solidFill>
                          <a:srgbClr val="1F1F1F"/>
                        </a:solidFill>
                        <a:effectLst/>
                        <a:latin typeface="Google Sans Text"/>
                      </a:endParaRPr>
                    </a:p>
                  </a:txBody>
                  <a:tcPr marL="120422" marR="120422" marT="80282" marB="80282" anchor="ctr"/>
                </a:tc>
                <a:tc>
                  <a:txBody>
                    <a:bodyPr/>
                    <a:lstStyle/>
                    <a:p>
                      <a:pPr algn="ctr" rtl="0">
                        <a:buNone/>
                      </a:pPr>
                      <a:r>
                        <a:rPr lang="en-EG" sz="1900" dirty="0">
                          <a:solidFill>
                            <a:srgbClr val="1F1F1F"/>
                          </a:solidFill>
                          <a:effectLst/>
                        </a:rPr>
                        <a:t>580,000</a:t>
                      </a:r>
                      <a:endParaRPr lang="en-EG" sz="1900" dirty="0">
                        <a:solidFill>
                          <a:srgbClr val="1F1F1F"/>
                        </a:solidFill>
                        <a:effectLst/>
                        <a:latin typeface="Google Sans Text"/>
                      </a:endParaRPr>
                    </a:p>
                  </a:txBody>
                  <a:tcPr marL="120422" marR="120422" marT="80282" marB="80282" anchor="ctr"/>
                </a:tc>
                <a:extLst>
                  <a:ext uri="{0D108BD9-81ED-4DB2-BD59-A6C34878D82A}">
                    <a16:rowId xmlns:a16="http://schemas.microsoft.com/office/drawing/2014/main" val="2889782536"/>
                  </a:ext>
                </a:extLst>
              </a:tr>
              <a:tr h="488112">
                <a:tc>
                  <a:txBody>
                    <a:bodyPr/>
                    <a:lstStyle/>
                    <a:p>
                      <a:pPr rtl="0">
                        <a:buNone/>
                      </a:pPr>
                      <a:r>
                        <a:rPr lang="en-US" sz="1900">
                          <a:solidFill>
                            <a:srgbClr val="1F1F1F"/>
                          </a:solidFill>
                          <a:effectLst/>
                        </a:rPr>
                        <a:t>South Office</a:t>
                      </a:r>
                      <a:endParaRPr lang="en-US" sz="1900">
                        <a:solidFill>
                          <a:srgbClr val="1F1F1F"/>
                        </a:solidFill>
                        <a:effectLst/>
                        <a:latin typeface="Google Sans Text"/>
                      </a:endParaRPr>
                    </a:p>
                  </a:txBody>
                  <a:tcPr marL="120422" marR="120422" marT="80282" marB="80282" anchor="ctr"/>
                </a:tc>
                <a:tc>
                  <a:txBody>
                    <a:bodyPr/>
                    <a:lstStyle/>
                    <a:p>
                      <a:pPr algn="ctr" rtl="0">
                        <a:buNone/>
                      </a:pPr>
                      <a:r>
                        <a:rPr lang="en-EG" sz="1900" dirty="0">
                          <a:solidFill>
                            <a:srgbClr val="1F1F1F"/>
                          </a:solidFill>
                          <a:effectLst/>
                        </a:rPr>
                        <a:t>310,000</a:t>
                      </a:r>
                      <a:endParaRPr lang="en-EG" sz="1900" dirty="0">
                        <a:solidFill>
                          <a:srgbClr val="1F1F1F"/>
                        </a:solidFill>
                        <a:effectLst/>
                        <a:latin typeface="Google Sans Text"/>
                      </a:endParaRPr>
                    </a:p>
                  </a:txBody>
                  <a:tcPr marL="120422" marR="120422" marT="80282" marB="80282" anchor="ctr"/>
                </a:tc>
                <a:extLst>
                  <a:ext uri="{0D108BD9-81ED-4DB2-BD59-A6C34878D82A}">
                    <a16:rowId xmlns:a16="http://schemas.microsoft.com/office/drawing/2014/main" val="1366374085"/>
                  </a:ext>
                </a:extLst>
              </a:tr>
              <a:tr h="488112">
                <a:tc>
                  <a:txBody>
                    <a:bodyPr/>
                    <a:lstStyle/>
                    <a:p>
                      <a:pPr rtl="0">
                        <a:buNone/>
                      </a:pPr>
                      <a:r>
                        <a:rPr lang="en-US" sz="1900">
                          <a:solidFill>
                            <a:srgbClr val="1F1F1F"/>
                          </a:solidFill>
                          <a:effectLst/>
                        </a:rPr>
                        <a:t>West Office</a:t>
                      </a:r>
                      <a:endParaRPr lang="en-US" sz="1900">
                        <a:solidFill>
                          <a:srgbClr val="1F1F1F"/>
                        </a:solidFill>
                        <a:effectLst/>
                        <a:latin typeface="Google Sans Text"/>
                      </a:endParaRPr>
                    </a:p>
                  </a:txBody>
                  <a:tcPr marL="120422" marR="120422" marT="80282" marB="80282" anchor="ctr"/>
                </a:tc>
                <a:tc>
                  <a:txBody>
                    <a:bodyPr/>
                    <a:lstStyle/>
                    <a:p>
                      <a:pPr algn="ctr" rtl="0">
                        <a:buNone/>
                      </a:pPr>
                      <a:r>
                        <a:rPr lang="en-EG" sz="1900" dirty="0">
                          <a:solidFill>
                            <a:srgbClr val="1F1F1F"/>
                          </a:solidFill>
                          <a:effectLst/>
                        </a:rPr>
                        <a:t>490,000</a:t>
                      </a:r>
                      <a:endParaRPr lang="en-EG" sz="1900" dirty="0">
                        <a:solidFill>
                          <a:srgbClr val="1F1F1F"/>
                        </a:solidFill>
                        <a:effectLst/>
                        <a:latin typeface="Google Sans Text"/>
                      </a:endParaRPr>
                    </a:p>
                  </a:txBody>
                  <a:tcPr marL="120422" marR="120422" marT="80282" marB="80282" anchor="ctr"/>
                </a:tc>
                <a:extLst>
                  <a:ext uri="{0D108BD9-81ED-4DB2-BD59-A6C34878D82A}">
                    <a16:rowId xmlns:a16="http://schemas.microsoft.com/office/drawing/2014/main" val="3027289736"/>
                  </a:ext>
                </a:extLst>
              </a:tr>
            </a:tbl>
          </a:graphicData>
        </a:graphic>
      </p:graphicFrame>
    </p:spTree>
    <p:extLst>
      <p:ext uri="{BB962C8B-B14F-4D97-AF65-F5344CB8AC3E}">
        <p14:creationId xmlns:p14="http://schemas.microsoft.com/office/powerpoint/2010/main" val="183843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3D6E93-E3D0-C7BA-F4D3-5E28BFDC734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E4709D3-5C1D-4821-90DE-20ACC3B99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1E932D-D2EF-8BBF-A745-26F37F4DCD04}"/>
              </a:ext>
            </a:extLst>
          </p:cNvPr>
          <p:cNvSpPr>
            <a:spLocks noGrp="1"/>
          </p:cNvSpPr>
          <p:nvPr>
            <p:ph type="title"/>
          </p:nvPr>
        </p:nvSpPr>
        <p:spPr>
          <a:xfrm>
            <a:off x="704088" y="914399"/>
            <a:ext cx="5239272" cy="1621147"/>
          </a:xfrm>
        </p:spPr>
        <p:txBody>
          <a:bodyPr>
            <a:normAutofit/>
          </a:bodyPr>
          <a:lstStyle/>
          <a:p>
            <a:r>
              <a:rPr lang="en-US" dirty="0"/>
              <a:t>Practical Exercise 1: column chart</a:t>
            </a:r>
            <a:endParaRPr lang="en-EG" dirty="0"/>
          </a:p>
        </p:txBody>
      </p:sp>
      <p:cxnSp>
        <p:nvCxnSpPr>
          <p:cNvPr id="11" name="Straight Connector 1">
            <a:extLst>
              <a:ext uri="{FF2B5EF4-FFF2-40B4-BE49-F238E27FC236}">
                <a16:creationId xmlns:a16="http://schemas.microsoft.com/office/drawing/2014/main" id="{23C460CE-3F53-0CA8-4759-001F4E67E3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931B353-FDF8-89C5-F52D-69EDF1413212}"/>
              </a:ext>
            </a:extLst>
          </p:cNvPr>
          <p:cNvSpPr>
            <a:spLocks noGrp="1"/>
          </p:cNvSpPr>
          <p:nvPr>
            <p:ph idx="1"/>
          </p:nvPr>
        </p:nvSpPr>
        <p:spPr>
          <a:xfrm>
            <a:off x="6346176" y="914399"/>
            <a:ext cx="5138688" cy="5248657"/>
          </a:xfrm>
        </p:spPr>
        <p:txBody>
          <a:bodyPr>
            <a:normAutofit/>
          </a:bodyPr>
          <a:lstStyle/>
          <a:p>
            <a:pPr marL="0" indent="0">
              <a:buNone/>
            </a:pPr>
            <a:r>
              <a:rPr lang="en-US" b="1" dirty="0"/>
              <a:t>3. The Audience Question</a:t>
            </a:r>
          </a:p>
          <a:p>
            <a:pPr marL="0" indent="0" algn="just">
              <a:buNone/>
            </a:pPr>
            <a:r>
              <a:rPr lang="en-US" dirty="0"/>
              <a:t>"Based on the data provided, which branch reached the </a:t>
            </a:r>
            <a:r>
              <a:rPr lang="en-US" b="1" dirty="0"/>
              <a:t>Maximum</a:t>
            </a:r>
            <a:r>
              <a:rPr lang="en-US" dirty="0"/>
              <a:t> sales volume for the fiscal year?”</a:t>
            </a:r>
          </a:p>
          <a:p>
            <a:endParaRPr lang="en-US" dirty="0"/>
          </a:p>
          <a:p>
            <a:pPr marL="0" indent="0" algn="just">
              <a:buNone/>
            </a:pPr>
            <a:r>
              <a:rPr lang="en-US" b="1" u="sng" dirty="0"/>
              <a:t>Draw the most accurate visualization possible to answer the audience's question and follow the visualization guidelines.</a:t>
            </a:r>
          </a:p>
          <a:p>
            <a:endParaRPr lang="en-EG" dirty="0"/>
          </a:p>
        </p:txBody>
      </p:sp>
      <p:graphicFrame>
        <p:nvGraphicFramePr>
          <p:cNvPr id="4" name="Table 3">
            <a:extLst>
              <a:ext uri="{FF2B5EF4-FFF2-40B4-BE49-F238E27FC236}">
                <a16:creationId xmlns:a16="http://schemas.microsoft.com/office/drawing/2014/main" id="{FF615281-9EFF-D629-333F-2C714C8E567A}"/>
              </a:ext>
            </a:extLst>
          </p:cNvPr>
          <p:cNvGraphicFramePr>
            <a:graphicFrameLocks noGrp="1"/>
          </p:cNvGraphicFramePr>
          <p:nvPr>
            <p:extLst>
              <p:ext uri="{D42A27DB-BD31-4B8C-83A1-F6EECF244321}">
                <p14:modId xmlns:p14="http://schemas.microsoft.com/office/powerpoint/2010/main" val="177722654"/>
              </p:ext>
            </p:extLst>
          </p:nvPr>
        </p:nvGraphicFramePr>
        <p:xfrm>
          <a:off x="804672" y="3197288"/>
          <a:ext cx="5138688" cy="2440560"/>
        </p:xfrm>
        <a:graphic>
          <a:graphicData uri="http://schemas.openxmlformats.org/drawingml/2006/table">
            <a:tbl>
              <a:tblPr firstRow="1" bandRow="1">
                <a:tableStyleId>{69012ECD-51FC-41F1-AA8D-1B2483CD663E}</a:tableStyleId>
              </a:tblPr>
              <a:tblGrid>
                <a:gridCol w="2468992">
                  <a:extLst>
                    <a:ext uri="{9D8B030D-6E8A-4147-A177-3AD203B41FA5}">
                      <a16:colId xmlns:a16="http://schemas.microsoft.com/office/drawing/2014/main" val="2656422826"/>
                    </a:ext>
                  </a:extLst>
                </a:gridCol>
                <a:gridCol w="2669696">
                  <a:extLst>
                    <a:ext uri="{9D8B030D-6E8A-4147-A177-3AD203B41FA5}">
                      <a16:colId xmlns:a16="http://schemas.microsoft.com/office/drawing/2014/main" val="1676281731"/>
                    </a:ext>
                  </a:extLst>
                </a:gridCol>
              </a:tblGrid>
              <a:tr h="488112">
                <a:tc>
                  <a:txBody>
                    <a:bodyPr/>
                    <a:lstStyle/>
                    <a:p>
                      <a:pPr rtl="0">
                        <a:buNone/>
                      </a:pPr>
                      <a:r>
                        <a:rPr lang="en-US" sz="1900" b="1" dirty="0">
                          <a:solidFill>
                            <a:srgbClr val="1F1F1F"/>
                          </a:solidFill>
                          <a:effectLst/>
                        </a:rPr>
                        <a:t>Branch</a:t>
                      </a:r>
                      <a:endParaRPr lang="en-US" sz="1900" dirty="0">
                        <a:solidFill>
                          <a:srgbClr val="1F1F1F"/>
                        </a:solidFill>
                        <a:effectLst/>
                        <a:latin typeface="Google Sans Text"/>
                      </a:endParaRPr>
                    </a:p>
                  </a:txBody>
                  <a:tcPr marL="120422" marR="120422" marT="80282" marB="80282" anchor="ctr">
                    <a:solidFill>
                      <a:schemeClr val="accent5">
                        <a:lumMod val="20000"/>
                        <a:lumOff val="80000"/>
                      </a:schemeClr>
                    </a:solidFill>
                  </a:tcPr>
                </a:tc>
                <a:tc>
                  <a:txBody>
                    <a:bodyPr/>
                    <a:lstStyle/>
                    <a:p>
                      <a:pPr rtl="0">
                        <a:buNone/>
                      </a:pPr>
                      <a:r>
                        <a:rPr lang="en-US" sz="1900" b="1" dirty="0">
                          <a:solidFill>
                            <a:srgbClr val="1F1F1F"/>
                          </a:solidFill>
                          <a:effectLst/>
                        </a:rPr>
                        <a:t>Sales Volume (USD)</a:t>
                      </a:r>
                      <a:endParaRPr lang="en-US" sz="1900" dirty="0">
                        <a:solidFill>
                          <a:srgbClr val="1F1F1F"/>
                        </a:solidFill>
                        <a:effectLst/>
                        <a:latin typeface="Google Sans Text"/>
                      </a:endParaRPr>
                    </a:p>
                  </a:txBody>
                  <a:tcPr marL="120422" marR="120422" marT="80282" marB="80282" anchor="ctr">
                    <a:solidFill>
                      <a:schemeClr val="accent5">
                        <a:lumMod val="20000"/>
                        <a:lumOff val="80000"/>
                      </a:schemeClr>
                    </a:solidFill>
                  </a:tcPr>
                </a:tc>
                <a:extLst>
                  <a:ext uri="{0D108BD9-81ED-4DB2-BD59-A6C34878D82A}">
                    <a16:rowId xmlns:a16="http://schemas.microsoft.com/office/drawing/2014/main" val="1053904991"/>
                  </a:ext>
                </a:extLst>
              </a:tr>
              <a:tr h="488112">
                <a:tc>
                  <a:txBody>
                    <a:bodyPr/>
                    <a:lstStyle/>
                    <a:p>
                      <a:pPr rtl="0">
                        <a:buNone/>
                      </a:pPr>
                      <a:r>
                        <a:rPr lang="en-US" sz="1900">
                          <a:solidFill>
                            <a:srgbClr val="1F1F1F"/>
                          </a:solidFill>
                          <a:effectLst/>
                        </a:rPr>
                        <a:t>North Office</a:t>
                      </a:r>
                      <a:endParaRPr lang="en-US" sz="1900">
                        <a:solidFill>
                          <a:srgbClr val="1F1F1F"/>
                        </a:solidFill>
                        <a:effectLst/>
                        <a:latin typeface="Google Sans Text"/>
                      </a:endParaRPr>
                    </a:p>
                  </a:txBody>
                  <a:tcPr marL="120422" marR="120422" marT="80282" marB="80282" anchor="ctr"/>
                </a:tc>
                <a:tc>
                  <a:txBody>
                    <a:bodyPr/>
                    <a:lstStyle/>
                    <a:p>
                      <a:pPr algn="ctr" rtl="0">
                        <a:buNone/>
                      </a:pPr>
                      <a:r>
                        <a:rPr lang="en-EG" sz="1900" dirty="0">
                          <a:solidFill>
                            <a:srgbClr val="1F1F1F"/>
                          </a:solidFill>
                          <a:effectLst/>
                        </a:rPr>
                        <a:t>420,000</a:t>
                      </a:r>
                      <a:endParaRPr lang="en-EG" sz="1900" dirty="0">
                        <a:solidFill>
                          <a:srgbClr val="1F1F1F"/>
                        </a:solidFill>
                        <a:effectLst/>
                        <a:latin typeface="Google Sans Text"/>
                      </a:endParaRPr>
                    </a:p>
                  </a:txBody>
                  <a:tcPr marL="120422" marR="120422" marT="80282" marB="80282" anchor="ctr"/>
                </a:tc>
                <a:extLst>
                  <a:ext uri="{0D108BD9-81ED-4DB2-BD59-A6C34878D82A}">
                    <a16:rowId xmlns:a16="http://schemas.microsoft.com/office/drawing/2014/main" val="3532351538"/>
                  </a:ext>
                </a:extLst>
              </a:tr>
              <a:tr h="488112">
                <a:tc>
                  <a:txBody>
                    <a:bodyPr/>
                    <a:lstStyle/>
                    <a:p>
                      <a:pPr rtl="0">
                        <a:buNone/>
                      </a:pPr>
                      <a:r>
                        <a:rPr lang="en-US" sz="1900">
                          <a:solidFill>
                            <a:srgbClr val="1F1F1F"/>
                          </a:solidFill>
                          <a:effectLst/>
                        </a:rPr>
                        <a:t>East Office</a:t>
                      </a:r>
                      <a:endParaRPr lang="en-US" sz="1900">
                        <a:solidFill>
                          <a:srgbClr val="1F1F1F"/>
                        </a:solidFill>
                        <a:effectLst/>
                        <a:latin typeface="Google Sans Text"/>
                      </a:endParaRPr>
                    </a:p>
                  </a:txBody>
                  <a:tcPr marL="120422" marR="120422" marT="80282" marB="80282" anchor="ctr"/>
                </a:tc>
                <a:tc>
                  <a:txBody>
                    <a:bodyPr/>
                    <a:lstStyle/>
                    <a:p>
                      <a:pPr algn="ctr" rtl="0">
                        <a:buNone/>
                      </a:pPr>
                      <a:r>
                        <a:rPr lang="en-EG" sz="1900" dirty="0">
                          <a:solidFill>
                            <a:srgbClr val="1F1F1F"/>
                          </a:solidFill>
                          <a:effectLst/>
                        </a:rPr>
                        <a:t>580,000</a:t>
                      </a:r>
                      <a:endParaRPr lang="en-EG" sz="1900" dirty="0">
                        <a:solidFill>
                          <a:srgbClr val="1F1F1F"/>
                        </a:solidFill>
                        <a:effectLst/>
                        <a:latin typeface="Google Sans Text"/>
                      </a:endParaRPr>
                    </a:p>
                  </a:txBody>
                  <a:tcPr marL="120422" marR="120422" marT="80282" marB="80282" anchor="ctr"/>
                </a:tc>
                <a:extLst>
                  <a:ext uri="{0D108BD9-81ED-4DB2-BD59-A6C34878D82A}">
                    <a16:rowId xmlns:a16="http://schemas.microsoft.com/office/drawing/2014/main" val="2889782536"/>
                  </a:ext>
                </a:extLst>
              </a:tr>
              <a:tr h="488112">
                <a:tc>
                  <a:txBody>
                    <a:bodyPr/>
                    <a:lstStyle/>
                    <a:p>
                      <a:pPr rtl="0">
                        <a:buNone/>
                      </a:pPr>
                      <a:r>
                        <a:rPr lang="en-US" sz="1900">
                          <a:solidFill>
                            <a:srgbClr val="1F1F1F"/>
                          </a:solidFill>
                          <a:effectLst/>
                        </a:rPr>
                        <a:t>South Office</a:t>
                      </a:r>
                      <a:endParaRPr lang="en-US" sz="1900">
                        <a:solidFill>
                          <a:srgbClr val="1F1F1F"/>
                        </a:solidFill>
                        <a:effectLst/>
                        <a:latin typeface="Google Sans Text"/>
                      </a:endParaRPr>
                    </a:p>
                  </a:txBody>
                  <a:tcPr marL="120422" marR="120422" marT="80282" marB="80282" anchor="ctr"/>
                </a:tc>
                <a:tc>
                  <a:txBody>
                    <a:bodyPr/>
                    <a:lstStyle/>
                    <a:p>
                      <a:pPr algn="ctr" rtl="0">
                        <a:buNone/>
                      </a:pPr>
                      <a:r>
                        <a:rPr lang="en-EG" sz="1900" dirty="0">
                          <a:solidFill>
                            <a:srgbClr val="1F1F1F"/>
                          </a:solidFill>
                          <a:effectLst/>
                        </a:rPr>
                        <a:t>310,000</a:t>
                      </a:r>
                      <a:endParaRPr lang="en-EG" sz="1900" dirty="0">
                        <a:solidFill>
                          <a:srgbClr val="1F1F1F"/>
                        </a:solidFill>
                        <a:effectLst/>
                        <a:latin typeface="Google Sans Text"/>
                      </a:endParaRPr>
                    </a:p>
                  </a:txBody>
                  <a:tcPr marL="120422" marR="120422" marT="80282" marB="80282" anchor="ctr"/>
                </a:tc>
                <a:extLst>
                  <a:ext uri="{0D108BD9-81ED-4DB2-BD59-A6C34878D82A}">
                    <a16:rowId xmlns:a16="http://schemas.microsoft.com/office/drawing/2014/main" val="1366374085"/>
                  </a:ext>
                </a:extLst>
              </a:tr>
              <a:tr h="488112">
                <a:tc>
                  <a:txBody>
                    <a:bodyPr/>
                    <a:lstStyle/>
                    <a:p>
                      <a:pPr rtl="0">
                        <a:buNone/>
                      </a:pPr>
                      <a:r>
                        <a:rPr lang="en-US" sz="1900">
                          <a:solidFill>
                            <a:srgbClr val="1F1F1F"/>
                          </a:solidFill>
                          <a:effectLst/>
                        </a:rPr>
                        <a:t>West Office</a:t>
                      </a:r>
                      <a:endParaRPr lang="en-US" sz="1900">
                        <a:solidFill>
                          <a:srgbClr val="1F1F1F"/>
                        </a:solidFill>
                        <a:effectLst/>
                        <a:latin typeface="Google Sans Text"/>
                      </a:endParaRPr>
                    </a:p>
                  </a:txBody>
                  <a:tcPr marL="120422" marR="120422" marT="80282" marB="80282" anchor="ctr"/>
                </a:tc>
                <a:tc>
                  <a:txBody>
                    <a:bodyPr/>
                    <a:lstStyle/>
                    <a:p>
                      <a:pPr algn="ctr" rtl="0">
                        <a:buNone/>
                      </a:pPr>
                      <a:r>
                        <a:rPr lang="en-EG" sz="1900" dirty="0">
                          <a:solidFill>
                            <a:srgbClr val="1F1F1F"/>
                          </a:solidFill>
                          <a:effectLst/>
                        </a:rPr>
                        <a:t>490,000</a:t>
                      </a:r>
                      <a:endParaRPr lang="en-EG" sz="1900" dirty="0">
                        <a:solidFill>
                          <a:srgbClr val="1F1F1F"/>
                        </a:solidFill>
                        <a:effectLst/>
                        <a:latin typeface="Google Sans Text"/>
                      </a:endParaRPr>
                    </a:p>
                  </a:txBody>
                  <a:tcPr marL="120422" marR="120422" marT="80282" marB="80282" anchor="ctr"/>
                </a:tc>
                <a:extLst>
                  <a:ext uri="{0D108BD9-81ED-4DB2-BD59-A6C34878D82A}">
                    <a16:rowId xmlns:a16="http://schemas.microsoft.com/office/drawing/2014/main" val="3027289736"/>
                  </a:ext>
                </a:extLst>
              </a:tr>
            </a:tbl>
          </a:graphicData>
        </a:graphic>
      </p:graphicFrame>
    </p:spTree>
    <p:extLst>
      <p:ext uri="{BB962C8B-B14F-4D97-AF65-F5344CB8AC3E}">
        <p14:creationId xmlns:p14="http://schemas.microsoft.com/office/powerpoint/2010/main" val="14547034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EAD6D-7982-62E0-558A-7E39735F98D0}"/>
              </a:ext>
            </a:extLst>
          </p:cNvPr>
          <p:cNvSpPr>
            <a:spLocks noGrp="1"/>
          </p:cNvSpPr>
          <p:nvPr>
            <p:ph type="title"/>
          </p:nvPr>
        </p:nvSpPr>
        <p:spPr>
          <a:xfrm>
            <a:off x="700635" y="914400"/>
            <a:ext cx="10691265" cy="598714"/>
          </a:xfrm>
        </p:spPr>
        <p:txBody>
          <a:bodyPr>
            <a:normAutofit fontScale="90000"/>
          </a:bodyPr>
          <a:lstStyle/>
          <a:p>
            <a:r>
              <a:rPr lang="en-US" sz="2800" b="1" dirty="0"/>
              <a:t>Answers 1: Categorical vs Numerical Bivariate Analysis Task</a:t>
            </a:r>
            <a:endParaRPr lang="en-EG" sz="2800" dirty="0"/>
          </a:p>
        </p:txBody>
      </p:sp>
      <p:pic>
        <p:nvPicPr>
          <p:cNvPr id="29700" name="Picture 4">
            <a:extLst>
              <a:ext uri="{FF2B5EF4-FFF2-40B4-BE49-F238E27FC236}">
                <a16:creationId xmlns:a16="http://schemas.microsoft.com/office/drawing/2014/main" id="{6352C507-0641-7383-F7A5-7902A166C92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18754" y="1513114"/>
            <a:ext cx="8055026" cy="460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60534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1132DC-8456-29B4-5FD0-B83BA982E3A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0002164-81B5-43DA-930D-0FEBF1E7A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24628B-D4B9-C688-3B13-6BFB8539B542}"/>
              </a:ext>
            </a:extLst>
          </p:cNvPr>
          <p:cNvSpPr>
            <a:spLocks noGrp="1"/>
          </p:cNvSpPr>
          <p:nvPr>
            <p:ph type="title"/>
          </p:nvPr>
        </p:nvSpPr>
        <p:spPr>
          <a:xfrm>
            <a:off x="704088" y="914399"/>
            <a:ext cx="5239272" cy="1621147"/>
          </a:xfrm>
        </p:spPr>
        <p:txBody>
          <a:bodyPr>
            <a:normAutofit/>
          </a:bodyPr>
          <a:lstStyle/>
          <a:p>
            <a:r>
              <a:rPr lang="en-US" dirty="0"/>
              <a:t>Practical Exercise 2: column chart</a:t>
            </a:r>
            <a:endParaRPr lang="en-EG" dirty="0"/>
          </a:p>
        </p:txBody>
      </p:sp>
      <p:cxnSp>
        <p:nvCxnSpPr>
          <p:cNvPr id="11" name="Straight Connector 1">
            <a:extLst>
              <a:ext uri="{FF2B5EF4-FFF2-40B4-BE49-F238E27FC236}">
                <a16:creationId xmlns:a16="http://schemas.microsoft.com/office/drawing/2014/main" id="{F19F5244-C8FB-79EA-DA8C-554EC07F07A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DCB9DB9-FE99-4C7E-DEE0-D50D59A57E42}"/>
              </a:ext>
            </a:extLst>
          </p:cNvPr>
          <p:cNvSpPr>
            <a:spLocks noGrp="1"/>
          </p:cNvSpPr>
          <p:nvPr>
            <p:ph idx="1"/>
          </p:nvPr>
        </p:nvSpPr>
        <p:spPr>
          <a:xfrm>
            <a:off x="6346176" y="914399"/>
            <a:ext cx="5138688" cy="5248657"/>
          </a:xfrm>
        </p:spPr>
        <p:txBody>
          <a:bodyPr>
            <a:normAutofit lnSpcReduction="10000"/>
          </a:bodyPr>
          <a:lstStyle/>
          <a:p>
            <a:pPr marL="0" indent="0">
              <a:buNone/>
            </a:pPr>
            <a:r>
              <a:rPr lang="en-US" b="1" dirty="0"/>
              <a:t>1. The Task</a:t>
            </a:r>
          </a:p>
          <a:p>
            <a:pPr marL="0" indent="0" algn="just">
              <a:buNone/>
            </a:pPr>
            <a:r>
              <a:rPr lang="en-US" dirty="0"/>
              <a:t>Perform a </a:t>
            </a:r>
            <a:r>
              <a:rPr lang="en-US" b="1" dirty="0"/>
              <a:t>Categorical Univariate Analysis</a:t>
            </a:r>
            <a:r>
              <a:rPr lang="en-US" dirty="0"/>
              <a:t> to identify the frequency of different drink orders. Your goal is to help the shop manager identify the </a:t>
            </a:r>
            <a:r>
              <a:rPr lang="en-US" b="1" dirty="0"/>
              <a:t>Least Popular</a:t>
            </a:r>
            <a:r>
              <a:rPr lang="en-US" dirty="0"/>
              <a:t> drink to decide if it should be removed from the menu.</a:t>
            </a:r>
          </a:p>
          <a:p>
            <a:pPr marL="0" indent="0" algn="just">
              <a:buNone/>
            </a:pPr>
            <a:endParaRPr lang="en-US" dirty="0"/>
          </a:p>
          <a:p>
            <a:endParaRPr lang="en-US" dirty="0"/>
          </a:p>
          <a:p>
            <a:pPr marL="0" indent="0">
              <a:buNone/>
            </a:pPr>
            <a:r>
              <a:rPr lang="en-US" b="1" dirty="0"/>
              <a:t>2. The Dataset</a:t>
            </a:r>
          </a:p>
          <a:p>
            <a:pPr marL="0" indent="0" algn="just">
              <a:buNone/>
            </a:pPr>
            <a:r>
              <a:rPr lang="en-US" dirty="0"/>
              <a:t>This table represents the </a:t>
            </a:r>
            <a:r>
              <a:rPr lang="en-US" b="1" dirty="0"/>
              <a:t>count</a:t>
            </a:r>
            <a:r>
              <a:rPr lang="en-US" dirty="0"/>
              <a:t> (frequency) of items sold during the morning shift. Even though there are two columns, the "Count" is simply a summary of the single variable: </a:t>
            </a:r>
            <a:r>
              <a:rPr lang="en-US" i="1" dirty="0"/>
              <a:t>Drink Type.</a:t>
            </a:r>
            <a:endParaRPr lang="en-US" dirty="0"/>
          </a:p>
          <a:p>
            <a:pPr marL="0" indent="0">
              <a:buNone/>
            </a:pPr>
            <a:endParaRPr lang="en-US" dirty="0"/>
          </a:p>
          <a:p>
            <a:endParaRPr lang="en-US" dirty="0"/>
          </a:p>
          <a:p>
            <a:endParaRPr lang="en-EG" dirty="0"/>
          </a:p>
        </p:txBody>
      </p:sp>
      <p:graphicFrame>
        <p:nvGraphicFramePr>
          <p:cNvPr id="5" name="Table 4">
            <a:extLst>
              <a:ext uri="{FF2B5EF4-FFF2-40B4-BE49-F238E27FC236}">
                <a16:creationId xmlns:a16="http://schemas.microsoft.com/office/drawing/2014/main" id="{EB0EA25B-4F34-0BE7-9E67-DCF7C2DF691B}"/>
              </a:ext>
            </a:extLst>
          </p:cNvPr>
          <p:cNvGraphicFramePr>
            <a:graphicFrameLocks noGrp="1"/>
          </p:cNvGraphicFramePr>
          <p:nvPr>
            <p:extLst>
              <p:ext uri="{D42A27DB-BD31-4B8C-83A1-F6EECF244321}">
                <p14:modId xmlns:p14="http://schemas.microsoft.com/office/powerpoint/2010/main" val="3710825641"/>
              </p:ext>
            </p:extLst>
          </p:nvPr>
        </p:nvGraphicFramePr>
        <p:xfrm>
          <a:off x="700088" y="2812415"/>
          <a:ext cx="5138688" cy="2560320"/>
        </p:xfrm>
        <a:graphic>
          <a:graphicData uri="http://schemas.openxmlformats.org/drawingml/2006/table">
            <a:tbl>
              <a:tblPr>
                <a:tableStyleId>{5940675A-B579-460E-94D1-54222C63F5DA}</a:tableStyleId>
              </a:tblPr>
              <a:tblGrid>
                <a:gridCol w="2569344">
                  <a:extLst>
                    <a:ext uri="{9D8B030D-6E8A-4147-A177-3AD203B41FA5}">
                      <a16:colId xmlns:a16="http://schemas.microsoft.com/office/drawing/2014/main" val="932022870"/>
                    </a:ext>
                  </a:extLst>
                </a:gridCol>
                <a:gridCol w="2569344">
                  <a:extLst>
                    <a:ext uri="{9D8B030D-6E8A-4147-A177-3AD203B41FA5}">
                      <a16:colId xmlns:a16="http://schemas.microsoft.com/office/drawing/2014/main" val="2479200127"/>
                    </a:ext>
                  </a:extLst>
                </a:gridCol>
              </a:tblGrid>
              <a:tr h="0">
                <a:tc>
                  <a:txBody>
                    <a:bodyPr/>
                    <a:lstStyle/>
                    <a:p>
                      <a:pPr rtl="0">
                        <a:buNone/>
                      </a:pPr>
                      <a:r>
                        <a:rPr lang="en-US" b="1" dirty="0">
                          <a:solidFill>
                            <a:srgbClr val="1F1F1F"/>
                          </a:solidFill>
                          <a:effectLst/>
                        </a:rPr>
                        <a:t>Drink Type (Category)</a:t>
                      </a:r>
                      <a:endParaRPr lang="en-US" dirty="0">
                        <a:solidFill>
                          <a:srgbClr val="1F1F1F"/>
                        </a:solidFill>
                        <a:effectLst/>
                        <a:latin typeface="Google Sans Text"/>
                      </a:endParaRPr>
                    </a:p>
                  </a:txBody>
                  <a:tcPr marL="114300" marR="114300" marT="76200" marB="76200" anchor="ctr">
                    <a:solidFill>
                      <a:schemeClr val="tx2">
                        <a:lumMod val="10000"/>
                        <a:lumOff val="90000"/>
                      </a:schemeClr>
                    </a:solidFill>
                  </a:tcPr>
                </a:tc>
                <a:tc>
                  <a:txBody>
                    <a:bodyPr/>
                    <a:lstStyle/>
                    <a:p>
                      <a:pPr rtl="0">
                        <a:buNone/>
                      </a:pPr>
                      <a:r>
                        <a:rPr lang="en-US" b="1" dirty="0">
                          <a:solidFill>
                            <a:srgbClr val="1F1F1F"/>
                          </a:solidFill>
                          <a:effectLst/>
                        </a:rPr>
                        <a:t>Count (Frequency)</a:t>
                      </a:r>
                      <a:endParaRPr lang="en-US" dirty="0">
                        <a:solidFill>
                          <a:srgbClr val="1F1F1F"/>
                        </a:solidFill>
                        <a:effectLst/>
                        <a:latin typeface="Google Sans Text"/>
                      </a:endParaRPr>
                    </a:p>
                  </a:txBody>
                  <a:tcPr marL="114300" marR="114300" marT="76200" marB="76200" anchor="ctr">
                    <a:solidFill>
                      <a:schemeClr val="tx2">
                        <a:lumMod val="10000"/>
                        <a:lumOff val="90000"/>
                      </a:schemeClr>
                    </a:solidFill>
                  </a:tcPr>
                </a:tc>
                <a:extLst>
                  <a:ext uri="{0D108BD9-81ED-4DB2-BD59-A6C34878D82A}">
                    <a16:rowId xmlns:a16="http://schemas.microsoft.com/office/drawing/2014/main" val="1149729333"/>
                  </a:ext>
                </a:extLst>
              </a:tr>
              <a:tr h="0">
                <a:tc>
                  <a:txBody>
                    <a:bodyPr/>
                    <a:lstStyle/>
                    <a:p>
                      <a:pPr rtl="0">
                        <a:buNone/>
                      </a:pPr>
                      <a:r>
                        <a:rPr lang="en-US">
                          <a:solidFill>
                            <a:srgbClr val="1F1F1F"/>
                          </a:solidFill>
                          <a:effectLst/>
                        </a:rPr>
                        <a:t>Americano</a:t>
                      </a:r>
                      <a:endParaRPr lang="en-US">
                        <a:solidFill>
                          <a:srgbClr val="1F1F1F"/>
                        </a:solidFill>
                        <a:effectLst/>
                        <a:latin typeface="Google Sans Text"/>
                      </a:endParaRPr>
                    </a:p>
                  </a:txBody>
                  <a:tcPr marL="114300" marR="114300" marT="76200" marB="76200" anchor="ctr"/>
                </a:tc>
                <a:tc>
                  <a:txBody>
                    <a:bodyPr/>
                    <a:lstStyle/>
                    <a:p>
                      <a:pPr algn="ctr" rtl="0">
                        <a:buNone/>
                      </a:pPr>
                      <a:r>
                        <a:rPr lang="en-EG" dirty="0">
                          <a:solidFill>
                            <a:srgbClr val="1F1F1F"/>
                          </a:solidFill>
                          <a:effectLst/>
                        </a:rPr>
                        <a:t>120</a:t>
                      </a:r>
                      <a:endParaRPr lang="en-EG"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4140274295"/>
                  </a:ext>
                </a:extLst>
              </a:tr>
              <a:tr h="0">
                <a:tc>
                  <a:txBody>
                    <a:bodyPr/>
                    <a:lstStyle/>
                    <a:p>
                      <a:pPr rtl="0">
                        <a:buNone/>
                      </a:pPr>
                      <a:r>
                        <a:rPr lang="en-US">
                          <a:solidFill>
                            <a:srgbClr val="1F1F1F"/>
                          </a:solidFill>
                          <a:effectLst/>
                        </a:rPr>
                        <a:t>Latte</a:t>
                      </a:r>
                      <a:endParaRPr lang="en-US">
                        <a:solidFill>
                          <a:srgbClr val="1F1F1F"/>
                        </a:solidFill>
                        <a:effectLst/>
                        <a:latin typeface="Google Sans Text"/>
                      </a:endParaRPr>
                    </a:p>
                  </a:txBody>
                  <a:tcPr marL="114300" marR="114300" marT="76200" marB="76200" anchor="ctr"/>
                </a:tc>
                <a:tc>
                  <a:txBody>
                    <a:bodyPr/>
                    <a:lstStyle/>
                    <a:p>
                      <a:pPr algn="ctr" rtl="0">
                        <a:buNone/>
                      </a:pPr>
                      <a:r>
                        <a:rPr lang="en-EG">
                          <a:solidFill>
                            <a:srgbClr val="1F1F1F"/>
                          </a:solidFill>
                          <a:effectLst/>
                        </a:rPr>
                        <a:t>150</a:t>
                      </a:r>
                      <a:endParaRPr lang="en-EG">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146107725"/>
                  </a:ext>
                </a:extLst>
              </a:tr>
              <a:tr h="0">
                <a:tc>
                  <a:txBody>
                    <a:bodyPr/>
                    <a:lstStyle/>
                    <a:p>
                      <a:pPr rtl="0">
                        <a:buNone/>
                      </a:pPr>
                      <a:r>
                        <a:rPr lang="en-US">
                          <a:solidFill>
                            <a:srgbClr val="1F1F1F"/>
                          </a:solidFill>
                          <a:effectLst/>
                        </a:rPr>
                        <a:t>Cappuccino</a:t>
                      </a:r>
                      <a:endParaRPr lang="en-US">
                        <a:solidFill>
                          <a:srgbClr val="1F1F1F"/>
                        </a:solidFill>
                        <a:effectLst/>
                        <a:latin typeface="Google Sans Text"/>
                      </a:endParaRPr>
                    </a:p>
                  </a:txBody>
                  <a:tcPr marL="114300" marR="114300" marT="76200" marB="76200" anchor="ctr"/>
                </a:tc>
                <a:tc>
                  <a:txBody>
                    <a:bodyPr/>
                    <a:lstStyle/>
                    <a:p>
                      <a:pPr algn="ctr" rtl="0">
                        <a:buNone/>
                      </a:pPr>
                      <a:r>
                        <a:rPr lang="en-EG" dirty="0">
                          <a:solidFill>
                            <a:srgbClr val="1F1F1F"/>
                          </a:solidFill>
                          <a:effectLst/>
                        </a:rPr>
                        <a:t>90</a:t>
                      </a:r>
                      <a:endParaRPr lang="en-EG"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075817785"/>
                  </a:ext>
                </a:extLst>
              </a:tr>
              <a:tr h="0">
                <a:tc>
                  <a:txBody>
                    <a:bodyPr/>
                    <a:lstStyle/>
                    <a:p>
                      <a:pPr rtl="0">
                        <a:buNone/>
                      </a:pPr>
                      <a:r>
                        <a:rPr lang="en-US">
                          <a:solidFill>
                            <a:srgbClr val="1F1F1F"/>
                          </a:solidFill>
                          <a:effectLst/>
                        </a:rPr>
                        <a:t>Matcha</a:t>
                      </a:r>
                      <a:endParaRPr lang="en-US">
                        <a:solidFill>
                          <a:srgbClr val="1F1F1F"/>
                        </a:solidFill>
                        <a:effectLst/>
                        <a:latin typeface="Google Sans Text"/>
                      </a:endParaRPr>
                    </a:p>
                  </a:txBody>
                  <a:tcPr marL="114300" marR="114300" marT="76200" marB="76200" anchor="ctr"/>
                </a:tc>
                <a:tc>
                  <a:txBody>
                    <a:bodyPr/>
                    <a:lstStyle/>
                    <a:p>
                      <a:pPr algn="ctr" rtl="0">
                        <a:buNone/>
                      </a:pPr>
                      <a:r>
                        <a:rPr lang="en-EG" dirty="0">
                          <a:solidFill>
                            <a:srgbClr val="1F1F1F"/>
                          </a:solidFill>
                          <a:effectLst/>
                        </a:rPr>
                        <a:t>30</a:t>
                      </a:r>
                      <a:endParaRPr lang="en-EG"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758203574"/>
                  </a:ext>
                </a:extLst>
              </a:tr>
              <a:tr h="0">
                <a:tc>
                  <a:txBody>
                    <a:bodyPr/>
                    <a:lstStyle/>
                    <a:p>
                      <a:pPr rtl="0">
                        <a:buNone/>
                      </a:pPr>
                      <a:r>
                        <a:rPr lang="en-US" dirty="0">
                          <a:solidFill>
                            <a:srgbClr val="1F1F1F"/>
                          </a:solidFill>
                          <a:effectLst/>
                        </a:rPr>
                        <a:t>Espresso</a:t>
                      </a:r>
                      <a:endParaRPr lang="en-US" dirty="0">
                        <a:solidFill>
                          <a:srgbClr val="1F1F1F"/>
                        </a:solidFill>
                        <a:effectLst/>
                        <a:latin typeface="Google Sans Text"/>
                      </a:endParaRPr>
                    </a:p>
                  </a:txBody>
                  <a:tcPr marL="114300" marR="114300" marT="76200" marB="76200" anchor="ctr"/>
                </a:tc>
                <a:tc>
                  <a:txBody>
                    <a:bodyPr/>
                    <a:lstStyle/>
                    <a:p>
                      <a:pPr algn="ctr" rtl="0">
                        <a:buNone/>
                      </a:pPr>
                      <a:r>
                        <a:rPr lang="en-EG" dirty="0">
                          <a:solidFill>
                            <a:srgbClr val="1F1F1F"/>
                          </a:solidFill>
                          <a:effectLst/>
                        </a:rPr>
                        <a:t>65</a:t>
                      </a:r>
                      <a:endParaRPr lang="en-EG"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905486838"/>
                  </a:ext>
                </a:extLst>
              </a:tr>
            </a:tbl>
          </a:graphicData>
        </a:graphic>
      </p:graphicFrame>
    </p:spTree>
    <p:extLst>
      <p:ext uri="{BB962C8B-B14F-4D97-AF65-F5344CB8AC3E}">
        <p14:creationId xmlns:p14="http://schemas.microsoft.com/office/powerpoint/2010/main" val="28732110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B032A2-2744-0A26-B9AF-CFDAF9B1E0E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69D20F-E206-AFE5-738C-D2B98E0F31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C5CE94-4B1F-D099-0A86-3145D6C33AEF}"/>
              </a:ext>
            </a:extLst>
          </p:cNvPr>
          <p:cNvSpPr>
            <a:spLocks noGrp="1"/>
          </p:cNvSpPr>
          <p:nvPr>
            <p:ph type="title"/>
          </p:nvPr>
        </p:nvSpPr>
        <p:spPr>
          <a:xfrm>
            <a:off x="704088" y="914399"/>
            <a:ext cx="5239272" cy="1621147"/>
          </a:xfrm>
        </p:spPr>
        <p:txBody>
          <a:bodyPr>
            <a:normAutofit/>
          </a:bodyPr>
          <a:lstStyle/>
          <a:p>
            <a:r>
              <a:rPr lang="en-US" dirty="0"/>
              <a:t>Practical Exercise 2: column chart</a:t>
            </a:r>
            <a:endParaRPr lang="en-EG" dirty="0"/>
          </a:p>
        </p:txBody>
      </p:sp>
      <p:cxnSp>
        <p:nvCxnSpPr>
          <p:cNvPr id="11" name="Straight Connector 1">
            <a:extLst>
              <a:ext uri="{FF2B5EF4-FFF2-40B4-BE49-F238E27FC236}">
                <a16:creationId xmlns:a16="http://schemas.microsoft.com/office/drawing/2014/main" id="{F92CC30C-C50D-EF1E-AFB4-EF4B34C15F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8C5CF41-955C-EB7C-59B0-EF39CE404E89}"/>
              </a:ext>
            </a:extLst>
          </p:cNvPr>
          <p:cNvSpPr>
            <a:spLocks noGrp="1"/>
          </p:cNvSpPr>
          <p:nvPr>
            <p:ph idx="1"/>
          </p:nvPr>
        </p:nvSpPr>
        <p:spPr>
          <a:xfrm>
            <a:off x="6346176" y="914399"/>
            <a:ext cx="5138688" cy="5248657"/>
          </a:xfrm>
        </p:spPr>
        <p:txBody>
          <a:bodyPr>
            <a:normAutofit/>
          </a:bodyPr>
          <a:lstStyle/>
          <a:p>
            <a:pPr marL="0" indent="0">
              <a:buNone/>
            </a:pPr>
            <a:r>
              <a:rPr lang="en-US" b="1" dirty="0"/>
              <a:t>3. The Audience Question</a:t>
            </a:r>
          </a:p>
          <a:p>
            <a:pPr marL="0" indent="0" algn="just">
              <a:buNone/>
            </a:pPr>
            <a:r>
              <a:rPr lang="en-US" dirty="0"/>
              <a:t>"Based on the morning shift data, which drink type had the </a:t>
            </a:r>
            <a:r>
              <a:rPr lang="en-US" b="1" dirty="0"/>
              <a:t>Minimum</a:t>
            </a:r>
            <a:r>
              <a:rPr lang="en-US" dirty="0"/>
              <a:t> count, making it our </a:t>
            </a:r>
            <a:r>
              <a:rPr lang="en-US" b="1" dirty="0"/>
              <a:t>least popular</a:t>
            </a:r>
            <a:r>
              <a:rPr lang="en-US" dirty="0"/>
              <a:t> item?"</a:t>
            </a:r>
          </a:p>
          <a:p>
            <a:pPr marL="0" indent="0">
              <a:buNone/>
            </a:pPr>
            <a:endParaRPr lang="en-US" dirty="0"/>
          </a:p>
          <a:p>
            <a:endParaRPr lang="en-US" dirty="0"/>
          </a:p>
          <a:p>
            <a:pPr marL="0" indent="0" algn="just">
              <a:buNone/>
            </a:pPr>
            <a:r>
              <a:rPr lang="en-US" b="1" u="sng" dirty="0"/>
              <a:t>Draw the most accurate visualization possible to answer the audience's question and follow the visualization guidelines.</a:t>
            </a:r>
          </a:p>
          <a:p>
            <a:endParaRPr lang="en-EG" dirty="0"/>
          </a:p>
        </p:txBody>
      </p:sp>
      <p:graphicFrame>
        <p:nvGraphicFramePr>
          <p:cNvPr id="5" name="Table 4">
            <a:extLst>
              <a:ext uri="{FF2B5EF4-FFF2-40B4-BE49-F238E27FC236}">
                <a16:creationId xmlns:a16="http://schemas.microsoft.com/office/drawing/2014/main" id="{9F572C9D-D969-2C8B-771E-7C0CA6B9E2B1}"/>
              </a:ext>
            </a:extLst>
          </p:cNvPr>
          <p:cNvGraphicFramePr>
            <a:graphicFrameLocks noGrp="1"/>
          </p:cNvGraphicFramePr>
          <p:nvPr>
            <p:extLst>
              <p:ext uri="{D42A27DB-BD31-4B8C-83A1-F6EECF244321}">
                <p14:modId xmlns:p14="http://schemas.microsoft.com/office/powerpoint/2010/main" val="2605670863"/>
              </p:ext>
            </p:extLst>
          </p:nvPr>
        </p:nvGraphicFramePr>
        <p:xfrm>
          <a:off x="700088" y="2812415"/>
          <a:ext cx="5138688" cy="2560320"/>
        </p:xfrm>
        <a:graphic>
          <a:graphicData uri="http://schemas.openxmlformats.org/drawingml/2006/table">
            <a:tbl>
              <a:tblPr>
                <a:tableStyleId>{5940675A-B579-460E-94D1-54222C63F5DA}</a:tableStyleId>
              </a:tblPr>
              <a:tblGrid>
                <a:gridCol w="2569344">
                  <a:extLst>
                    <a:ext uri="{9D8B030D-6E8A-4147-A177-3AD203B41FA5}">
                      <a16:colId xmlns:a16="http://schemas.microsoft.com/office/drawing/2014/main" val="932022870"/>
                    </a:ext>
                  </a:extLst>
                </a:gridCol>
                <a:gridCol w="2569344">
                  <a:extLst>
                    <a:ext uri="{9D8B030D-6E8A-4147-A177-3AD203B41FA5}">
                      <a16:colId xmlns:a16="http://schemas.microsoft.com/office/drawing/2014/main" val="2479200127"/>
                    </a:ext>
                  </a:extLst>
                </a:gridCol>
              </a:tblGrid>
              <a:tr h="0">
                <a:tc>
                  <a:txBody>
                    <a:bodyPr/>
                    <a:lstStyle/>
                    <a:p>
                      <a:pPr rtl="0">
                        <a:buNone/>
                      </a:pPr>
                      <a:r>
                        <a:rPr lang="en-US" b="1" dirty="0">
                          <a:solidFill>
                            <a:srgbClr val="1F1F1F"/>
                          </a:solidFill>
                          <a:effectLst/>
                        </a:rPr>
                        <a:t>Drink Type (Category)</a:t>
                      </a:r>
                      <a:endParaRPr lang="en-US" dirty="0">
                        <a:solidFill>
                          <a:srgbClr val="1F1F1F"/>
                        </a:solidFill>
                        <a:effectLst/>
                        <a:latin typeface="Google Sans Text"/>
                      </a:endParaRPr>
                    </a:p>
                  </a:txBody>
                  <a:tcPr marL="114300" marR="114300" marT="76200" marB="76200" anchor="ctr">
                    <a:solidFill>
                      <a:schemeClr val="tx2">
                        <a:lumMod val="10000"/>
                        <a:lumOff val="90000"/>
                      </a:schemeClr>
                    </a:solidFill>
                  </a:tcPr>
                </a:tc>
                <a:tc>
                  <a:txBody>
                    <a:bodyPr/>
                    <a:lstStyle/>
                    <a:p>
                      <a:pPr rtl="0">
                        <a:buNone/>
                      </a:pPr>
                      <a:r>
                        <a:rPr lang="en-US" b="1" dirty="0">
                          <a:solidFill>
                            <a:srgbClr val="1F1F1F"/>
                          </a:solidFill>
                          <a:effectLst/>
                        </a:rPr>
                        <a:t>Count (Frequency)</a:t>
                      </a:r>
                      <a:endParaRPr lang="en-US" dirty="0">
                        <a:solidFill>
                          <a:srgbClr val="1F1F1F"/>
                        </a:solidFill>
                        <a:effectLst/>
                        <a:latin typeface="Google Sans Text"/>
                      </a:endParaRPr>
                    </a:p>
                  </a:txBody>
                  <a:tcPr marL="114300" marR="114300" marT="76200" marB="76200" anchor="ctr">
                    <a:solidFill>
                      <a:schemeClr val="tx2">
                        <a:lumMod val="10000"/>
                        <a:lumOff val="90000"/>
                      </a:schemeClr>
                    </a:solidFill>
                  </a:tcPr>
                </a:tc>
                <a:extLst>
                  <a:ext uri="{0D108BD9-81ED-4DB2-BD59-A6C34878D82A}">
                    <a16:rowId xmlns:a16="http://schemas.microsoft.com/office/drawing/2014/main" val="1149729333"/>
                  </a:ext>
                </a:extLst>
              </a:tr>
              <a:tr h="0">
                <a:tc>
                  <a:txBody>
                    <a:bodyPr/>
                    <a:lstStyle/>
                    <a:p>
                      <a:pPr rtl="0">
                        <a:buNone/>
                      </a:pPr>
                      <a:r>
                        <a:rPr lang="en-US">
                          <a:solidFill>
                            <a:srgbClr val="1F1F1F"/>
                          </a:solidFill>
                          <a:effectLst/>
                        </a:rPr>
                        <a:t>Americano</a:t>
                      </a:r>
                      <a:endParaRPr lang="en-US">
                        <a:solidFill>
                          <a:srgbClr val="1F1F1F"/>
                        </a:solidFill>
                        <a:effectLst/>
                        <a:latin typeface="Google Sans Text"/>
                      </a:endParaRPr>
                    </a:p>
                  </a:txBody>
                  <a:tcPr marL="114300" marR="114300" marT="76200" marB="76200" anchor="ctr"/>
                </a:tc>
                <a:tc>
                  <a:txBody>
                    <a:bodyPr/>
                    <a:lstStyle/>
                    <a:p>
                      <a:pPr algn="ctr" rtl="0">
                        <a:buNone/>
                      </a:pPr>
                      <a:r>
                        <a:rPr lang="en-EG" dirty="0">
                          <a:solidFill>
                            <a:srgbClr val="1F1F1F"/>
                          </a:solidFill>
                          <a:effectLst/>
                        </a:rPr>
                        <a:t>120</a:t>
                      </a:r>
                      <a:endParaRPr lang="en-EG"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4140274295"/>
                  </a:ext>
                </a:extLst>
              </a:tr>
              <a:tr h="0">
                <a:tc>
                  <a:txBody>
                    <a:bodyPr/>
                    <a:lstStyle/>
                    <a:p>
                      <a:pPr rtl="0">
                        <a:buNone/>
                      </a:pPr>
                      <a:r>
                        <a:rPr lang="en-US">
                          <a:solidFill>
                            <a:srgbClr val="1F1F1F"/>
                          </a:solidFill>
                          <a:effectLst/>
                        </a:rPr>
                        <a:t>Latte</a:t>
                      </a:r>
                      <a:endParaRPr lang="en-US">
                        <a:solidFill>
                          <a:srgbClr val="1F1F1F"/>
                        </a:solidFill>
                        <a:effectLst/>
                        <a:latin typeface="Google Sans Text"/>
                      </a:endParaRPr>
                    </a:p>
                  </a:txBody>
                  <a:tcPr marL="114300" marR="114300" marT="76200" marB="76200" anchor="ctr"/>
                </a:tc>
                <a:tc>
                  <a:txBody>
                    <a:bodyPr/>
                    <a:lstStyle/>
                    <a:p>
                      <a:pPr algn="ctr" rtl="0">
                        <a:buNone/>
                      </a:pPr>
                      <a:r>
                        <a:rPr lang="en-EG">
                          <a:solidFill>
                            <a:srgbClr val="1F1F1F"/>
                          </a:solidFill>
                          <a:effectLst/>
                        </a:rPr>
                        <a:t>150</a:t>
                      </a:r>
                      <a:endParaRPr lang="en-EG">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146107725"/>
                  </a:ext>
                </a:extLst>
              </a:tr>
              <a:tr h="0">
                <a:tc>
                  <a:txBody>
                    <a:bodyPr/>
                    <a:lstStyle/>
                    <a:p>
                      <a:pPr rtl="0">
                        <a:buNone/>
                      </a:pPr>
                      <a:r>
                        <a:rPr lang="en-US">
                          <a:solidFill>
                            <a:srgbClr val="1F1F1F"/>
                          </a:solidFill>
                          <a:effectLst/>
                        </a:rPr>
                        <a:t>Cappuccino</a:t>
                      </a:r>
                      <a:endParaRPr lang="en-US">
                        <a:solidFill>
                          <a:srgbClr val="1F1F1F"/>
                        </a:solidFill>
                        <a:effectLst/>
                        <a:latin typeface="Google Sans Text"/>
                      </a:endParaRPr>
                    </a:p>
                  </a:txBody>
                  <a:tcPr marL="114300" marR="114300" marT="76200" marB="76200" anchor="ctr"/>
                </a:tc>
                <a:tc>
                  <a:txBody>
                    <a:bodyPr/>
                    <a:lstStyle/>
                    <a:p>
                      <a:pPr algn="ctr" rtl="0">
                        <a:buNone/>
                      </a:pPr>
                      <a:r>
                        <a:rPr lang="en-EG" dirty="0">
                          <a:solidFill>
                            <a:srgbClr val="1F1F1F"/>
                          </a:solidFill>
                          <a:effectLst/>
                        </a:rPr>
                        <a:t>90</a:t>
                      </a:r>
                      <a:endParaRPr lang="en-EG"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075817785"/>
                  </a:ext>
                </a:extLst>
              </a:tr>
              <a:tr h="0">
                <a:tc>
                  <a:txBody>
                    <a:bodyPr/>
                    <a:lstStyle/>
                    <a:p>
                      <a:pPr rtl="0">
                        <a:buNone/>
                      </a:pPr>
                      <a:r>
                        <a:rPr lang="en-US">
                          <a:solidFill>
                            <a:srgbClr val="1F1F1F"/>
                          </a:solidFill>
                          <a:effectLst/>
                        </a:rPr>
                        <a:t>Matcha</a:t>
                      </a:r>
                      <a:endParaRPr lang="en-US">
                        <a:solidFill>
                          <a:srgbClr val="1F1F1F"/>
                        </a:solidFill>
                        <a:effectLst/>
                        <a:latin typeface="Google Sans Text"/>
                      </a:endParaRPr>
                    </a:p>
                  </a:txBody>
                  <a:tcPr marL="114300" marR="114300" marT="76200" marB="76200" anchor="ctr"/>
                </a:tc>
                <a:tc>
                  <a:txBody>
                    <a:bodyPr/>
                    <a:lstStyle/>
                    <a:p>
                      <a:pPr algn="ctr" rtl="0">
                        <a:buNone/>
                      </a:pPr>
                      <a:r>
                        <a:rPr lang="en-EG" dirty="0">
                          <a:solidFill>
                            <a:srgbClr val="1F1F1F"/>
                          </a:solidFill>
                          <a:effectLst/>
                        </a:rPr>
                        <a:t>30</a:t>
                      </a:r>
                      <a:endParaRPr lang="en-EG"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758203574"/>
                  </a:ext>
                </a:extLst>
              </a:tr>
              <a:tr h="0">
                <a:tc>
                  <a:txBody>
                    <a:bodyPr/>
                    <a:lstStyle/>
                    <a:p>
                      <a:pPr rtl="0">
                        <a:buNone/>
                      </a:pPr>
                      <a:r>
                        <a:rPr lang="en-US" dirty="0">
                          <a:solidFill>
                            <a:srgbClr val="1F1F1F"/>
                          </a:solidFill>
                          <a:effectLst/>
                        </a:rPr>
                        <a:t>Espresso</a:t>
                      </a:r>
                      <a:endParaRPr lang="en-US" dirty="0">
                        <a:solidFill>
                          <a:srgbClr val="1F1F1F"/>
                        </a:solidFill>
                        <a:effectLst/>
                        <a:latin typeface="Google Sans Text"/>
                      </a:endParaRPr>
                    </a:p>
                  </a:txBody>
                  <a:tcPr marL="114300" marR="114300" marT="76200" marB="76200" anchor="ctr"/>
                </a:tc>
                <a:tc>
                  <a:txBody>
                    <a:bodyPr/>
                    <a:lstStyle/>
                    <a:p>
                      <a:pPr algn="ctr" rtl="0">
                        <a:buNone/>
                      </a:pPr>
                      <a:r>
                        <a:rPr lang="en-EG" dirty="0">
                          <a:solidFill>
                            <a:srgbClr val="1F1F1F"/>
                          </a:solidFill>
                          <a:effectLst/>
                        </a:rPr>
                        <a:t>65</a:t>
                      </a:r>
                      <a:endParaRPr lang="en-EG"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905486838"/>
                  </a:ext>
                </a:extLst>
              </a:tr>
            </a:tbl>
          </a:graphicData>
        </a:graphic>
      </p:graphicFrame>
    </p:spTree>
    <p:extLst>
      <p:ext uri="{BB962C8B-B14F-4D97-AF65-F5344CB8AC3E}">
        <p14:creationId xmlns:p14="http://schemas.microsoft.com/office/powerpoint/2010/main" val="25271262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DECC1-03D2-3573-C52C-259205C172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3F232C-C056-6DEB-880A-5F9ED601692A}"/>
              </a:ext>
            </a:extLst>
          </p:cNvPr>
          <p:cNvSpPr>
            <a:spLocks noGrp="1"/>
          </p:cNvSpPr>
          <p:nvPr>
            <p:ph type="title"/>
          </p:nvPr>
        </p:nvSpPr>
        <p:spPr>
          <a:xfrm>
            <a:off x="700635" y="914400"/>
            <a:ext cx="10691265" cy="598714"/>
          </a:xfrm>
        </p:spPr>
        <p:txBody>
          <a:bodyPr>
            <a:normAutofit/>
          </a:bodyPr>
          <a:lstStyle/>
          <a:p>
            <a:r>
              <a:rPr lang="en-US" sz="2800" b="1" dirty="0"/>
              <a:t>Answers 2: Categorical univariate Analysis Task</a:t>
            </a:r>
            <a:endParaRPr lang="en-EG" sz="2800" dirty="0"/>
          </a:p>
        </p:txBody>
      </p:sp>
      <p:pic>
        <p:nvPicPr>
          <p:cNvPr id="34818" name="Picture 2">
            <a:extLst>
              <a:ext uri="{FF2B5EF4-FFF2-40B4-BE49-F238E27FC236}">
                <a16:creationId xmlns:a16="http://schemas.microsoft.com/office/drawing/2014/main" id="{8CED4579-4E25-CC03-6F3A-643AD27EF14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9134" y="1460502"/>
            <a:ext cx="6838968" cy="464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9266711"/>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Madison</Template>
  <TotalTime>2215</TotalTime>
  <Words>3199</Words>
  <Application>Microsoft Macintosh PowerPoint</Application>
  <PresentationFormat>Widescreen</PresentationFormat>
  <Paragraphs>375</Paragraphs>
  <Slides>42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Aptos</vt:lpstr>
      <vt:lpstr>Arial</vt:lpstr>
      <vt:lpstr>Calisto MT</vt:lpstr>
      <vt:lpstr>Cambria Math</vt:lpstr>
      <vt:lpstr>Google Sans Text</vt:lpstr>
      <vt:lpstr>Univers Condensed</vt:lpstr>
      <vt:lpstr>Wingdings</vt:lpstr>
      <vt:lpstr>ChronicleVTI</vt:lpstr>
      <vt:lpstr>Comparison charts (column &amp; bar)</vt:lpstr>
      <vt:lpstr>Learning outcomes</vt:lpstr>
      <vt:lpstr>Concept refreshing - chart junk</vt:lpstr>
      <vt:lpstr>PowerPoint Presentation</vt:lpstr>
      <vt:lpstr>PowerPoint Presentation</vt:lpstr>
      <vt:lpstr>Concept refreshing - Magnitude</vt:lpstr>
      <vt:lpstr>PowerPoint Presentation</vt:lpstr>
      <vt:lpstr>PowerPoint Presentation</vt:lpstr>
      <vt:lpstr>PowerPoint Presentation</vt:lpstr>
      <vt:lpstr>Concept refreshing - scalar</vt:lpstr>
      <vt:lpstr>PowerPoint Presentation</vt:lpstr>
      <vt:lpstr>PowerPoint Presentation</vt:lpstr>
      <vt:lpstr>PowerPoint Presentation</vt:lpstr>
      <vt:lpstr>PowerPoint Presentation</vt:lpstr>
      <vt:lpstr>Concept refreshing - vector</vt:lpstr>
      <vt:lpstr>PowerPoint Presentation</vt:lpstr>
      <vt:lpstr>PowerPoint Presentation</vt:lpstr>
      <vt:lpstr>Concept refreshing - Univariate</vt:lpstr>
      <vt:lpstr>Concept refreshing - Univariate</vt:lpstr>
      <vt:lpstr>Categorical Univariate</vt:lpstr>
      <vt:lpstr>Numerical Univariate</vt:lpstr>
      <vt:lpstr>Concept refreshing - bivariate</vt:lpstr>
      <vt:lpstr>Concept refreshing – bivariate (Numerical vs. Numerical)</vt:lpstr>
      <vt:lpstr>Concept refreshing – bivariate (Categorical vs. Numerical)</vt:lpstr>
      <vt:lpstr>Concept refreshing – bivariate (Categorical vs. Categorical)</vt:lpstr>
      <vt:lpstr>Concept refreshing - multivariate</vt:lpstr>
      <vt:lpstr>What is meant by comparison charts? </vt:lpstr>
      <vt:lpstr>What are the different types of datasets?</vt:lpstr>
      <vt:lpstr>What are the different types of datasets?</vt:lpstr>
      <vt:lpstr>What are the different types of datasets?</vt:lpstr>
      <vt:lpstr>What are the different types of datasets?</vt:lpstr>
      <vt:lpstr>Which types of datasets are more relevant to column/bar charts?</vt:lpstr>
      <vt:lpstr>When to use a column chart? </vt:lpstr>
      <vt:lpstr>When to use a column chart?</vt:lpstr>
      <vt:lpstr>How to Draw a column chart? (our guidelines)</vt:lpstr>
      <vt:lpstr>How to Draw a column chart? (our guidelines)</vt:lpstr>
      <vt:lpstr>Practical Exercise 1: column chart</vt:lpstr>
      <vt:lpstr>Practical Exercise 1: column chart</vt:lpstr>
      <vt:lpstr>Answers 1: Categorical vs Numerical Bivariate Analysis Task</vt:lpstr>
      <vt:lpstr>Practical Exercise 2: column chart</vt:lpstr>
      <vt:lpstr>Practical Exercise 2: column chart</vt:lpstr>
      <vt:lpstr>Answers 2: Categorical univariate Analysis Task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haitham ghallab</dc:creator>
  <cp:lastModifiedBy>haitham ghallab</cp:lastModifiedBy>
  <cp:revision>158</cp:revision>
  <dcterms:created xsi:type="dcterms:W3CDTF">2026-02-08T13:07:24Z</dcterms:created>
  <dcterms:modified xsi:type="dcterms:W3CDTF">2026-02-21T15:10:17Z</dcterms:modified>
</cp:coreProperties>
</file>