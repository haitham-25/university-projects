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8" r:id="rId1"/>
  </p:sldMasterIdLst>
  <p:notesMasterIdLst>
    <p:notesMasterId r:id="rId25"/>
  </p:notesMasterIdLst>
  <p:sldIdLst>
    <p:sldId id="256" r:id="rId2"/>
    <p:sldId id="300" r:id="rId3"/>
    <p:sldId id="302" r:id="rId4"/>
    <p:sldId id="303" r:id="rId5"/>
    <p:sldId id="336" r:id="rId6"/>
    <p:sldId id="350" r:id="rId7"/>
    <p:sldId id="351" r:id="rId8"/>
    <p:sldId id="352" r:id="rId9"/>
    <p:sldId id="341" r:id="rId10"/>
    <p:sldId id="342" r:id="rId11"/>
    <p:sldId id="343" r:id="rId12"/>
    <p:sldId id="344" r:id="rId13"/>
    <p:sldId id="345" r:id="rId14"/>
    <p:sldId id="346" r:id="rId15"/>
    <p:sldId id="347" r:id="rId16"/>
    <p:sldId id="348" r:id="rId17"/>
    <p:sldId id="349" r:id="rId18"/>
    <p:sldId id="353" r:id="rId19"/>
    <p:sldId id="354" r:id="rId20"/>
    <p:sldId id="355" r:id="rId21"/>
    <p:sldId id="356" r:id="rId22"/>
    <p:sldId id="357" r:id="rId23"/>
    <p:sldId id="358"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38"/>
    <p:restoredTop sz="94704"/>
  </p:normalViewPr>
  <p:slideViewPr>
    <p:cSldViewPr snapToGrid="0">
      <p:cViewPr varScale="1">
        <p:scale>
          <a:sx n="116" d="100"/>
          <a:sy n="116" d="100"/>
        </p:scale>
        <p:origin x="224" y="2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E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DFC152-F608-6B4D-A15E-FB048E816187}" type="datetimeFigureOut">
              <a:rPr lang="en-EG" smtClean="0"/>
              <a:t>22/02/2026</a:t>
            </a:fld>
            <a:endParaRPr lang="en-E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E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E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47CA16-4C66-994B-BEEA-F257DCF78D75}" type="slidenum">
              <a:rPr lang="en-EG" smtClean="0"/>
              <a:t>‹#›</a:t>
            </a:fld>
            <a:endParaRPr lang="en-EG"/>
          </a:p>
        </p:txBody>
      </p:sp>
    </p:spTree>
    <p:extLst>
      <p:ext uri="{BB962C8B-B14F-4D97-AF65-F5344CB8AC3E}">
        <p14:creationId xmlns:p14="http://schemas.microsoft.com/office/powerpoint/2010/main" val="3417170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EG"/>
          </a:p>
        </p:txBody>
      </p:sp>
      <p:sp>
        <p:nvSpPr>
          <p:cNvPr id="3" name="Notes Placeholder 2"/>
          <p:cNvSpPr>
            <a:spLocks noGrp="1"/>
          </p:cNvSpPr>
          <p:nvPr>
            <p:ph type="body" idx="1"/>
          </p:nvPr>
        </p:nvSpPr>
        <p:spPr/>
        <p:txBody>
          <a:bodyPr/>
          <a:lstStyle/>
          <a:p>
            <a:endParaRPr lang="en-EG" dirty="0"/>
          </a:p>
        </p:txBody>
      </p:sp>
      <p:sp>
        <p:nvSpPr>
          <p:cNvPr id="4" name="Slide Number Placeholder 3"/>
          <p:cNvSpPr>
            <a:spLocks noGrp="1"/>
          </p:cNvSpPr>
          <p:nvPr>
            <p:ph type="sldNum" sz="quarter" idx="5"/>
          </p:nvPr>
        </p:nvSpPr>
        <p:spPr/>
        <p:txBody>
          <a:bodyPr/>
          <a:lstStyle/>
          <a:p>
            <a:fld id="{8447CA16-4C66-994B-BEEA-F257DCF78D75}" type="slidenum">
              <a:rPr lang="en-EG" smtClean="0"/>
              <a:t>5</a:t>
            </a:fld>
            <a:endParaRPr lang="en-EG"/>
          </a:p>
        </p:txBody>
      </p:sp>
    </p:spTree>
    <p:extLst>
      <p:ext uri="{BB962C8B-B14F-4D97-AF65-F5344CB8AC3E}">
        <p14:creationId xmlns:p14="http://schemas.microsoft.com/office/powerpoint/2010/main" val="35764131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0703F-39A9-D865-E3F3-0C9D6B58E3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0B7613-FEF1-0539-B9EB-245D6FD54419}"/>
              </a:ext>
            </a:extLst>
          </p:cNvPr>
          <p:cNvSpPr>
            <a:spLocks noGrp="1" noRot="1" noChangeAspect="1"/>
          </p:cNvSpPr>
          <p:nvPr>
            <p:ph type="sldImg"/>
          </p:nvPr>
        </p:nvSpPr>
        <p:spPr/>
        <p:txBody>
          <a:bodyPr/>
          <a:lstStyle/>
          <a:p>
            <a:endParaRPr lang="en-EG"/>
          </a:p>
        </p:txBody>
      </p:sp>
      <p:sp>
        <p:nvSpPr>
          <p:cNvPr id="3" name="Notes Placeholder 2">
            <a:extLst>
              <a:ext uri="{FF2B5EF4-FFF2-40B4-BE49-F238E27FC236}">
                <a16:creationId xmlns:a16="http://schemas.microsoft.com/office/drawing/2014/main" id="{E9A2BD8C-C0C5-2331-DA5A-27B0DEA61F75}"/>
              </a:ext>
            </a:extLst>
          </p:cNvPr>
          <p:cNvSpPr>
            <a:spLocks noGrp="1"/>
          </p:cNvSpPr>
          <p:nvPr>
            <p:ph type="body" idx="1"/>
          </p:nvPr>
        </p:nvSpPr>
        <p:spPr/>
        <p:txBody>
          <a:bodyPr/>
          <a:lstStyle/>
          <a:p>
            <a:endParaRPr lang="en-EG" dirty="0"/>
          </a:p>
        </p:txBody>
      </p:sp>
      <p:sp>
        <p:nvSpPr>
          <p:cNvPr id="4" name="Slide Number Placeholder 3">
            <a:extLst>
              <a:ext uri="{FF2B5EF4-FFF2-40B4-BE49-F238E27FC236}">
                <a16:creationId xmlns:a16="http://schemas.microsoft.com/office/drawing/2014/main" id="{FD2C04BC-72C8-6EF0-0F49-2A1F2DF3CD09}"/>
              </a:ext>
            </a:extLst>
          </p:cNvPr>
          <p:cNvSpPr>
            <a:spLocks noGrp="1"/>
          </p:cNvSpPr>
          <p:nvPr>
            <p:ph type="sldNum" sz="quarter" idx="5"/>
          </p:nvPr>
        </p:nvSpPr>
        <p:spPr/>
        <p:txBody>
          <a:bodyPr/>
          <a:lstStyle/>
          <a:p>
            <a:fld id="{8447CA16-4C66-994B-BEEA-F257DCF78D75}" type="slidenum">
              <a:rPr lang="en-EG" smtClean="0"/>
              <a:t>8</a:t>
            </a:fld>
            <a:endParaRPr lang="en-EG"/>
          </a:p>
        </p:txBody>
      </p:sp>
    </p:spTree>
    <p:extLst>
      <p:ext uri="{BB962C8B-B14F-4D97-AF65-F5344CB8AC3E}">
        <p14:creationId xmlns:p14="http://schemas.microsoft.com/office/powerpoint/2010/main" val="1014608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2/22/26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9133334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2/22/26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143047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2/22/26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2786024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2/22/26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8286768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2/22/26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2266410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2/22/26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1781202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2/22/26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7957010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2/22/26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8258582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2/22/26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5085240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2/22/26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5374436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2/22/26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0718249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2/22/26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4210519"/>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7" r:id="rId6"/>
    <p:sldLayoutId id="2147483692" r:id="rId7"/>
    <p:sldLayoutId id="2147483693" r:id="rId8"/>
    <p:sldLayoutId id="2147483694" r:id="rId9"/>
    <p:sldLayoutId id="2147483696" r:id="rId10"/>
    <p:sldLayoutId id="2147483695"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F3D318-CB8A-F900-C1F7-92F91A192F4A}"/>
              </a:ext>
            </a:extLst>
          </p:cNvPr>
          <p:cNvSpPr>
            <a:spLocks noGrp="1"/>
          </p:cNvSpPr>
          <p:nvPr>
            <p:ph type="ctrTitle"/>
          </p:nvPr>
        </p:nvSpPr>
        <p:spPr>
          <a:xfrm>
            <a:off x="703400" y="871758"/>
            <a:ext cx="5811700" cy="3871143"/>
          </a:xfrm>
        </p:spPr>
        <p:txBody>
          <a:bodyPr>
            <a:normAutofit/>
          </a:bodyPr>
          <a:lstStyle/>
          <a:p>
            <a:r>
              <a:rPr lang="en-EG" dirty="0"/>
              <a:t>Comparison charts (Stacked, clustered)</a:t>
            </a:r>
          </a:p>
        </p:txBody>
      </p:sp>
      <p:sp>
        <p:nvSpPr>
          <p:cNvPr id="3" name="Subtitle 2">
            <a:extLst>
              <a:ext uri="{FF2B5EF4-FFF2-40B4-BE49-F238E27FC236}">
                <a16:creationId xmlns:a16="http://schemas.microsoft.com/office/drawing/2014/main" id="{4AFEEBEF-27BE-665A-96F1-62A0FD1D2B7D}"/>
              </a:ext>
            </a:extLst>
          </p:cNvPr>
          <p:cNvSpPr>
            <a:spLocks noGrp="1"/>
          </p:cNvSpPr>
          <p:nvPr>
            <p:ph type="subTitle" idx="1"/>
          </p:nvPr>
        </p:nvSpPr>
        <p:spPr>
          <a:xfrm>
            <a:off x="721688" y="4785543"/>
            <a:ext cx="4857857" cy="1005657"/>
          </a:xfrm>
        </p:spPr>
        <p:txBody>
          <a:bodyPr>
            <a:normAutofit/>
          </a:bodyPr>
          <a:lstStyle/>
          <a:p>
            <a:r>
              <a:rPr lang="en-EG" dirty="0"/>
              <a:t>Data Visualization</a:t>
            </a:r>
          </a:p>
        </p:txBody>
      </p:sp>
      <p:cxnSp>
        <p:nvCxnSpPr>
          <p:cNvPr id="15" name="Straight Connector 14">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49149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7CC41EB-2D81-4303-9171-6401B388BA3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4100"/>
            <a:ext cx="49149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16" name="Picture 15" descr="A green cubes with lights&#10;&#10;AI-generated content may be incorrect.">
            <a:extLst>
              <a:ext uri="{FF2B5EF4-FFF2-40B4-BE49-F238E27FC236}">
                <a16:creationId xmlns:a16="http://schemas.microsoft.com/office/drawing/2014/main" id="{3BA9F730-B238-9C31-0CA6-EA5188D673E0}"/>
              </a:ext>
            </a:extLst>
          </p:cNvPr>
          <p:cNvPicPr>
            <a:picLocks noChangeAspect="1"/>
          </p:cNvPicPr>
          <p:nvPr/>
        </p:nvPicPr>
        <p:blipFill>
          <a:blip r:embed="rId2"/>
          <a:srcRect l="9997" r="43440"/>
          <a:stretch>
            <a:fillRect/>
          </a:stretch>
        </p:blipFill>
        <p:spPr>
          <a:xfrm>
            <a:off x="6515100" y="10"/>
            <a:ext cx="5676900" cy="6857990"/>
          </a:xfrm>
          <a:prstGeom prst="rect">
            <a:avLst/>
          </a:prstGeom>
        </p:spPr>
      </p:pic>
    </p:spTree>
    <p:extLst>
      <p:ext uri="{BB962C8B-B14F-4D97-AF65-F5344CB8AC3E}">
        <p14:creationId xmlns:p14="http://schemas.microsoft.com/office/powerpoint/2010/main" val="13970484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DB338-D08B-6066-7F8E-04A9C7EFAD0F}"/>
              </a:ext>
            </a:extLst>
          </p:cNvPr>
          <p:cNvSpPr>
            <a:spLocks noGrp="1"/>
          </p:cNvSpPr>
          <p:nvPr>
            <p:ph type="title"/>
          </p:nvPr>
        </p:nvSpPr>
        <p:spPr/>
        <p:txBody>
          <a:bodyPr/>
          <a:lstStyle/>
          <a:p>
            <a:r>
              <a:rPr lang="en-EG" dirty="0"/>
              <a:t>Learning outcomes</a:t>
            </a:r>
          </a:p>
        </p:txBody>
      </p:sp>
      <p:sp>
        <p:nvSpPr>
          <p:cNvPr id="3" name="Content Placeholder 2">
            <a:extLst>
              <a:ext uri="{FF2B5EF4-FFF2-40B4-BE49-F238E27FC236}">
                <a16:creationId xmlns:a16="http://schemas.microsoft.com/office/drawing/2014/main" id="{13B289F3-177E-2127-BFC5-0363A240F8C9}"/>
              </a:ext>
            </a:extLst>
          </p:cNvPr>
          <p:cNvSpPr>
            <a:spLocks noGrp="1"/>
          </p:cNvSpPr>
          <p:nvPr>
            <p:ph idx="1"/>
          </p:nvPr>
        </p:nvSpPr>
        <p:spPr/>
        <p:txBody>
          <a:bodyPr>
            <a:normAutofit/>
          </a:bodyPr>
          <a:lstStyle/>
          <a:p>
            <a:pPr marL="0" indent="0">
              <a:buNone/>
            </a:pPr>
            <a:r>
              <a:rPr lang="en-US" sz="2800" dirty="0"/>
              <a:t>1) When to use a stacked chart?</a:t>
            </a:r>
          </a:p>
          <a:p>
            <a:pPr marL="0" indent="0">
              <a:buNone/>
            </a:pPr>
            <a:r>
              <a:rPr lang="en-US" sz="2800" dirty="0"/>
              <a:t>2) When to use a clustered chart?</a:t>
            </a:r>
          </a:p>
          <a:p>
            <a:pPr marL="0" indent="0">
              <a:buNone/>
            </a:pPr>
            <a:r>
              <a:rPr lang="en-EG" sz="2800" dirty="0"/>
              <a:t>3) Exercises</a:t>
            </a:r>
          </a:p>
        </p:txBody>
      </p:sp>
    </p:spTree>
    <p:extLst>
      <p:ext uri="{BB962C8B-B14F-4D97-AF65-F5344CB8AC3E}">
        <p14:creationId xmlns:p14="http://schemas.microsoft.com/office/powerpoint/2010/main" val="1816082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FF290-AA9D-DD4F-62D1-BC102E93404D}"/>
              </a:ext>
            </a:extLst>
          </p:cNvPr>
          <p:cNvSpPr>
            <a:spLocks noGrp="1"/>
          </p:cNvSpPr>
          <p:nvPr>
            <p:ph type="title"/>
          </p:nvPr>
        </p:nvSpPr>
        <p:spPr>
          <a:xfrm>
            <a:off x="700635" y="914400"/>
            <a:ext cx="10691265" cy="700644"/>
          </a:xfrm>
        </p:spPr>
        <p:txBody>
          <a:bodyPr>
            <a:normAutofit fontScale="90000"/>
          </a:bodyPr>
          <a:lstStyle/>
          <a:p>
            <a:r>
              <a:rPr lang="en-US" dirty="0"/>
              <a:t>When to use a stacked chart?</a:t>
            </a:r>
            <a:endParaRPr lang="en-EG" dirty="0"/>
          </a:p>
        </p:txBody>
      </p:sp>
      <p:sp>
        <p:nvSpPr>
          <p:cNvPr id="3" name="Content Placeholder 2">
            <a:extLst>
              <a:ext uri="{FF2B5EF4-FFF2-40B4-BE49-F238E27FC236}">
                <a16:creationId xmlns:a16="http://schemas.microsoft.com/office/drawing/2014/main" id="{0083B8E5-AD06-DF27-19EA-9A7B894830A0}"/>
              </a:ext>
            </a:extLst>
          </p:cNvPr>
          <p:cNvSpPr>
            <a:spLocks noGrp="1"/>
          </p:cNvSpPr>
          <p:nvPr>
            <p:ph idx="1"/>
          </p:nvPr>
        </p:nvSpPr>
        <p:spPr>
          <a:xfrm>
            <a:off x="750367" y="2203704"/>
            <a:ext cx="10691265" cy="3739896"/>
          </a:xfrm>
        </p:spPr>
        <p:txBody>
          <a:bodyPr/>
          <a:lstStyle/>
          <a:p>
            <a:pPr marL="0" indent="0" algn="ctr">
              <a:buNone/>
            </a:pPr>
            <a:endParaRPr lang="en-US" sz="2800" dirty="0">
              <a:solidFill>
                <a:srgbClr val="FF0000"/>
              </a:solidFill>
            </a:endParaRPr>
          </a:p>
          <a:p>
            <a:pPr marL="0" indent="0" algn="ctr">
              <a:buNone/>
            </a:pPr>
            <a:r>
              <a:rPr lang="en-US" sz="2800" dirty="0">
                <a:solidFill>
                  <a:srgbClr val="FF0000"/>
                </a:solidFill>
              </a:rPr>
              <a:t>Stacked chart is about </a:t>
            </a:r>
            <a:r>
              <a:rPr lang="en-US" sz="2800" b="1" dirty="0">
                <a:solidFill>
                  <a:srgbClr val="FF0000"/>
                </a:solidFill>
              </a:rPr>
              <a:t>composition</a:t>
            </a:r>
            <a:r>
              <a:rPr lang="en-US" sz="2800" dirty="0">
                <a:solidFill>
                  <a:srgbClr val="FF0000"/>
                </a:solidFill>
              </a:rPr>
              <a:t>. It is used when you want to show how a total amount is divided into different sub-groups or segments.</a:t>
            </a:r>
            <a:endParaRPr lang="en-EG" dirty="0">
              <a:solidFill>
                <a:srgbClr val="FF0000"/>
              </a:solidFill>
            </a:endParaRPr>
          </a:p>
        </p:txBody>
      </p:sp>
    </p:spTree>
    <p:extLst>
      <p:ext uri="{BB962C8B-B14F-4D97-AF65-F5344CB8AC3E}">
        <p14:creationId xmlns:p14="http://schemas.microsoft.com/office/powerpoint/2010/main" val="16562682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BE869-1CF2-581A-6940-500A5DE1A64F}"/>
              </a:ext>
            </a:extLst>
          </p:cNvPr>
          <p:cNvSpPr>
            <a:spLocks noGrp="1"/>
          </p:cNvSpPr>
          <p:nvPr>
            <p:ph type="title"/>
          </p:nvPr>
        </p:nvSpPr>
        <p:spPr>
          <a:xfrm>
            <a:off x="700635" y="914400"/>
            <a:ext cx="10691265" cy="796834"/>
          </a:xfrm>
        </p:spPr>
        <p:txBody>
          <a:bodyPr/>
          <a:lstStyle/>
          <a:p>
            <a:r>
              <a:rPr lang="en-US" dirty="0"/>
              <a:t>When to use a stacked chart?</a:t>
            </a:r>
            <a:endParaRPr lang="en-EG" dirty="0"/>
          </a:p>
        </p:txBody>
      </p:sp>
      <p:graphicFrame>
        <p:nvGraphicFramePr>
          <p:cNvPr id="4" name="Content Placeholder 3">
            <a:extLst>
              <a:ext uri="{FF2B5EF4-FFF2-40B4-BE49-F238E27FC236}">
                <a16:creationId xmlns:a16="http://schemas.microsoft.com/office/drawing/2014/main" id="{665754C2-75E5-53C1-6115-1D953715AA2B}"/>
              </a:ext>
            </a:extLst>
          </p:cNvPr>
          <p:cNvGraphicFramePr>
            <a:graphicFrameLocks noGrp="1"/>
          </p:cNvGraphicFramePr>
          <p:nvPr>
            <p:ph idx="1"/>
            <p:extLst>
              <p:ext uri="{D42A27DB-BD31-4B8C-83A1-F6EECF244321}">
                <p14:modId xmlns:p14="http://schemas.microsoft.com/office/powerpoint/2010/main" val="1201247241"/>
              </p:ext>
            </p:extLst>
          </p:nvPr>
        </p:nvGraphicFramePr>
        <p:xfrm>
          <a:off x="700635" y="1982072"/>
          <a:ext cx="10691265" cy="4163514"/>
        </p:xfrm>
        <a:graphic>
          <a:graphicData uri="http://schemas.openxmlformats.org/drawingml/2006/table">
            <a:tbl>
              <a:tblPr>
                <a:tableStyleId>{5940675A-B579-460E-94D1-54222C63F5DA}</a:tableStyleId>
              </a:tblPr>
              <a:tblGrid>
                <a:gridCol w="4406942">
                  <a:extLst>
                    <a:ext uri="{9D8B030D-6E8A-4147-A177-3AD203B41FA5}">
                      <a16:colId xmlns:a16="http://schemas.microsoft.com/office/drawing/2014/main" val="2990884093"/>
                    </a:ext>
                  </a:extLst>
                </a:gridCol>
                <a:gridCol w="2720568">
                  <a:extLst>
                    <a:ext uri="{9D8B030D-6E8A-4147-A177-3AD203B41FA5}">
                      <a16:colId xmlns:a16="http://schemas.microsoft.com/office/drawing/2014/main" val="1619769224"/>
                    </a:ext>
                  </a:extLst>
                </a:gridCol>
                <a:gridCol w="3563755">
                  <a:extLst>
                    <a:ext uri="{9D8B030D-6E8A-4147-A177-3AD203B41FA5}">
                      <a16:colId xmlns:a16="http://schemas.microsoft.com/office/drawing/2014/main" val="3110790857"/>
                    </a:ext>
                  </a:extLst>
                </a:gridCol>
              </a:tblGrid>
              <a:tr h="478134">
                <a:tc>
                  <a:txBody>
                    <a:bodyPr/>
                    <a:lstStyle/>
                    <a:p>
                      <a:pPr rtl="0">
                        <a:buNone/>
                      </a:pPr>
                      <a:r>
                        <a:rPr lang="en-US" sz="1800" b="1" dirty="0">
                          <a:solidFill>
                            <a:srgbClr val="1F1F1F"/>
                          </a:solidFill>
                          <a:effectLst/>
                        </a:rPr>
                        <a:t>Rule / Condition for Use</a:t>
                      </a:r>
                      <a:endParaRPr lang="en-US" sz="1800" dirty="0">
                        <a:solidFill>
                          <a:srgbClr val="1F1F1F"/>
                        </a:solidFill>
                        <a:effectLst/>
                        <a:latin typeface="Google Sans Text"/>
                      </a:endParaRPr>
                    </a:p>
                  </a:txBody>
                  <a:tcPr marL="85522" marR="85522" marT="57014" marB="57014" anchor="ctr">
                    <a:solidFill>
                      <a:schemeClr val="accent5">
                        <a:lumMod val="20000"/>
                        <a:lumOff val="80000"/>
                      </a:schemeClr>
                    </a:solidFill>
                  </a:tcPr>
                </a:tc>
                <a:tc>
                  <a:txBody>
                    <a:bodyPr/>
                    <a:lstStyle/>
                    <a:p>
                      <a:pPr rtl="0">
                        <a:buNone/>
                      </a:pPr>
                      <a:r>
                        <a:rPr lang="en-US" sz="1800" b="1" dirty="0">
                          <a:solidFill>
                            <a:srgbClr val="1F1F1F"/>
                          </a:solidFill>
                          <a:effectLst/>
                        </a:rPr>
                        <a:t>Unique Keywords</a:t>
                      </a:r>
                      <a:endParaRPr lang="en-US" sz="1800" dirty="0">
                        <a:solidFill>
                          <a:srgbClr val="1F1F1F"/>
                        </a:solidFill>
                        <a:effectLst/>
                        <a:latin typeface="Google Sans Text"/>
                      </a:endParaRPr>
                    </a:p>
                  </a:txBody>
                  <a:tcPr marL="85522" marR="85522" marT="57014" marB="57014" anchor="ctr">
                    <a:solidFill>
                      <a:schemeClr val="accent5">
                        <a:lumMod val="20000"/>
                        <a:lumOff val="80000"/>
                      </a:schemeClr>
                    </a:solidFill>
                  </a:tcPr>
                </a:tc>
                <a:tc>
                  <a:txBody>
                    <a:bodyPr/>
                    <a:lstStyle/>
                    <a:p>
                      <a:pPr rtl="0">
                        <a:buNone/>
                      </a:pPr>
                      <a:r>
                        <a:rPr lang="en-US" sz="1800" b="1" dirty="0">
                          <a:solidFill>
                            <a:srgbClr val="1F1F1F"/>
                          </a:solidFill>
                          <a:effectLst/>
                        </a:rPr>
                        <a:t>Audience Question Examples</a:t>
                      </a:r>
                      <a:endParaRPr lang="en-US" sz="1800" dirty="0">
                        <a:solidFill>
                          <a:srgbClr val="1F1F1F"/>
                        </a:solidFill>
                        <a:effectLst/>
                        <a:latin typeface="Google Sans Text"/>
                      </a:endParaRPr>
                    </a:p>
                  </a:txBody>
                  <a:tcPr marL="85522" marR="85522" marT="57014" marB="57014" anchor="ctr">
                    <a:solidFill>
                      <a:schemeClr val="accent5">
                        <a:lumMod val="20000"/>
                        <a:lumOff val="80000"/>
                      </a:schemeClr>
                    </a:solidFill>
                  </a:tcPr>
                </a:tc>
                <a:extLst>
                  <a:ext uri="{0D108BD9-81ED-4DB2-BD59-A6C34878D82A}">
                    <a16:rowId xmlns:a16="http://schemas.microsoft.com/office/drawing/2014/main" val="2509472596"/>
                  </a:ext>
                </a:extLst>
              </a:tr>
              <a:tr h="1228460">
                <a:tc rowSpan="3">
                  <a:txBody>
                    <a:bodyPr/>
                    <a:lstStyle/>
                    <a:p>
                      <a:pPr algn="just" rtl="0">
                        <a:buNone/>
                      </a:pPr>
                      <a:r>
                        <a:rPr lang="en-US" sz="1600" b="1" dirty="0">
                          <a:solidFill>
                            <a:srgbClr val="1F1F1F"/>
                          </a:solidFill>
                          <a:effectLst/>
                        </a:rPr>
                        <a:t>Total/Internal Segments Relationship:</a:t>
                      </a:r>
                      <a:r>
                        <a:rPr lang="en-US" sz="1600" dirty="0">
                          <a:solidFill>
                            <a:srgbClr val="1F1F1F"/>
                          </a:solidFill>
                          <a:effectLst/>
                        </a:rPr>
                        <a:t> Use when the primary goal is to show the </a:t>
                      </a:r>
                      <a:r>
                        <a:rPr lang="en-US" sz="1600" b="1" dirty="0">
                          <a:solidFill>
                            <a:srgbClr val="1F1F1F"/>
                          </a:solidFill>
                          <a:effectLst/>
                        </a:rPr>
                        <a:t>total</a:t>
                      </a:r>
                      <a:r>
                        <a:rPr lang="en-US" sz="1600" dirty="0">
                          <a:solidFill>
                            <a:srgbClr val="1F1F1F"/>
                          </a:solidFill>
                          <a:effectLst/>
                        </a:rPr>
                        <a:t> magnitude of a category while simultaneously showing the internal segments.</a:t>
                      </a:r>
                      <a:endParaRPr lang="en-US" sz="1600" dirty="0">
                        <a:solidFill>
                          <a:srgbClr val="1F1F1F"/>
                        </a:solidFill>
                        <a:effectLst/>
                        <a:latin typeface="Google Sans Text"/>
                      </a:endParaRPr>
                    </a:p>
                  </a:txBody>
                  <a:tcPr marL="85522" marR="85522" marT="57014" marB="57014" anchor="ctr"/>
                </a:tc>
                <a:tc rowSpan="3">
                  <a:txBody>
                    <a:bodyPr/>
                    <a:lstStyle/>
                    <a:p>
                      <a:pPr algn="just" rtl="0">
                        <a:buNone/>
                      </a:pPr>
                      <a:r>
                        <a:rPr lang="en-US" sz="1600" b="0" dirty="0">
                          <a:solidFill>
                            <a:srgbClr val="1F1F1F"/>
                          </a:solidFill>
                          <a:effectLst/>
                        </a:rPr>
                        <a:t>Composition, Breakdown, Contribution, Mix, Ratio, Proportion, Cumulative, Sum, Sub-division, Segment</a:t>
                      </a:r>
                      <a:endParaRPr lang="en-US" sz="1600" b="0" dirty="0">
                        <a:solidFill>
                          <a:srgbClr val="1F1F1F"/>
                        </a:solidFill>
                        <a:effectLst/>
                        <a:latin typeface="Google Sans Text"/>
                      </a:endParaRPr>
                    </a:p>
                  </a:txBody>
                  <a:tcPr marL="85522" marR="85522" marT="57014" marB="57014" anchor="ctr"/>
                </a:tc>
                <a:tc>
                  <a:txBody>
                    <a:bodyPr/>
                    <a:lstStyle/>
                    <a:p>
                      <a:pPr algn="just" rtl="0">
                        <a:buNone/>
                      </a:pPr>
                      <a:r>
                        <a:rPr lang="en-US" sz="1600" dirty="0">
                          <a:solidFill>
                            <a:srgbClr val="1F1F1F"/>
                          </a:solidFill>
                          <a:effectLst/>
                        </a:rPr>
                        <a:t>"What is the total budget for the year, and how much of it is </a:t>
                      </a:r>
                      <a:r>
                        <a:rPr lang="en-US" sz="1600" b="1" dirty="0">
                          <a:solidFill>
                            <a:srgbClr val="1F1F1F"/>
                          </a:solidFill>
                          <a:effectLst/>
                        </a:rPr>
                        <a:t>contributed</a:t>
                      </a:r>
                      <a:r>
                        <a:rPr lang="en-US" sz="1600" dirty="0">
                          <a:solidFill>
                            <a:srgbClr val="1F1F1F"/>
                          </a:solidFill>
                          <a:effectLst/>
                        </a:rPr>
                        <a:t> by each department?"</a:t>
                      </a:r>
                      <a:endParaRPr lang="en-US" sz="1600" dirty="0">
                        <a:solidFill>
                          <a:srgbClr val="1F1F1F"/>
                        </a:solidFill>
                        <a:effectLst/>
                        <a:latin typeface="Google Sans Text"/>
                      </a:endParaRPr>
                    </a:p>
                  </a:txBody>
                  <a:tcPr marL="85522" marR="85522" marT="57014" marB="57014" anchor="ctr"/>
                </a:tc>
                <a:extLst>
                  <a:ext uri="{0D108BD9-81ED-4DB2-BD59-A6C34878D82A}">
                    <a16:rowId xmlns:a16="http://schemas.microsoft.com/office/drawing/2014/main" val="1972091404"/>
                  </a:ext>
                </a:extLst>
              </a:tr>
              <a:tr h="1228460">
                <a:tc vMerge="1">
                  <a:txBody>
                    <a:bodyPr/>
                    <a:lstStyle/>
                    <a:p>
                      <a:pPr algn="just" rtl="0">
                        <a:buNone/>
                      </a:pPr>
                      <a:endParaRPr lang="en-US" sz="1600" dirty="0">
                        <a:solidFill>
                          <a:srgbClr val="1F1F1F"/>
                        </a:solidFill>
                        <a:effectLst/>
                        <a:latin typeface="Google Sans Text"/>
                      </a:endParaRPr>
                    </a:p>
                  </a:txBody>
                  <a:tcPr marL="85522" marR="85522" marT="57014" marB="57014" anchor="ctr"/>
                </a:tc>
                <a:tc vMerge="1">
                  <a:txBody>
                    <a:bodyPr/>
                    <a:lstStyle/>
                    <a:p>
                      <a:endParaRPr/>
                    </a:p>
                  </a:txBody>
                  <a:tcPr marL="85522" marR="85522" marT="57014" marB="57014" anchor="ctr"/>
                </a:tc>
                <a:tc>
                  <a:txBody>
                    <a:bodyPr/>
                    <a:lstStyle/>
                    <a:p>
                      <a:pPr algn="just" rtl="0">
                        <a:buNone/>
                      </a:pPr>
                      <a:r>
                        <a:rPr lang="en-US" sz="1600" dirty="0">
                          <a:solidFill>
                            <a:srgbClr val="1F1F1F"/>
                          </a:solidFill>
                          <a:effectLst/>
                        </a:rPr>
                        <a:t>"Which region has the highest sales, and what is the </a:t>
                      </a:r>
                      <a:r>
                        <a:rPr lang="en-US" sz="1600" b="1" dirty="0">
                          <a:solidFill>
                            <a:srgbClr val="1F1F1F"/>
                          </a:solidFill>
                          <a:effectLst/>
                        </a:rPr>
                        <a:t>product mix</a:t>
                      </a:r>
                      <a:r>
                        <a:rPr lang="en-US" sz="1600" dirty="0">
                          <a:solidFill>
                            <a:srgbClr val="1F1F1F"/>
                          </a:solidFill>
                          <a:effectLst/>
                        </a:rPr>
                        <a:t> (Tablets vs. Laptops) in that region?"</a:t>
                      </a:r>
                      <a:endParaRPr lang="en-US" sz="1600" dirty="0">
                        <a:solidFill>
                          <a:srgbClr val="1F1F1F"/>
                        </a:solidFill>
                        <a:effectLst/>
                        <a:latin typeface="Google Sans Text"/>
                      </a:endParaRPr>
                    </a:p>
                  </a:txBody>
                  <a:tcPr marL="85522" marR="85522" marT="57014" marB="57014" anchor="ctr"/>
                </a:tc>
                <a:extLst>
                  <a:ext uri="{0D108BD9-81ED-4DB2-BD59-A6C34878D82A}">
                    <a16:rowId xmlns:a16="http://schemas.microsoft.com/office/drawing/2014/main" val="3886512819"/>
                  </a:ext>
                </a:extLst>
              </a:tr>
              <a:tr h="1228460">
                <a:tc vMerge="1">
                  <a:txBody>
                    <a:bodyPr/>
                    <a:lstStyle/>
                    <a:p>
                      <a:pPr algn="just" rtl="0">
                        <a:buNone/>
                      </a:pPr>
                      <a:endParaRPr lang="en-US" sz="1600" dirty="0">
                        <a:solidFill>
                          <a:srgbClr val="1F1F1F"/>
                        </a:solidFill>
                        <a:effectLst/>
                        <a:latin typeface="Google Sans Text"/>
                      </a:endParaRPr>
                    </a:p>
                  </a:txBody>
                  <a:tcPr marL="85522" marR="85522" marT="57014" marB="57014" anchor="ctr"/>
                </a:tc>
                <a:tc vMerge="1">
                  <a:txBody>
                    <a:bodyPr/>
                    <a:lstStyle/>
                    <a:p>
                      <a:endParaRPr dirty="0"/>
                    </a:p>
                  </a:txBody>
                  <a:tcPr marL="85522" marR="85522" marT="57014" marB="57014" anchor="ctr"/>
                </a:tc>
                <a:tc>
                  <a:txBody>
                    <a:bodyPr/>
                    <a:lstStyle/>
                    <a:p>
                      <a:pPr algn="just" rtl="0">
                        <a:buNone/>
                      </a:pPr>
                      <a:r>
                        <a:rPr lang="en-US" sz="1600" dirty="0">
                          <a:solidFill>
                            <a:srgbClr val="1F1F1F"/>
                          </a:solidFill>
                          <a:effectLst/>
                        </a:rPr>
                        <a:t>"How is our total workforce </a:t>
                      </a:r>
                      <a:r>
                        <a:rPr lang="en-US" sz="1600" b="1" dirty="0">
                          <a:solidFill>
                            <a:srgbClr val="1F1F1F"/>
                          </a:solidFill>
                          <a:effectLst/>
                        </a:rPr>
                        <a:t>broken down</a:t>
                      </a:r>
                      <a:r>
                        <a:rPr lang="en-US" sz="1600" dirty="0">
                          <a:solidFill>
                            <a:srgbClr val="1F1F1F"/>
                          </a:solidFill>
                          <a:effectLst/>
                        </a:rPr>
                        <a:t> by seniority level across all global branches?"</a:t>
                      </a:r>
                      <a:endParaRPr lang="en-US" sz="1600" dirty="0">
                        <a:solidFill>
                          <a:srgbClr val="1F1F1F"/>
                        </a:solidFill>
                        <a:effectLst/>
                        <a:latin typeface="Google Sans Text"/>
                      </a:endParaRPr>
                    </a:p>
                  </a:txBody>
                  <a:tcPr marL="85522" marR="85522" marT="57014" marB="57014" anchor="ctr"/>
                </a:tc>
                <a:extLst>
                  <a:ext uri="{0D108BD9-81ED-4DB2-BD59-A6C34878D82A}">
                    <a16:rowId xmlns:a16="http://schemas.microsoft.com/office/drawing/2014/main" val="3347776477"/>
                  </a:ext>
                </a:extLst>
              </a:tr>
            </a:tbl>
          </a:graphicData>
        </a:graphic>
      </p:graphicFrame>
    </p:spTree>
    <p:extLst>
      <p:ext uri="{BB962C8B-B14F-4D97-AF65-F5344CB8AC3E}">
        <p14:creationId xmlns:p14="http://schemas.microsoft.com/office/powerpoint/2010/main" val="22595795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0E461-9635-DED9-0843-A34AF8855DFE}"/>
              </a:ext>
            </a:extLst>
          </p:cNvPr>
          <p:cNvSpPr>
            <a:spLocks noGrp="1"/>
          </p:cNvSpPr>
          <p:nvPr>
            <p:ph type="title"/>
          </p:nvPr>
        </p:nvSpPr>
        <p:spPr>
          <a:xfrm>
            <a:off x="700635" y="816427"/>
            <a:ext cx="10691265" cy="696687"/>
          </a:xfrm>
        </p:spPr>
        <p:txBody>
          <a:bodyPr>
            <a:noAutofit/>
          </a:bodyPr>
          <a:lstStyle/>
          <a:p>
            <a:r>
              <a:rPr lang="en-US" sz="3200" dirty="0"/>
              <a:t>How to Draw a stacked chart? (our guidelines)</a:t>
            </a:r>
            <a:endParaRPr lang="en-EG" sz="3200" dirty="0"/>
          </a:p>
        </p:txBody>
      </p:sp>
      <p:graphicFrame>
        <p:nvGraphicFramePr>
          <p:cNvPr id="5" name="Content Placeholder 4">
            <a:extLst>
              <a:ext uri="{FF2B5EF4-FFF2-40B4-BE49-F238E27FC236}">
                <a16:creationId xmlns:a16="http://schemas.microsoft.com/office/drawing/2014/main" id="{7F2E8D73-0637-1457-267C-3F4E0F395B58}"/>
              </a:ext>
            </a:extLst>
          </p:cNvPr>
          <p:cNvGraphicFramePr>
            <a:graphicFrameLocks noGrp="1"/>
          </p:cNvGraphicFramePr>
          <p:nvPr>
            <p:ph idx="1"/>
            <p:extLst>
              <p:ext uri="{D42A27DB-BD31-4B8C-83A1-F6EECF244321}">
                <p14:modId xmlns:p14="http://schemas.microsoft.com/office/powerpoint/2010/main" val="1599660614"/>
              </p:ext>
            </p:extLst>
          </p:nvPr>
        </p:nvGraphicFramePr>
        <p:xfrm>
          <a:off x="700635" y="1977337"/>
          <a:ext cx="10790730" cy="2642999"/>
        </p:xfrm>
        <a:graphic>
          <a:graphicData uri="http://schemas.openxmlformats.org/drawingml/2006/table">
            <a:tbl>
              <a:tblPr>
                <a:tableStyleId>{5940675A-B579-460E-94D1-54222C63F5DA}</a:tableStyleId>
              </a:tblPr>
              <a:tblGrid>
                <a:gridCol w="758051">
                  <a:extLst>
                    <a:ext uri="{9D8B030D-6E8A-4147-A177-3AD203B41FA5}">
                      <a16:colId xmlns:a16="http://schemas.microsoft.com/office/drawing/2014/main" val="2092327845"/>
                    </a:ext>
                  </a:extLst>
                </a:gridCol>
                <a:gridCol w="2188028">
                  <a:extLst>
                    <a:ext uri="{9D8B030D-6E8A-4147-A177-3AD203B41FA5}">
                      <a16:colId xmlns:a16="http://schemas.microsoft.com/office/drawing/2014/main" val="2401887369"/>
                    </a:ext>
                  </a:extLst>
                </a:gridCol>
                <a:gridCol w="7844651">
                  <a:extLst>
                    <a:ext uri="{9D8B030D-6E8A-4147-A177-3AD203B41FA5}">
                      <a16:colId xmlns:a16="http://schemas.microsoft.com/office/drawing/2014/main" val="3766790695"/>
                    </a:ext>
                  </a:extLst>
                </a:gridCol>
              </a:tblGrid>
              <a:tr h="451057">
                <a:tc>
                  <a:txBody>
                    <a:bodyPr/>
                    <a:lstStyle/>
                    <a:p>
                      <a:pPr algn="ctr" rtl="0">
                        <a:buNone/>
                      </a:pPr>
                      <a:r>
                        <a:rPr lang="en-US" sz="1400" b="1" dirty="0">
                          <a:solidFill>
                            <a:srgbClr val="1F1F1F"/>
                          </a:solidFill>
                          <a:effectLst/>
                        </a:rPr>
                        <a:t>Rule #</a:t>
                      </a:r>
                      <a:endParaRPr lang="en-US" sz="1400" dirty="0">
                        <a:solidFill>
                          <a:srgbClr val="1F1F1F"/>
                        </a:solidFill>
                        <a:effectLst/>
                        <a:latin typeface="Google Sans Text"/>
                      </a:endParaRPr>
                    </a:p>
                  </a:txBody>
                  <a:tcPr marL="53738" marR="53738" marT="35825" marB="35825" anchor="ctr">
                    <a:solidFill>
                      <a:schemeClr val="accent5">
                        <a:lumMod val="20000"/>
                        <a:lumOff val="80000"/>
                      </a:schemeClr>
                    </a:solidFill>
                  </a:tcPr>
                </a:tc>
                <a:tc>
                  <a:txBody>
                    <a:bodyPr/>
                    <a:lstStyle/>
                    <a:p>
                      <a:pPr algn="ctr" rtl="0">
                        <a:buNone/>
                      </a:pPr>
                      <a:r>
                        <a:rPr lang="en-US" sz="1400" b="1" dirty="0">
                          <a:solidFill>
                            <a:srgbClr val="1F1F1F"/>
                          </a:solidFill>
                          <a:effectLst/>
                        </a:rPr>
                        <a:t>Guideline</a:t>
                      </a:r>
                      <a:endParaRPr lang="en-US" sz="1400" dirty="0">
                        <a:solidFill>
                          <a:srgbClr val="1F1F1F"/>
                        </a:solidFill>
                        <a:effectLst/>
                        <a:latin typeface="Google Sans Text"/>
                      </a:endParaRPr>
                    </a:p>
                  </a:txBody>
                  <a:tcPr marL="53738" marR="53738" marT="35825" marB="35825" anchor="ctr">
                    <a:solidFill>
                      <a:schemeClr val="accent5">
                        <a:lumMod val="20000"/>
                        <a:lumOff val="80000"/>
                      </a:schemeClr>
                    </a:solidFill>
                  </a:tcPr>
                </a:tc>
                <a:tc>
                  <a:txBody>
                    <a:bodyPr/>
                    <a:lstStyle/>
                    <a:p>
                      <a:pPr rtl="0">
                        <a:buNone/>
                      </a:pPr>
                      <a:r>
                        <a:rPr lang="en-US" sz="1400" b="1" dirty="0">
                          <a:solidFill>
                            <a:srgbClr val="1F1F1F"/>
                          </a:solidFill>
                          <a:effectLst/>
                        </a:rPr>
                        <a:t>Purpose / Description</a:t>
                      </a:r>
                      <a:endParaRPr lang="en-US" sz="1400" dirty="0">
                        <a:solidFill>
                          <a:srgbClr val="1F1F1F"/>
                        </a:solidFill>
                        <a:effectLst/>
                        <a:latin typeface="Google Sans Text"/>
                      </a:endParaRPr>
                    </a:p>
                  </a:txBody>
                  <a:tcPr marL="53738" marR="53738" marT="35825" marB="35825" anchor="ctr">
                    <a:solidFill>
                      <a:schemeClr val="accent5">
                        <a:lumMod val="20000"/>
                        <a:lumOff val="80000"/>
                      </a:schemeClr>
                    </a:solidFill>
                  </a:tcPr>
                </a:tc>
                <a:extLst>
                  <a:ext uri="{0D108BD9-81ED-4DB2-BD59-A6C34878D82A}">
                    <a16:rowId xmlns:a16="http://schemas.microsoft.com/office/drawing/2014/main" val="596583762"/>
                  </a:ext>
                </a:extLst>
              </a:tr>
              <a:tr h="493404">
                <a:tc>
                  <a:txBody>
                    <a:bodyPr/>
                    <a:lstStyle/>
                    <a:p>
                      <a:pPr algn="ctr" rtl="0">
                        <a:buNone/>
                      </a:pPr>
                      <a:r>
                        <a:rPr lang="en-US" sz="1400" b="1" kern="1200" dirty="0">
                          <a:solidFill>
                            <a:srgbClr val="1F1F1F"/>
                          </a:solidFill>
                          <a:effectLst/>
                          <a:latin typeface="+mn-lt"/>
                          <a:ea typeface="+mn-ea"/>
                          <a:cs typeface="+mn-cs"/>
                        </a:rPr>
                        <a:t>Rule </a:t>
                      </a:r>
                    </a:p>
                  </a:txBody>
                  <a:tcPr marL="53738" marR="53738" marT="35825" marB="35825"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kern="1200" dirty="0">
                          <a:solidFill>
                            <a:srgbClr val="1F1F1F"/>
                          </a:solidFill>
                          <a:effectLst/>
                          <a:latin typeface="+mn-lt"/>
                          <a:ea typeface="+mn-ea"/>
                          <a:cs typeface="+mn-cs"/>
                        </a:rPr>
                        <a:t>Color Strategy</a:t>
                      </a:r>
                    </a:p>
                  </a:txBody>
                  <a:tcPr marL="53738" marR="53738" marT="35825" marB="35825" anchor="ctr"/>
                </a:tc>
                <a:tc>
                  <a:txBody>
                    <a:bodyPr/>
                    <a:lstStyle/>
                    <a:p>
                      <a:pPr algn="just" rtl="0">
                        <a:buNone/>
                      </a:pPr>
                      <a:r>
                        <a:rPr lang="en-US" sz="1400" kern="1200" dirty="0">
                          <a:solidFill>
                            <a:srgbClr val="1F1F1F"/>
                          </a:solidFill>
                          <a:effectLst/>
                          <a:latin typeface="+mn-lt"/>
                          <a:ea typeface="+mn-ea"/>
                          <a:cs typeface="+mn-cs"/>
                        </a:rPr>
                        <a:t>Use the lighter and darker versions of the same color for the segments, for instance: “lightblue”, “steelblue”, and “blue” for all the bars a</a:t>
                      </a:r>
                      <a:r>
                        <a:rPr lang="en-US" sz="1400" dirty="0">
                          <a:solidFill>
                            <a:srgbClr val="1F1F1F"/>
                          </a:solidFill>
                          <a:effectLst/>
                        </a:rPr>
                        <a:t>nd a different color (e.g., “</a:t>
                      </a:r>
                      <a:r>
                        <a:rPr lang="en-US" sz="1400" dirty="0">
                          <a:solidFill>
                            <a:srgbClr val="444746"/>
                          </a:solidFill>
                          <a:effectLst/>
                        </a:rPr>
                        <a:t>lightgreen”, “seagreen”, and “green”</a:t>
                      </a:r>
                      <a:r>
                        <a:rPr lang="en-US" sz="1400" dirty="0">
                          <a:solidFill>
                            <a:srgbClr val="1F1F1F"/>
                          </a:solidFill>
                          <a:effectLst/>
                        </a:rPr>
                        <a:t>) for the Highest/Lowest. And black color for all the chart titles and labels.</a:t>
                      </a:r>
                      <a:endParaRPr lang="en-US" sz="1400" kern="1200" dirty="0">
                        <a:solidFill>
                          <a:srgbClr val="1F1F1F"/>
                        </a:solidFill>
                        <a:effectLst/>
                        <a:latin typeface="+mn-lt"/>
                        <a:ea typeface="+mn-ea"/>
                        <a:cs typeface="+mn-cs"/>
                      </a:endParaRPr>
                    </a:p>
                  </a:txBody>
                  <a:tcPr marL="53738" marR="53738" marT="35825" marB="35825" anchor="ctr"/>
                </a:tc>
                <a:extLst>
                  <a:ext uri="{0D108BD9-81ED-4DB2-BD59-A6C34878D82A}">
                    <a16:rowId xmlns:a16="http://schemas.microsoft.com/office/drawing/2014/main" val="975447015"/>
                  </a:ext>
                </a:extLst>
              </a:tr>
              <a:tr h="493404">
                <a:tc>
                  <a:txBody>
                    <a:bodyPr/>
                    <a:lstStyle/>
                    <a:p>
                      <a:pPr algn="ctr" rtl="0">
                        <a:buNone/>
                      </a:pPr>
                      <a:r>
                        <a:rPr lang="en-US" sz="1400" b="1" kern="1200" dirty="0">
                          <a:solidFill>
                            <a:srgbClr val="1F1F1F"/>
                          </a:solidFill>
                          <a:effectLst/>
                          <a:latin typeface="+mn-lt"/>
                          <a:ea typeface="+mn-ea"/>
                          <a:cs typeface="+mn-cs"/>
                        </a:rPr>
                        <a:t>…</a:t>
                      </a:r>
                    </a:p>
                  </a:txBody>
                  <a:tcPr marL="53738" marR="53738" marT="35825" marB="35825"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kern="1200" dirty="0">
                          <a:solidFill>
                            <a:srgbClr val="1F1F1F"/>
                          </a:solidFill>
                          <a:effectLst/>
                          <a:latin typeface="+mn-lt"/>
                          <a:ea typeface="+mn-ea"/>
                          <a:cs typeface="+mn-cs"/>
                        </a:rPr>
                        <a:t>…</a:t>
                      </a:r>
                    </a:p>
                  </a:txBody>
                  <a:tcPr marL="53738" marR="53738" marT="35825" marB="35825" anchor="ctr"/>
                </a:tc>
                <a:tc>
                  <a:txBody>
                    <a:bodyPr/>
                    <a:lstStyle/>
                    <a:p>
                      <a:pPr rtl="0">
                        <a:buNone/>
                      </a:pPr>
                      <a:r>
                        <a:rPr lang="en-US" sz="1400" kern="1200" dirty="0">
                          <a:solidFill>
                            <a:srgbClr val="1F1F1F"/>
                          </a:solidFill>
                          <a:effectLst/>
                          <a:latin typeface="+mn-lt"/>
                          <a:ea typeface="+mn-ea"/>
                          <a:cs typeface="+mn-cs"/>
                        </a:rPr>
                        <a:t>…</a:t>
                      </a:r>
                    </a:p>
                  </a:txBody>
                  <a:tcPr marL="53738" marR="53738" marT="35825" marB="35825" anchor="ctr"/>
                </a:tc>
                <a:extLst>
                  <a:ext uri="{0D108BD9-81ED-4DB2-BD59-A6C34878D82A}">
                    <a16:rowId xmlns:a16="http://schemas.microsoft.com/office/drawing/2014/main" val="4243218953"/>
                  </a:ext>
                </a:extLst>
              </a:tr>
              <a:tr h="493404">
                <a:tc>
                  <a:txBody>
                    <a:bodyPr/>
                    <a:lstStyle/>
                    <a:p>
                      <a:pPr algn="ctr" rtl="0">
                        <a:buNone/>
                      </a:pPr>
                      <a:r>
                        <a:rPr lang="en-US" sz="1400" b="1" kern="1200" dirty="0">
                          <a:solidFill>
                            <a:srgbClr val="1F1F1F"/>
                          </a:solidFill>
                          <a:effectLst/>
                          <a:latin typeface="+mn-lt"/>
                          <a:ea typeface="+mn-ea"/>
                          <a:cs typeface="+mn-cs"/>
                        </a:rPr>
                        <a:t>…</a:t>
                      </a:r>
                    </a:p>
                  </a:txBody>
                  <a:tcPr marL="53738" marR="53738" marT="35825" marB="35825"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kern="1200" dirty="0">
                          <a:solidFill>
                            <a:srgbClr val="1F1F1F"/>
                          </a:solidFill>
                          <a:effectLst/>
                          <a:latin typeface="+mn-lt"/>
                          <a:ea typeface="+mn-ea"/>
                          <a:cs typeface="+mn-cs"/>
                        </a:rPr>
                        <a:t>…</a:t>
                      </a:r>
                    </a:p>
                  </a:txBody>
                  <a:tcPr marL="53738" marR="53738" marT="35825" marB="35825" anchor="ctr"/>
                </a:tc>
                <a:tc>
                  <a:txBody>
                    <a:bodyPr/>
                    <a:lstStyle/>
                    <a:p>
                      <a:pPr rtl="0">
                        <a:buNone/>
                      </a:pPr>
                      <a:r>
                        <a:rPr lang="en-US" sz="1400" kern="1200" dirty="0">
                          <a:solidFill>
                            <a:srgbClr val="1F1F1F"/>
                          </a:solidFill>
                          <a:effectLst/>
                          <a:latin typeface="+mn-lt"/>
                          <a:ea typeface="+mn-ea"/>
                          <a:cs typeface="+mn-cs"/>
                        </a:rPr>
                        <a:t>…</a:t>
                      </a:r>
                    </a:p>
                  </a:txBody>
                  <a:tcPr marL="53738" marR="53738" marT="35825" marB="35825" anchor="ctr"/>
                </a:tc>
                <a:extLst>
                  <a:ext uri="{0D108BD9-81ED-4DB2-BD59-A6C34878D82A}">
                    <a16:rowId xmlns:a16="http://schemas.microsoft.com/office/drawing/2014/main" val="754595764"/>
                  </a:ext>
                </a:extLst>
              </a:tr>
              <a:tr h="493404">
                <a:tc>
                  <a:txBody>
                    <a:bodyPr/>
                    <a:lstStyle/>
                    <a:p>
                      <a:pPr algn="ctr" rtl="0">
                        <a:buNone/>
                      </a:pPr>
                      <a:r>
                        <a:rPr lang="en-US" sz="1400" b="1" kern="1200" dirty="0">
                          <a:solidFill>
                            <a:srgbClr val="1F1F1F"/>
                          </a:solidFill>
                          <a:effectLst/>
                          <a:latin typeface="+mn-lt"/>
                          <a:ea typeface="+mn-ea"/>
                          <a:cs typeface="+mn-cs"/>
                        </a:rPr>
                        <a:t>…</a:t>
                      </a:r>
                    </a:p>
                  </a:txBody>
                  <a:tcPr marL="53738" marR="53738" marT="35825" marB="35825"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kern="1200" dirty="0">
                          <a:solidFill>
                            <a:srgbClr val="1F1F1F"/>
                          </a:solidFill>
                          <a:effectLst/>
                          <a:latin typeface="+mn-lt"/>
                          <a:ea typeface="+mn-ea"/>
                          <a:cs typeface="+mn-cs"/>
                        </a:rPr>
                        <a:t>…</a:t>
                      </a:r>
                    </a:p>
                  </a:txBody>
                  <a:tcPr marL="53738" marR="53738" marT="35825" marB="35825" anchor="ctr"/>
                </a:tc>
                <a:tc>
                  <a:txBody>
                    <a:bodyPr/>
                    <a:lstStyle/>
                    <a:p>
                      <a:pPr rtl="0">
                        <a:buNone/>
                      </a:pPr>
                      <a:r>
                        <a:rPr lang="en-US" sz="1400" kern="1200" dirty="0">
                          <a:solidFill>
                            <a:srgbClr val="1F1F1F"/>
                          </a:solidFill>
                          <a:effectLst/>
                          <a:latin typeface="+mn-lt"/>
                          <a:ea typeface="+mn-ea"/>
                          <a:cs typeface="+mn-cs"/>
                        </a:rPr>
                        <a:t>…</a:t>
                      </a:r>
                    </a:p>
                  </a:txBody>
                  <a:tcPr marL="53738" marR="53738" marT="35825" marB="35825" anchor="ctr"/>
                </a:tc>
                <a:extLst>
                  <a:ext uri="{0D108BD9-81ED-4DB2-BD59-A6C34878D82A}">
                    <a16:rowId xmlns:a16="http://schemas.microsoft.com/office/drawing/2014/main" val="2257399818"/>
                  </a:ext>
                </a:extLst>
              </a:tr>
            </a:tbl>
          </a:graphicData>
        </a:graphic>
      </p:graphicFrame>
      <p:sp>
        <p:nvSpPr>
          <p:cNvPr id="6" name="TextBox 5">
            <a:extLst>
              <a:ext uri="{FF2B5EF4-FFF2-40B4-BE49-F238E27FC236}">
                <a16:creationId xmlns:a16="http://schemas.microsoft.com/office/drawing/2014/main" id="{81979FAB-410E-3FED-384E-61B2E29A8DA3}"/>
              </a:ext>
            </a:extLst>
          </p:cNvPr>
          <p:cNvSpPr txBox="1"/>
          <p:nvPr/>
        </p:nvSpPr>
        <p:spPr>
          <a:xfrm>
            <a:off x="700635" y="4711849"/>
            <a:ext cx="10790730" cy="646331"/>
          </a:xfrm>
          <a:prstGeom prst="rect">
            <a:avLst/>
          </a:prstGeom>
          <a:noFill/>
        </p:spPr>
        <p:txBody>
          <a:bodyPr wrap="square" rtlCol="0">
            <a:spAutoFit/>
          </a:bodyPr>
          <a:lstStyle/>
          <a:p>
            <a:pPr algn="just"/>
            <a:r>
              <a:rPr lang="en-US" dirty="0"/>
              <a:t>NOTE: The stacked chart will follow the same guidelines for the bar or column chart based on the task itself. Except for the color rule.</a:t>
            </a:r>
          </a:p>
        </p:txBody>
      </p:sp>
    </p:spTree>
    <p:extLst>
      <p:ext uri="{BB962C8B-B14F-4D97-AF65-F5344CB8AC3E}">
        <p14:creationId xmlns:p14="http://schemas.microsoft.com/office/powerpoint/2010/main" val="4566459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862B2-BFFF-C103-2CEA-5114BF96FD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B2233F-E66F-FD5D-F328-9A93C34AE307}"/>
              </a:ext>
            </a:extLst>
          </p:cNvPr>
          <p:cNvSpPr>
            <a:spLocks noGrp="1"/>
          </p:cNvSpPr>
          <p:nvPr>
            <p:ph type="title"/>
          </p:nvPr>
        </p:nvSpPr>
        <p:spPr>
          <a:xfrm>
            <a:off x="700635" y="914400"/>
            <a:ext cx="10691265" cy="700644"/>
          </a:xfrm>
        </p:spPr>
        <p:txBody>
          <a:bodyPr>
            <a:normAutofit fontScale="90000"/>
          </a:bodyPr>
          <a:lstStyle/>
          <a:p>
            <a:r>
              <a:rPr lang="en-US" dirty="0"/>
              <a:t>When to use a clustered chart?</a:t>
            </a:r>
            <a:endParaRPr lang="en-EG" dirty="0"/>
          </a:p>
        </p:txBody>
      </p:sp>
      <p:sp>
        <p:nvSpPr>
          <p:cNvPr id="3" name="Content Placeholder 2">
            <a:extLst>
              <a:ext uri="{FF2B5EF4-FFF2-40B4-BE49-F238E27FC236}">
                <a16:creationId xmlns:a16="http://schemas.microsoft.com/office/drawing/2014/main" id="{3268A398-DE55-C782-5781-745A8CCC8BF9}"/>
              </a:ext>
            </a:extLst>
          </p:cNvPr>
          <p:cNvSpPr>
            <a:spLocks noGrp="1"/>
          </p:cNvSpPr>
          <p:nvPr>
            <p:ph idx="1"/>
          </p:nvPr>
        </p:nvSpPr>
        <p:spPr>
          <a:xfrm>
            <a:off x="750367" y="2203704"/>
            <a:ext cx="10691265" cy="3739896"/>
          </a:xfrm>
        </p:spPr>
        <p:txBody>
          <a:bodyPr/>
          <a:lstStyle/>
          <a:p>
            <a:pPr marL="0" indent="0" algn="ctr">
              <a:buNone/>
            </a:pPr>
            <a:endParaRPr lang="en-US" sz="2800" dirty="0">
              <a:solidFill>
                <a:srgbClr val="FF0000"/>
              </a:solidFill>
            </a:endParaRPr>
          </a:p>
          <a:p>
            <a:pPr marL="0" indent="0" algn="just">
              <a:buNone/>
            </a:pPr>
            <a:r>
              <a:rPr lang="en-US" sz="2800" dirty="0">
                <a:solidFill>
                  <a:srgbClr val="FF0000"/>
                </a:solidFill>
              </a:rPr>
              <a:t>Clustered chart is about </a:t>
            </a:r>
            <a:r>
              <a:rPr lang="en-US" sz="2800" b="1" dirty="0">
                <a:solidFill>
                  <a:srgbClr val="FF0000"/>
                </a:solidFill>
              </a:rPr>
              <a:t>side-by-side comparison. </a:t>
            </a:r>
            <a:r>
              <a:rPr lang="en-US" sz="2800" dirty="0">
                <a:solidFill>
                  <a:srgbClr val="FF0000"/>
                </a:solidFill>
              </a:rPr>
              <a:t>In a clustered chart, sub-categories sit side-by-side on the same baseline. This makes it much easier for the audience to compare the individual heights of the "segments" across different categories, though it becomes harder to see the total sum.</a:t>
            </a:r>
            <a:endParaRPr lang="en-EG" sz="2800" dirty="0">
              <a:solidFill>
                <a:srgbClr val="FF0000"/>
              </a:solidFill>
            </a:endParaRPr>
          </a:p>
        </p:txBody>
      </p:sp>
    </p:spTree>
    <p:extLst>
      <p:ext uri="{BB962C8B-B14F-4D97-AF65-F5344CB8AC3E}">
        <p14:creationId xmlns:p14="http://schemas.microsoft.com/office/powerpoint/2010/main" val="15594740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6EB24-C981-B341-87E4-FD2347CDCB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476EA3-83A2-73DA-88DC-7D85AC8958AD}"/>
              </a:ext>
            </a:extLst>
          </p:cNvPr>
          <p:cNvSpPr>
            <a:spLocks noGrp="1"/>
          </p:cNvSpPr>
          <p:nvPr>
            <p:ph type="title"/>
          </p:nvPr>
        </p:nvSpPr>
        <p:spPr>
          <a:xfrm>
            <a:off x="700635" y="914400"/>
            <a:ext cx="10691265" cy="796834"/>
          </a:xfrm>
        </p:spPr>
        <p:txBody>
          <a:bodyPr/>
          <a:lstStyle/>
          <a:p>
            <a:r>
              <a:rPr lang="en-US" dirty="0"/>
              <a:t>When to use a clustered chart?</a:t>
            </a:r>
            <a:endParaRPr lang="en-EG" dirty="0"/>
          </a:p>
        </p:txBody>
      </p:sp>
      <p:graphicFrame>
        <p:nvGraphicFramePr>
          <p:cNvPr id="6" name="Content Placeholder 5">
            <a:extLst>
              <a:ext uri="{FF2B5EF4-FFF2-40B4-BE49-F238E27FC236}">
                <a16:creationId xmlns:a16="http://schemas.microsoft.com/office/drawing/2014/main" id="{6A50961A-A3A6-9649-ABE3-6B80EB08D67A}"/>
              </a:ext>
            </a:extLst>
          </p:cNvPr>
          <p:cNvGraphicFramePr>
            <a:graphicFrameLocks noGrp="1"/>
          </p:cNvGraphicFramePr>
          <p:nvPr>
            <p:ph idx="1"/>
            <p:extLst>
              <p:ext uri="{D42A27DB-BD31-4B8C-83A1-F6EECF244321}">
                <p14:modId xmlns:p14="http://schemas.microsoft.com/office/powerpoint/2010/main" val="2782834773"/>
              </p:ext>
            </p:extLst>
          </p:nvPr>
        </p:nvGraphicFramePr>
        <p:xfrm>
          <a:off x="700635" y="1976820"/>
          <a:ext cx="10691265" cy="3966780"/>
        </p:xfrm>
        <a:graphic>
          <a:graphicData uri="http://schemas.openxmlformats.org/drawingml/2006/table">
            <a:tbl>
              <a:tblPr>
                <a:tableStyleId>{5940675A-B579-460E-94D1-54222C63F5DA}</a:tableStyleId>
              </a:tblPr>
              <a:tblGrid>
                <a:gridCol w="3640011">
                  <a:extLst>
                    <a:ext uri="{9D8B030D-6E8A-4147-A177-3AD203B41FA5}">
                      <a16:colId xmlns:a16="http://schemas.microsoft.com/office/drawing/2014/main" val="625852346"/>
                    </a:ext>
                  </a:extLst>
                </a:gridCol>
                <a:gridCol w="2049137">
                  <a:extLst>
                    <a:ext uri="{9D8B030D-6E8A-4147-A177-3AD203B41FA5}">
                      <a16:colId xmlns:a16="http://schemas.microsoft.com/office/drawing/2014/main" val="3641082749"/>
                    </a:ext>
                  </a:extLst>
                </a:gridCol>
                <a:gridCol w="5002117">
                  <a:extLst>
                    <a:ext uri="{9D8B030D-6E8A-4147-A177-3AD203B41FA5}">
                      <a16:colId xmlns:a16="http://schemas.microsoft.com/office/drawing/2014/main" val="1558459827"/>
                    </a:ext>
                  </a:extLst>
                </a:gridCol>
              </a:tblGrid>
              <a:tr h="608835">
                <a:tc>
                  <a:txBody>
                    <a:bodyPr/>
                    <a:lstStyle/>
                    <a:p>
                      <a:pPr marL="0" algn="l" defTabSz="914400" rtl="0" eaLnBrk="1" latinLnBrk="0" hangingPunct="1">
                        <a:buNone/>
                      </a:pPr>
                      <a:r>
                        <a:rPr lang="en-US" sz="1800" b="1" kern="1200" dirty="0">
                          <a:solidFill>
                            <a:srgbClr val="1F1F1F"/>
                          </a:solidFill>
                          <a:effectLst/>
                        </a:rPr>
                        <a:t>Rule / Condition for Use</a:t>
                      </a:r>
                      <a:endParaRPr lang="en-US" sz="1800" b="1" kern="1200" dirty="0">
                        <a:solidFill>
                          <a:srgbClr val="1F1F1F"/>
                        </a:solidFill>
                        <a:effectLst/>
                        <a:latin typeface="+mn-lt"/>
                        <a:ea typeface="+mn-ea"/>
                        <a:cs typeface="+mn-cs"/>
                      </a:endParaRPr>
                    </a:p>
                  </a:txBody>
                  <a:tcPr marL="102376" marR="102376" marT="68251" marB="68251" anchor="ctr">
                    <a:solidFill>
                      <a:srgbClr val="FFC000"/>
                    </a:solidFill>
                  </a:tcPr>
                </a:tc>
                <a:tc>
                  <a:txBody>
                    <a:bodyPr/>
                    <a:lstStyle/>
                    <a:p>
                      <a:pPr marL="0" algn="l" defTabSz="914400" rtl="0" eaLnBrk="1" latinLnBrk="0" hangingPunct="1">
                        <a:buNone/>
                      </a:pPr>
                      <a:r>
                        <a:rPr lang="en-US" sz="1800" b="1" kern="1200" dirty="0">
                          <a:solidFill>
                            <a:srgbClr val="1F1F1F"/>
                          </a:solidFill>
                          <a:effectLst/>
                        </a:rPr>
                        <a:t>Unique Keywords</a:t>
                      </a:r>
                      <a:endParaRPr lang="en-US" sz="1800" b="1" kern="1200" dirty="0">
                        <a:solidFill>
                          <a:srgbClr val="1F1F1F"/>
                        </a:solidFill>
                        <a:effectLst/>
                        <a:latin typeface="+mn-lt"/>
                        <a:ea typeface="+mn-ea"/>
                        <a:cs typeface="+mn-cs"/>
                      </a:endParaRPr>
                    </a:p>
                  </a:txBody>
                  <a:tcPr marL="102376" marR="102376" marT="68251" marB="68251" anchor="ctr">
                    <a:solidFill>
                      <a:srgbClr val="FFC000"/>
                    </a:solidFill>
                  </a:tcPr>
                </a:tc>
                <a:tc>
                  <a:txBody>
                    <a:bodyPr/>
                    <a:lstStyle/>
                    <a:p>
                      <a:pPr marL="0" algn="l" defTabSz="914400" rtl="0" eaLnBrk="1" latinLnBrk="0" hangingPunct="1">
                        <a:buNone/>
                      </a:pPr>
                      <a:r>
                        <a:rPr lang="en-US" sz="1800" b="1" kern="1200" dirty="0">
                          <a:solidFill>
                            <a:srgbClr val="1F1F1F"/>
                          </a:solidFill>
                          <a:effectLst/>
                        </a:rPr>
                        <a:t>Audience Question Examples</a:t>
                      </a:r>
                      <a:endParaRPr lang="en-US" sz="1800" b="1" kern="1200" dirty="0">
                        <a:solidFill>
                          <a:srgbClr val="1F1F1F"/>
                        </a:solidFill>
                        <a:effectLst/>
                        <a:latin typeface="+mn-lt"/>
                        <a:ea typeface="+mn-ea"/>
                        <a:cs typeface="+mn-cs"/>
                      </a:endParaRPr>
                    </a:p>
                  </a:txBody>
                  <a:tcPr marL="102376" marR="102376" marT="68251" marB="68251" anchor="ctr">
                    <a:solidFill>
                      <a:srgbClr val="FFC000"/>
                    </a:solidFill>
                  </a:tcPr>
                </a:tc>
                <a:extLst>
                  <a:ext uri="{0D108BD9-81ED-4DB2-BD59-A6C34878D82A}">
                    <a16:rowId xmlns:a16="http://schemas.microsoft.com/office/drawing/2014/main" val="537917273"/>
                  </a:ext>
                </a:extLst>
              </a:tr>
              <a:tr h="1119315">
                <a:tc rowSpan="3">
                  <a:txBody>
                    <a:bodyPr/>
                    <a:lstStyle/>
                    <a:p>
                      <a:pPr algn="just" rtl="0">
                        <a:buNone/>
                      </a:pPr>
                      <a:r>
                        <a:rPr lang="en-US" sz="1600" b="1" dirty="0">
                          <a:solidFill>
                            <a:srgbClr val="1F1F1F"/>
                          </a:solidFill>
                          <a:effectLst/>
                        </a:rPr>
                        <a:t>Grouped Evaluation:</a:t>
                      </a:r>
                      <a:r>
                        <a:rPr lang="en-US" sz="1600" dirty="0">
                          <a:solidFill>
                            <a:srgbClr val="1F1F1F"/>
                          </a:solidFill>
                          <a:effectLst/>
                        </a:rPr>
                        <a:t> Use when you want to show sub-categories together without combining them into a single total.</a:t>
                      </a:r>
                      <a:endParaRPr lang="en-US" sz="1600" dirty="0">
                        <a:solidFill>
                          <a:srgbClr val="1F1F1F"/>
                        </a:solidFill>
                        <a:effectLst/>
                        <a:latin typeface="Google Sans Text"/>
                      </a:endParaRPr>
                    </a:p>
                  </a:txBody>
                  <a:tcPr marL="102376" marR="102376" marT="68251" marB="68251" anchor="ctr"/>
                </a:tc>
                <a:tc rowSpan="3">
                  <a:txBody>
                    <a:bodyPr/>
                    <a:lstStyle/>
                    <a:p>
                      <a:pPr algn="just" rtl="0">
                        <a:buNone/>
                      </a:pPr>
                      <a:r>
                        <a:rPr lang="en-US" sz="1600" b="1" dirty="0">
                          <a:solidFill>
                            <a:srgbClr val="1F1F1F"/>
                          </a:solidFill>
                          <a:effectLst/>
                        </a:rPr>
                        <a:t>Leader, Difference, Gap, and Side-by-side</a:t>
                      </a:r>
                      <a:endParaRPr lang="en-US" sz="1600" dirty="0">
                        <a:solidFill>
                          <a:srgbClr val="1F1F1F"/>
                        </a:solidFill>
                        <a:effectLst/>
                        <a:latin typeface="Google Sans Text"/>
                      </a:endParaRPr>
                    </a:p>
                  </a:txBody>
                  <a:tcPr marL="102376" marR="102376" marT="68251" marB="68251" anchor="ctr"/>
                </a:tc>
                <a:tc>
                  <a:txBody>
                    <a:bodyPr/>
                    <a:lstStyle/>
                    <a:p>
                      <a:pPr algn="just" rtl="0">
                        <a:buNone/>
                      </a:pPr>
                      <a:r>
                        <a:rPr lang="en-US" sz="1600" dirty="0">
                          <a:solidFill>
                            <a:srgbClr val="1F1F1F"/>
                          </a:solidFill>
                          <a:effectLst/>
                        </a:rPr>
                        <a:t>"Who is the clear </a:t>
                      </a:r>
                      <a:r>
                        <a:rPr lang="en-US" sz="1600" b="1" dirty="0">
                          <a:solidFill>
                            <a:srgbClr val="1F1F1F"/>
                          </a:solidFill>
                          <a:effectLst/>
                        </a:rPr>
                        <a:t>Leader</a:t>
                      </a:r>
                      <a:r>
                        <a:rPr lang="en-US" sz="1600" dirty="0">
                          <a:solidFill>
                            <a:srgbClr val="1F1F1F"/>
                          </a:solidFill>
                          <a:effectLst/>
                        </a:rPr>
                        <a:t> in sales between the Junior and Senior teams for each region?"</a:t>
                      </a:r>
                      <a:endParaRPr lang="en-US" sz="1600" dirty="0">
                        <a:solidFill>
                          <a:srgbClr val="1F1F1F"/>
                        </a:solidFill>
                        <a:effectLst/>
                        <a:latin typeface="Google Sans Text"/>
                      </a:endParaRPr>
                    </a:p>
                  </a:txBody>
                  <a:tcPr marL="102376" marR="102376" marT="68251" marB="68251" anchor="ctr"/>
                </a:tc>
                <a:extLst>
                  <a:ext uri="{0D108BD9-81ED-4DB2-BD59-A6C34878D82A}">
                    <a16:rowId xmlns:a16="http://schemas.microsoft.com/office/drawing/2014/main" val="3268192014"/>
                  </a:ext>
                </a:extLst>
              </a:tr>
              <a:tr h="1119315">
                <a:tc vMerge="1">
                  <a:txBody>
                    <a:bodyPr/>
                    <a:lstStyle/>
                    <a:p>
                      <a:pPr rtl="0">
                        <a:buNone/>
                      </a:pPr>
                      <a:endParaRPr lang="en-US" sz="1600" dirty="0">
                        <a:solidFill>
                          <a:srgbClr val="1F1F1F"/>
                        </a:solidFill>
                        <a:effectLst/>
                        <a:latin typeface="Google Sans Text"/>
                      </a:endParaRPr>
                    </a:p>
                  </a:txBody>
                  <a:tcPr marL="102376" marR="102376" marT="68251" marB="6825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vMerge="1">
                  <a:txBody>
                    <a:bodyPr/>
                    <a:lstStyle/>
                    <a:p>
                      <a:endParaRPr/>
                    </a:p>
                  </a:txBody>
                  <a:tcPr marL="102376" marR="102376" marT="68251" marB="6825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just" rtl="0">
                        <a:buNone/>
                      </a:pPr>
                      <a:r>
                        <a:rPr lang="en-US" sz="1600" dirty="0">
                          <a:solidFill>
                            <a:srgbClr val="1F1F1F"/>
                          </a:solidFill>
                          <a:effectLst/>
                        </a:rPr>
                        <a:t>"What is the </a:t>
                      </a:r>
                      <a:r>
                        <a:rPr lang="en-US" sz="1600" b="1" dirty="0">
                          <a:solidFill>
                            <a:srgbClr val="1F1F1F"/>
                          </a:solidFill>
                          <a:effectLst/>
                        </a:rPr>
                        <a:t>Difference</a:t>
                      </a:r>
                      <a:r>
                        <a:rPr lang="en-US" sz="1600" dirty="0">
                          <a:solidFill>
                            <a:srgbClr val="1F1F1F"/>
                          </a:solidFill>
                          <a:effectLst/>
                        </a:rPr>
                        <a:t> in price between our product and the competitors, and how large is that </a:t>
                      </a:r>
                      <a:r>
                        <a:rPr lang="en-US" sz="1600" b="1" dirty="0">
                          <a:solidFill>
                            <a:srgbClr val="1F1F1F"/>
                          </a:solidFill>
                          <a:effectLst/>
                        </a:rPr>
                        <a:t>Gap</a:t>
                      </a:r>
                      <a:r>
                        <a:rPr lang="en-US" sz="1600" dirty="0">
                          <a:solidFill>
                            <a:srgbClr val="1F1F1F"/>
                          </a:solidFill>
                          <a:effectLst/>
                        </a:rPr>
                        <a:t> across different cities?"</a:t>
                      </a:r>
                      <a:endParaRPr lang="en-US" sz="1600" dirty="0">
                        <a:solidFill>
                          <a:srgbClr val="1F1F1F"/>
                        </a:solidFill>
                        <a:effectLst/>
                        <a:latin typeface="Google Sans Text"/>
                      </a:endParaRPr>
                    </a:p>
                  </a:txBody>
                  <a:tcPr marL="102376" marR="102376" marT="68251" marB="68251" anchor="ctr"/>
                </a:tc>
                <a:extLst>
                  <a:ext uri="{0D108BD9-81ED-4DB2-BD59-A6C34878D82A}">
                    <a16:rowId xmlns:a16="http://schemas.microsoft.com/office/drawing/2014/main" val="2338034413"/>
                  </a:ext>
                </a:extLst>
              </a:tr>
              <a:tr h="1119315">
                <a:tc vMerge="1">
                  <a:txBody>
                    <a:bodyPr/>
                    <a:lstStyle/>
                    <a:p>
                      <a:endParaRPr dirty="0"/>
                    </a:p>
                  </a:txBody>
                  <a:tcPr marL="102376" marR="102376" marT="68251" marB="6825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vMerge="1">
                  <a:txBody>
                    <a:bodyPr/>
                    <a:lstStyle/>
                    <a:p>
                      <a:endParaRPr dirty="0"/>
                    </a:p>
                  </a:txBody>
                  <a:tcPr marL="102376" marR="102376" marT="68251" marB="6825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just" rtl="0">
                        <a:buNone/>
                      </a:pPr>
                      <a:r>
                        <a:rPr lang="en-US" sz="1600" dirty="0">
                          <a:solidFill>
                            <a:srgbClr val="1F1F1F"/>
                          </a:solidFill>
                          <a:effectLst/>
                        </a:rPr>
                        <a:t>"When we look at Budget vs. Actual spending </a:t>
                      </a:r>
                      <a:r>
                        <a:rPr lang="en-US" sz="1600" b="1" dirty="0">
                          <a:solidFill>
                            <a:srgbClr val="1F1F1F"/>
                          </a:solidFill>
                          <a:effectLst/>
                        </a:rPr>
                        <a:t>Side-by-side</a:t>
                      </a:r>
                      <a:r>
                        <a:rPr lang="en-US" sz="1600" dirty="0">
                          <a:solidFill>
                            <a:srgbClr val="1F1F1F"/>
                          </a:solidFill>
                          <a:effectLst/>
                        </a:rPr>
                        <a:t>, which department stayed on track?"</a:t>
                      </a:r>
                      <a:endParaRPr lang="en-US" sz="1600" dirty="0">
                        <a:solidFill>
                          <a:srgbClr val="1F1F1F"/>
                        </a:solidFill>
                        <a:effectLst/>
                        <a:latin typeface="Google Sans Text"/>
                      </a:endParaRPr>
                    </a:p>
                  </a:txBody>
                  <a:tcPr marL="102376" marR="102376" marT="68251" marB="68251" anchor="ctr"/>
                </a:tc>
                <a:extLst>
                  <a:ext uri="{0D108BD9-81ED-4DB2-BD59-A6C34878D82A}">
                    <a16:rowId xmlns:a16="http://schemas.microsoft.com/office/drawing/2014/main" val="673427611"/>
                  </a:ext>
                </a:extLst>
              </a:tr>
            </a:tbl>
          </a:graphicData>
        </a:graphic>
      </p:graphicFrame>
    </p:spTree>
    <p:extLst>
      <p:ext uri="{BB962C8B-B14F-4D97-AF65-F5344CB8AC3E}">
        <p14:creationId xmlns:p14="http://schemas.microsoft.com/office/powerpoint/2010/main" val="27212223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985CF-381C-7ED1-37D0-EB1D806DD0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052AC3-C6D8-2E08-2038-0740FD63DE6F}"/>
              </a:ext>
            </a:extLst>
          </p:cNvPr>
          <p:cNvSpPr>
            <a:spLocks noGrp="1"/>
          </p:cNvSpPr>
          <p:nvPr>
            <p:ph type="title"/>
          </p:nvPr>
        </p:nvSpPr>
        <p:spPr>
          <a:xfrm>
            <a:off x="700635" y="816427"/>
            <a:ext cx="10691265" cy="696687"/>
          </a:xfrm>
        </p:spPr>
        <p:txBody>
          <a:bodyPr>
            <a:noAutofit/>
          </a:bodyPr>
          <a:lstStyle/>
          <a:p>
            <a:r>
              <a:rPr lang="en-US" sz="3200" dirty="0"/>
              <a:t>How to Draw a clustered chart? (our guidelines)</a:t>
            </a:r>
            <a:endParaRPr lang="en-EG" sz="3200" dirty="0"/>
          </a:p>
        </p:txBody>
      </p:sp>
      <p:graphicFrame>
        <p:nvGraphicFramePr>
          <p:cNvPr id="5" name="Content Placeholder 4">
            <a:extLst>
              <a:ext uri="{FF2B5EF4-FFF2-40B4-BE49-F238E27FC236}">
                <a16:creationId xmlns:a16="http://schemas.microsoft.com/office/drawing/2014/main" id="{87C7A7D7-9724-5796-3F69-5D5269C49226}"/>
              </a:ext>
            </a:extLst>
          </p:cNvPr>
          <p:cNvGraphicFramePr>
            <a:graphicFrameLocks noGrp="1"/>
          </p:cNvGraphicFramePr>
          <p:nvPr>
            <p:ph idx="1"/>
            <p:extLst>
              <p:ext uri="{D42A27DB-BD31-4B8C-83A1-F6EECF244321}">
                <p14:modId xmlns:p14="http://schemas.microsoft.com/office/powerpoint/2010/main" val="2795475219"/>
              </p:ext>
            </p:extLst>
          </p:nvPr>
        </p:nvGraphicFramePr>
        <p:xfrm>
          <a:off x="700635" y="1977337"/>
          <a:ext cx="10790730" cy="2642999"/>
        </p:xfrm>
        <a:graphic>
          <a:graphicData uri="http://schemas.openxmlformats.org/drawingml/2006/table">
            <a:tbl>
              <a:tblPr>
                <a:tableStyleId>{5940675A-B579-460E-94D1-54222C63F5DA}</a:tableStyleId>
              </a:tblPr>
              <a:tblGrid>
                <a:gridCol w="758051">
                  <a:extLst>
                    <a:ext uri="{9D8B030D-6E8A-4147-A177-3AD203B41FA5}">
                      <a16:colId xmlns:a16="http://schemas.microsoft.com/office/drawing/2014/main" val="2092327845"/>
                    </a:ext>
                  </a:extLst>
                </a:gridCol>
                <a:gridCol w="2188028">
                  <a:extLst>
                    <a:ext uri="{9D8B030D-6E8A-4147-A177-3AD203B41FA5}">
                      <a16:colId xmlns:a16="http://schemas.microsoft.com/office/drawing/2014/main" val="2401887369"/>
                    </a:ext>
                  </a:extLst>
                </a:gridCol>
                <a:gridCol w="7844651">
                  <a:extLst>
                    <a:ext uri="{9D8B030D-6E8A-4147-A177-3AD203B41FA5}">
                      <a16:colId xmlns:a16="http://schemas.microsoft.com/office/drawing/2014/main" val="3766790695"/>
                    </a:ext>
                  </a:extLst>
                </a:gridCol>
              </a:tblGrid>
              <a:tr h="451057">
                <a:tc>
                  <a:txBody>
                    <a:bodyPr/>
                    <a:lstStyle/>
                    <a:p>
                      <a:pPr algn="ctr" rtl="0">
                        <a:buNone/>
                      </a:pPr>
                      <a:r>
                        <a:rPr lang="en-US" sz="1400" b="1" dirty="0">
                          <a:solidFill>
                            <a:srgbClr val="1F1F1F"/>
                          </a:solidFill>
                          <a:effectLst/>
                        </a:rPr>
                        <a:t>Rule #</a:t>
                      </a:r>
                      <a:endParaRPr lang="en-US" sz="1400" dirty="0">
                        <a:solidFill>
                          <a:srgbClr val="1F1F1F"/>
                        </a:solidFill>
                        <a:effectLst/>
                        <a:latin typeface="Google Sans Text"/>
                      </a:endParaRPr>
                    </a:p>
                  </a:txBody>
                  <a:tcPr marL="53738" marR="53738" marT="35825" marB="35825" anchor="ctr">
                    <a:solidFill>
                      <a:srgbClr val="FFC000"/>
                    </a:solidFill>
                  </a:tcPr>
                </a:tc>
                <a:tc>
                  <a:txBody>
                    <a:bodyPr/>
                    <a:lstStyle/>
                    <a:p>
                      <a:pPr algn="ctr" rtl="0">
                        <a:buNone/>
                      </a:pPr>
                      <a:r>
                        <a:rPr lang="en-US" sz="1400" b="1" dirty="0">
                          <a:solidFill>
                            <a:srgbClr val="1F1F1F"/>
                          </a:solidFill>
                          <a:effectLst/>
                        </a:rPr>
                        <a:t>Guideline</a:t>
                      </a:r>
                      <a:endParaRPr lang="en-US" sz="1400" dirty="0">
                        <a:solidFill>
                          <a:srgbClr val="1F1F1F"/>
                        </a:solidFill>
                        <a:effectLst/>
                        <a:latin typeface="Google Sans Text"/>
                      </a:endParaRPr>
                    </a:p>
                  </a:txBody>
                  <a:tcPr marL="53738" marR="53738" marT="35825" marB="35825" anchor="ctr">
                    <a:solidFill>
                      <a:srgbClr val="FFC000"/>
                    </a:solidFill>
                  </a:tcPr>
                </a:tc>
                <a:tc>
                  <a:txBody>
                    <a:bodyPr/>
                    <a:lstStyle/>
                    <a:p>
                      <a:pPr rtl="0">
                        <a:buNone/>
                      </a:pPr>
                      <a:r>
                        <a:rPr lang="en-US" sz="1400" b="1" dirty="0">
                          <a:solidFill>
                            <a:srgbClr val="1F1F1F"/>
                          </a:solidFill>
                          <a:effectLst/>
                        </a:rPr>
                        <a:t>Purpose / Description</a:t>
                      </a:r>
                      <a:endParaRPr lang="en-US" sz="1400" dirty="0">
                        <a:solidFill>
                          <a:srgbClr val="1F1F1F"/>
                        </a:solidFill>
                        <a:effectLst/>
                        <a:latin typeface="Google Sans Text"/>
                      </a:endParaRPr>
                    </a:p>
                  </a:txBody>
                  <a:tcPr marL="53738" marR="53738" marT="35825" marB="35825" anchor="ctr">
                    <a:solidFill>
                      <a:srgbClr val="FFC000"/>
                    </a:solidFill>
                  </a:tcPr>
                </a:tc>
                <a:extLst>
                  <a:ext uri="{0D108BD9-81ED-4DB2-BD59-A6C34878D82A}">
                    <a16:rowId xmlns:a16="http://schemas.microsoft.com/office/drawing/2014/main" val="596583762"/>
                  </a:ext>
                </a:extLst>
              </a:tr>
              <a:tr h="493404">
                <a:tc>
                  <a:txBody>
                    <a:bodyPr/>
                    <a:lstStyle/>
                    <a:p>
                      <a:pPr algn="ctr" rtl="0">
                        <a:buNone/>
                      </a:pPr>
                      <a:r>
                        <a:rPr lang="en-US" sz="1400" b="1" kern="1200" dirty="0">
                          <a:solidFill>
                            <a:srgbClr val="1F1F1F"/>
                          </a:solidFill>
                          <a:effectLst/>
                          <a:latin typeface="+mn-lt"/>
                          <a:ea typeface="+mn-ea"/>
                          <a:cs typeface="+mn-cs"/>
                        </a:rPr>
                        <a:t>Rule </a:t>
                      </a:r>
                    </a:p>
                  </a:txBody>
                  <a:tcPr marL="53738" marR="53738" marT="35825" marB="35825"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kern="1200" dirty="0">
                          <a:solidFill>
                            <a:srgbClr val="1F1F1F"/>
                          </a:solidFill>
                          <a:effectLst/>
                          <a:latin typeface="+mn-lt"/>
                          <a:ea typeface="+mn-ea"/>
                          <a:cs typeface="+mn-cs"/>
                        </a:rPr>
                        <a:t>Color Strategy</a:t>
                      </a:r>
                    </a:p>
                  </a:txBody>
                  <a:tcPr marL="53738" marR="53738" marT="35825" marB="35825" anchor="ctr"/>
                </a:tc>
                <a:tc>
                  <a:txBody>
                    <a:bodyPr/>
                    <a:lstStyle/>
                    <a:p>
                      <a:pPr algn="just" rtl="0">
                        <a:buNone/>
                      </a:pPr>
                      <a:r>
                        <a:rPr lang="en-US" sz="1400" kern="1200" dirty="0">
                          <a:solidFill>
                            <a:srgbClr val="1F1F1F"/>
                          </a:solidFill>
                          <a:effectLst/>
                          <a:latin typeface="+mn-lt"/>
                          <a:ea typeface="+mn-ea"/>
                          <a:cs typeface="+mn-cs"/>
                        </a:rPr>
                        <a:t>Use the lighter and darker versions of the same color for the segments, for instance: “lightblue”, “steelblue”, and “blue” for all the bars a</a:t>
                      </a:r>
                      <a:r>
                        <a:rPr lang="en-US" sz="1400" dirty="0">
                          <a:solidFill>
                            <a:srgbClr val="1F1F1F"/>
                          </a:solidFill>
                          <a:effectLst/>
                        </a:rPr>
                        <a:t>nd a different color (e.g., “</a:t>
                      </a:r>
                      <a:r>
                        <a:rPr lang="en-US" sz="1400" dirty="0">
                          <a:solidFill>
                            <a:srgbClr val="444746"/>
                          </a:solidFill>
                          <a:effectLst/>
                        </a:rPr>
                        <a:t>lightgreen”, “seagreen”, and “green”</a:t>
                      </a:r>
                      <a:r>
                        <a:rPr lang="en-US" sz="1400" dirty="0">
                          <a:solidFill>
                            <a:srgbClr val="1F1F1F"/>
                          </a:solidFill>
                          <a:effectLst/>
                        </a:rPr>
                        <a:t>) for the Highest/Lowest. And black color for all the chart titles and labels.</a:t>
                      </a:r>
                      <a:r>
                        <a:rPr lang="en-US" sz="1400" kern="1200" dirty="0">
                          <a:solidFill>
                            <a:srgbClr val="1F1F1F"/>
                          </a:solidFill>
                          <a:effectLst/>
                          <a:latin typeface="+mn-lt"/>
                          <a:ea typeface="+mn-ea"/>
                          <a:cs typeface="+mn-cs"/>
                        </a:rPr>
                        <a:t> </a:t>
                      </a:r>
                    </a:p>
                  </a:txBody>
                  <a:tcPr marL="53738" marR="53738" marT="35825" marB="35825" anchor="ctr"/>
                </a:tc>
                <a:extLst>
                  <a:ext uri="{0D108BD9-81ED-4DB2-BD59-A6C34878D82A}">
                    <a16:rowId xmlns:a16="http://schemas.microsoft.com/office/drawing/2014/main" val="975447015"/>
                  </a:ext>
                </a:extLst>
              </a:tr>
              <a:tr h="493404">
                <a:tc>
                  <a:txBody>
                    <a:bodyPr/>
                    <a:lstStyle/>
                    <a:p>
                      <a:pPr algn="ctr" rtl="0">
                        <a:buNone/>
                      </a:pPr>
                      <a:r>
                        <a:rPr lang="en-US" sz="1400" b="1" kern="1200" dirty="0">
                          <a:solidFill>
                            <a:srgbClr val="1F1F1F"/>
                          </a:solidFill>
                          <a:effectLst/>
                          <a:latin typeface="+mn-lt"/>
                          <a:ea typeface="+mn-ea"/>
                          <a:cs typeface="+mn-cs"/>
                        </a:rPr>
                        <a:t>…</a:t>
                      </a:r>
                    </a:p>
                  </a:txBody>
                  <a:tcPr marL="53738" marR="53738" marT="35825" marB="35825"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kern="1200" dirty="0">
                          <a:solidFill>
                            <a:srgbClr val="1F1F1F"/>
                          </a:solidFill>
                          <a:effectLst/>
                          <a:latin typeface="+mn-lt"/>
                          <a:ea typeface="+mn-ea"/>
                          <a:cs typeface="+mn-cs"/>
                        </a:rPr>
                        <a:t>…</a:t>
                      </a:r>
                    </a:p>
                  </a:txBody>
                  <a:tcPr marL="53738" marR="53738" marT="35825" marB="35825" anchor="ctr"/>
                </a:tc>
                <a:tc>
                  <a:txBody>
                    <a:bodyPr/>
                    <a:lstStyle/>
                    <a:p>
                      <a:pPr rtl="0">
                        <a:buNone/>
                      </a:pPr>
                      <a:r>
                        <a:rPr lang="en-US" sz="1400" kern="1200" dirty="0">
                          <a:solidFill>
                            <a:srgbClr val="1F1F1F"/>
                          </a:solidFill>
                          <a:effectLst/>
                          <a:latin typeface="+mn-lt"/>
                          <a:ea typeface="+mn-ea"/>
                          <a:cs typeface="+mn-cs"/>
                        </a:rPr>
                        <a:t>…</a:t>
                      </a:r>
                    </a:p>
                  </a:txBody>
                  <a:tcPr marL="53738" marR="53738" marT="35825" marB="35825" anchor="ctr"/>
                </a:tc>
                <a:extLst>
                  <a:ext uri="{0D108BD9-81ED-4DB2-BD59-A6C34878D82A}">
                    <a16:rowId xmlns:a16="http://schemas.microsoft.com/office/drawing/2014/main" val="4243218953"/>
                  </a:ext>
                </a:extLst>
              </a:tr>
              <a:tr h="493404">
                <a:tc>
                  <a:txBody>
                    <a:bodyPr/>
                    <a:lstStyle/>
                    <a:p>
                      <a:pPr algn="ctr" rtl="0">
                        <a:buNone/>
                      </a:pPr>
                      <a:r>
                        <a:rPr lang="en-US" sz="1400" b="1" kern="1200" dirty="0">
                          <a:solidFill>
                            <a:srgbClr val="1F1F1F"/>
                          </a:solidFill>
                          <a:effectLst/>
                          <a:latin typeface="+mn-lt"/>
                          <a:ea typeface="+mn-ea"/>
                          <a:cs typeface="+mn-cs"/>
                        </a:rPr>
                        <a:t>…</a:t>
                      </a:r>
                    </a:p>
                  </a:txBody>
                  <a:tcPr marL="53738" marR="53738" marT="35825" marB="35825"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kern="1200" dirty="0">
                          <a:solidFill>
                            <a:srgbClr val="1F1F1F"/>
                          </a:solidFill>
                          <a:effectLst/>
                          <a:latin typeface="+mn-lt"/>
                          <a:ea typeface="+mn-ea"/>
                          <a:cs typeface="+mn-cs"/>
                        </a:rPr>
                        <a:t>…</a:t>
                      </a:r>
                    </a:p>
                  </a:txBody>
                  <a:tcPr marL="53738" marR="53738" marT="35825" marB="35825" anchor="ctr"/>
                </a:tc>
                <a:tc>
                  <a:txBody>
                    <a:bodyPr/>
                    <a:lstStyle/>
                    <a:p>
                      <a:pPr rtl="0">
                        <a:buNone/>
                      </a:pPr>
                      <a:r>
                        <a:rPr lang="en-US" sz="1400" kern="1200" dirty="0">
                          <a:solidFill>
                            <a:srgbClr val="1F1F1F"/>
                          </a:solidFill>
                          <a:effectLst/>
                          <a:latin typeface="+mn-lt"/>
                          <a:ea typeface="+mn-ea"/>
                          <a:cs typeface="+mn-cs"/>
                        </a:rPr>
                        <a:t>…</a:t>
                      </a:r>
                    </a:p>
                  </a:txBody>
                  <a:tcPr marL="53738" marR="53738" marT="35825" marB="35825" anchor="ctr"/>
                </a:tc>
                <a:extLst>
                  <a:ext uri="{0D108BD9-81ED-4DB2-BD59-A6C34878D82A}">
                    <a16:rowId xmlns:a16="http://schemas.microsoft.com/office/drawing/2014/main" val="754595764"/>
                  </a:ext>
                </a:extLst>
              </a:tr>
              <a:tr h="493404">
                <a:tc>
                  <a:txBody>
                    <a:bodyPr/>
                    <a:lstStyle/>
                    <a:p>
                      <a:pPr algn="ctr" rtl="0">
                        <a:buNone/>
                      </a:pPr>
                      <a:r>
                        <a:rPr lang="en-US" sz="1400" b="1" kern="1200" dirty="0">
                          <a:solidFill>
                            <a:srgbClr val="1F1F1F"/>
                          </a:solidFill>
                          <a:effectLst/>
                          <a:latin typeface="+mn-lt"/>
                          <a:ea typeface="+mn-ea"/>
                          <a:cs typeface="+mn-cs"/>
                        </a:rPr>
                        <a:t>…</a:t>
                      </a:r>
                    </a:p>
                  </a:txBody>
                  <a:tcPr marL="53738" marR="53738" marT="35825" marB="35825"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kern="1200" dirty="0">
                          <a:solidFill>
                            <a:srgbClr val="1F1F1F"/>
                          </a:solidFill>
                          <a:effectLst/>
                          <a:latin typeface="+mn-lt"/>
                          <a:ea typeface="+mn-ea"/>
                          <a:cs typeface="+mn-cs"/>
                        </a:rPr>
                        <a:t>…</a:t>
                      </a:r>
                    </a:p>
                  </a:txBody>
                  <a:tcPr marL="53738" marR="53738" marT="35825" marB="35825" anchor="ctr"/>
                </a:tc>
                <a:tc>
                  <a:txBody>
                    <a:bodyPr/>
                    <a:lstStyle/>
                    <a:p>
                      <a:pPr rtl="0">
                        <a:buNone/>
                      </a:pPr>
                      <a:r>
                        <a:rPr lang="en-US" sz="1400" kern="1200" dirty="0">
                          <a:solidFill>
                            <a:srgbClr val="1F1F1F"/>
                          </a:solidFill>
                          <a:effectLst/>
                          <a:latin typeface="+mn-lt"/>
                          <a:ea typeface="+mn-ea"/>
                          <a:cs typeface="+mn-cs"/>
                        </a:rPr>
                        <a:t>…</a:t>
                      </a:r>
                    </a:p>
                  </a:txBody>
                  <a:tcPr marL="53738" marR="53738" marT="35825" marB="35825" anchor="ctr"/>
                </a:tc>
                <a:extLst>
                  <a:ext uri="{0D108BD9-81ED-4DB2-BD59-A6C34878D82A}">
                    <a16:rowId xmlns:a16="http://schemas.microsoft.com/office/drawing/2014/main" val="2257399818"/>
                  </a:ext>
                </a:extLst>
              </a:tr>
            </a:tbl>
          </a:graphicData>
        </a:graphic>
      </p:graphicFrame>
      <p:sp>
        <p:nvSpPr>
          <p:cNvPr id="6" name="TextBox 5">
            <a:extLst>
              <a:ext uri="{FF2B5EF4-FFF2-40B4-BE49-F238E27FC236}">
                <a16:creationId xmlns:a16="http://schemas.microsoft.com/office/drawing/2014/main" id="{C08911D4-0010-2A0D-7428-3727252D32CD}"/>
              </a:ext>
            </a:extLst>
          </p:cNvPr>
          <p:cNvSpPr txBox="1"/>
          <p:nvPr/>
        </p:nvSpPr>
        <p:spPr>
          <a:xfrm>
            <a:off x="700635" y="4711849"/>
            <a:ext cx="10790730" cy="646331"/>
          </a:xfrm>
          <a:prstGeom prst="rect">
            <a:avLst/>
          </a:prstGeom>
          <a:noFill/>
        </p:spPr>
        <p:txBody>
          <a:bodyPr wrap="square" rtlCol="0">
            <a:spAutoFit/>
          </a:bodyPr>
          <a:lstStyle/>
          <a:p>
            <a:pPr algn="just"/>
            <a:r>
              <a:rPr lang="en-US" dirty="0"/>
              <a:t>NOTE: The clustered chart will follow the same guidelines for the bar or column chart based on the task itself. Except for the color rule.</a:t>
            </a:r>
          </a:p>
        </p:txBody>
      </p:sp>
    </p:spTree>
    <p:extLst>
      <p:ext uri="{BB962C8B-B14F-4D97-AF65-F5344CB8AC3E}">
        <p14:creationId xmlns:p14="http://schemas.microsoft.com/office/powerpoint/2010/main" val="37404535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CC57E-BAC0-6B0E-B218-CEE1FB1F56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11E16E-1502-7A84-1A73-81EBE4D2DD25}"/>
              </a:ext>
            </a:extLst>
          </p:cNvPr>
          <p:cNvSpPr>
            <a:spLocks noGrp="1"/>
          </p:cNvSpPr>
          <p:nvPr>
            <p:ph type="title"/>
          </p:nvPr>
        </p:nvSpPr>
        <p:spPr>
          <a:xfrm>
            <a:off x="704088" y="849851"/>
            <a:ext cx="5239272" cy="1280163"/>
          </a:xfrm>
        </p:spPr>
        <p:txBody>
          <a:bodyPr>
            <a:normAutofit fontScale="90000"/>
          </a:bodyPr>
          <a:lstStyle/>
          <a:p>
            <a:r>
              <a:rPr lang="en-US" dirty="0"/>
              <a:t>Practical Exercise 1: stacked chart</a:t>
            </a:r>
            <a:endParaRPr lang="en-EG" dirty="0"/>
          </a:p>
        </p:txBody>
      </p:sp>
      <p:sp>
        <p:nvSpPr>
          <p:cNvPr id="3" name="Content Placeholder 2">
            <a:extLst>
              <a:ext uri="{FF2B5EF4-FFF2-40B4-BE49-F238E27FC236}">
                <a16:creationId xmlns:a16="http://schemas.microsoft.com/office/drawing/2014/main" id="{2D2B71A2-936B-A1DB-EDFA-A8F45392C382}"/>
              </a:ext>
            </a:extLst>
          </p:cNvPr>
          <p:cNvSpPr>
            <a:spLocks noGrp="1"/>
          </p:cNvSpPr>
          <p:nvPr>
            <p:ph idx="1"/>
          </p:nvPr>
        </p:nvSpPr>
        <p:spPr>
          <a:xfrm>
            <a:off x="6346176" y="914399"/>
            <a:ext cx="5138688" cy="5248657"/>
          </a:xfrm>
        </p:spPr>
        <p:txBody>
          <a:bodyPr>
            <a:normAutofit lnSpcReduction="10000"/>
          </a:bodyPr>
          <a:lstStyle/>
          <a:p>
            <a:pPr marL="0" indent="0">
              <a:buNone/>
            </a:pPr>
            <a:r>
              <a:rPr lang="en-US" b="1" dirty="0"/>
              <a:t>1. The Task</a:t>
            </a:r>
          </a:p>
          <a:p>
            <a:pPr marL="0" indent="0" algn="just">
              <a:buNone/>
            </a:pPr>
            <a:r>
              <a:rPr lang="en-US" dirty="0"/>
              <a:t>Perform a </a:t>
            </a:r>
            <a:r>
              <a:rPr lang="en-US" b="1" dirty="0"/>
              <a:t>Categorical vs. Numerical Bivariate Analysis</a:t>
            </a:r>
            <a:r>
              <a:rPr lang="en-US" dirty="0"/>
              <a:t>. Your goal is to visualize the revenue </a:t>
            </a:r>
            <a:r>
              <a:rPr lang="en-US" b="1" dirty="0"/>
              <a:t>Breakdown</a:t>
            </a:r>
            <a:r>
              <a:rPr lang="en-US" dirty="0"/>
              <a:t> for a global corporation. You must show the </a:t>
            </a:r>
            <a:r>
              <a:rPr lang="en-US" b="1" dirty="0"/>
              <a:t>Contribution</a:t>
            </a:r>
            <a:r>
              <a:rPr lang="en-US" dirty="0"/>
              <a:t> of two different revenue streams (Software and Hardware) to the total regional sales and identify which regional unit has the smallest overall impact.</a:t>
            </a:r>
          </a:p>
          <a:p>
            <a:pPr marL="0" indent="0">
              <a:buNone/>
            </a:pPr>
            <a:endParaRPr lang="en-US" dirty="0"/>
          </a:p>
          <a:p>
            <a:pPr marL="0" indent="0">
              <a:buNone/>
            </a:pPr>
            <a:r>
              <a:rPr lang="en-US" b="1" dirty="0"/>
              <a:t>2. The Dataset</a:t>
            </a:r>
          </a:p>
          <a:p>
            <a:pPr marL="0" indent="0" algn="just">
              <a:buNone/>
            </a:pPr>
            <a:r>
              <a:rPr lang="en-US" dirty="0"/>
              <a:t>This table shows the revenue (in thousands) divided into two segments. The "Total" is the sum of these segments. </a:t>
            </a:r>
          </a:p>
          <a:p>
            <a:pPr marL="0" indent="0" algn="just">
              <a:buNone/>
            </a:pPr>
            <a:endParaRPr lang="en-US" dirty="0"/>
          </a:p>
          <a:p>
            <a:endParaRPr lang="en-US" dirty="0"/>
          </a:p>
          <a:p>
            <a:endParaRPr lang="en-EG" dirty="0"/>
          </a:p>
        </p:txBody>
      </p:sp>
      <p:graphicFrame>
        <p:nvGraphicFramePr>
          <p:cNvPr id="5" name="Table 4">
            <a:extLst>
              <a:ext uri="{FF2B5EF4-FFF2-40B4-BE49-F238E27FC236}">
                <a16:creationId xmlns:a16="http://schemas.microsoft.com/office/drawing/2014/main" id="{372E8288-79B4-8FC9-5D3E-ECA07C98881A}"/>
              </a:ext>
            </a:extLst>
          </p:cNvPr>
          <p:cNvGraphicFramePr>
            <a:graphicFrameLocks noGrp="1"/>
          </p:cNvGraphicFramePr>
          <p:nvPr>
            <p:extLst>
              <p:ext uri="{D42A27DB-BD31-4B8C-83A1-F6EECF244321}">
                <p14:modId xmlns:p14="http://schemas.microsoft.com/office/powerpoint/2010/main" val="1391324743"/>
              </p:ext>
            </p:extLst>
          </p:nvPr>
        </p:nvGraphicFramePr>
        <p:xfrm>
          <a:off x="704088" y="2254775"/>
          <a:ext cx="5391912" cy="3740148"/>
        </p:xfrm>
        <a:graphic>
          <a:graphicData uri="http://schemas.openxmlformats.org/drawingml/2006/table">
            <a:tbl>
              <a:tblPr>
                <a:tableStyleId>{5940675A-B579-460E-94D1-54222C63F5DA}</a:tableStyleId>
              </a:tblPr>
              <a:tblGrid>
                <a:gridCol w="2017597">
                  <a:extLst>
                    <a:ext uri="{9D8B030D-6E8A-4147-A177-3AD203B41FA5}">
                      <a16:colId xmlns:a16="http://schemas.microsoft.com/office/drawing/2014/main" val="485061714"/>
                    </a:ext>
                  </a:extLst>
                </a:gridCol>
                <a:gridCol w="1021976">
                  <a:extLst>
                    <a:ext uri="{9D8B030D-6E8A-4147-A177-3AD203B41FA5}">
                      <a16:colId xmlns:a16="http://schemas.microsoft.com/office/drawing/2014/main" val="389678363"/>
                    </a:ext>
                  </a:extLst>
                </a:gridCol>
                <a:gridCol w="1065007">
                  <a:extLst>
                    <a:ext uri="{9D8B030D-6E8A-4147-A177-3AD203B41FA5}">
                      <a16:colId xmlns:a16="http://schemas.microsoft.com/office/drawing/2014/main" val="3710420712"/>
                    </a:ext>
                  </a:extLst>
                </a:gridCol>
                <a:gridCol w="1287332">
                  <a:extLst>
                    <a:ext uri="{9D8B030D-6E8A-4147-A177-3AD203B41FA5}">
                      <a16:colId xmlns:a16="http://schemas.microsoft.com/office/drawing/2014/main" val="1695138389"/>
                    </a:ext>
                  </a:extLst>
                </a:gridCol>
              </a:tblGrid>
              <a:tr h="623358">
                <a:tc>
                  <a:txBody>
                    <a:bodyPr/>
                    <a:lstStyle/>
                    <a:p>
                      <a:pPr rtl="0">
                        <a:buNone/>
                      </a:pPr>
                      <a:r>
                        <a:rPr lang="en-US" sz="1400" b="1" dirty="0">
                          <a:solidFill>
                            <a:srgbClr val="1F1F1F"/>
                          </a:solidFill>
                          <a:effectLst/>
                        </a:rPr>
                        <a:t>Regional Business Unit</a:t>
                      </a:r>
                      <a:endParaRPr lang="en-US" sz="1400" dirty="0">
                        <a:solidFill>
                          <a:srgbClr val="1F1F1F"/>
                        </a:solidFill>
                        <a:effectLst/>
                        <a:latin typeface="Google Sans Text"/>
                      </a:endParaRPr>
                    </a:p>
                  </a:txBody>
                  <a:tcPr marL="101635" marR="101635" marT="67756" marB="67756" anchor="ctr">
                    <a:solidFill>
                      <a:srgbClr val="FFFF00"/>
                    </a:solidFill>
                  </a:tcPr>
                </a:tc>
                <a:tc>
                  <a:txBody>
                    <a:bodyPr/>
                    <a:lstStyle/>
                    <a:p>
                      <a:pPr rtl="0">
                        <a:buNone/>
                      </a:pPr>
                      <a:r>
                        <a:rPr lang="en-US" sz="1400" b="1" dirty="0">
                          <a:solidFill>
                            <a:srgbClr val="1F1F1F"/>
                          </a:solidFill>
                          <a:effectLst/>
                        </a:rPr>
                        <a:t>Software Sales ($k)</a:t>
                      </a:r>
                      <a:endParaRPr lang="en-US" sz="1400" dirty="0">
                        <a:solidFill>
                          <a:srgbClr val="1F1F1F"/>
                        </a:solidFill>
                        <a:effectLst/>
                        <a:latin typeface="Google Sans Text"/>
                      </a:endParaRPr>
                    </a:p>
                  </a:txBody>
                  <a:tcPr marL="101635" marR="101635" marT="67756" marB="67756" anchor="ctr">
                    <a:solidFill>
                      <a:srgbClr val="FFFF00"/>
                    </a:solidFill>
                  </a:tcPr>
                </a:tc>
                <a:tc>
                  <a:txBody>
                    <a:bodyPr/>
                    <a:lstStyle/>
                    <a:p>
                      <a:pPr rtl="0">
                        <a:buNone/>
                      </a:pPr>
                      <a:r>
                        <a:rPr lang="en-US" sz="1400" b="1" dirty="0">
                          <a:solidFill>
                            <a:srgbClr val="1F1F1F"/>
                          </a:solidFill>
                          <a:effectLst/>
                        </a:rPr>
                        <a:t>Hardware Sales ($k)</a:t>
                      </a:r>
                      <a:endParaRPr lang="en-US" sz="1400" dirty="0">
                        <a:solidFill>
                          <a:srgbClr val="1F1F1F"/>
                        </a:solidFill>
                        <a:effectLst/>
                        <a:latin typeface="Google Sans Text"/>
                      </a:endParaRPr>
                    </a:p>
                  </a:txBody>
                  <a:tcPr marL="101635" marR="101635" marT="67756" marB="67756" anchor="ctr">
                    <a:solidFill>
                      <a:srgbClr val="FFFF00"/>
                    </a:solidFill>
                  </a:tcPr>
                </a:tc>
                <a:tc>
                  <a:txBody>
                    <a:bodyPr/>
                    <a:lstStyle/>
                    <a:p>
                      <a:pPr rtl="0">
                        <a:buNone/>
                      </a:pPr>
                      <a:r>
                        <a:rPr lang="en-US" sz="1400" b="1" dirty="0">
                          <a:solidFill>
                            <a:srgbClr val="1F1F1F"/>
                          </a:solidFill>
                          <a:effectLst/>
                        </a:rPr>
                        <a:t>Total Revenue ($k)</a:t>
                      </a:r>
                      <a:endParaRPr lang="en-US" sz="1400" dirty="0">
                        <a:solidFill>
                          <a:srgbClr val="1F1F1F"/>
                        </a:solidFill>
                        <a:effectLst/>
                        <a:latin typeface="Google Sans Text"/>
                      </a:endParaRPr>
                    </a:p>
                  </a:txBody>
                  <a:tcPr marL="101635" marR="101635" marT="67756" marB="67756" anchor="ctr">
                    <a:solidFill>
                      <a:srgbClr val="FFFF00"/>
                    </a:solidFill>
                  </a:tcPr>
                </a:tc>
                <a:extLst>
                  <a:ext uri="{0D108BD9-81ED-4DB2-BD59-A6C34878D82A}">
                    <a16:rowId xmlns:a16="http://schemas.microsoft.com/office/drawing/2014/main" val="1483539084"/>
                  </a:ext>
                </a:extLst>
              </a:tr>
              <a:tr h="623358">
                <a:tc>
                  <a:txBody>
                    <a:bodyPr/>
                    <a:lstStyle/>
                    <a:p>
                      <a:pPr rtl="0">
                        <a:buNone/>
                      </a:pPr>
                      <a:r>
                        <a:rPr lang="en-US" sz="1200" dirty="0">
                          <a:solidFill>
                            <a:srgbClr val="1F1F1F"/>
                          </a:solidFill>
                          <a:effectLst/>
                        </a:rPr>
                        <a:t>Asia-Pacific Emerging Economies</a:t>
                      </a:r>
                      <a:endParaRPr lang="en-US" sz="1200" dirty="0">
                        <a:solidFill>
                          <a:srgbClr val="1F1F1F"/>
                        </a:solidFill>
                        <a:effectLst/>
                        <a:latin typeface="Google Sans Text"/>
                      </a:endParaRPr>
                    </a:p>
                  </a:txBody>
                  <a:tcPr marL="101635" marR="101635" marT="67756" marB="67756" anchor="ctr"/>
                </a:tc>
                <a:tc>
                  <a:txBody>
                    <a:bodyPr/>
                    <a:lstStyle/>
                    <a:p>
                      <a:pPr algn="ctr" rtl="0">
                        <a:buNone/>
                      </a:pPr>
                      <a:r>
                        <a:rPr lang="en-EG" sz="1200" dirty="0">
                          <a:solidFill>
                            <a:srgbClr val="1F1F1F"/>
                          </a:solidFill>
                          <a:effectLst/>
                        </a:rPr>
                        <a:t>520</a:t>
                      </a:r>
                      <a:endParaRPr lang="en-EG" sz="1200" dirty="0">
                        <a:solidFill>
                          <a:srgbClr val="1F1F1F"/>
                        </a:solidFill>
                        <a:effectLst/>
                        <a:latin typeface="Google Sans Text"/>
                      </a:endParaRPr>
                    </a:p>
                  </a:txBody>
                  <a:tcPr marL="101635" marR="101635" marT="67756" marB="67756" anchor="ctr"/>
                </a:tc>
                <a:tc>
                  <a:txBody>
                    <a:bodyPr/>
                    <a:lstStyle/>
                    <a:p>
                      <a:pPr algn="ctr" rtl="0">
                        <a:buNone/>
                      </a:pPr>
                      <a:r>
                        <a:rPr lang="en-EG" sz="1200">
                          <a:solidFill>
                            <a:srgbClr val="1F1F1F"/>
                          </a:solidFill>
                          <a:effectLst/>
                        </a:rPr>
                        <a:t>230</a:t>
                      </a:r>
                      <a:endParaRPr lang="en-EG" sz="1200">
                        <a:solidFill>
                          <a:srgbClr val="1F1F1F"/>
                        </a:solidFill>
                        <a:effectLst/>
                        <a:latin typeface="Google Sans Text"/>
                      </a:endParaRPr>
                    </a:p>
                  </a:txBody>
                  <a:tcPr marL="101635" marR="101635" marT="67756" marB="67756" anchor="ctr"/>
                </a:tc>
                <a:tc>
                  <a:txBody>
                    <a:bodyPr/>
                    <a:lstStyle/>
                    <a:p>
                      <a:pPr algn="ctr" rtl="0">
                        <a:buNone/>
                      </a:pPr>
                      <a:r>
                        <a:rPr lang="en-EG" sz="1200">
                          <a:solidFill>
                            <a:srgbClr val="1F1F1F"/>
                          </a:solidFill>
                          <a:effectLst/>
                        </a:rPr>
                        <a:t>750</a:t>
                      </a:r>
                      <a:endParaRPr lang="en-EG" sz="1200">
                        <a:solidFill>
                          <a:srgbClr val="1F1F1F"/>
                        </a:solidFill>
                        <a:effectLst/>
                        <a:latin typeface="Google Sans Text"/>
                      </a:endParaRPr>
                    </a:p>
                  </a:txBody>
                  <a:tcPr marL="101635" marR="101635" marT="67756" marB="67756" anchor="ctr"/>
                </a:tc>
                <a:extLst>
                  <a:ext uri="{0D108BD9-81ED-4DB2-BD59-A6C34878D82A}">
                    <a16:rowId xmlns:a16="http://schemas.microsoft.com/office/drawing/2014/main" val="3317396915"/>
                  </a:ext>
                </a:extLst>
              </a:tr>
              <a:tr h="623358">
                <a:tc>
                  <a:txBody>
                    <a:bodyPr/>
                    <a:lstStyle/>
                    <a:p>
                      <a:pPr rtl="0">
                        <a:buNone/>
                      </a:pPr>
                      <a:r>
                        <a:rPr lang="en-US" sz="1200">
                          <a:solidFill>
                            <a:srgbClr val="1F1F1F"/>
                          </a:solidFill>
                          <a:effectLst/>
                        </a:rPr>
                        <a:t>North American Enterprise Division</a:t>
                      </a:r>
                      <a:endParaRPr lang="en-US" sz="1200">
                        <a:solidFill>
                          <a:srgbClr val="1F1F1F"/>
                        </a:solidFill>
                        <a:effectLst/>
                        <a:latin typeface="Google Sans Text"/>
                      </a:endParaRPr>
                    </a:p>
                  </a:txBody>
                  <a:tcPr marL="101635" marR="101635" marT="67756" marB="67756" anchor="ctr"/>
                </a:tc>
                <a:tc>
                  <a:txBody>
                    <a:bodyPr/>
                    <a:lstStyle/>
                    <a:p>
                      <a:pPr algn="ctr" rtl="0">
                        <a:buNone/>
                      </a:pPr>
                      <a:r>
                        <a:rPr lang="en-EG" sz="1200" dirty="0">
                          <a:solidFill>
                            <a:srgbClr val="1F1F1F"/>
                          </a:solidFill>
                          <a:effectLst/>
                        </a:rPr>
                        <a:t>450</a:t>
                      </a:r>
                      <a:endParaRPr lang="en-EG" sz="1200" dirty="0">
                        <a:solidFill>
                          <a:srgbClr val="1F1F1F"/>
                        </a:solidFill>
                        <a:effectLst/>
                        <a:latin typeface="Google Sans Text"/>
                      </a:endParaRPr>
                    </a:p>
                  </a:txBody>
                  <a:tcPr marL="101635" marR="101635" marT="67756" marB="67756" anchor="ctr"/>
                </a:tc>
                <a:tc>
                  <a:txBody>
                    <a:bodyPr/>
                    <a:lstStyle/>
                    <a:p>
                      <a:pPr algn="ctr" rtl="0">
                        <a:buNone/>
                      </a:pPr>
                      <a:r>
                        <a:rPr lang="en-EG" sz="1200" dirty="0">
                          <a:solidFill>
                            <a:srgbClr val="1F1F1F"/>
                          </a:solidFill>
                          <a:effectLst/>
                        </a:rPr>
                        <a:t>350</a:t>
                      </a:r>
                      <a:endParaRPr lang="en-EG" sz="1200" dirty="0">
                        <a:solidFill>
                          <a:srgbClr val="1F1F1F"/>
                        </a:solidFill>
                        <a:effectLst/>
                        <a:latin typeface="Google Sans Text"/>
                      </a:endParaRPr>
                    </a:p>
                  </a:txBody>
                  <a:tcPr marL="101635" marR="101635" marT="67756" marB="67756" anchor="ctr"/>
                </a:tc>
                <a:tc>
                  <a:txBody>
                    <a:bodyPr/>
                    <a:lstStyle/>
                    <a:p>
                      <a:pPr algn="ctr" rtl="0">
                        <a:buNone/>
                      </a:pPr>
                      <a:r>
                        <a:rPr lang="en-EG" sz="1200">
                          <a:solidFill>
                            <a:srgbClr val="1F1F1F"/>
                          </a:solidFill>
                          <a:effectLst/>
                        </a:rPr>
                        <a:t>800</a:t>
                      </a:r>
                      <a:endParaRPr lang="en-EG" sz="1200">
                        <a:solidFill>
                          <a:srgbClr val="1F1F1F"/>
                        </a:solidFill>
                        <a:effectLst/>
                        <a:latin typeface="Google Sans Text"/>
                      </a:endParaRPr>
                    </a:p>
                  </a:txBody>
                  <a:tcPr marL="101635" marR="101635" marT="67756" marB="67756" anchor="ctr"/>
                </a:tc>
                <a:extLst>
                  <a:ext uri="{0D108BD9-81ED-4DB2-BD59-A6C34878D82A}">
                    <a16:rowId xmlns:a16="http://schemas.microsoft.com/office/drawing/2014/main" val="10386307"/>
                  </a:ext>
                </a:extLst>
              </a:tr>
              <a:tr h="623358">
                <a:tc>
                  <a:txBody>
                    <a:bodyPr/>
                    <a:lstStyle/>
                    <a:p>
                      <a:pPr rtl="0">
                        <a:buNone/>
                      </a:pPr>
                      <a:r>
                        <a:rPr lang="en-US" sz="1200">
                          <a:solidFill>
                            <a:srgbClr val="1F1F1F"/>
                          </a:solidFill>
                          <a:effectLst/>
                        </a:rPr>
                        <a:t>European Union Strategic Markets</a:t>
                      </a:r>
                      <a:endParaRPr lang="en-US" sz="1200">
                        <a:solidFill>
                          <a:srgbClr val="1F1F1F"/>
                        </a:solidFill>
                        <a:effectLst/>
                        <a:latin typeface="Google Sans Text"/>
                      </a:endParaRPr>
                    </a:p>
                  </a:txBody>
                  <a:tcPr marL="101635" marR="101635" marT="67756" marB="67756" anchor="ctr"/>
                </a:tc>
                <a:tc>
                  <a:txBody>
                    <a:bodyPr/>
                    <a:lstStyle/>
                    <a:p>
                      <a:pPr algn="ctr" rtl="0">
                        <a:buNone/>
                      </a:pPr>
                      <a:r>
                        <a:rPr lang="en-EG" sz="1200">
                          <a:solidFill>
                            <a:srgbClr val="1F1F1F"/>
                          </a:solidFill>
                          <a:effectLst/>
                        </a:rPr>
                        <a:t>380</a:t>
                      </a:r>
                      <a:endParaRPr lang="en-EG" sz="1200">
                        <a:solidFill>
                          <a:srgbClr val="1F1F1F"/>
                        </a:solidFill>
                        <a:effectLst/>
                        <a:latin typeface="Google Sans Text"/>
                      </a:endParaRPr>
                    </a:p>
                  </a:txBody>
                  <a:tcPr marL="101635" marR="101635" marT="67756" marB="67756" anchor="ctr"/>
                </a:tc>
                <a:tc>
                  <a:txBody>
                    <a:bodyPr/>
                    <a:lstStyle/>
                    <a:p>
                      <a:pPr algn="ctr" rtl="0">
                        <a:buNone/>
                      </a:pPr>
                      <a:r>
                        <a:rPr lang="en-EG" sz="1200" dirty="0">
                          <a:solidFill>
                            <a:srgbClr val="1F1F1F"/>
                          </a:solidFill>
                          <a:effectLst/>
                        </a:rPr>
                        <a:t>270</a:t>
                      </a:r>
                      <a:endParaRPr lang="en-EG" sz="1200" dirty="0">
                        <a:solidFill>
                          <a:srgbClr val="1F1F1F"/>
                        </a:solidFill>
                        <a:effectLst/>
                        <a:latin typeface="Google Sans Text"/>
                      </a:endParaRPr>
                    </a:p>
                  </a:txBody>
                  <a:tcPr marL="101635" marR="101635" marT="67756" marB="67756" anchor="ctr"/>
                </a:tc>
                <a:tc>
                  <a:txBody>
                    <a:bodyPr/>
                    <a:lstStyle/>
                    <a:p>
                      <a:pPr algn="ctr" rtl="0">
                        <a:buNone/>
                      </a:pPr>
                      <a:r>
                        <a:rPr lang="en-EG" sz="1200" dirty="0">
                          <a:solidFill>
                            <a:srgbClr val="1F1F1F"/>
                          </a:solidFill>
                          <a:effectLst/>
                        </a:rPr>
                        <a:t>650</a:t>
                      </a:r>
                      <a:endParaRPr lang="en-EG" sz="1200" dirty="0">
                        <a:solidFill>
                          <a:srgbClr val="1F1F1F"/>
                        </a:solidFill>
                        <a:effectLst/>
                        <a:latin typeface="Google Sans Text"/>
                      </a:endParaRPr>
                    </a:p>
                  </a:txBody>
                  <a:tcPr marL="101635" marR="101635" marT="67756" marB="67756" anchor="ctr"/>
                </a:tc>
                <a:extLst>
                  <a:ext uri="{0D108BD9-81ED-4DB2-BD59-A6C34878D82A}">
                    <a16:rowId xmlns:a16="http://schemas.microsoft.com/office/drawing/2014/main" val="2393420589"/>
                  </a:ext>
                </a:extLst>
              </a:tr>
              <a:tr h="623358">
                <a:tc>
                  <a:txBody>
                    <a:bodyPr/>
                    <a:lstStyle/>
                    <a:p>
                      <a:pPr rtl="0">
                        <a:buNone/>
                      </a:pPr>
                      <a:r>
                        <a:rPr lang="en-US" sz="1200">
                          <a:solidFill>
                            <a:srgbClr val="1F1F1F"/>
                          </a:solidFill>
                          <a:effectLst/>
                        </a:rPr>
                        <a:t>Latin American Growth Sector</a:t>
                      </a:r>
                      <a:endParaRPr lang="en-US" sz="1200">
                        <a:solidFill>
                          <a:srgbClr val="1F1F1F"/>
                        </a:solidFill>
                        <a:effectLst/>
                        <a:latin typeface="Google Sans Text"/>
                      </a:endParaRPr>
                    </a:p>
                  </a:txBody>
                  <a:tcPr marL="101635" marR="101635" marT="67756" marB="67756" anchor="ctr"/>
                </a:tc>
                <a:tc>
                  <a:txBody>
                    <a:bodyPr/>
                    <a:lstStyle/>
                    <a:p>
                      <a:pPr algn="ctr" rtl="0">
                        <a:buNone/>
                      </a:pPr>
                      <a:r>
                        <a:rPr lang="en-EG" sz="1200">
                          <a:solidFill>
                            <a:srgbClr val="1F1F1F"/>
                          </a:solidFill>
                          <a:effectLst/>
                        </a:rPr>
                        <a:t>210</a:t>
                      </a:r>
                      <a:endParaRPr lang="en-EG" sz="1200">
                        <a:solidFill>
                          <a:srgbClr val="1F1F1F"/>
                        </a:solidFill>
                        <a:effectLst/>
                        <a:latin typeface="Google Sans Text"/>
                      </a:endParaRPr>
                    </a:p>
                  </a:txBody>
                  <a:tcPr marL="101635" marR="101635" marT="67756" marB="67756" anchor="ctr"/>
                </a:tc>
                <a:tc>
                  <a:txBody>
                    <a:bodyPr/>
                    <a:lstStyle/>
                    <a:p>
                      <a:pPr algn="ctr" rtl="0">
                        <a:buNone/>
                      </a:pPr>
                      <a:r>
                        <a:rPr lang="en-EG" sz="1200">
                          <a:solidFill>
                            <a:srgbClr val="1F1F1F"/>
                          </a:solidFill>
                          <a:effectLst/>
                        </a:rPr>
                        <a:t>90</a:t>
                      </a:r>
                      <a:endParaRPr lang="en-EG" sz="1200">
                        <a:solidFill>
                          <a:srgbClr val="1F1F1F"/>
                        </a:solidFill>
                        <a:effectLst/>
                        <a:latin typeface="Google Sans Text"/>
                      </a:endParaRPr>
                    </a:p>
                  </a:txBody>
                  <a:tcPr marL="101635" marR="101635" marT="67756" marB="67756" anchor="ctr"/>
                </a:tc>
                <a:tc>
                  <a:txBody>
                    <a:bodyPr/>
                    <a:lstStyle/>
                    <a:p>
                      <a:pPr algn="ctr" rtl="0">
                        <a:buNone/>
                      </a:pPr>
                      <a:r>
                        <a:rPr lang="en-EG" sz="1200" dirty="0">
                          <a:solidFill>
                            <a:srgbClr val="1F1F1F"/>
                          </a:solidFill>
                          <a:effectLst/>
                        </a:rPr>
                        <a:t>300</a:t>
                      </a:r>
                      <a:endParaRPr lang="en-EG" sz="1200" dirty="0">
                        <a:solidFill>
                          <a:srgbClr val="1F1F1F"/>
                        </a:solidFill>
                        <a:effectLst/>
                        <a:latin typeface="Google Sans Text"/>
                      </a:endParaRPr>
                    </a:p>
                  </a:txBody>
                  <a:tcPr marL="101635" marR="101635" marT="67756" marB="67756" anchor="ctr"/>
                </a:tc>
                <a:extLst>
                  <a:ext uri="{0D108BD9-81ED-4DB2-BD59-A6C34878D82A}">
                    <a16:rowId xmlns:a16="http://schemas.microsoft.com/office/drawing/2014/main" val="2178734904"/>
                  </a:ext>
                </a:extLst>
              </a:tr>
              <a:tr h="623358">
                <a:tc>
                  <a:txBody>
                    <a:bodyPr/>
                    <a:lstStyle/>
                    <a:p>
                      <a:pPr rtl="0">
                        <a:buNone/>
                      </a:pPr>
                      <a:r>
                        <a:rPr lang="en-US" sz="1200" dirty="0">
                          <a:solidFill>
                            <a:srgbClr val="1F1F1F"/>
                          </a:solidFill>
                          <a:effectLst/>
                        </a:rPr>
                        <a:t>Middle East and Africa Hub</a:t>
                      </a:r>
                      <a:endParaRPr lang="en-US" sz="1200" dirty="0">
                        <a:solidFill>
                          <a:srgbClr val="1F1F1F"/>
                        </a:solidFill>
                        <a:effectLst/>
                        <a:latin typeface="Google Sans Text"/>
                      </a:endParaRPr>
                    </a:p>
                  </a:txBody>
                  <a:tcPr marL="101635" marR="101635" marT="67756" marB="67756" anchor="ctr"/>
                </a:tc>
                <a:tc>
                  <a:txBody>
                    <a:bodyPr/>
                    <a:lstStyle/>
                    <a:p>
                      <a:pPr algn="ctr" rtl="0">
                        <a:buNone/>
                      </a:pPr>
                      <a:r>
                        <a:rPr lang="en-EG" sz="1200">
                          <a:solidFill>
                            <a:srgbClr val="1F1F1F"/>
                          </a:solidFill>
                          <a:effectLst/>
                        </a:rPr>
                        <a:t>140</a:t>
                      </a:r>
                      <a:endParaRPr lang="en-EG" sz="1200">
                        <a:solidFill>
                          <a:srgbClr val="1F1F1F"/>
                        </a:solidFill>
                        <a:effectLst/>
                        <a:latin typeface="Google Sans Text"/>
                      </a:endParaRPr>
                    </a:p>
                  </a:txBody>
                  <a:tcPr marL="101635" marR="101635" marT="67756" marB="67756" anchor="ctr"/>
                </a:tc>
                <a:tc>
                  <a:txBody>
                    <a:bodyPr/>
                    <a:lstStyle/>
                    <a:p>
                      <a:pPr algn="ctr" rtl="0">
                        <a:buNone/>
                      </a:pPr>
                      <a:r>
                        <a:rPr lang="en-EG" sz="1200">
                          <a:solidFill>
                            <a:srgbClr val="1F1F1F"/>
                          </a:solidFill>
                          <a:effectLst/>
                        </a:rPr>
                        <a:t>60</a:t>
                      </a:r>
                      <a:endParaRPr lang="en-EG" sz="1200">
                        <a:solidFill>
                          <a:srgbClr val="1F1F1F"/>
                        </a:solidFill>
                        <a:effectLst/>
                        <a:latin typeface="Google Sans Text"/>
                      </a:endParaRPr>
                    </a:p>
                  </a:txBody>
                  <a:tcPr marL="101635" marR="101635" marT="67756" marB="67756" anchor="ctr"/>
                </a:tc>
                <a:tc>
                  <a:txBody>
                    <a:bodyPr/>
                    <a:lstStyle/>
                    <a:p>
                      <a:pPr algn="ctr" rtl="0">
                        <a:buNone/>
                      </a:pPr>
                      <a:r>
                        <a:rPr lang="en-EG" sz="1200" dirty="0">
                          <a:solidFill>
                            <a:srgbClr val="1F1F1F"/>
                          </a:solidFill>
                          <a:effectLst/>
                        </a:rPr>
                        <a:t>200</a:t>
                      </a:r>
                      <a:endParaRPr lang="en-EG" sz="1200" dirty="0">
                        <a:solidFill>
                          <a:srgbClr val="1F1F1F"/>
                        </a:solidFill>
                        <a:effectLst/>
                        <a:latin typeface="Google Sans Text"/>
                      </a:endParaRPr>
                    </a:p>
                  </a:txBody>
                  <a:tcPr marL="101635" marR="101635" marT="67756" marB="67756" anchor="ctr"/>
                </a:tc>
                <a:extLst>
                  <a:ext uri="{0D108BD9-81ED-4DB2-BD59-A6C34878D82A}">
                    <a16:rowId xmlns:a16="http://schemas.microsoft.com/office/drawing/2014/main" val="1423018278"/>
                  </a:ext>
                </a:extLst>
              </a:tr>
            </a:tbl>
          </a:graphicData>
        </a:graphic>
      </p:graphicFrame>
    </p:spTree>
    <p:extLst>
      <p:ext uri="{BB962C8B-B14F-4D97-AF65-F5344CB8AC3E}">
        <p14:creationId xmlns:p14="http://schemas.microsoft.com/office/powerpoint/2010/main" val="36141804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127CC-32F2-36E7-37C7-AD7C2C317C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8EB718-5549-E580-3A1D-BE2D35110198}"/>
              </a:ext>
            </a:extLst>
          </p:cNvPr>
          <p:cNvSpPr>
            <a:spLocks noGrp="1"/>
          </p:cNvSpPr>
          <p:nvPr>
            <p:ph type="title"/>
          </p:nvPr>
        </p:nvSpPr>
        <p:spPr>
          <a:xfrm>
            <a:off x="704088" y="871368"/>
            <a:ext cx="5239272" cy="1226372"/>
          </a:xfrm>
        </p:spPr>
        <p:txBody>
          <a:bodyPr>
            <a:normAutofit fontScale="90000"/>
          </a:bodyPr>
          <a:lstStyle/>
          <a:p>
            <a:r>
              <a:rPr lang="en-US" dirty="0"/>
              <a:t>Practical Exercise 1: stacked chart</a:t>
            </a:r>
            <a:endParaRPr lang="en-EG" dirty="0"/>
          </a:p>
        </p:txBody>
      </p:sp>
      <p:sp>
        <p:nvSpPr>
          <p:cNvPr id="3" name="Content Placeholder 2">
            <a:extLst>
              <a:ext uri="{FF2B5EF4-FFF2-40B4-BE49-F238E27FC236}">
                <a16:creationId xmlns:a16="http://schemas.microsoft.com/office/drawing/2014/main" id="{772BF4BA-F35A-8BD3-2432-BA7A3C67FD6E}"/>
              </a:ext>
            </a:extLst>
          </p:cNvPr>
          <p:cNvSpPr>
            <a:spLocks noGrp="1"/>
          </p:cNvSpPr>
          <p:nvPr>
            <p:ph idx="1"/>
          </p:nvPr>
        </p:nvSpPr>
        <p:spPr>
          <a:xfrm>
            <a:off x="6346176" y="914399"/>
            <a:ext cx="5138688" cy="5248657"/>
          </a:xfrm>
        </p:spPr>
        <p:txBody>
          <a:bodyPr>
            <a:normAutofit/>
          </a:bodyPr>
          <a:lstStyle/>
          <a:p>
            <a:pPr marL="0" indent="0">
              <a:buNone/>
            </a:pPr>
            <a:r>
              <a:rPr lang="en-US" b="1" dirty="0"/>
              <a:t>3. The Audience Question</a:t>
            </a:r>
          </a:p>
          <a:p>
            <a:pPr marL="0" indent="0" algn="just">
              <a:buNone/>
            </a:pPr>
            <a:r>
              <a:rPr lang="en-US" dirty="0"/>
              <a:t>"Based on the regional </a:t>
            </a:r>
            <a:r>
              <a:rPr lang="en-US" b="1" dirty="0"/>
              <a:t>Composition</a:t>
            </a:r>
            <a:r>
              <a:rPr lang="en-US" dirty="0"/>
              <a:t>, which business unit is at the </a:t>
            </a:r>
            <a:r>
              <a:rPr lang="en-US" b="1" dirty="0"/>
              <a:t>Bottom</a:t>
            </a:r>
            <a:r>
              <a:rPr lang="en-US" dirty="0"/>
              <a:t> of the total revenue </a:t>
            </a:r>
            <a:r>
              <a:rPr lang="en-US" b="1" dirty="0"/>
              <a:t>Ranking</a:t>
            </a:r>
            <a:r>
              <a:rPr lang="en-US" dirty="0"/>
              <a:t>?"</a:t>
            </a:r>
          </a:p>
          <a:p>
            <a:endParaRPr lang="en-US" dirty="0"/>
          </a:p>
          <a:p>
            <a:pPr marL="0" indent="0" algn="just">
              <a:buNone/>
            </a:pPr>
            <a:r>
              <a:rPr lang="en-US" b="1" u="sng" dirty="0"/>
              <a:t>Draw the most accurate visualization possible to answer the audience's question and follow the visualization guidelines.</a:t>
            </a:r>
          </a:p>
          <a:p>
            <a:endParaRPr lang="en-EG" dirty="0"/>
          </a:p>
        </p:txBody>
      </p:sp>
      <p:graphicFrame>
        <p:nvGraphicFramePr>
          <p:cNvPr id="5" name="Table 4">
            <a:extLst>
              <a:ext uri="{FF2B5EF4-FFF2-40B4-BE49-F238E27FC236}">
                <a16:creationId xmlns:a16="http://schemas.microsoft.com/office/drawing/2014/main" id="{1A07CD9B-5A68-76FB-2874-D4FFBDF30751}"/>
              </a:ext>
            </a:extLst>
          </p:cNvPr>
          <p:cNvGraphicFramePr>
            <a:graphicFrameLocks noGrp="1"/>
          </p:cNvGraphicFramePr>
          <p:nvPr>
            <p:extLst>
              <p:ext uri="{D42A27DB-BD31-4B8C-83A1-F6EECF244321}">
                <p14:modId xmlns:p14="http://schemas.microsoft.com/office/powerpoint/2010/main" val="1810279203"/>
              </p:ext>
            </p:extLst>
          </p:nvPr>
        </p:nvGraphicFramePr>
        <p:xfrm>
          <a:off x="704088" y="2254775"/>
          <a:ext cx="5391912" cy="3740148"/>
        </p:xfrm>
        <a:graphic>
          <a:graphicData uri="http://schemas.openxmlformats.org/drawingml/2006/table">
            <a:tbl>
              <a:tblPr>
                <a:tableStyleId>{5940675A-B579-460E-94D1-54222C63F5DA}</a:tableStyleId>
              </a:tblPr>
              <a:tblGrid>
                <a:gridCol w="2017597">
                  <a:extLst>
                    <a:ext uri="{9D8B030D-6E8A-4147-A177-3AD203B41FA5}">
                      <a16:colId xmlns:a16="http://schemas.microsoft.com/office/drawing/2014/main" val="485061714"/>
                    </a:ext>
                  </a:extLst>
                </a:gridCol>
                <a:gridCol w="1021976">
                  <a:extLst>
                    <a:ext uri="{9D8B030D-6E8A-4147-A177-3AD203B41FA5}">
                      <a16:colId xmlns:a16="http://schemas.microsoft.com/office/drawing/2014/main" val="389678363"/>
                    </a:ext>
                  </a:extLst>
                </a:gridCol>
                <a:gridCol w="1065007">
                  <a:extLst>
                    <a:ext uri="{9D8B030D-6E8A-4147-A177-3AD203B41FA5}">
                      <a16:colId xmlns:a16="http://schemas.microsoft.com/office/drawing/2014/main" val="3710420712"/>
                    </a:ext>
                  </a:extLst>
                </a:gridCol>
                <a:gridCol w="1287332">
                  <a:extLst>
                    <a:ext uri="{9D8B030D-6E8A-4147-A177-3AD203B41FA5}">
                      <a16:colId xmlns:a16="http://schemas.microsoft.com/office/drawing/2014/main" val="1695138389"/>
                    </a:ext>
                  </a:extLst>
                </a:gridCol>
              </a:tblGrid>
              <a:tr h="623358">
                <a:tc>
                  <a:txBody>
                    <a:bodyPr/>
                    <a:lstStyle/>
                    <a:p>
                      <a:pPr rtl="0">
                        <a:buNone/>
                      </a:pPr>
                      <a:r>
                        <a:rPr lang="en-US" sz="1400" b="1" dirty="0">
                          <a:solidFill>
                            <a:srgbClr val="1F1F1F"/>
                          </a:solidFill>
                          <a:effectLst/>
                        </a:rPr>
                        <a:t>Regional Business Unit</a:t>
                      </a:r>
                      <a:endParaRPr lang="en-US" sz="1400" dirty="0">
                        <a:solidFill>
                          <a:srgbClr val="1F1F1F"/>
                        </a:solidFill>
                        <a:effectLst/>
                        <a:latin typeface="Google Sans Text"/>
                      </a:endParaRPr>
                    </a:p>
                  </a:txBody>
                  <a:tcPr marL="101635" marR="101635" marT="67756" marB="67756" anchor="ctr">
                    <a:solidFill>
                      <a:srgbClr val="FFFF00"/>
                    </a:solidFill>
                  </a:tcPr>
                </a:tc>
                <a:tc>
                  <a:txBody>
                    <a:bodyPr/>
                    <a:lstStyle/>
                    <a:p>
                      <a:pPr rtl="0">
                        <a:buNone/>
                      </a:pPr>
                      <a:r>
                        <a:rPr lang="en-US" sz="1400" b="1" dirty="0">
                          <a:solidFill>
                            <a:srgbClr val="1F1F1F"/>
                          </a:solidFill>
                          <a:effectLst/>
                        </a:rPr>
                        <a:t>Software Sales ($k)</a:t>
                      </a:r>
                      <a:endParaRPr lang="en-US" sz="1400" dirty="0">
                        <a:solidFill>
                          <a:srgbClr val="1F1F1F"/>
                        </a:solidFill>
                        <a:effectLst/>
                        <a:latin typeface="Google Sans Text"/>
                      </a:endParaRPr>
                    </a:p>
                  </a:txBody>
                  <a:tcPr marL="101635" marR="101635" marT="67756" marB="67756" anchor="ctr">
                    <a:solidFill>
                      <a:srgbClr val="FFFF00"/>
                    </a:solidFill>
                  </a:tcPr>
                </a:tc>
                <a:tc>
                  <a:txBody>
                    <a:bodyPr/>
                    <a:lstStyle/>
                    <a:p>
                      <a:pPr rtl="0">
                        <a:buNone/>
                      </a:pPr>
                      <a:r>
                        <a:rPr lang="en-US" sz="1400" b="1" dirty="0">
                          <a:solidFill>
                            <a:srgbClr val="1F1F1F"/>
                          </a:solidFill>
                          <a:effectLst/>
                        </a:rPr>
                        <a:t>Hardware Sales ($k)</a:t>
                      </a:r>
                      <a:endParaRPr lang="en-US" sz="1400" dirty="0">
                        <a:solidFill>
                          <a:srgbClr val="1F1F1F"/>
                        </a:solidFill>
                        <a:effectLst/>
                        <a:latin typeface="Google Sans Text"/>
                      </a:endParaRPr>
                    </a:p>
                  </a:txBody>
                  <a:tcPr marL="101635" marR="101635" marT="67756" marB="67756" anchor="ctr">
                    <a:solidFill>
                      <a:srgbClr val="FFFF00"/>
                    </a:solidFill>
                  </a:tcPr>
                </a:tc>
                <a:tc>
                  <a:txBody>
                    <a:bodyPr/>
                    <a:lstStyle/>
                    <a:p>
                      <a:pPr rtl="0">
                        <a:buNone/>
                      </a:pPr>
                      <a:r>
                        <a:rPr lang="en-US" sz="1400" b="1" dirty="0">
                          <a:solidFill>
                            <a:srgbClr val="1F1F1F"/>
                          </a:solidFill>
                          <a:effectLst/>
                        </a:rPr>
                        <a:t>Total Revenue ($k)</a:t>
                      </a:r>
                      <a:endParaRPr lang="en-US" sz="1400" dirty="0">
                        <a:solidFill>
                          <a:srgbClr val="1F1F1F"/>
                        </a:solidFill>
                        <a:effectLst/>
                        <a:latin typeface="Google Sans Text"/>
                      </a:endParaRPr>
                    </a:p>
                  </a:txBody>
                  <a:tcPr marL="101635" marR="101635" marT="67756" marB="67756" anchor="ctr">
                    <a:solidFill>
                      <a:srgbClr val="FFFF00"/>
                    </a:solidFill>
                  </a:tcPr>
                </a:tc>
                <a:extLst>
                  <a:ext uri="{0D108BD9-81ED-4DB2-BD59-A6C34878D82A}">
                    <a16:rowId xmlns:a16="http://schemas.microsoft.com/office/drawing/2014/main" val="1483539084"/>
                  </a:ext>
                </a:extLst>
              </a:tr>
              <a:tr h="623358">
                <a:tc>
                  <a:txBody>
                    <a:bodyPr/>
                    <a:lstStyle/>
                    <a:p>
                      <a:pPr rtl="0">
                        <a:buNone/>
                      </a:pPr>
                      <a:r>
                        <a:rPr lang="en-US" sz="1200" dirty="0">
                          <a:solidFill>
                            <a:srgbClr val="1F1F1F"/>
                          </a:solidFill>
                          <a:effectLst/>
                        </a:rPr>
                        <a:t>Asia-Pacific Emerging Economies</a:t>
                      </a:r>
                      <a:endParaRPr lang="en-US" sz="1200" dirty="0">
                        <a:solidFill>
                          <a:srgbClr val="1F1F1F"/>
                        </a:solidFill>
                        <a:effectLst/>
                        <a:latin typeface="Google Sans Text"/>
                      </a:endParaRPr>
                    </a:p>
                  </a:txBody>
                  <a:tcPr marL="101635" marR="101635" marT="67756" marB="67756" anchor="ctr"/>
                </a:tc>
                <a:tc>
                  <a:txBody>
                    <a:bodyPr/>
                    <a:lstStyle/>
                    <a:p>
                      <a:pPr algn="ctr" rtl="0">
                        <a:buNone/>
                      </a:pPr>
                      <a:r>
                        <a:rPr lang="en-EG" sz="1200" dirty="0">
                          <a:solidFill>
                            <a:srgbClr val="1F1F1F"/>
                          </a:solidFill>
                          <a:effectLst/>
                        </a:rPr>
                        <a:t>520</a:t>
                      </a:r>
                      <a:endParaRPr lang="en-EG" sz="1200" dirty="0">
                        <a:solidFill>
                          <a:srgbClr val="1F1F1F"/>
                        </a:solidFill>
                        <a:effectLst/>
                        <a:latin typeface="Google Sans Text"/>
                      </a:endParaRPr>
                    </a:p>
                  </a:txBody>
                  <a:tcPr marL="101635" marR="101635" marT="67756" marB="67756" anchor="ctr"/>
                </a:tc>
                <a:tc>
                  <a:txBody>
                    <a:bodyPr/>
                    <a:lstStyle/>
                    <a:p>
                      <a:pPr algn="ctr" rtl="0">
                        <a:buNone/>
                      </a:pPr>
                      <a:r>
                        <a:rPr lang="en-EG" sz="1200">
                          <a:solidFill>
                            <a:srgbClr val="1F1F1F"/>
                          </a:solidFill>
                          <a:effectLst/>
                        </a:rPr>
                        <a:t>230</a:t>
                      </a:r>
                      <a:endParaRPr lang="en-EG" sz="1200">
                        <a:solidFill>
                          <a:srgbClr val="1F1F1F"/>
                        </a:solidFill>
                        <a:effectLst/>
                        <a:latin typeface="Google Sans Text"/>
                      </a:endParaRPr>
                    </a:p>
                  </a:txBody>
                  <a:tcPr marL="101635" marR="101635" marT="67756" marB="67756" anchor="ctr"/>
                </a:tc>
                <a:tc>
                  <a:txBody>
                    <a:bodyPr/>
                    <a:lstStyle/>
                    <a:p>
                      <a:pPr algn="ctr" rtl="0">
                        <a:buNone/>
                      </a:pPr>
                      <a:r>
                        <a:rPr lang="en-EG" sz="1200">
                          <a:solidFill>
                            <a:srgbClr val="1F1F1F"/>
                          </a:solidFill>
                          <a:effectLst/>
                        </a:rPr>
                        <a:t>750</a:t>
                      </a:r>
                      <a:endParaRPr lang="en-EG" sz="1200">
                        <a:solidFill>
                          <a:srgbClr val="1F1F1F"/>
                        </a:solidFill>
                        <a:effectLst/>
                        <a:latin typeface="Google Sans Text"/>
                      </a:endParaRPr>
                    </a:p>
                  </a:txBody>
                  <a:tcPr marL="101635" marR="101635" marT="67756" marB="67756" anchor="ctr"/>
                </a:tc>
                <a:extLst>
                  <a:ext uri="{0D108BD9-81ED-4DB2-BD59-A6C34878D82A}">
                    <a16:rowId xmlns:a16="http://schemas.microsoft.com/office/drawing/2014/main" val="3317396915"/>
                  </a:ext>
                </a:extLst>
              </a:tr>
              <a:tr h="623358">
                <a:tc>
                  <a:txBody>
                    <a:bodyPr/>
                    <a:lstStyle/>
                    <a:p>
                      <a:pPr rtl="0">
                        <a:buNone/>
                      </a:pPr>
                      <a:r>
                        <a:rPr lang="en-US" sz="1200">
                          <a:solidFill>
                            <a:srgbClr val="1F1F1F"/>
                          </a:solidFill>
                          <a:effectLst/>
                        </a:rPr>
                        <a:t>North American Enterprise Division</a:t>
                      </a:r>
                      <a:endParaRPr lang="en-US" sz="1200">
                        <a:solidFill>
                          <a:srgbClr val="1F1F1F"/>
                        </a:solidFill>
                        <a:effectLst/>
                        <a:latin typeface="Google Sans Text"/>
                      </a:endParaRPr>
                    </a:p>
                  </a:txBody>
                  <a:tcPr marL="101635" marR="101635" marT="67756" marB="67756" anchor="ctr"/>
                </a:tc>
                <a:tc>
                  <a:txBody>
                    <a:bodyPr/>
                    <a:lstStyle/>
                    <a:p>
                      <a:pPr algn="ctr" rtl="0">
                        <a:buNone/>
                      </a:pPr>
                      <a:r>
                        <a:rPr lang="en-EG" sz="1200" dirty="0">
                          <a:solidFill>
                            <a:srgbClr val="1F1F1F"/>
                          </a:solidFill>
                          <a:effectLst/>
                        </a:rPr>
                        <a:t>450</a:t>
                      </a:r>
                      <a:endParaRPr lang="en-EG" sz="1200" dirty="0">
                        <a:solidFill>
                          <a:srgbClr val="1F1F1F"/>
                        </a:solidFill>
                        <a:effectLst/>
                        <a:latin typeface="Google Sans Text"/>
                      </a:endParaRPr>
                    </a:p>
                  </a:txBody>
                  <a:tcPr marL="101635" marR="101635" marT="67756" marB="67756" anchor="ctr"/>
                </a:tc>
                <a:tc>
                  <a:txBody>
                    <a:bodyPr/>
                    <a:lstStyle/>
                    <a:p>
                      <a:pPr algn="ctr" rtl="0">
                        <a:buNone/>
                      </a:pPr>
                      <a:r>
                        <a:rPr lang="en-EG" sz="1200" dirty="0">
                          <a:solidFill>
                            <a:srgbClr val="1F1F1F"/>
                          </a:solidFill>
                          <a:effectLst/>
                        </a:rPr>
                        <a:t>350</a:t>
                      </a:r>
                      <a:endParaRPr lang="en-EG" sz="1200" dirty="0">
                        <a:solidFill>
                          <a:srgbClr val="1F1F1F"/>
                        </a:solidFill>
                        <a:effectLst/>
                        <a:latin typeface="Google Sans Text"/>
                      </a:endParaRPr>
                    </a:p>
                  </a:txBody>
                  <a:tcPr marL="101635" marR="101635" marT="67756" marB="67756" anchor="ctr"/>
                </a:tc>
                <a:tc>
                  <a:txBody>
                    <a:bodyPr/>
                    <a:lstStyle/>
                    <a:p>
                      <a:pPr algn="ctr" rtl="0">
                        <a:buNone/>
                      </a:pPr>
                      <a:r>
                        <a:rPr lang="en-EG" sz="1200">
                          <a:solidFill>
                            <a:srgbClr val="1F1F1F"/>
                          </a:solidFill>
                          <a:effectLst/>
                        </a:rPr>
                        <a:t>800</a:t>
                      </a:r>
                      <a:endParaRPr lang="en-EG" sz="1200">
                        <a:solidFill>
                          <a:srgbClr val="1F1F1F"/>
                        </a:solidFill>
                        <a:effectLst/>
                        <a:latin typeface="Google Sans Text"/>
                      </a:endParaRPr>
                    </a:p>
                  </a:txBody>
                  <a:tcPr marL="101635" marR="101635" marT="67756" marB="67756" anchor="ctr"/>
                </a:tc>
                <a:extLst>
                  <a:ext uri="{0D108BD9-81ED-4DB2-BD59-A6C34878D82A}">
                    <a16:rowId xmlns:a16="http://schemas.microsoft.com/office/drawing/2014/main" val="10386307"/>
                  </a:ext>
                </a:extLst>
              </a:tr>
              <a:tr h="623358">
                <a:tc>
                  <a:txBody>
                    <a:bodyPr/>
                    <a:lstStyle/>
                    <a:p>
                      <a:pPr rtl="0">
                        <a:buNone/>
                      </a:pPr>
                      <a:r>
                        <a:rPr lang="en-US" sz="1200">
                          <a:solidFill>
                            <a:srgbClr val="1F1F1F"/>
                          </a:solidFill>
                          <a:effectLst/>
                        </a:rPr>
                        <a:t>European Union Strategic Markets</a:t>
                      </a:r>
                      <a:endParaRPr lang="en-US" sz="1200">
                        <a:solidFill>
                          <a:srgbClr val="1F1F1F"/>
                        </a:solidFill>
                        <a:effectLst/>
                        <a:latin typeface="Google Sans Text"/>
                      </a:endParaRPr>
                    </a:p>
                  </a:txBody>
                  <a:tcPr marL="101635" marR="101635" marT="67756" marB="67756" anchor="ctr"/>
                </a:tc>
                <a:tc>
                  <a:txBody>
                    <a:bodyPr/>
                    <a:lstStyle/>
                    <a:p>
                      <a:pPr algn="ctr" rtl="0">
                        <a:buNone/>
                      </a:pPr>
                      <a:r>
                        <a:rPr lang="en-EG" sz="1200">
                          <a:solidFill>
                            <a:srgbClr val="1F1F1F"/>
                          </a:solidFill>
                          <a:effectLst/>
                        </a:rPr>
                        <a:t>380</a:t>
                      </a:r>
                      <a:endParaRPr lang="en-EG" sz="1200">
                        <a:solidFill>
                          <a:srgbClr val="1F1F1F"/>
                        </a:solidFill>
                        <a:effectLst/>
                        <a:latin typeface="Google Sans Text"/>
                      </a:endParaRPr>
                    </a:p>
                  </a:txBody>
                  <a:tcPr marL="101635" marR="101635" marT="67756" marB="67756" anchor="ctr"/>
                </a:tc>
                <a:tc>
                  <a:txBody>
                    <a:bodyPr/>
                    <a:lstStyle/>
                    <a:p>
                      <a:pPr algn="ctr" rtl="0">
                        <a:buNone/>
                      </a:pPr>
                      <a:r>
                        <a:rPr lang="en-EG" sz="1200" dirty="0">
                          <a:solidFill>
                            <a:srgbClr val="1F1F1F"/>
                          </a:solidFill>
                          <a:effectLst/>
                        </a:rPr>
                        <a:t>270</a:t>
                      </a:r>
                      <a:endParaRPr lang="en-EG" sz="1200" dirty="0">
                        <a:solidFill>
                          <a:srgbClr val="1F1F1F"/>
                        </a:solidFill>
                        <a:effectLst/>
                        <a:latin typeface="Google Sans Text"/>
                      </a:endParaRPr>
                    </a:p>
                  </a:txBody>
                  <a:tcPr marL="101635" marR="101635" marT="67756" marB="67756" anchor="ctr"/>
                </a:tc>
                <a:tc>
                  <a:txBody>
                    <a:bodyPr/>
                    <a:lstStyle/>
                    <a:p>
                      <a:pPr algn="ctr" rtl="0">
                        <a:buNone/>
                      </a:pPr>
                      <a:r>
                        <a:rPr lang="en-EG" sz="1200" dirty="0">
                          <a:solidFill>
                            <a:srgbClr val="1F1F1F"/>
                          </a:solidFill>
                          <a:effectLst/>
                        </a:rPr>
                        <a:t>650</a:t>
                      </a:r>
                      <a:endParaRPr lang="en-EG" sz="1200" dirty="0">
                        <a:solidFill>
                          <a:srgbClr val="1F1F1F"/>
                        </a:solidFill>
                        <a:effectLst/>
                        <a:latin typeface="Google Sans Text"/>
                      </a:endParaRPr>
                    </a:p>
                  </a:txBody>
                  <a:tcPr marL="101635" marR="101635" marT="67756" marB="67756" anchor="ctr"/>
                </a:tc>
                <a:extLst>
                  <a:ext uri="{0D108BD9-81ED-4DB2-BD59-A6C34878D82A}">
                    <a16:rowId xmlns:a16="http://schemas.microsoft.com/office/drawing/2014/main" val="2393420589"/>
                  </a:ext>
                </a:extLst>
              </a:tr>
              <a:tr h="623358">
                <a:tc>
                  <a:txBody>
                    <a:bodyPr/>
                    <a:lstStyle/>
                    <a:p>
                      <a:pPr rtl="0">
                        <a:buNone/>
                      </a:pPr>
                      <a:r>
                        <a:rPr lang="en-US" sz="1200">
                          <a:solidFill>
                            <a:srgbClr val="1F1F1F"/>
                          </a:solidFill>
                          <a:effectLst/>
                        </a:rPr>
                        <a:t>Latin American Growth Sector</a:t>
                      </a:r>
                      <a:endParaRPr lang="en-US" sz="1200">
                        <a:solidFill>
                          <a:srgbClr val="1F1F1F"/>
                        </a:solidFill>
                        <a:effectLst/>
                        <a:latin typeface="Google Sans Text"/>
                      </a:endParaRPr>
                    </a:p>
                  </a:txBody>
                  <a:tcPr marL="101635" marR="101635" marT="67756" marB="67756" anchor="ctr"/>
                </a:tc>
                <a:tc>
                  <a:txBody>
                    <a:bodyPr/>
                    <a:lstStyle/>
                    <a:p>
                      <a:pPr algn="ctr" rtl="0">
                        <a:buNone/>
                      </a:pPr>
                      <a:r>
                        <a:rPr lang="en-EG" sz="1200">
                          <a:solidFill>
                            <a:srgbClr val="1F1F1F"/>
                          </a:solidFill>
                          <a:effectLst/>
                        </a:rPr>
                        <a:t>210</a:t>
                      </a:r>
                      <a:endParaRPr lang="en-EG" sz="1200">
                        <a:solidFill>
                          <a:srgbClr val="1F1F1F"/>
                        </a:solidFill>
                        <a:effectLst/>
                        <a:latin typeface="Google Sans Text"/>
                      </a:endParaRPr>
                    </a:p>
                  </a:txBody>
                  <a:tcPr marL="101635" marR="101635" marT="67756" marB="67756" anchor="ctr"/>
                </a:tc>
                <a:tc>
                  <a:txBody>
                    <a:bodyPr/>
                    <a:lstStyle/>
                    <a:p>
                      <a:pPr algn="ctr" rtl="0">
                        <a:buNone/>
                      </a:pPr>
                      <a:r>
                        <a:rPr lang="en-EG" sz="1200">
                          <a:solidFill>
                            <a:srgbClr val="1F1F1F"/>
                          </a:solidFill>
                          <a:effectLst/>
                        </a:rPr>
                        <a:t>90</a:t>
                      </a:r>
                      <a:endParaRPr lang="en-EG" sz="1200">
                        <a:solidFill>
                          <a:srgbClr val="1F1F1F"/>
                        </a:solidFill>
                        <a:effectLst/>
                        <a:latin typeface="Google Sans Text"/>
                      </a:endParaRPr>
                    </a:p>
                  </a:txBody>
                  <a:tcPr marL="101635" marR="101635" marT="67756" marB="67756" anchor="ctr"/>
                </a:tc>
                <a:tc>
                  <a:txBody>
                    <a:bodyPr/>
                    <a:lstStyle/>
                    <a:p>
                      <a:pPr algn="ctr" rtl="0">
                        <a:buNone/>
                      </a:pPr>
                      <a:r>
                        <a:rPr lang="en-EG" sz="1200" dirty="0">
                          <a:solidFill>
                            <a:srgbClr val="1F1F1F"/>
                          </a:solidFill>
                          <a:effectLst/>
                        </a:rPr>
                        <a:t>300</a:t>
                      </a:r>
                      <a:endParaRPr lang="en-EG" sz="1200" dirty="0">
                        <a:solidFill>
                          <a:srgbClr val="1F1F1F"/>
                        </a:solidFill>
                        <a:effectLst/>
                        <a:latin typeface="Google Sans Text"/>
                      </a:endParaRPr>
                    </a:p>
                  </a:txBody>
                  <a:tcPr marL="101635" marR="101635" marT="67756" marB="67756" anchor="ctr"/>
                </a:tc>
                <a:extLst>
                  <a:ext uri="{0D108BD9-81ED-4DB2-BD59-A6C34878D82A}">
                    <a16:rowId xmlns:a16="http://schemas.microsoft.com/office/drawing/2014/main" val="2178734904"/>
                  </a:ext>
                </a:extLst>
              </a:tr>
              <a:tr h="623358">
                <a:tc>
                  <a:txBody>
                    <a:bodyPr/>
                    <a:lstStyle/>
                    <a:p>
                      <a:pPr rtl="0">
                        <a:buNone/>
                      </a:pPr>
                      <a:r>
                        <a:rPr lang="en-US" sz="1200" dirty="0">
                          <a:solidFill>
                            <a:srgbClr val="1F1F1F"/>
                          </a:solidFill>
                          <a:effectLst/>
                        </a:rPr>
                        <a:t>Middle East and Africa Hub</a:t>
                      </a:r>
                      <a:endParaRPr lang="en-US" sz="1200" dirty="0">
                        <a:solidFill>
                          <a:srgbClr val="1F1F1F"/>
                        </a:solidFill>
                        <a:effectLst/>
                        <a:latin typeface="Google Sans Text"/>
                      </a:endParaRPr>
                    </a:p>
                  </a:txBody>
                  <a:tcPr marL="101635" marR="101635" marT="67756" marB="67756" anchor="ctr"/>
                </a:tc>
                <a:tc>
                  <a:txBody>
                    <a:bodyPr/>
                    <a:lstStyle/>
                    <a:p>
                      <a:pPr algn="ctr" rtl="0">
                        <a:buNone/>
                      </a:pPr>
                      <a:r>
                        <a:rPr lang="en-EG" sz="1200">
                          <a:solidFill>
                            <a:srgbClr val="1F1F1F"/>
                          </a:solidFill>
                          <a:effectLst/>
                        </a:rPr>
                        <a:t>140</a:t>
                      </a:r>
                      <a:endParaRPr lang="en-EG" sz="1200">
                        <a:solidFill>
                          <a:srgbClr val="1F1F1F"/>
                        </a:solidFill>
                        <a:effectLst/>
                        <a:latin typeface="Google Sans Text"/>
                      </a:endParaRPr>
                    </a:p>
                  </a:txBody>
                  <a:tcPr marL="101635" marR="101635" marT="67756" marB="67756" anchor="ctr"/>
                </a:tc>
                <a:tc>
                  <a:txBody>
                    <a:bodyPr/>
                    <a:lstStyle/>
                    <a:p>
                      <a:pPr algn="ctr" rtl="0">
                        <a:buNone/>
                      </a:pPr>
                      <a:r>
                        <a:rPr lang="en-EG" sz="1200">
                          <a:solidFill>
                            <a:srgbClr val="1F1F1F"/>
                          </a:solidFill>
                          <a:effectLst/>
                        </a:rPr>
                        <a:t>60</a:t>
                      </a:r>
                      <a:endParaRPr lang="en-EG" sz="1200">
                        <a:solidFill>
                          <a:srgbClr val="1F1F1F"/>
                        </a:solidFill>
                        <a:effectLst/>
                        <a:latin typeface="Google Sans Text"/>
                      </a:endParaRPr>
                    </a:p>
                  </a:txBody>
                  <a:tcPr marL="101635" marR="101635" marT="67756" marB="67756" anchor="ctr"/>
                </a:tc>
                <a:tc>
                  <a:txBody>
                    <a:bodyPr/>
                    <a:lstStyle/>
                    <a:p>
                      <a:pPr algn="ctr" rtl="0">
                        <a:buNone/>
                      </a:pPr>
                      <a:r>
                        <a:rPr lang="en-EG" sz="1200" dirty="0">
                          <a:solidFill>
                            <a:srgbClr val="1F1F1F"/>
                          </a:solidFill>
                          <a:effectLst/>
                        </a:rPr>
                        <a:t>200</a:t>
                      </a:r>
                      <a:endParaRPr lang="en-EG" sz="1200" dirty="0">
                        <a:solidFill>
                          <a:srgbClr val="1F1F1F"/>
                        </a:solidFill>
                        <a:effectLst/>
                        <a:latin typeface="Google Sans Text"/>
                      </a:endParaRPr>
                    </a:p>
                  </a:txBody>
                  <a:tcPr marL="101635" marR="101635" marT="67756" marB="67756" anchor="ctr"/>
                </a:tc>
                <a:extLst>
                  <a:ext uri="{0D108BD9-81ED-4DB2-BD59-A6C34878D82A}">
                    <a16:rowId xmlns:a16="http://schemas.microsoft.com/office/drawing/2014/main" val="1423018278"/>
                  </a:ext>
                </a:extLst>
              </a:tr>
            </a:tbl>
          </a:graphicData>
        </a:graphic>
      </p:graphicFrame>
    </p:spTree>
    <p:extLst>
      <p:ext uri="{BB962C8B-B14F-4D97-AF65-F5344CB8AC3E}">
        <p14:creationId xmlns:p14="http://schemas.microsoft.com/office/powerpoint/2010/main" val="5813256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93AE5-8731-D4FD-3198-A1B445F6D2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9A4CFB-691C-8FD5-12C2-D9421C1AF98D}"/>
              </a:ext>
            </a:extLst>
          </p:cNvPr>
          <p:cNvSpPr>
            <a:spLocks noGrp="1"/>
          </p:cNvSpPr>
          <p:nvPr>
            <p:ph type="title"/>
          </p:nvPr>
        </p:nvSpPr>
        <p:spPr>
          <a:xfrm>
            <a:off x="700635" y="914400"/>
            <a:ext cx="10691265" cy="598714"/>
          </a:xfrm>
        </p:spPr>
        <p:txBody>
          <a:bodyPr>
            <a:normAutofit/>
          </a:bodyPr>
          <a:lstStyle/>
          <a:p>
            <a:r>
              <a:rPr lang="en-US" sz="2800" b="1"/>
              <a:t>Answers 1: stacked chart</a:t>
            </a:r>
            <a:endParaRPr lang="en-EG" sz="2800" dirty="0"/>
          </a:p>
        </p:txBody>
      </p:sp>
      <p:pic>
        <p:nvPicPr>
          <p:cNvPr id="3078" name="Picture 6">
            <a:extLst>
              <a:ext uri="{FF2B5EF4-FFF2-40B4-BE49-F238E27FC236}">
                <a16:creationId xmlns:a16="http://schemas.microsoft.com/office/drawing/2014/main" id="{E5CF01A8-D459-4314-5EDC-F0E80BFE88D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36373" y="1513114"/>
            <a:ext cx="8319253" cy="450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82746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949CEB-3AC9-EE70-D24B-E7E2BCCCBE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D0D650-1A41-A0F4-153B-8D41F64D5B88}"/>
              </a:ext>
            </a:extLst>
          </p:cNvPr>
          <p:cNvSpPr>
            <a:spLocks noGrp="1"/>
          </p:cNvSpPr>
          <p:nvPr>
            <p:ph type="title"/>
          </p:nvPr>
        </p:nvSpPr>
        <p:spPr>
          <a:xfrm>
            <a:off x="704088" y="849851"/>
            <a:ext cx="5239272" cy="1280163"/>
          </a:xfrm>
        </p:spPr>
        <p:txBody>
          <a:bodyPr>
            <a:normAutofit fontScale="90000"/>
          </a:bodyPr>
          <a:lstStyle/>
          <a:p>
            <a:r>
              <a:rPr lang="en-US" dirty="0"/>
              <a:t>Practical Exercise 2: stacked chart</a:t>
            </a:r>
            <a:endParaRPr lang="en-EG" dirty="0"/>
          </a:p>
        </p:txBody>
      </p:sp>
      <p:sp>
        <p:nvSpPr>
          <p:cNvPr id="3" name="Content Placeholder 2">
            <a:extLst>
              <a:ext uri="{FF2B5EF4-FFF2-40B4-BE49-F238E27FC236}">
                <a16:creationId xmlns:a16="http://schemas.microsoft.com/office/drawing/2014/main" id="{E40E7ED9-6D26-E988-0D7C-0ECAD88FEB92}"/>
              </a:ext>
            </a:extLst>
          </p:cNvPr>
          <p:cNvSpPr>
            <a:spLocks noGrp="1"/>
          </p:cNvSpPr>
          <p:nvPr>
            <p:ph idx="1"/>
          </p:nvPr>
        </p:nvSpPr>
        <p:spPr>
          <a:xfrm>
            <a:off x="6346176" y="914399"/>
            <a:ext cx="5138688" cy="5248657"/>
          </a:xfrm>
        </p:spPr>
        <p:txBody>
          <a:bodyPr>
            <a:normAutofit/>
          </a:bodyPr>
          <a:lstStyle/>
          <a:p>
            <a:pPr marL="0" indent="0">
              <a:buNone/>
            </a:pPr>
            <a:r>
              <a:rPr lang="en-US" b="1" dirty="0"/>
              <a:t>1. The Task</a:t>
            </a:r>
          </a:p>
          <a:p>
            <a:pPr marL="0" indent="0" algn="just">
              <a:buNone/>
            </a:pPr>
            <a:r>
              <a:rPr lang="en-US" dirty="0"/>
              <a:t>Perform a </a:t>
            </a:r>
            <a:r>
              <a:rPr lang="en-US" b="1" dirty="0"/>
              <a:t>Categorical vs. Numerical Bivariate Analysis</a:t>
            </a:r>
            <a:r>
              <a:rPr lang="en-US" dirty="0"/>
              <a:t>. Your goal is to analyze the </a:t>
            </a:r>
            <a:r>
              <a:rPr lang="en-US" b="1" dirty="0"/>
              <a:t>Mix</a:t>
            </a:r>
            <a:r>
              <a:rPr lang="en-US" dirty="0"/>
              <a:t> of New vs. Returning customers across various marketing channels. By normalizing all bars to 100%.</a:t>
            </a:r>
          </a:p>
          <a:p>
            <a:pPr marL="0" indent="0">
              <a:buNone/>
            </a:pPr>
            <a:endParaRPr lang="en-US" dirty="0"/>
          </a:p>
          <a:p>
            <a:pPr marL="0" indent="0">
              <a:buNone/>
            </a:pPr>
            <a:r>
              <a:rPr lang="en-US" b="1" dirty="0"/>
              <a:t>2. The Dataset</a:t>
            </a:r>
          </a:p>
          <a:p>
            <a:pPr marL="0" indent="0" algn="just">
              <a:buNone/>
            </a:pPr>
            <a:r>
              <a:rPr lang="en-US" dirty="0"/>
              <a:t>In this dataset, the raw counts are converted into percentages to show the </a:t>
            </a:r>
            <a:r>
              <a:rPr lang="en-US" b="1" dirty="0"/>
              <a:t>Part-to-Whole</a:t>
            </a:r>
            <a:r>
              <a:rPr lang="en-US" dirty="0"/>
              <a:t> contribution of each segment.</a:t>
            </a:r>
          </a:p>
          <a:p>
            <a:pPr marL="0" indent="0" algn="just">
              <a:buNone/>
            </a:pPr>
            <a:endParaRPr lang="en-US" dirty="0"/>
          </a:p>
          <a:p>
            <a:endParaRPr lang="en-US" dirty="0"/>
          </a:p>
          <a:p>
            <a:endParaRPr lang="en-EG" dirty="0"/>
          </a:p>
        </p:txBody>
      </p:sp>
      <p:graphicFrame>
        <p:nvGraphicFramePr>
          <p:cNvPr id="4" name="Table 3">
            <a:extLst>
              <a:ext uri="{FF2B5EF4-FFF2-40B4-BE49-F238E27FC236}">
                <a16:creationId xmlns:a16="http://schemas.microsoft.com/office/drawing/2014/main" id="{9B0DDA70-4A9A-6383-1992-31E89E250103}"/>
              </a:ext>
            </a:extLst>
          </p:cNvPr>
          <p:cNvGraphicFramePr>
            <a:graphicFrameLocks noGrp="1"/>
          </p:cNvGraphicFramePr>
          <p:nvPr>
            <p:extLst>
              <p:ext uri="{D42A27DB-BD31-4B8C-83A1-F6EECF244321}">
                <p14:modId xmlns:p14="http://schemas.microsoft.com/office/powerpoint/2010/main" val="1501071008"/>
              </p:ext>
            </p:extLst>
          </p:nvPr>
        </p:nvGraphicFramePr>
        <p:xfrm>
          <a:off x="839936" y="2777453"/>
          <a:ext cx="5395913" cy="2407920"/>
        </p:xfrm>
        <a:graphic>
          <a:graphicData uri="http://schemas.openxmlformats.org/drawingml/2006/table">
            <a:tbl>
              <a:tblPr>
                <a:tableStyleId>{5940675A-B579-460E-94D1-54222C63F5DA}</a:tableStyleId>
              </a:tblPr>
              <a:tblGrid>
                <a:gridCol w="2849938">
                  <a:extLst>
                    <a:ext uri="{9D8B030D-6E8A-4147-A177-3AD203B41FA5}">
                      <a16:colId xmlns:a16="http://schemas.microsoft.com/office/drawing/2014/main" val="2102953329"/>
                    </a:ext>
                  </a:extLst>
                </a:gridCol>
                <a:gridCol w="1280160">
                  <a:extLst>
                    <a:ext uri="{9D8B030D-6E8A-4147-A177-3AD203B41FA5}">
                      <a16:colId xmlns:a16="http://schemas.microsoft.com/office/drawing/2014/main" val="132591530"/>
                    </a:ext>
                  </a:extLst>
                </a:gridCol>
                <a:gridCol w="1265815">
                  <a:extLst>
                    <a:ext uri="{9D8B030D-6E8A-4147-A177-3AD203B41FA5}">
                      <a16:colId xmlns:a16="http://schemas.microsoft.com/office/drawing/2014/main" val="2977399736"/>
                    </a:ext>
                  </a:extLst>
                </a:gridCol>
              </a:tblGrid>
              <a:tr h="0">
                <a:tc>
                  <a:txBody>
                    <a:bodyPr/>
                    <a:lstStyle/>
                    <a:p>
                      <a:pPr rtl="0">
                        <a:buNone/>
                      </a:pPr>
                      <a:r>
                        <a:rPr lang="en-US" sz="1400" b="1" dirty="0">
                          <a:solidFill>
                            <a:srgbClr val="1F1F1F"/>
                          </a:solidFill>
                          <a:effectLst/>
                        </a:rPr>
                        <a:t>Marketing Channel</a:t>
                      </a:r>
                      <a:endParaRPr lang="en-US" sz="1400" dirty="0">
                        <a:solidFill>
                          <a:srgbClr val="1F1F1F"/>
                        </a:solidFill>
                        <a:effectLst/>
                        <a:latin typeface="Google Sans Text"/>
                      </a:endParaRPr>
                    </a:p>
                  </a:txBody>
                  <a:tcPr marL="114300" marR="114300" marT="76200" marB="76200" anchor="ctr">
                    <a:solidFill>
                      <a:schemeClr val="accent1">
                        <a:lumMod val="20000"/>
                        <a:lumOff val="80000"/>
                      </a:schemeClr>
                    </a:solidFill>
                  </a:tcPr>
                </a:tc>
                <a:tc>
                  <a:txBody>
                    <a:bodyPr/>
                    <a:lstStyle/>
                    <a:p>
                      <a:pPr rtl="0">
                        <a:buNone/>
                      </a:pPr>
                      <a:r>
                        <a:rPr lang="en-US" sz="1400" b="1" dirty="0">
                          <a:solidFill>
                            <a:srgbClr val="1F1F1F"/>
                          </a:solidFill>
                          <a:effectLst/>
                        </a:rPr>
                        <a:t>New Customers %</a:t>
                      </a:r>
                      <a:endParaRPr lang="en-US" sz="1400" dirty="0">
                        <a:solidFill>
                          <a:srgbClr val="1F1F1F"/>
                        </a:solidFill>
                        <a:effectLst/>
                        <a:latin typeface="Google Sans Text"/>
                      </a:endParaRPr>
                    </a:p>
                  </a:txBody>
                  <a:tcPr marL="114300" marR="114300" marT="76200" marB="76200" anchor="ctr">
                    <a:solidFill>
                      <a:schemeClr val="accent1">
                        <a:lumMod val="20000"/>
                        <a:lumOff val="80000"/>
                      </a:schemeClr>
                    </a:solidFill>
                  </a:tcPr>
                </a:tc>
                <a:tc>
                  <a:txBody>
                    <a:bodyPr/>
                    <a:lstStyle/>
                    <a:p>
                      <a:pPr rtl="0">
                        <a:buNone/>
                      </a:pPr>
                      <a:r>
                        <a:rPr lang="en-US" sz="1400" b="1" dirty="0">
                          <a:solidFill>
                            <a:srgbClr val="1F1F1F"/>
                          </a:solidFill>
                          <a:effectLst/>
                        </a:rPr>
                        <a:t>Returning Customers %</a:t>
                      </a:r>
                      <a:endParaRPr lang="en-US" sz="1400" dirty="0">
                        <a:solidFill>
                          <a:srgbClr val="1F1F1F"/>
                        </a:solidFill>
                        <a:effectLst/>
                        <a:latin typeface="Google Sans Text"/>
                      </a:endParaRPr>
                    </a:p>
                  </a:txBody>
                  <a:tcPr marL="114300" marR="114300" marT="76200" marB="76200" anchor="ctr">
                    <a:solidFill>
                      <a:schemeClr val="accent1">
                        <a:lumMod val="20000"/>
                        <a:lumOff val="80000"/>
                      </a:schemeClr>
                    </a:solidFill>
                  </a:tcPr>
                </a:tc>
                <a:extLst>
                  <a:ext uri="{0D108BD9-81ED-4DB2-BD59-A6C34878D82A}">
                    <a16:rowId xmlns:a16="http://schemas.microsoft.com/office/drawing/2014/main" val="683989183"/>
                  </a:ext>
                </a:extLst>
              </a:tr>
              <a:tr h="0">
                <a:tc>
                  <a:txBody>
                    <a:bodyPr/>
                    <a:lstStyle/>
                    <a:p>
                      <a:pPr rtl="0">
                        <a:buNone/>
                      </a:pPr>
                      <a:r>
                        <a:rPr lang="en-US" sz="1400" dirty="0">
                          <a:solidFill>
                            <a:srgbClr val="1F1F1F"/>
                          </a:solidFill>
                          <a:effectLst/>
                        </a:rPr>
                        <a:t>Email Marketing Campaigns</a:t>
                      </a:r>
                      <a:endParaRPr lang="en-US" sz="1400" dirty="0">
                        <a:solidFill>
                          <a:srgbClr val="1F1F1F"/>
                        </a:solidFill>
                        <a:effectLst/>
                        <a:latin typeface="Google Sans Text"/>
                      </a:endParaRPr>
                    </a:p>
                  </a:txBody>
                  <a:tcPr marL="114300" marR="114300" marT="76200" marB="76200" anchor="ctr"/>
                </a:tc>
                <a:tc>
                  <a:txBody>
                    <a:bodyPr/>
                    <a:lstStyle/>
                    <a:p>
                      <a:pPr algn="ctr" rtl="0">
                        <a:buNone/>
                      </a:pPr>
                      <a:r>
                        <a:rPr lang="en-EG" sz="1400" dirty="0">
                          <a:solidFill>
                            <a:srgbClr val="1F1F1F"/>
                          </a:solidFill>
                          <a:effectLst/>
                        </a:rPr>
                        <a:t>25%</a:t>
                      </a:r>
                      <a:endParaRPr lang="en-EG" sz="1400" dirty="0">
                        <a:solidFill>
                          <a:srgbClr val="1F1F1F"/>
                        </a:solidFill>
                        <a:effectLst/>
                        <a:latin typeface="Google Sans Text"/>
                      </a:endParaRPr>
                    </a:p>
                  </a:txBody>
                  <a:tcPr marL="114300" marR="114300" marT="76200" marB="76200" anchor="ctr"/>
                </a:tc>
                <a:tc>
                  <a:txBody>
                    <a:bodyPr/>
                    <a:lstStyle/>
                    <a:p>
                      <a:pPr algn="ctr" rtl="0">
                        <a:buNone/>
                      </a:pPr>
                      <a:r>
                        <a:rPr lang="en-EG" sz="1400">
                          <a:solidFill>
                            <a:srgbClr val="1F1F1F"/>
                          </a:solidFill>
                          <a:effectLst/>
                        </a:rPr>
                        <a:t>75%</a:t>
                      </a:r>
                      <a:endParaRPr lang="en-EG" sz="140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3433333731"/>
                  </a:ext>
                </a:extLst>
              </a:tr>
              <a:tr h="0">
                <a:tc>
                  <a:txBody>
                    <a:bodyPr/>
                    <a:lstStyle/>
                    <a:p>
                      <a:pPr rtl="0">
                        <a:buNone/>
                      </a:pPr>
                      <a:r>
                        <a:rPr lang="en-US" sz="1400">
                          <a:solidFill>
                            <a:srgbClr val="1F1F1F"/>
                          </a:solidFill>
                          <a:effectLst/>
                        </a:rPr>
                        <a:t>Direct Website Traffic</a:t>
                      </a:r>
                      <a:endParaRPr lang="en-US" sz="1400">
                        <a:solidFill>
                          <a:srgbClr val="1F1F1F"/>
                        </a:solidFill>
                        <a:effectLst/>
                        <a:latin typeface="Google Sans Text"/>
                      </a:endParaRPr>
                    </a:p>
                  </a:txBody>
                  <a:tcPr marL="114300" marR="114300" marT="76200" marB="76200" anchor="ctr"/>
                </a:tc>
                <a:tc>
                  <a:txBody>
                    <a:bodyPr/>
                    <a:lstStyle/>
                    <a:p>
                      <a:pPr algn="ctr" rtl="0">
                        <a:buNone/>
                      </a:pPr>
                      <a:r>
                        <a:rPr lang="en-EG" sz="1400" dirty="0">
                          <a:solidFill>
                            <a:srgbClr val="1F1F1F"/>
                          </a:solidFill>
                          <a:effectLst/>
                        </a:rPr>
                        <a:t>30%</a:t>
                      </a:r>
                      <a:endParaRPr lang="en-EG" sz="1400" dirty="0">
                        <a:solidFill>
                          <a:srgbClr val="1F1F1F"/>
                        </a:solidFill>
                        <a:effectLst/>
                        <a:latin typeface="Google Sans Text"/>
                      </a:endParaRPr>
                    </a:p>
                  </a:txBody>
                  <a:tcPr marL="114300" marR="114300" marT="76200" marB="76200" anchor="ctr"/>
                </a:tc>
                <a:tc>
                  <a:txBody>
                    <a:bodyPr/>
                    <a:lstStyle/>
                    <a:p>
                      <a:pPr algn="ctr" rtl="0">
                        <a:buNone/>
                      </a:pPr>
                      <a:r>
                        <a:rPr lang="en-EG" sz="1400" dirty="0">
                          <a:solidFill>
                            <a:srgbClr val="1F1F1F"/>
                          </a:solidFill>
                          <a:effectLst/>
                        </a:rPr>
                        <a:t>70%</a:t>
                      </a:r>
                      <a:endParaRPr lang="en-EG" sz="1400"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1877651729"/>
                  </a:ext>
                </a:extLst>
              </a:tr>
              <a:tr h="0">
                <a:tc>
                  <a:txBody>
                    <a:bodyPr/>
                    <a:lstStyle/>
                    <a:p>
                      <a:pPr rtl="0">
                        <a:buNone/>
                      </a:pPr>
                      <a:r>
                        <a:rPr lang="en-US" sz="1400">
                          <a:solidFill>
                            <a:srgbClr val="1F1F1F"/>
                          </a:solidFill>
                          <a:effectLst/>
                        </a:rPr>
                        <a:t>Social Media Advertising</a:t>
                      </a:r>
                      <a:endParaRPr lang="en-US" sz="1400">
                        <a:solidFill>
                          <a:srgbClr val="1F1F1F"/>
                        </a:solidFill>
                        <a:effectLst/>
                        <a:latin typeface="Google Sans Text"/>
                      </a:endParaRPr>
                    </a:p>
                  </a:txBody>
                  <a:tcPr marL="114300" marR="114300" marT="76200" marB="76200" anchor="ctr"/>
                </a:tc>
                <a:tc>
                  <a:txBody>
                    <a:bodyPr/>
                    <a:lstStyle/>
                    <a:p>
                      <a:pPr algn="ctr" rtl="0">
                        <a:buNone/>
                      </a:pPr>
                      <a:r>
                        <a:rPr lang="en-EG" sz="1400">
                          <a:solidFill>
                            <a:srgbClr val="1F1F1F"/>
                          </a:solidFill>
                          <a:effectLst/>
                        </a:rPr>
                        <a:t>45%</a:t>
                      </a:r>
                      <a:endParaRPr lang="en-EG" sz="1400">
                        <a:solidFill>
                          <a:srgbClr val="1F1F1F"/>
                        </a:solidFill>
                        <a:effectLst/>
                        <a:latin typeface="Google Sans Text"/>
                      </a:endParaRPr>
                    </a:p>
                  </a:txBody>
                  <a:tcPr marL="114300" marR="114300" marT="76200" marB="76200" anchor="ctr"/>
                </a:tc>
                <a:tc>
                  <a:txBody>
                    <a:bodyPr/>
                    <a:lstStyle/>
                    <a:p>
                      <a:pPr algn="ctr" rtl="0">
                        <a:buNone/>
                      </a:pPr>
                      <a:r>
                        <a:rPr lang="en-EG" sz="1400" dirty="0">
                          <a:solidFill>
                            <a:srgbClr val="1F1F1F"/>
                          </a:solidFill>
                          <a:effectLst/>
                        </a:rPr>
                        <a:t>55%</a:t>
                      </a:r>
                      <a:endParaRPr lang="en-EG" sz="1400"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1999592639"/>
                  </a:ext>
                </a:extLst>
              </a:tr>
              <a:tr h="0">
                <a:tc>
                  <a:txBody>
                    <a:bodyPr/>
                    <a:lstStyle/>
                    <a:p>
                      <a:pPr rtl="0">
                        <a:buNone/>
                      </a:pPr>
                      <a:r>
                        <a:rPr lang="en-US" sz="1400">
                          <a:solidFill>
                            <a:srgbClr val="1F1F1F"/>
                          </a:solidFill>
                          <a:effectLst/>
                        </a:rPr>
                        <a:t>Search Engine Optimization</a:t>
                      </a:r>
                      <a:endParaRPr lang="en-US" sz="1400">
                        <a:solidFill>
                          <a:srgbClr val="1F1F1F"/>
                        </a:solidFill>
                        <a:effectLst/>
                        <a:latin typeface="Google Sans Text"/>
                      </a:endParaRPr>
                    </a:p>
                  </a:txBody>
                  <a:tcPr marL="114300" marR="114300" marT="76200" marB="76200" anchor="ctr"/>
                </a:tc>
                <a:tc>
                  <a:txBody>
                    <a:bodyPr/>
                    <a:lstStyle/>
                    <a:p>
                      <a:pPr algn="ctr" rtl="0">
                        <a:buNone/>
                      </a:pPr>
                      <a:r>
                        <a:rPr lang="en-EG" sz="1400">
                          <a:solidFill>
                            <a:srgbClr val="1F1F1F"/>
                          </a:solidFill>
                          <a:effectLst/>
                        </a:rPr>
                        <a:t>60%</a:t>
                      </a:r>
                      <a:endParaRPr lang="en-EG" sz="1400">
                        <a:solidFill>
                          <a:srgbClr val="1F1F1F"/>
                        </a:solidFill>
                        <a:effectLst/>
                        <a:latin typeface="Google Sans Text"/>
                      </a:endParaRPr>
                    </a:p>
                  </a:txBody>
                  <a:tcPr marL="114300" marR="114300" marT="76200" marB="76200" anchor="ctr"/>
                </a:tc>
                <a:tc>
                  <a:txBody>
                    <a:bodyPr/>
                    <a:lstStyle/>
                    <a:p>
                      <a:pPr algn="ctr" rtl="0">
                        <a:buNone/>
                      </a:pPr>
                      <a:r>
                        <a:rPr lang="en-EG" sz="1400" dirty="0">
                          <a:solidFill>
                            <a:srgbClr val="1F1F1F"/>
                          </a:solidFill>
                          <a:effectLst/>
                        </a:rPr>
                        <a:t>40%</a:t>
                      </a:r>
                      <a:endParaRPr lang="en-EG" sz="1400"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1846173789"/>
                  </a:ext>
                </a:extLst>
              </a:tr>
              <a:tr h="0">
                <a:tc>
                  <a:txBody>
                    <a:bodyPr/>
                    <a:lstStyle/>
                    <a:p>
                      <a:pPr rtl="0">
                        <a:buNone/>
                      </a:pPr>
                      <a:r>
                        <a:rPr lang="en-US" sz="1400">
                          <a:solidFill>
                            <a:srgbClr val="1F1F1F"/>
                          </a:solidFill>
                          <a:effectLst/>
                        </a:rPr>
                        <a:t>Affiliate Referral Partners</a:t>
                      </a:r>
                      <a:endParaRPr lang="en-US" sz="1400">
                        <a:solidFill>
                          <a:srgbClr val="1F1F1F"/>
                        </a:solidFill>
                        <a:effectLst/>
                        <a:latin typeface="Google Sans Text"/>
                      </a:endParaRPr>
                    </a:p>
                  </a:txBody>
                  <a:tcPr marL="114300" marR="114300" marT="76200" marB="76200" anchor="ctr"/>
                </a:tc>
                <a:tc>
                  <a:txBody>
                    <a:bodyPr/>
                    <a:lstStyle/>
                    <a:p>
                      <a:pPr algn="ctr" rtl="0">
                        <a:buNone/>
                      </a:pPr>
                      <a:r>
                        <a:rPr lang="en-EG" sz="1400">
                          <a:solidFill>
                            <a:srgbClr val="1F1F1F"/>
                          </a:solidFill>
                          <a:effectLst/>
                        </a:rPr>
                        <a:t>75%</a:t>
                      </a:r>
                      <a:endParaRPr lang="en-EG" sz="1400">
                        <a:solidFill>
                          <a:srgbClr val="1F1F1F"/>
                        </a:solidFill>
                        <a:effectLst/>
                        <a:latin typeface="Google Sans Text"/>
                      </a:endParaRPr>
                    </a:p>
                  </a:txBody>
                  <a:tcPr marL="114300" marR="114300" marT="76200" marB="76200" anchor="ctr"/>
                </a:tc>
                <a:tc>
                  <a:txBody>
                    <a:bodyPr/>
                    <a:lstStyle/>
                    <a:p>
                      <a:pPr algn="ctr" rtl="0">
                        <a:buNone/>
                      </a:pPr>
                      <a:r>
                        <a:rPr lang="en-EG" sz="1400" dirty="0">
                          <a:solidFill>
                            <a:srgbClr val="1F1F1F"/>
                          </a:solidFill>
                          <a:effectLst/>
                        </a:rPr>
                        <a:t>25%</a:t>
                      </a:r>
                      <a:endParaRPr lang="en-EG" sz="1400"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2749528417"/>
                  </a:ext>
                </a:extLst>
              </a:tr>
            </a:tbl>
          </a:graphicData>
        </a:graphic>
      </p:graphicFrame>
    </p:spTree>
    <p:extLst>
      <p:ext uri="{BB962C8B-B14F-4D97-AF65-F5344CB8AC3E}">
        <p14:creationId xmlns:p14="http://schemas.microsoft.com/office/powerpoint/2010/main" val="31951065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91733-3351-178A-5C0B-2F7286E2A8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1BF814-EA0F-77CA-FDCB-D13580181193}"/>
              </a:ext>
            </a:extLst>
          </p:cNvPr>
          <p:cNvSpPr>
            <a:spLocks noGrp="1"/>
          </p:cNvSpPr>
          <p:nvPr>
            <p:ph type="title"/>
          </p:nvPr>
        </p:nvSpPr>
        <p:spPr>
          <a:xfrm>
            <a:off x="704088" y="871368"/>
            <a:ext cx="5239272" cy="1226372"/>
          </a:xfrm>
        </p:spPr>
        <p:txBody>
          <a:bodyPr>
            <a:normAutofit fontScale="90000"/>
          </a:bodyPr>
          <a:lstStyle/>
          <a:p>
            <a:r>
              <a:rPr lang="en-US" dirty="0"/>
              <a:t>Practical Exercise 2: stacked chart</a:t>
            </a:r>
            <a:endParaRPr lang="en-EG" dirty="0"/>
          </a:p>
        </p:txBody>
      </p:sp>
      <p:sp>
        <p:nvSpPr>
          <p:cNvPr id="3" name="Content Placeholder 2">
            <a:extLst>
              <a:ext uri="{FF2B5EF4-FFF2-40B4-BE49-F238E27FC236}">
                <a16:creationId xmlns:a16="http://schemas.microsoft.com/office/drawing/2014/main" id="{B48E9697-81DD-E891-62FD-598B9F0E8315}"/>
              </a:ext>
            </a:extLst>
          </p:cNvPr>
          <p:cNvSpPr>
            <a:spLocks noGrp="1"/>
          </p:cNvSpPr>
          <p:nvPr>
            <p:ph idx="1"/>
          </p:nvPr>
        </p:nvSpPr>
        <p:spPr>
          <a:xfrm>
            <a:off x="6346176" y="914399"/>
            <a:ext cx="5138688" cy="5248657"/>
          </a:xfrm>
        </p:spPr>
        <p:txBody>
          <a:bodyPr>
            <a:normAutofit/>
          </a:bodyPr>
          <a:lstStyle/>
          <a:p>
            <a:pPr marL="0" indent="0">
              <a:buNone/>
            </a:pPr>
            <a:r>
              <a:rPr lang="en-US" b="1" dirty="0"/>
              <a:t>3. The Audience Question</a:t>
            </a:r>
          </a:p>
          <a:p>
            <a:pPr marL="0" indent="0" algn="just">
              <a:buNone/>
            </a:pPr>
            <a:r>
              <a:rPr lang="en-US" dirty="0"/>
              <a:t>"Looking at the </a:t>
            </a:r>
            <a:r>
              <a:rPr lang="en-US" b="1" dirty="0"/>
              <a:t>Breakdown</a:t>
            </a:r>
            <a:r>
              <a:rPr lang="en-US" dirty="0"/>
              <a:t> of our traffic, which marketing channel is at the </a:t>
            </a:r>
            <a:r>
              <a:rPr lang="en-US" b="1" dirty="0"/>
              <a:t>Bottom</a:t>
            </a:r>
            <a:r>
              <a:rPr lang="en-US" dirty="0"/>
              <a:t> of the </a:t>
            </a:r>
            <a:r>
              <a:rPr lang="en-US" b="1" dirty="0"/>
              <a:t>Ranking</a:t>
            </a:r>
            <a:r>
              <a:rPr lang="en-US" dirty="0"/>
              <a:t> for attracting New Customers?"</a:t>
            </a:r>
          </a:p>
          <a:p>
            <a:endParaRPr lang="en-US" dirty="0"/>
          </a:p>
          <a:p>
            <a:pPr marL="0" indent="0" algn="just">
              <a:buNone/>
            </a:pPr>
            <a:r>
              <a:rPr lang="en-US" b="1" u="sng" dirty="0"/>
              <a:t>Draw the most accurate visualization possible to answer the audience's question and follow the visualization guidelines.</a:t>
            </a:r>
          </a:p>
          <a:p>
            <a:endParaRPr lang="en-EG" dirty="0"/>
          </a:p>
        </p:txBody>
      </p:sp>
      <p:graphicFrame>
        <p:nvGraphicFramePr>
          <p:cNvPr id="4" name="Table 3">
            <a:extLst>
              <a:ext uri="{FF2B5EF4-FFF2-40B4-BE49-F238E27FC236}">
                <a16:creationId xmlns:a16="http://schemas.microsoft.com/office/drawing/2014/main" id="{03FE0894-C405-7805-EC85-A26492EC5567}"/>
              </a:ext>
            </a:extLst>
          </p:cNvPr>
          <p:cNvGraphicFramePr>
            <a:graphicFrameLocks noGrp="1"/>
          </p:cNvGraphicFramePr>
          <p:nvPr>
            <p:extLst>
              <p:ext uri="{D42A27DB-BD31-4B8C-83A1-F6EECF244321}">
                <p14:modId xmlns:p14="http://schemas.microsoft.com/office/powerpoint/2010/main" val="3187985659"/>
              </p:ext>
            </p:extLst>
          </p:nvPr>
        </p:nvGraphicFramePr>
        <p:xfrm>
          <a:off x="839936" y="2777453"/>
          <a:ext cx="5395913" cy="2407920"/>
        </p:xfrm>
        <a:graphic>
          <a:graphicData uri="http://schemas.openxmlformats.org/drawingml/2006/table">
            <a:tbl>
              <a:tblPr>
                <a:tableStyleId>{5940675A-B579-460E-94D1-54222C63F5DA}</a:tableStyleId>
              </a:tblPr>
              <a:tblGrid>
                <a:gridCol w="2849938">
                  <a:extLst>
                    <a:ext uri="{9D8B030D-6E8A-4147-A177-3AD203B41FA5}">
                      <a16:colId xmlns:a16="http://schemas.microsoft.com/office/drawing/2014/main" val="2102953329"/>
                    </a:ext>
                  </a:extLst>
                </a:gridCol>
                <a:gridCol w="1280160">
                  <a:extLst>
                    <a:ext uri="{9D8B030D-6E8A-4147-A177-3AD203B41FA5}">
                      <a16:colId xmlns:a16="http://schemas.microsoft.com/office/drawing/2014/main" val="132591530"/>
                    </a:ext>
                  </a:extLst>
                </a:gridCol>
                <a:gridCol w="1265815">
                  <a:extLst>
                    <a:ext uri="{9D8B030D-6E8A-4147-A177-3AD203B41FA5}">
                      <a16:colId xmlns:a16="http://schemas.microsoft.com/office/drawing/2014/main" val="2977399736"/>
                    </a:ext>
                  </a:extLst>
                </a:gridCol>
              </a:tblGrid>
              <a:tr h="0">
                <a:tc>
                  <a:txBody>
                    <a:bodyPr/>
                    <a:lstStyle/>
                    <a:p>
                      <a:pPr rtl="0">
                        <a:buNone/>
                      </a:pPr>
                      <a:r>
                        <a:rPr lang="en-US" sz="1400" b="1" dirty="0">
                          <a:solidFill>
                            <a:srgbClr val="1F1F1F"/>
                          </a:solidFill>
                          <a:effectLst/>
                        </a:rPr>
                        <a:t>Marketing Channel</a:t>
                      </a:r>
                      <a:endParaRPr lang="en-US" sz="1400" dirty="0">
                        <a:solidFill>
                          <a:srgbClr val="1F1F1F"/>
                        </a:solidFill>
                        <a:effectLst/>
                        <a:latin typeface="Google Sans Text"/>
                      </a:endParaRPr>
                    </a:p>
                  </a:txBody>
                  <a:tcPr marL="114300" marR="114300" marT="76200" marB="76200" anchor="ctr">
                    <a:solidFill>
                      <a:schemeClr val="accent1">
                        <a:lumMod val="20000"/>
                        <a:lumOff val="80000"/>
                      </a:schemeClr>
                    </a:solidFill>
                  </a:tcPr>
                </a:tc>
                <a:tc>
                  <a:txBody>
                    <a:bodyPr/>
                    <a:lstStyle/>
                    <a:p>
                      <a:pPr rtl="0">
                        <a:buNone/>
                      </a:pPr>
                      <a:r>
                        <a:rPr lang="en-US" sz="1400" b="1" dirty="0">
                          <a:solidFill>
                            <a:srgbClr val="1F1F1F"/>
                          </a:solidFill>
                          <a:effectLst/>
                        </a:rPr>
                        <a:t>New Customers %</a:t>
                      </a:r>
                      <a:endParaRPr lang="en-US" sz="1400" dirty="0">
                        <a:solidFill>
                          <a:srgbClr val="1F1F1F"/>
                        </a:solidFill>
                        <a:effectLst/>
                        <a:latin typeface="Google Sans Text"/>
                      </a:endParaRPr>
                    </a:p>
                  </a:txBody>
                  <a:tcPr marL="114300" marR="114300" marT="76200" marB="76200" anchor="ctr">
                    <a:solidFill>
                      <a:schemeClr val="accent1">
                        <a:lumMod val="20000"/>
                        <a:lumOff val="80000"/>
                      </a:schemeClr>
                    </a:solidFill>
                  </a:tcPr>
                </a:tc>
                <a:tc>
                  <a:txBody>
                    <a:bodyPr/>
                    <a:lstStyle/>
                    <a:p>
                      <a:pPr rtl="0">
                        <a:buNone/>
                      </a:pPr>
                      <a:r>
                        <a:rPr lang="en-US" sz="1400" b="1" dirty="0">
                          <a:solidFill>
                            <a:srgbClr val="1F1F1F"/>
                          </a:solidFill>
                          <a:effectLst/>
                        </a:rPr>
                        <a:t>Returning Customers %</a:t>
                      </a:r>
                      <a:endParaRPr lang="en-US" sz="1400" dirty="0">
                        <a:solidFill>
                          <a:srgbClr val="1F1F1F"/>
                        </a:solidFill>
                        <a:effectLst/>
                        <a:latin typeface="Google Sans Text"/>
                      </a:endParaRPr>
                    </a:p>
                  </a:txBody>
                  <a:tcPr marL="114300" marR="114300" marT="76200" marB="76200" anchor="ctr">
                    <a:solidFill>
                      <a:schemeClr val="accent1">
                        <a:lumMod val="20000"/>
                        <a:lumOff val="80000"/>
                      </a:schemeClr>
                    </a:solidFill>
                  </a:tcPr>
                </a:tc>
                <a:extLst>
                  <a:ext uri="{0D108BD9-81ED-4DB2-BD59-A6C34878D82A}">
                    <a16:rowId xmlns:a16="http://schemas.microsoft.com/office/drawing/2014/main" val="683989183"/>
                  </a:ext>
                </a:extLst>
              </a:tr>
              <a:tr h="0">
                <a:tc>
                  <a:txBody>
                    <a:bodyPr/>
                    <a:lstStyle/>
                    <a:p>
                      <a:pPr rtl="0">
                        <a:buNone/>
                      </a:pPr>
                      <a:r>
                        <a:rPr lang="en-US" sz="1400" dirty="0">
                          <a:solidFill>
                            <a:srgbClr val="1F1F1F"/>
                          </a:solidFill>
                          <a:effectLst/>
                        </a:rPr>
                        <a:t>Email Marketing Campaigns</a:t>
                      </a:r>
                      <a:endParaRPr lang="en-US" sz="1400" dirty="0">
                        <a:solidFill>
                          <a:srgbClr val="1F1F1F"/>
                        </a:solidFill>
                        <a:effectLst/>
                        <a:latin typeface="Google Sans Text"/>
                      </a:endParaRPr>
                    </a:p>
                  </a:txBody>
                  <a:tcPr marL="114300" marR="114300" marT="76200" marB="76200" anchor="ctr"/>
                </a:tc>
                <a:tc>
                  <a:txBody>
                    <a:bodyPr/>
                    <a:lstStyle/>
                    <a:p>
                      <a:pPr algn="ctr" rtl="0">
                        <a:buNone/>
                      </a:pPr>
                      <a:r>
                        <a:rPr lang="en-EG" sz="1400" dirty="0">
                          <a:solidFill>
                            <a:srgbClr val="1F1F1F"/>
                          </a:solidFill>
                          <a:effectLst/>
                        </a:rPr>
                        <a:t>25%</a:t>
                      </a:r>
                      <a:endParaRPr lang="en-EG" sz="1400" dirty="0">
                        <a:solidFill>
                          <a:srgbClr val="1F1F1F"/>
                        </a:solidFill>
                        <a:effectLst/>
                        <a:latin typeface="Google Sans Text"/>
                      </a:endParaRPr>
                    </a:p>
                  </a:txBody>
                  <a:tcPr marL="114300" marR="114300" marT="76200" marB="76200" anchor="ctr"/>
                </a:tc>
                <a:tc>
                  <a:txBody>
                    <a:bodyPr/>
                    <a:lstStyle/>
                    <a:p>
                      <a:pPr algn="ctr" rtl="0">
                        <a:buNone/>
                      </a:pPr>
                      <a:r>
                        <a:rPr lang="en-EG" sz="1400">
                          <a:solidFill>
                            <a:srgbClr val="1F1F1F"/>
                          </a:solidFill>
                          <a:effectLst/>
                        </a:rPr>
                        <a:t>75%</a:t>
                      </a:r>
                      <a:endParaRPr lang="en-EG" sz="140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3433333731"/>
                  </a:ext>
                </a:extLst>
              </a:tr>
              <a:tr h="0">
                <a:tc>
                  <a:txBody>
                    <a:bodyPr/>
                    <a:lstStyle/>
                    <a:p>
                      <a:pPr rtl="0">
                        <a:buNone/>
                      </a:pPr>
                      <a:r>
                        <a:rPr lang="en-US" sz="1400">
                          <a:solidFill>
                            <a:srgbClr val="1F1F1F"/>
                          </a:solidFill>
                          <a:effectLst/>
                        </a:rPr>
                        <a:t>Direct Website Traffic</a:t>
                      </a:r>
                      <a:endParaRPr lang="en-US" sz="1400">
                        <a:solidFill>
                          <a:srgbClr val="1F1F1F"/>
                        </a:solidFill>
                        <a:effectLst/>
                        <a:latin typeface="Google Sans Text"/>
                      </a:endParaRPr>
                    </a:p>
                  </a:txBody>
                  <a:tcPr marL="114300" marR="114300" marT="76200" marB="76200" anchor="ctr"/>
                </a:tc>
                <a:tc>
                  <a:txBody>
                    <a:bodyPr/>
                    <a:lstStyle/>
                    <a:p>
                      <a:pPr algn="ctr" rtl="0">
                        <a:buNone/>
                      </a:pPr>
                      <a:r>
                        <a:rPr lang="en-EG" sz="1400" dirty="0">
                          <a:solidFill>
                            <a:srgbClr val="1F1F1F"/>
                          </a:solidFill>
                          <a:effectLst/>
                        </a:rPr>
                        <a:t>30%</a:t>
                      </a:r>
                      <a:endParaRPr lang="en-EG" sz="1400" dirty="0">
                        <a:solidFill>
                          <a:srgbClr val="1F1F1F"/>
                        </a:solidFill>
                        <a:effectLst/>
                        <a:latin typeface="Google Sans Text"/>
                      </a:endParaRPr>
                    </a:p>
                  </a:txBody>
                  <a:tcPr marL="114300" marR="114300" marT="76200" marB="76200" anchor="ctr"/>
                </a:tc>
                <a:tc>
                  <a:txBody>
                    <a:bodyPr/>
                    <a:lstStyle/>
                    <a:p>
                      <a:pPr algn="ctr" rtl="0">
                        <a:buNone/>
                      </a:pPr>
                      <a:r>
                        <a:rPr lang="en-EG" sz="1400" dirty="0">
                          <a:solidFill>
                            <a:srgbClr val="1F1F1F"/>
                          </a:solidFill>
                          <a:effectLst/>
                        </a:rPr>
                        <a:t>70%</a:t>
                      </a:r>
                      <a:endParaRPr lang="en-EG" sz="1400"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1877651729"/>
                  </a:ext>
                </a:extLst>
              </a:tr>
              <a:tr h="0">
                <a:tc>
                  <a:txBody>
                    <a:bodyPr/>
                    <a:lstStyle/>
                    <a:p>
                      <a:pPr rtl="0">
                        <a:buNone/>
                      </a:pPr>
                      <a:r>
                        <a:rPr lang="en-US" sz="1400">
                          <a:solidFill>
                            <a:srgbClr val="1F1F1F"/>
                          </a:solidFill>
                          <a:effectLst/>
                        </a:rPr>
                        <a:t>Social Media Advertising</a:t>
                      </a:r>
                      <a:endParaRPr lang="en-US" sz="1400">
                        <a:solidFill>
                          <a:srgbClr val="1F1F1F"/>
                        </a:solidFill>
                        <a:effectLst/>
                        <a:latin typeface="Google Sans Text"/>
                      </a:endParaRPr>
                    </a:p>
                  </a:txBody>
                  <a:tcPr marL="114300" marR="114300" marT="76200" marB="76200" anchor="ctr"/>
                </a:tc>
                <a:tc>
                  <a:txBody>
                    <a:bodyPr/>
                    <a:lstStyle/>
                    <a:p>
                      <a:pPr algn="ctr" rtl="0">
                        <a:buNone/>
                      </a:pPr>
                      <a:r>
                        <a:rPr lang="en-EG" sz="1400">
                          <a:solidFill>
                            <a:srgbClr val="1F1F1F"/>
                          </a:solidFill>
                          <a:effectLst/>
                        </a:rPr>
                        <a:t>45%</a:t>
                      </a:r>
                      <a:endParaRPr lang="en-EG" sz="1400">
                        <a:solidFill>
                          <a:srgbClr val="1F1F1F"/>
                        </a:solidFill>
                        <a:effectLst/>
                        <a:latin typeface="Google Sans Text"/>
                      </a:endParaRPr>
                    </a:p>
                  </a:txBody>
                  <a:tcPr marL="114300" marR="114300" marT="76200" marB="76200" anchor="ctr"/>
                </a:tc>
                <a:tc>
                  <a:txBody>
                    <a:bodyPr/>
                    <a:lstStyle/>
                    <a:p>
                      <a:pPr algn="ctr" rtl="0">
                        <a:buNone/>
                      </a:pPr>
                      <a:r>
                        <a:rPr lang="en-EG" sz="1400" dirty="0">
                          <a:solidFill>
                            <a:srgbClr val="1F1F1F"/>
                          </a:solidFill>
                          <a:effectLst/>
                        </a:rPr>
                        <a:t>55%</a:t>
                      </a:r>
                      <a:endParaRPr lang="en-EG" sz="1400"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1999592639"/>
                  </a:ext>
                </a:extLst>
              </a:tr>
              <a:tr h="0">
                <a:tc>
                  <a:txBody>
                    <a:bodyPr/>
                    <a:lstStyle/>
                    <a:p>
                      <a:pPr rtl="0">
                        <a:buNone/>
                      </a:pPr>
                      <a:r>
                        <a:rPr lang="en-US" sz="1400">
                          <a:solidFill>
                            <a:srgbClr val="1F1F1F"/>
                          </a:solidFill>
                          <a:effectLst/>
                        </a:rPr>
                        <a:t>Search Engine Optimization</a:t>
                      </a:r>
                      <a:endParaRPr lang="en-US" sz="1400">
                        <a:solidFill>
                          <a:srgbClr val="1F1F1F"/>
                        </a:solidFill>
                        <a:effectLst/>
                        <a:latin typeface="Google Sans Text"/>
                      </a:endParaRPr>
                    </a:p>
                  </a:txBody>
                  <a:tcPr marL="114300" marR="114300" marT="76200" marB="76200" anchor="ctr"/>
                </a:tc>
                <a:tc>
                  <a:txBody>
                    <a:bodyPr/>
                    <a:lstStyle/>
                    <a:p>
                      <a:pPr algn="ctr" rtl="0">
                        <a:buNone/>
                      </a:pPr>
                      <a:r>
                        <a:rPr lang="en-EG" sz="1400">
                          <a:solidFill>
                            <a:srgbClr val="1F1F1F"/>
                          </a:solidFill>
                          <a:effectLst/>
                        </a:rPr>
                        <a:t>60%</a:t>
                      </a:r>
                      <a:endParaRPr lang="en-EG" sz="1400">
                        <a:solidFill>
                          <a:srgbClr val="1F1F1F"/>
                        </a:solidFill>
                        <a:effectLst/>
                        <a:latin typeface="Google Sans Text"/>
                      </a:endParaRPr>
                    </a:p>
                  </a:txBody>
                  <a:tcPr marL="114300" marR="114300" marT="76200" marB="76200" anchor="ctr"/>
                </a:tc>
                <a:tc>
                  <a:txBody>
                    <a:bodyPr/>
                    <a:lstStyle/>
                    <a:p>
                      <a:pPr algn="ctr" rtl="0">
                        <a:buNone/>
                      </a:pPr>
                      <a:r>
                        <a:rPr lang="en-EG" sz="1400" dirty="0">
                          <a:solidFill>
                            <a:srgbClr val="1F1F1F"/>
                          </a:solidFill>
                          <a:effectLst/>
                        </a:rPr>
                        <a:t>40%</a:t>
                      </a:r>
                      <a:endParaRPr lang="en-EG" sz="1400"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1846173789"/>
                  </a:ext>
                </a:extLst>
              </a:tr>
              <a:tr h="0">
                <a:tc>
                  <a:txBody>
                    <a:bodyPr/>
                    <a:lstStyle/>
                    <a:p>
                      <a:pPr rtl="0">
                        <a:buNone/>
                      </a:pPr>
                      <a:r>
                        <a:rPr lang="en-US" sz="1400">
                          <a:solidFill>
                            <a:srgbClr val="1F1F1F"/>
                          </a:solidFill>
                          <a:effectLst/>
                        </a:rPr>
                        <a:t>Affiliate Referral Partners</a:t>
                      </a:r>
                      <a:endParaRPr lang="en-US" sz="1400">
                        <a:solidFill>
                          <a:srgbClr val="1F1F1F"/>
                        </a:solidFill>
                        <a:effectLst/>
                        <a:latin typeface="Google Sans Text"/>
                      </a:endParaRPr>
                    </a:p>
                  </a:txBody>
                  <a:tcPr marL="114300" marR="114300" marT="76200" marB="76200" anchor="ctr"/>
                </a:tc>
                <a:tc>
                  <a:txBody>
                    <a:bodyPr/>
                    <a:lstStyle/>
                    <a:p>
                      <a:pPr algn="ctr" rtl="0">
                        <a:buNone/>
                      </a:pPr>
                      <a:r>
                        <a:rPr lang="en-EG" sz="1400">
                          <a:solidFill>
                            <a:srgbClr val="1F1F1F"/>
                          </a:solidFill>
                          <a:effectLst/>
                        </a:rPr>
                        <a:t>75%</a:t>
                      </a:r>
                      <a:endParaRPr lang="en-EG" sz="1400">
                        <a:solidFill>
                          <a:srgbClr val="1F1F1F"/>
                        </a:solidFill>
                        <a:effectLst/>
                        <a:latin typeface="Google Sans Text"/>
                      </a:endParaRPr>
                    </a:p>
                  </a:txBody>
                  <a:tcPr marL="114300" marR="114300" marT="76200" marB="76200" anchor="ctr"/>
                </a:tc>
                <a:tc>
                  <a:txBody>
                    <a:bodyPr/>
                    <a:lstStyle/>
                    <a:p>
                      <a:pPr algn="ctr" rtl="0">
                        <a:buNone/>
                      </a:pPr>
                      <a:r>
                        <a:rPr lang="en-EG" sz="1400" dirty="0">
                          <a:solidFill>
                            <a:srgbClr val="1F1F1F"/>
                          </a:solidFill>
                          <a:effectLst/>
                        </a:rPr>
                        <a:t>25%</a:t>
                      </a:r>
                      <a:endParaRPr lang="en-EG" sz="1400"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2749528417"/>
                  </a:ext>
                </a:extLst>
              </a:tr>
            </a:tbl>
          </a:graphicData>
        </a:graphic>
      </p:graphicFrame>
    </p:spTree>
    <p:extLst>
      <p:ext uri="{BB962C8B-B14F-4D97-AF65-F5344CB8AC3E}">
        <p14:creationId xmlns:p14="http://schemas.microsoft.com/office/powerpoint/2010/main" val="20153361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D57946-1852-CE99-44A6-1021266652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8A7295-EA8D-3493-2952-B86C22199666}"/>
              </a:ext>
            </a:extLst>
          </p:cNvPr>
          <p:cNvSpPr>
            <a:spLocks noGrp="1"/>
          </p:cNvSpPr>
          <p:nvPr>
            <p:ph type="title"/>
          </p:nvPr>
        </p:nvSpPr>
        <p:spPr>
          <a:xfrm>
            <a:off x="700635" y="914400"/>
            <a:ext cx="10691265" cy="598714"/>
          </a:xfrm>
        </p:spPr>
        <p:txBody>
          <a:bodyPr>
            <a:normAutofit/>
          </a:bodyPr>
          <a:lstStyle/>
          <a:p>
            <a:r>
              <a:rPr lang="en-US" sz="2800" b="1" dirty="0"/>
              <a:t>Answers 2: stacked chart</a:t>
            </a:r>
            <a:endParaRPr lang="en-EG" sz="2800" dirty="0"/>
          </a:p>
        </p:txBody>
      </p:sp>
      <p:pic>
        <p:nvPicPr>
          <p:cNvPr id="6148" name="Picture 4">
            <a:extLst>
              <a:ext uri="{FF2B5EF4-FFF2-40B4-BE49-F238E27FC236}">
                <a16:creationId xmlns:a16="http://schemas.microsoft.com/office/drawing/2014/main" id="{FCAE2E31-58BB-9478-E2B9-DB1E5E2A8D9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86471" y="1631448"/>
            <a:ext cx="8119591" cy="439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33015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EC91C-349E-333F-B35F-C1DCE1BFEB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00BD28-4783-94F4-C648-A4BC211F7F59}"/>
              </a:ext>
            </a:extLst>
          </p:cNvPr>
          <p:cNvSpPr>
            <a:spLocks noGrp="1"/>
          </p:cNvSpPr>
          <p:nvPr>
            <p:ph type="title"/>
          </p:nvPr>
        </p:nvSpPr>
        <p:spPr>
          <a:xfrm>
            <a:off x="704088" y="794766"/>
            <a:ext cx="5239272" cy="1280163"/>
          </a:xfrm>
        </p:spPr>
        <p:txBody>
          <a:bodyPr>
            <a:normAutofit fontScale="90000"/>
          </a:bodyPr>
          <a:lstStyle/>
          <a:p>
            <a:r>
              <a:rPr lang="en-US" dirty="0"/>
              <a:t>Practical Exercise 3: stacked chart</a:t>
            </a:r>
            <a:endParaRPr lang="en-EG" dirty="0"/>
          </a:p>
        </p:txBody>
      </p:sp>
      <p:sp>
        <p:nvSpPr>
          <p:cNvPr id="3" name="Content Placeholder 2">
            <a:extLst>
              <a:ext uri="{FF2B5EF4-FFF2-40B4-BE49-F238E27FC236}">
                <a16:creationId xmlns:a16="http://schemas.microsoft.com/office/drawing/2014/main" id="{F36753E7-4429-E161-0105-E889597EE364}"/>
              </a:ext>
            </a:extLst>
          </p:cNvPr>
          <p:cNvSpPr>
            <a:spLocks noGrp="1"/>
          </p:cNvSpPr>
          <p:nvPr>
            <p:ph idx="1"/>
          </p:nvPr>
        </p:nvSpPr>
        <p:spPr>
          <a:xfrm>
            <a:off x="6346176" y="914399"/>
            <a:ext cx="5138688" cy="5248657"/>
          </a:xfrm>
        </p:spPr>
        <p:txBody>
          <a:bodyPr>
            <a:normAutofit/>
          </a:bodyPr>
          <a:lstStyle/>
          <a:p>
            <a:pPr marL="0" indent="0">
              <a:buNone/>
            </a:pPr>
            <a:r>
              <a:rPr lang="en-US" b="1" dirty="0"/>
              <a:t>1. The Task</a:t>
            </a:r>
          </a:p>
          <a:p>
            <a:pPr marL="0" indent="0" algn="just">
              <a:buNone/>
            </a:pPr>
            <a:r>
              <a:rPr lang="en-US" dirty="0"/>
              <a:t>Perform a </a:t>
            </a:r>
            <a:r>
              <a:rPr lang="en-US" b="1" dirty="0"/>
              <a:t>Categorical vs. Numerical Bivariate Analysis</a:t>
            </a:r>
            <a:r>
              <a:rPr lang="en-US" dirty="0"/>
              <a:t>. You are analyzing the </a:t>
            </a:r>
            <a:r>
              <a:rPr lang="en-US" b="1" dirty="0"/>
              <a:t>Composition</a:t>
            </a:r>
            <a:r>
              <a:rPr lang="en-US" dirty="0"/>
              <a:t> of budget spending (Personnel vs. Operations). </a:t>
            </a:r>
          </a:p>
          <a:p>
            <a:pPr marL="0" indent="0">
              <a:buNone/>
            </a:pPr>
            <a:endParaRPr lang="en-US" dirty="0"/>
          </a:p>
          <a:p>
            <a:pPr marL="0" indent="0">
              <a:buNone/>
            </a:pPr>
            <a:r>
              <a:rPr lang="en-US" b="1" dirty="0"/>
              <a:t>2. The Dataset</a:t>
            </a:r>
          </a:p>
          <a:p>
            <a:pPr marL="0" indent="0" algn="just">
              <a:buNone/>
            </a:pPr>
            <a:r>
              <a:rPr lang="en-US" dirty="0"/>
              <a:t>The dataset contains 12 departments with Personnel Costs, Operational Costs, and Total Volume.</a:t>
            </a:r>
          </a:p>
          <a:p>
            <a:pPr marL="0" indent="0" algn="just">
              <a:buNone/>
            </a:pPr>
            <a:endParaRPr lang="en-US" dirty="0"/>
          </a:p>
          <a:p>
            <a:endParaRPr lang="en-US" dirty="0"/>
          </a:p>
          <a:p>
            <a:endParaRPr lang="en-EG" dirty="0"/>
          </a:p>
        </p:txBody>
      </p:sp>
      <p:graphicFrame>
        <p:nvGraphicFramePr>
          <p:cNvPr id="5" name="Table 4">
            <a:extLst>
              <a:ext uri="{FF2B5EF4-FFF2-40B4-BE49-F238E27FC236}">
                <a16:creationId xmlns:a16="http://schemas.microsoft.com/office/drawing/2014/main" id="{345A3186-9022-3C95-07CF-2717FBE746E8}"/>
              </a:ext>
            </a:extLst>
          </p:cNvPr>
          <p:cNvGraphicFramePr>
            <a:graphicFrameLocks noGrp="1"/>
          </p:cNvGraphicFramePr>
          <p:nvPr>
            <p:extLst>
              <p:ext uri="{D42A27DB-BD31-4B8C-83A1-F6EECF244321}">
                <p14:modId xmlns:p14="http://schemas.microsoft.com/office/powerpoint/2010/main" val="2789943402"/>
              </p:ext>
            </p:extLst>
          </p:nvPr>
        </p:nvGraphicFramePr>
        <p:xfrm>
          <a:off x="704088" y="2094908"/>
          <a:ext cx="5598020" cy="4049203"/>
        </p:xfrm>
        <a:graphic>
          <a:graphicData uri="http://schemas.openxmlformats.org/drawingml/2006/table">
            <a:tbl>
              <a:tblPr>
                <a:tableStyleId>{5940675A-B579-460E-94D1-54222C63F5DA}</a:tableStyleId>
              </a:tblPr>
              <a:tblGrid>
                <a:gridCol w="3149060">
                  <a:extLst>
                    <a:ext uri="{9D8B030D-6E8A-4147-A177-3AD203B41FA5}">
                      <a16:colId xmlns:a16="http://schemas.microsoft.com/office/drawing/2014/main" val="3250096827"/>
                    </a:ext>
                  </a:extLst>
                </a:gridCol>
                <a:gridCol w="818004">
                  <a:extLst>
                    <a:ext uri="{9D8B030D-6E8A-4147-A177-3AD203B41FA5}">
                      <a16:colId xmlns:a16="http://schemas.microsoft.com/office/drawing/2014/main" val="2061751445"/>
                    </a:ext>
                  </a:extLst>
                </a:gridCol>
                <a:gridCol w="909065">
                  <a:extLst>
                    <a:ext uri="{9D8B030D-6E8A-4147-A177-3AD203B41FA5}">
                      <a16:colId xmlns:a16="http://schemas.microsoft.com/office/drawing/2014/main" val="4142627210"/>
                    </a:ext>
                  </a:extLst>
                </a:gridCol>
                <a:gridCol w="721891">
                  <a:extLst>
                    <a:ext uri="{9D8B030D-6E8A-4147-A177-3AD203B41FA5}">
                      <a16:colId xmlns:a16="http://schemas.microsoft.com/office/drawing/2014/main" val="3481247819"/>
                    </a:ext>
                  </a:extLst>
                </a:gridCol>
              </a:tblGrid>
              <a:tr h="186342">
                <a:tc>
                  <a:txBody>
                    <a:bodyPr/>
                    <a:lstStyle/>
                    <a:p>
                      <a:pPr rtl="0">
                        <a:buNone/>
                      </a:pPr>
                      <a:r>
                        <a:rPr lang="en-US" sz="1200" b="1" dirty="0">
                          <a:solidFill>
                            <a:srgbClr val="1F1F1F"/>
                          </a:solidFill>
                          <a:effectLst/>
                        </a:rPr>
                        <a:t>Department Name</a:t>
                      </a:r>
                      <a:endParaRPr lang="en-US" sz="1200" dirty="0">
                        <a:solidFill>
                          <a:srgbClr val="1F1F1F"/>
                        </a:solidFill>
                        <a:effectLst/>
                        <a:latin typeface="Google Sans Text"/>
                      </a:endParaRPr>
                    </a:p>
                  </a:txBody>
                  <a:tcPr marL="49913" marR="49913" marT="33275" marB="33275" anchor="ctr">
                    <a:solidFill>
                      <a:srgbClr val="92D050"/>
                    </a:solidFill>
                  </a:tcPr>
                </a:tc>
                <a:tc>
                  <a:txBody>
                    <a:bodyPr/>
                    <a:lstStyle/>
                    <a:p>
                      <a:pPr rtl="0">
                        <a:buNone/>
                      </a:pPr>
                      <a:r>
                        <a:rPr lang="en-US" sz="1200" b="1" dirty="0">
                          <a:solidFill>
                            <a:srgbClr val="1F1F1F"/>
                          </a:solidFill>
                          <a:effectLst/>
                        </a:rPr>
                        <a:t>Personnel Costs</a:t>
                      </a:r>
                      <a:endParaRPr lang="en-US" sz="1200" dirty="0">
                        <a:solidFill>
                          <a:srgbClr val="1F1F1F"/>
                        </a:solidFill>
                        <a:effectLst/>
                        <a:latin typeface="Google Sans Text"/>
                      </a:endParaRPr>
                    </a:p>
                  </a:txBody>
                  <a:tcPr marL="49913" marR="49913" marT="33275" marB="33275" anchor="ctr">
                    <a:solidFill>
                      <a:srgbClr val="92D050"/>
                    </a:solidFill>
                  </a:tcPr>
                </a:tc>
                <a:tc>
                  <a:txBody>
                    <a:bodyPr/>
                    <a:lstStyle/>
                    <a:p>
                      <a:pPr rtl="0">
                        <a:buNone/>
                      </a:pPr>
                      <a:r>
                        <a:rPr lang="en-US" sz="1200" b="1" dirty="0">
                          <a:solidFill>
                            <a:srgbClr val="1F1F1F"/>
                          </a:solidFill>
                          <a:effectLst/>
                        </a:rPr>
                        <a:t>Operational Costs</a:t>
                      </a:r>
                      <a:endParaRPr lang="en-US" sz="1200" dirty="0">
                        <a:solidFill>
                          <a:srgbClr val="1F1F1F"/>
                        </a:solidFill>
                        <a:effectLst/>
                        <a:latin typeface="Google Sans Text"/>
                      </a:endParaRPr>
                    </a:p>
                  </a:txBody>
                  <a:tcPr marL="49913" marR="49913" marT="33275" marB="33275" anchor="ctr">
                    <a:solidFill>
                      <a:srgbClr val="92D050"/>
                    </a:solidFill>
                  </a:tcPr>
                </a:tc>
                <a:tc>
                  <a:txBody>
                    <a:bodyPr/>
                    <a:lstStyle/>
                    <a:p>
                      <a:pPr rtl="0">
                        <a:buNone/>
                      </a:pPr>
                      <a:r>
                        <a:rPr lang="en-US" sz="1200" b="1" dirty="0">
                          <a:solidFill>
                            <a:srgbClr val="1F1F1F"/>
                          </a:solidFill>
                          <a:effectLst/>
                        </a:rPr>
                        <a:t>Total Volume</a:t>
                      </a:r>
                      <a:endParaRPr lang="en-US" sz="1200" dirty="0">
                        <a:solidFill>
                          <a:srgbClr val="1F1F1F"/>
                        </a:solidFill>
                        <a:effectLst/>
                        <a:latin typeface="Google Sans Text"/>
                      </a:endParaRPr>
                    </a:p>
                  </a:txBody>
                  <a:tcPr marL="49913" marR="49913" marT="33275" marB="33275" anchor="ctr">
                    <a:solidFill>
                      <a:srgbClr val="92D050"/>
                    </a:solidFill>
                  </a:tcPr>
                </a:tc>
                <a:extLst>
                  <a:ext uri="{0D108BD9-81ED-4DB2-BD59-A6C34878D82A}">
                    <a16:rowId xmlns:a16="http://schemas.microsoft.com/office/drawing/2014/main" val="3239553889"/>
                  </a:ext>
                </a:extLst>
              </a:tr>
              <a:tr h="306133">
                <a:tc>
                  <a:txBody>
                    <a:bodyPr/>
                    <a:lstStyle/>
                    <a:p>
                      <a:pPr rtl="0">
                        <a:buNone/>
                      </a:pPr>
                      <a:r>
                        <a:rPr lang="en-US" sz="1200" b="0" dirty="0">
                          <a:solidFill>
                            <a:srgbClr val="1F1F1F"/>
                          </a:solidFill>
                          <a:effectLst/>
                        </a:rPr>
                        <a:t>Global Information Technology Infrastructure</a:t>
                      </a:r>
                      <a:endParaRPr lang="en-US" sz="1200" b="0" dirty="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800</a:t>
                      </a:r>
                      <a:endParaRPr lang="en-EG" sz="120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400</a:t>
                      </a:r>
                      <a:endParaRPr lang="en-EG" sz="120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1200</a:t>
                      </a:r>
                      <a:endParaRPr lang="en-EG" sz="1200">
                        <a:solidFill>
                          <a:srgbClr val="1F1F1F"/>
                        </a:solidFill>
                        <a:effectLst/>
                        <a:latin typeface="Google Sans Text"/>
                      </a:endParaRPr>
                    </a:p>
                  </a:txBody>
                  <a:tcPr marL="49913" marR="49913" marT="33275" marB="33275" anchor="ctr"/>
                </a:tc>
                <a:extLst>
                  <a:ext uri="{0D108BD9-81ED-4DB2-BD59-A6C34878D82A}">
                    <a16:rowId xmlns:a16="http://schemas.microsoft.com/office/drawing/2014/main" val="2196362492"/>
                  </a:ext>
                </a:extLst>
              </a:tr>
              <a:tr h="306133">
                <a:tc>
                  <a:txBody>
                    <a:bodyPr/>
                    <a:lstStyle/>
                    <a:p>
                      <a:pPr rtl="0">
                        <a:buNone/>
                      </a:pPr>
                      <a:r>
                        <a:rPr lang="en-US" sz="1200" b="0" dirty="0">
                          <a:solidFill>
                            <a:srgbClr val="1F1F1F"/>
                          </a:solidFill>
                          <a:effectLst/>
                        </a:rPr>
                        <a:t>Advanced Research and Development Wing</a:t>
                      </a:r>
                      <a:endParaRPr lang="en-US" sz="1200" b="0" dirty="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700</a:t>
                      </a:r>
                      <a:endParaRPr lang="en-EG" sz="120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350</a:t>
                      </a:r>
                      <a:endParaRPr lang="en-EG" sz="120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1050</a:t>
                      </a:r>
                      <a:endParaRPr lang="en-EG" sz="1200">
                        <a:solidFill>
                          <a:srgbClr val="1F1F1F"/>
                        </a:solidFill>
                        <a:effectLst/>
                        <a:latin typeface="Google Sans Text"/>
                      </a:endParaRPr>
                    </a:p>
                  </a:txBody>
                  <a:tcPr marL="49913" marR="49913" marT="33275" marB="33275" anchor="ctr"/>
                </a:tc>
                <a:extLst>
                  <a:ext uri="{0D108BD9-81ED-4DB2-BD59-A6C34878D82A}">
                    <a16:rowId xmlns:a16="http://schemas.microsoft.com/office/drawing/2014/main" val="2581105236"/>
                  </a:ext>
                </a:extLst>
              </a:tr>
              <a:tr h="306133">
                <a:tc>
                  <a:txBody>
                    <a:bodyPr/>
                    <a:lstStyle/>
                    <a:p>
                      <a:pPr rtl="0">
                        <a:buNone/>
                      </a:pPr>
                      <a:r>
                        <a:rPr lang="en-US" sz="1200" b="0" dirty="0">
                          <a:solidFill>
                            <a:srgbClr val="1F1F1F"/>
                          </a:solidFill>
                          <a:effectLst/>
                        </a:rPr>
                        <a:t>Strategic Marketing and Brand Identity</a:t>
                      </a:r>
                      <a:endParaRPr lang="en-US" sz="1200" b="0" dirty="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600</a:t>
                      </a:r>
                      <a:endParaRPr lang="en-EG" sz="120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300</a:t>
                      </a:r>
                      <a:endParaRPr lang="en-EG" sz="120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900</a:t>
                      </a:r>
                      <a:endParaRPr lang="en-EG" sz="1200">
                        <a:solidFill>
                          <a:srgbClr val="1F1F1F"/>
                        </a:solidFill>
                        <a:effectLst/>
                        <a:latin typeface="Google Sans Text"/>
                      </a:endParaRPr>
                    </a:p>
                  </a:txBody>
                  <a:tcPr marL="49913" marR="49913" marT="33275" marB="33275" anchor="ctr"/>
                </a:tc>
                <a:extLst>
                  <a:ext uri="{0D108BD9-81ED-4DB2-BD59-A6C34878D82A}">
                    <a16:rowId xmlns:a16="http://schemas.microsoft.com/office/drawing/2014/main" val="1762581241"/>
                  </a:ext>
                </a:extLst>
              </a:tr>
              <a:tr h="306133">
                <a:tc>
                  <a:txBody>
                    <a:bodyPr/>
                    <a:lstStyle/>
                    <a:p>
                      <a:pPr rtl="0">
                        <a:buNone/>
                      </a:pPr>
                      <a:r>
                        <a:rPr lang="en-US" sz="1200" b="0" dirty="0">
                          <a:solidFill>
                            <a:srgbClr val="1F1F1F"/>
                          </a:solidFill>
                          <a:effectLst/>
                        </a:rPr>
                        <a:t>Customer Success and Experience Group</a:t>
                      </a:r>
                      <a:endParaRPr lang="en-US" sz="1200" b="0" dirty="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500</a:t>
                      </a:r>
                      <a:endParaRPr lang="en-EG" sz="120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250</a:t>
                      </a:r>
                      <a:endParaRPr lang="en-EG" sz="120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750</a:t>
                      </a:r>
                      <a:endParaRPr lang="en-EG" sz="1200">
                        <a:solidFill>
                          <a:srgbClr val="1F1F1F"/>
                        </a:solidFill>
                        <a:effectLst/>
                        <a:latin typeface="Google Sans Text"/>
                      </a:endParaRPr>
                    </a:p>
                  </a:txBody>
                  <a:tcPr marL="49913" marR="49913" marT="33275" marB="33275" anchor="ctr"/>
                </a:tc>
                <a:extLst>
                  <a:ext uri="{0D108BD9-81ED-4DB2-BD59-A6C34878D82A}">
                    <a16:rowId xmlns:a16="http://schemas.microsoft.com/office/drawing/2014/main" val="2897246925"/>
                  </a:ext>
                </a:extLst>
              </a:tr>
              <a:tr h="306133">
                <a:tc>
                  <a:txBody>
                    <a:bodyPr/>
                    <a:lstStyle/>
                    <a:p>
                      <a:pPr rtl="0">
                        <a:buNone/>
                      </a:pPr>
                      <a:r>
                        <a:rPr lang="en-US" sz="1200" b="0" dirty="0">
                          <a:solidFill>
                            <a:srgbClr val="1F1F1F"/>
                          </a:solidFill>
                          <a:effectLst/>
                        </a:rPr>
                        <a:t>Human Resources and Talent Acquisition</a:t>
                      </a:r>
                      <a:endParaRPr lang="en-US" sz="1200" b="0" dirty="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400</a:t>
                      </a:r>
                      <a:endParaRPr lang="en-EG" sz="120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200</a:t>
                      </a:r>
                      <a:endParaRPr lang="en-EG" sz="120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600</a:t>
                      </a:r>
                      <a:endParaRPr lang="en-EG" sz="1200">
                        <a:solidFill>
                          <a:srgbClr val="1F1F1F"/>
                        </a:solidFill>
                        <a:effectLst/>
                        <a:latin typeface="Google Sans Text"/>
                      </a:endParaRPr>
                    </a:p>
                  </a:txBody>
                  <a:tcPr marL="49913" marR="49913" marT="33275" marB="33275" anchor="ctr"/>
                </a:tc>
                <a:extLst>
                  <a:ext uri="{0D108BD9-81ED-4DB2-BD59-A6C34878D82A}">
                    <a16:rowId xmlns:a16="http://schemas.microsoft.com/office/drawing/2014/main" val="4077550412"/>
                  </a:ext>
                </a:extLst>
              </a:tr>
              <a:tr h="306133">
                <a:tc>
                  <a:txBody>
                    <a:bodyPr/>
                    <a:lstStyle/>
                    <a:p>
                      <a:pPr rtl="0">
                        <a:buNone/>
                      </a:pPr>
                      <a:r>
                        <a:rPr lang="en-US" sz="1200" b="0" dirty="0">
                          <a:solidFill>
                            <a:srgbClr val="1F1F1F"/>
                          </a:solidFill>
                          <a:effectLst/>
                        </a:rPr>
                        <a:t>Logistics and Supply Chain Management</a:t>
                      </a:r>
                      <a:endParaRPr lang="en-US" sz="1200" b="0" dirty="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350</a:t>
                      </a:r>
                      <a:endParaRPr lang="en-EG" sz="120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150</a:t>
                      </a:r>
                      <a:endParaRPr lang="en-EG" sz="120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500</a:t>
                      </a:r>
                      <a:endParaRPr lang="en-EG" sz="1200">
                        <a:solidFill>
                          <a:srgbClr val="1F1F1F"/>
                        </a:solidFill>
                        <a:effectLst/>
                        <a:latin typeface="Google Sans Text"/>
                      </a:endParaRPr>
                    </a:p>
                  </a:txBody>
                  <a:tcPr marL="49913" marR="49913" marT="33275" marB="33275" anchor="ctr"/>
                </a:tc>
                <a:extLst>
                  <a:ext uri="{0D108BD9-81ED-4DB2-BD59-A6C34878D82A}">
                    <a16:rowId xmlns:a16="http://schemas.microsoft.com/office/drawing/2014/main" val="1000931607"/>
                  </a:ext>
                </a:extLst>
              </a:tr>
              <a:tr h="306133">
                <a:tc>
                  <a:txBody>
                    <a:bodyPr/>
                    <a:lstStyle/>
                    <a:p>
                      <a:pPr rtl="0">
                        <a:buNone/>
                      </a:pPr>
                      <a:r>
                        <a:rPr lang="en-US" sz="1200" b="0" dirty="0">
                          <a:solidFill>
                            <a:srgbClr val="1F1F1F"/>
                          </a:solidFill>
                          <a:effectLst/>
                        </a:rPr>
                        <a:t>Legal and Corporate Governance Dept</a:t>
                      </a:r>
                      <a:endParaRPr lang="en-US" sz="1200" b="0" dirty="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300</a:t>
                      </a:r>
                      <a:endParaRPr lang="en-EG" sz="120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100</a:t>
                      </a:r>
                      <a:endParaRPr lang="en-EG" sz="120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400</a:t>
                      </a:r>
                      <a:endParaRPr lang="en-EG" sz="1200">
                        <a:solidFill>
                          <a:srgbClr val="1F1F1F"/>
                        </a:solidFill>
                        <a:effectLst/>
                        <a:latin typeface="Google Sans Text"/>
                      </a:endParaRPr>
                    </a:p>
                  </a:txBody>
                  <a:tcPr marL="49913" marR="49913" marT="33275" marB="33275" anchor="ctr"/>
                </a:tc>
                <a:extLst>
                  <a:ext uri="{0D108BD9-81ED-4DB2-BD59-A6C34878D82A}">
                    <a16:rowId xmlns:a16="http://schemas.microsoft.com/office/drawing/2014/main" val="2564436405"/>
                  </a:ext>
                </a:extLst>
              </a:tr>
              <a:tr h="306133">
                <a:tc>
                  <a:txBody>
                    <a:bodyPr/>
                    <a:lstStyle/>
                    <a:p>
                      <a:pPr rtl="0">
                        <a:buNone/>
                      </a:pPr>
                      <a:r>
                        <a:rPr lang="en-US" sz="1200">
                          <a:solidFill>
                            <a:srgbClr val="1F1F1F"/>
                          </a:solidFill>
                          <a:effectLst/>
                        </a:rPr>
                        <a:t>Quality Assurance and Testing</a:t>
                      </a:r>
                      <a:endParaRPr lang="en-US" sz="120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200</a:t>
                      </a:r>
                      <a:endParaRPr lang="en-EG" sz="120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50</a:t>
                      </a:r>
                      <a:endParaRPr lang="en-EG" sz="120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250</a:t>
                      </a:r>
                      <a:endParaRPr lang="en-EG" sz="1200">
                        <a:solidFill>
                          <a:srgbClr val="1F1F1F"/>
                        </a:solidFill>
                        <a:effectLst/>
                        <a:latin typeface="Google Sans Text"/>
                      </a:endParaRPr>
                    </a:p>
                  </a:txBody>
                  <a:tcPr marL="49913" marR="49913" marT="33275" marB="33275" anchor="ctr"/>
                </a:tc>
                <a:extLst>
                  <a:ext uri="{0D108BD9-81ED-4DB2-BD59-A6C34878D82A}">
                    <a16:rowId xmlns:a16="http://schemas.microsoft.com/office/drawing/2014/main" val="295658918"/>
                  </a:ext>
                </a:extLst>
              </a:tr>
              <a:tr h="306133">
                <a:tc>
                  <a:txBody>
                    <a:bodyPr/>
                    <a:lstStyle/>
                    <a:p>
                      <a:pPr rtl="0">
                        <a:buNone/>
                      </a:pPr>
                      <a:r>
                        <a:rPr lang="en-US" sz="1200">
                          <a:solidFill>
                            <a:srgbClr val="1F1F1F"/>
                          </a:solidFill>
                          <a:effectLst/>
                        </a:rPr>
                        <a:t>Facilities and Maintenance Support</a:t>
                      </a:r>
                      <a:endParaRPr lang="en-US" sz="120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150</a:t>
                      </a:r>
                      <a:endParaRPr lang="en-EG" sz="120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40</a:t>
                      </a:r>
                      <a:endParaRPr lang="en-EG" sz="120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190</a:t>
                      </a:r>
                      <a:endParaRPr lang="en-EG" sz="1200">
                        <a:solidFill>
                          <a:srgbClr val="1F1F1F"/>
                        </a:solidFill>
                        <a:effectLst/>
                        <a:latin typeface="Google Sans Text"/>
                      </a:endParaRPr>
                    </a:p>
                  </a:txBody>
                  <a:tcPr marL="49913" marR="49913" marT="33275" marB="33275" anchor="ctr"/>
                </a:tc>
                <a:extLst>
                  <a:ext uri="{0D108BD9-81ED-4DB2-BD59-A6C34878D82A}">
                    <a16:rowId xmlns:a16="http://schemas.microsoft.com/office/drawing/2014/main" val="264300563"/>
                  </a:ext>
                </a:extLst>
              </a:tr>
              <a:tr h="306133">
                <a:tc>
                  <a:txBody>
                    <a:bodyPr/>
                    <a:lstStyle/>
                    <a:p>
                      <a:pPr rtl="0">
                        <a:buNone/>
                      </a:pPr>
                      <a:r>
                        <a:rPr lang="en-US" sz="1200">
                          <a:solidFill>
                            <a:srgbClr val="1F1F1F"/>
                          </a:solidFill>
                          <a:effectLst/>
                        </a:rPr>
                        <a:t>Corporate Social Responsibility</a:t>
                      </a:r>
                      <a:endParaRPr lang="en-US" sz="120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100</a:t>
                      </a:r>
                      <a:endParaRPr lang="en-EG" sz="120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30</a:t>
                      </a:r>
                      <a:endParaRPr lang="en-EG" sz="120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130</a:t>
                      </a:r>
                      <a:endParaRPr lang="en-EG" sz="1200">
                        <a:solidFill>
                          <a:srgbClr val="1F1F1F"/>
                        </a:solidFill>
                        <a:effectLst/>
                        <a:latin typeface="Google Sans Text"/>
                      </a:endParaRPr>
                    </a:p>
                  </a:txBody>
                  <a:tcPr marL="49913" marR="49913" marT="33275" marB="33275" anchor="ctr"/>
                </a:tc>
                <a:extLst>
                  <a:ext uri="{0D108BD9-81ED-4DB2-BD59-A6C34878D82A}">
                    <a16:rowId xmlns:a16="http://schemas.microsoft.com/office/drawing/2014/main" val="1983043798"/>
                  </a:ext>
                </a:extLst>
              </a:tr>
              <a:tr h="306133">
                <a:tc>
                  <a:txBody>
                    <a:bodyPr/>
                    <a:lstStyle/>
                    <a:p>
                      <a:pPr rtl="0">
                        <a:buNone/>
                      </a:pPr>
                      <a:r>
                        <a:rPr lang="en-US" sz="1200">
                          <a:solidFill>
                            <a:srgbClr val="1F1F1F"/>
                          </a:solidFill>
                          <a:effectLst/>
                        </a:rPr>
                        <a:t>Public Relations and Media</a:t>
                      </a:r>
                      <a:endParaRPr lang="en-US" sz="120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80</a:t>
                      </a:r>
                      <a:endParaRPr lang="en-EG" sz="120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20</a:t>
                      </a:r>
                      <a:endParaRPr lang="en-EG" sz="120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100</a:t>
                      </a:r>
                      <a:endParaRPr lang="en-EG" sz="1200">
                        <a:solidFill>
                          <a:srgbClr val="1F1F1F"/>
                        </a:solidFill>
                        <a:effectLst/>
                        <a:latin typeface="Google Sans Text"/>
                      </a:endParaRPr>
                    </a:p>
                  </a:txBody>
                  <a:tcPr marL="49913" marR="49913" marT="33275" marB="33275" anchor="ctr"/>
                </a:tc>
                <a:extLst>
                  <a:ext uri="{0D108BD9-81ED-4DB2-BD59-A6C34878D82A}">
                    <a16:rowId xmlns:a16="http://schemas.microsoft.com/office/drawing/2014/main" val="3256429824"/>
                  </a:ext>
                </a:extLst>
              </a:tr>
              <a:tr h="186342">
                <a:tc>
                  <a:txBody>
                    <a:bodyPr/>
                    <a:lstStyle/>
                    <a:p>
                      <a:pPr rtl="0">
                        <a:buNone/>
                      </a:pPr>
                      <a:r>
                        <a:rPr lang="en-US" sz="1200">
                          <a:solidFill>
                            <a:srgbClr val="1F1F1F"/>
                          </a:solidFill>
                          <a:effectLst/>
                        </a:rPr>
                        <a:t>Internal Audit and Risk</a:t>
                      </a:r>
                      <a:endParaRPr lang="en-US" sz="120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50</a:t>
                      </a:r>
                      <a:endParaRPr lang="en-EG" sz="120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10</a:t>
                      </a:r>
                      <a:endParaRPr lang="en-EG" sz="1200">
                        <a:solidFill>
                          <a:srgbClr val="1F1F1F"/>
                        </a:solidFill>
                        <a:effectLst/>
                        <a:latin typeface="Google Sans Text"/>
                      </a:endParaRPr>
                    </a:p>
                  </a:txBody>
                  <a:tcPr marL="49913" marR="49913" marT="33275" marB="33275" anchor="ctr"/>
                </a:tc>
                <a:tc>
                  <a:txBody>
                    <a:bodyPr/>
                    <a:lstStyle/>
                    <a:p>
                      <a:pPr rtl="0">
                        <a:buNone/>
                      </a:pPr>
                      <a:r>
                        <a:rPr lang="en-EG" sz="1200" dirty="0">
                          <a:solidFill>
                            <a:srgbClr val="1F1F1F"/>
                          </a:solidFill>
                          <a:effectLst/>
                        </a:rPr>
                        <a:t>60</a:t>
                      </a:r>
                      <a:endParaRPr lang="en-EG" sz="1200" dirty="0">
                        <a:solidFill>
                          <a:srgbClr val="1F1F1F"/>
                        </a:solidFill>
                        <a:effectLst/>
                        <a:latin typeface="Google Sans Text"/>
                      </a:endParaRPr>
                    </a:p>
                  </a:txBody>
                  <a:tcPr marL="49913" marR="49913" marT="33275" marB="33275" anchor="ctr"/>
                </a:tc>
                <a:extLst>
                  <a:ext uri="{0D108BD9-81ED-4DB2-BD59-A6C34878D82A}">
                    <a16:rowId xmlns:a16="http://schemas.microsoft.com/office/drawing/2014/main" val="579453821"/>
                  </a:ext>
                </a:extLst>
              </a:tr>
            </a:tbl>
          </a:graphicData>
        </a:graphic>
      </p:graphicFrame>
    </p:spTree>
    <p:extLst>
      <p:ext uri="{BB962C8B-B14F-4D97-AF65-F5344CB8AC3E}">
        <p14:creationId xmlns:p14="http://schemas.microsoft.com/office/powerpoint/2010/main" val="31354829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8A4DB-4284-8685-296E-626D07D5C9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C0E65D-F413-DE57-64E4-7A5EC91AEF68}"/>
              </a:ext>
            </a:extLst>
          </p:cNvPr>
          <p:cNvSpPr>
            <a:spLocks noGrp="1"/>
          </p:cNvSpPr>
          <p:nvPr>
            <p:ph type="title"/>
          </p:nvPr>
        </p:nvSpPr>
        <p:spPr>
          <a:xfrm>
            <a:off x="704088" y="871368"/>
            <a:ext cx="5239272" cy="1226372"/>
          </a:xfrm>
        </p:spPr>
        <p:txBody>
          <a:bodyPr>
            <a:normAutofit fontScale="90000"/>
          </a:bodyPr>
          <a:lstStyle/>
          <a:p>
            <a:r>
              <a:rPr lang="en-US" dirty="0"/>
              <a:t>Practical Exercise 3: stacked chart</a:t>
            </a:r>
            <a:endParaRPr lang="en-EG" dirty="0"/>
          </a:p>
        </p:txBody>
      </p:sp>
      <p:sp>
        <p:nvSpPr>
          <p:cNvPr id="3" name="Content Placeholder 2">
            <a:extLst>
              <a:ext uri="{FF2B5EF4-FFF2-40B4-BE49-F238E27FC236}">
                <a16:creationId xmlns:a16="http://schemas.microsoft.com/office/drawing/2014/main" id="{484D440A-05AA-242E-DF83-2AD5BAB3F906}"/>
              </a:ext>
            </a:extLst>
          </p:cNvPr>
          <p:cNvSpPr>
            <a:spLocks noGrp="1"/>
          </p:cNvSpPr>
          <p:nvPr>
            <p:ph idx="1"/>
          </p:nvPr>
        </p:nvSpPr>
        <p:spPr>
          <a:xfrm>
            <a:off x="6346176" y="914399"/>
            <a:ext cx="5138688" cy="5248657"/>
          </a:xfrm>
        </p:spPr>
        <p:txBody>
          <a:bodyPr>
            <a:normAutofit/>
          </a:bodyPr>
          <a:lstStyle/>
          <a:p>
            <a:pPr marL="0" indent="0">
              <a:buNone/>
            </a:pPr>
            <a:r>
              <a:rPr lang="en-US" b="1" dirty="0"/>
              <a:t>3. The Audience Question</a:t>
            </a:r>
          </a:p>
          <a:p>
            <a:pPr marL="0" indent="0" algn="just">
              <a:buNone/>
            </a:pPr>
            <a:r>
              <a:rPr lang="en-US" dirty="0"/>
              <a:t>"Based on the </a:t>
            </a:r>
            <a:r>
              <a:rPr lang="en-US" b="1" dirty="0"/>
              <a:t>Breakdown</a:t>
            </a:r>
            <a:r>
              <a:rPr lang="en-US" dirty="0"/>
              <a:t> of our budget, which department reached the </a:t>
            </a:r>
            <a:r>
              <a:rPr lang="en-US" b="1" dirty="0"/>
              <a:t>Highest Peak</a:t>
            </a:r>
            <a:r>
              <a:rPr lang="en-US" dirty="0"/>
              <a:t> in total spending </a:t>
            </a:r>
            <a:r>
              <a:rPr lang="en-US" b="1" dirty="0"/>
              <a:t>Volume</a:t>
            </a:r>
            <a:r>
              <a:rPr lang="en-US" dirty="0"/>
              <a:t>?"</a:t>
            </a:r>
          </a:p>
          <a:p>
            <a:pPr marL="0" indent="0">
              <a:buNone/>
            </a:pPr>
            <a:endParaRPr lang="en-US" dirty="0"/>
          </a:p>
          <a:p>
            <a:pPr marL="0" indent="0" algn="just">
              <a:buNone/>
            </a:pPr>
            <a:r>
              <a:rPr lang="en-US" b="1" u="sng" dirty="0"/>
              <a:t>Draw the most accurate visualization possible to answer the audience's question and follow the visualization guidelines.</a:t>
            </a:r>
          </a:p>
          <a:p>
            <a:endParaRPr lang="en-EG" dirty="0"/>
          </a:p>
        </p:txBody>
      </p:sp>
      <p:graphicFrame>
        <p:nvGraphicFramePr>
          <p:cNvPr id="5" name="Table 4">
            <a:extLst>
              <a:ext uri="{FF2B5EF4-FFF2-40B4-BE49-F238E27FC236}">
                <a16:creationId xmlns:a16="http://schemas.microsoft.com/office/drawing/2014/main" id="{660ED730-40EA-14C1-2911-DE42D2BEA43C}"/>
              </a:ext>
            </a:extLst>
          </p:cNvPr>
          <p:cNvGraphicFramePr>
            <a:graphicFrameLocks noGrp="1"/>
          </p:cNvGraphicFramePr>
          <p:nvPr>
            <p:extLst>
              <p:ext uri="{D42A27DB-BD31-4B8C-83A1-F6EECF244321}">
                <p14:modId xmlns:p14="http://schemas.microsoft.com/office/powerpoint/2010/main" val="2612611520"/>
              </p:ext>
            </p:extLst>
          </p:nvPr>
        </p:nvGraphicFramePr>
        <p:xfrm>
          <a:off x="704088" y="2094908"/>
          <a:ext cx="5598020" cy="4049203"/>
        </p:xfrm>
        <a:graphic>
          <a:graphicData uri="http://schemas.openxmlformats.org/drawingml/2006/table">
            <a:tbl>
              <a:tblPr>
                <a:tableStyleId>{5940675A-B579-460E-94D1-54222C63F5DA}</a:tableStyleId>
              </a:tblPr>
              <a:tblGrid>
                <a:gridCol w="3149060">
                  <a:extLst>
                    <a:ext uri="{9D8B030D-6E8A-4147-A177-3AD203B41FA5}">
                      <a16:colId xmlns:a16="http://schemas.microsoft.com/office/drawing/2014/main" val="3250096827"/>
                    </a:ext>
                  </a:extLst>
                </a:gridCol>
                <a:gridCol w="818004">
                  <a:extLst>
                    <a:ext uri="{9D8B030D-6E8A-4147-A177-3AD203B41FA5}">
                      <a16:colId xmlns:a16="http://schemas.microsoft.com/office/drawing/2014/main" val="2061751445"/>
                    </a:ext>
                  </a:extLst>
                </a:gridCol>
                <a:gridCol w="909065">
                  <a:extLst>
                    <a:ext uri="{9D8B030D-6E8A-4147-A177-3AD203B41FA5}">
                      <a16:colId xmlns:a16="http://schemas.microsoft.com/office/drawing/2014/main" val="4142627210"/>
                    </a:ext>
                  </a:extLst>
                </a:gridCol>
                <a:gridCol w="721891">
                  <a:extLst>
                    <a:ext uri="{9D8B030D-6E8A-4147-A177-3AD203B41FA5}">
                      <a16:colId xmlns:a16="http://schemas.microsoft.com/office/drawing/2014/main" val="3481247819"/>
                    </a:ext>
                  </a:extLst>
                </a:gridCol>
              </a:tblGrid>
              <a:tr h="186342">
                <a:tc>
                  <a:txBody>
                    <a:bodyPr/>
                    <a:lstStyle/>
                    <a:p>
                      <a:pPr rtl="0">
                        <a:buNone/>
                      </a:pPr>
                      <a:r>
                        <a:rPr lang="en-US" sz="1200" b="1" dirty="0">
                          <a:solidFill>
                            <a:srgbClr val="1F1F1F"/>
                          </a:solidFill>
                          <a:effectLst/>
                        </a:rPr>
                        <a:t>Department Name</a:t>
                      </a:r>
                      <a:endParaRPr lang="en-US" sz="1200" dirty="0">
                        <a:solidFill>
                          <a:srgbClr val="1F1F1F"/>
                        </a:solidFill>
                        <a:effectLst/>
                        <a:latin typeface="Google Sans Text"/>
                      </a:endParaRPr>
                    </a:p>
                  </a:txBody>
                  <a:tcPr marL="49913" marR="49913" marT="33275" marB="33275" anchor="ctr">
                    <a:solidFill>
                      <a:srgbClr val="92D050"/>
                    </a:solidFill>
                  </a:tcPr>
                </a:tc>
                <a:tc>
                  <a:txBody>
                    <a:bodyPr/>
                    <a:lstStyle/>
                    <a:p>
                      <a:pPr rtl="0">
                        <a:buNone/>
                      </a:pPr>
                      <a:r>
                        <a:rPr lang="en-US" sz="1200" b="1" dirty="0">
                          <a:solidFill>
                            <a:srgbClr val="1F1F1F"/>
                          </a:solidFill>
                          <a:effectLst/>
                        </a:rPr>
                        <a:t>Personnel Costs</a:t>
                      </a:r>
                      <a:endParaRPr lang="en-US" sz="1200" dirty="0">
                        <a:solidFill>
                          <a:srgbClr val="1F1F1F"/>
                        </a:solidFill>
                        <a:effectLst/>
                        <a:latin typeface="Google Sans Text"/>
                      </a:endParaRPr>
                    </a:p>
                  </a:txBody>
                  <a:tcPr marL="49913" marR="49913" marT="33275" marB="33275" anchor="ctr">
                    <a:solidFill>
                      <a:srgbClr val="92D050"/>
                    </a:solidFill>
                  </a:tcPr>
                </a:tc>
                <a:tc>
                  <a:txBody>
                    <a:bodyPr/>
                    <a:lstStyle/>
                    <a:p>
                      <a:pPr rtl="0">
                        <a:buNone/>
                      </a:pPr>
                      <a:r>
                        <a:rPr lang="en-US" sz="1200" b="1" dirty="0">
                          <a:solidFill>
                            <a:srgbClr val="1F1F1F"/>
                          </a:solidFill>
                          <a:effectLst/>
                        </a:rPr>
                        <a:t>Operational Costs</a:t>
                      </a:r>
                      <a:endParaRPr lang="en-US" sz="1200" dirty="0">
                        <a:solidFill>
                          <a:srgbClr val="1F1F1F"/>
                        </a:solidFill>
                        <a:effectLst/>
                        <a:latin typeface="Google Sans Text"/>
                      </a:endParaRPr>
                    </a:p>
                  </a:txBody>
                  <a:tcPr marL="49913" marR="49913" marT="33275" marB="33275" anchor="ctr">
                    <a:solidFill>
                      <a:srgbClr val="92D050"/>
                    </a:solidFill>
                  </a:tcPr>
                </a:tc>
                <a:tc>
                  <a:txBody>
                    <a:bodyPr/>
                    <a:lstStyle/>
                    <a:p>
                      <a:pPr rtl="0">
                        <a:buNone/>
                      </a:pPr>
                      <a:r>
                        <a:rPr lang="en-US" sz="1200" b="1" dirty="0">
                          <a:solidFill>
                            <a:srgbClr val="1F1F1F"/>
                          </a:solidFill>
                          <a:effectLst/>
                        </a:rPr>
                        <a:t>Total Volume</a:t>
                      </a:r>
                      <a:endParaRPr lang="en-US" sz="1200" dirty="0">
                        <a:solidFill>
                          <a:srgbClr val="1F1F1F"/>
                        </a:solidFill>
                        <a:effectLst/>
                        <a:latin typeface="Google Sans Text"/>
                      </a:endParaRPr>
                    </a:p>
                  </a:txBody>
                  <a:tcPr marL="49913" marR="49913" marT="33275" marB="33275" anchor="ctr">
                    <a:solidFill>
                      <a:srgbClr val="92D050"/>
                    </a:solidFill>
                  </a:tcPr>
                </a:tc>
                <a:extLst>
                  <a:ext uri="{0D108BD9-81ED-4DB2-BD59-A6C34878D82A}">
                    <a16:rowId xmlns:a16="http://schemas.microsoft.com/office/drawing/2014/main" val="3239553889"/>
                  </a:ext>
                </a:extLst>
              </a:tr>
              <a:tr h="306133">
                <a:tc>
                  <a:txBody>
                    <a:bodyPr/>
                    <a:lstStyle/>
                    <a:p>
                      <a:pPr rtl="0">
                        <a:buNone/>
                      </a:pPr>
                      <a:r>
                        <a:rPr lang="en-US" sz="1200" b="0" dirty="0">
                          <a:solidFill>
                            <a:srgbClr val="1F1F1F"/>
                          </a:solidFill>
                          <a:effectLst/>
                        </a:rPr>
                        <a:t>Global Information Technology Infrastructure</a:t>
                      </a:r>
                      <a:endParaRPr lang="en-US" sz="1200" b="0" dirty="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800</a:t>
                      </a:r>
                      <a:endParaRPr lang="en-EG" sz="120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400</a:t>
                      </a:r>
                      <a:endParaRPr lang="en-EG" sz="120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1200</a:t>
                      </a:r>
                      <a:endParaRPr lang="en-EG" sz="1200">
                        <a:solidFill>
                          <a:srgbClr val="1F1F1F"/>
                        </a:solidFill>
                        <a:effectLst/>
                        <a:latin typeface="Google Sans Text"/>
                      </a:endParaRPr>
                    </a:p>
                  </a:txBody>
                  <a:tcPr marL="49913" marR="49913" marT="33275" marB="33275" anchor="ctr"/>
                </a:tc>
                <a:extLst>
                  <a:ext uri="{0D108BD9-81ED-4DB2-BD59-A6C34878D82A}">
                    <a16:rowId xmlns:a16="http://schemas.microsoft.com/office/drawing/2014/main" val="2196362492"/>
                  </a:ext>
                </a:extLst>
              </a:tr>
              <a:tr h="306133">
                <a:tc>
                  <a:txBody>
                    <a:bodyPr/>
                    <a:lstStyle/>
                    <a:p>
                      <a:pPr rtl="0">
                        <a:buNone/>
                      </a:pPr>
                      <a:r>
                        <a:rPr lang="en-US" sz="1200" b="0" dirty="0">
                          <a:solidFill>
                            <a:srgbClr val="1F1F1F"/>
                          </a:solidFill>
                          <a:effectLst/>
                        </a:rPr>
                        <a:t>Advanced Research and Development Wing</a:t>
                      </a:r>
                      <a:endParaRPr lang="en-US" sz="1200" b="0" dirty="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700</a:t>
                      </a:r>
                      <a:endParaRPr lang="en-EG" sz="120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350</a:t>
                      </a:r>
                      <a:endParaRPr lang="en-EG" sz="120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1050</a:t>
                      </a:r>
                      <a:endParaRPr lang="en-EG" sz="1200">
                        <a:solidFill>
                          <a:srgbClr val="1F1F1F"/>
                        </a:solidFill>
                        <a:effectLst/>
                        <a:latin typeface="Google Sans Text"/>
                      </a:endParaRPr>
                    </a:p>
                  </a:txBody>
                  <a:tcPr marL="49913" marR="49913" marT="33275" marB="33275" anchor="ctr"/>
                </a:tc>
                <a:extLst>
                  <a:ext uri="{0D108BD9-81ED-4DB2-BD59-A6C34878D82A}">
                    <a16:rowId xmlns:a16="http://schemas.microsoft.com/office/drawing/2014/main" val="2581105236"/>
                  </a:ext>
                </a:extLst>
              </a:tr>
              <a:tr h="306133">
                <a:tc>
                  <a:txBody>
                    <a:bodyPr/>
                    <a:lstStyle/>
                    <a:p>
                      <a:pPr rtl="0">
                        <a:buNone/>
                      </a:pPr>
                      <a:r>
                        <a:rPr lang="en-US" sz="1200" b="0" dirty="0">
                          <a:solidFill>
                            <a:srgbClr val="1F1F1F"/>
                          </a:solidFill>
                          <a:effectLst/>
                        </a:rPr>
                        <a:t>Strategic Marketing and Brand Identity</a:t>
                      </a:r>
                      <a:endParaRPr lang="en-US" sz="1200" b="0" dirty="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600</a:t>
                      </a:r>
                      <a:endParaRPr lang="en-EG" sz="120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300</a:t>
                      </a:r>
                      <a:endParaRPr lang="en-EG" sz="120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900</a:t>
                      </a:r>
                      <a:endParaRPr lang="en-EG" sz="1200">
                        <a:solidFill>
                          <a:srgbClr val="1F1F1F"/>
                        </a:solidFill>
                        <a:effectLst/>
                        <a:latin typeface="Google Sans Text"/>
                      </a:endParaRPr>
                    </a:p>
                  </a:txBody>
                  <a:tcPr marL="49913" marR="49913" marT="33275" marB="33275" anchor="ctr"/>
                </a:tc>
                <a:extLst>
                  <a:ext uri="{0D108BD9-81ED-4DB2-BD59-A6C34878D82A}">
                    <a16:rowId xmlns:a16="http://schemas.microsoft.com/office/drawing/2014/main" val="1762581241"/>
                  </a:ext>
                </a:extLst>
              </a:tr>
              <a:tr h="306133">
                <a:tc>
                  <a:txBody>
                    <a:bodyPr/>
                    <a:lstStyle/>
                    <a:p>
                      <a:pPr rtl="0">
                        <a:buNone/>
                      </a:pPr>
                      <a:r>
                        <a:rPr lang="en-US" sz="1200" b="0" dirty="0">
                          <a:solidFill>
                            <a:srgbClr val="1F1F1F"/>
                          </a:solidFill>
                          <a:effectLst/>
                        </a:rPr>
                        <a:t>Customer Success and Experience Group</a:t>
                      </a:r>
                      <a:endParaRPr lang="en-US" sz="1200" b="0" dirty="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500</a:t>
                      </a:r>
                      <a:endParaRPr lang="en-EG" sz="120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250</a:t>
                      </a:r>
                      <a:endParaRPr lang="en-EG" sz="120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750</a:t>
                      </a:r>
                      <a:endParaRPr lang="en-EG" sz="1200">
                        <a:solidFill>
                          <a:srgbClr val="1F1F1F"/>
                        </a:solidFill>
                        <a:effectLst/>
                        <a:latin typeface="Google Sans Text"/>
                      </a:endParaRPr>
                    </a:p>
                  </a:txBody>
                  <a:tcPr marL="49913" marR="49913" marT="33275" marB="33275" anchor="ctr"/>
                </a:tc>
                <a:extLst>
                  <a:ext uri="{0D108BD9-81ED-4DB2-BD59-A6C34878D82A}">
                    <a16:rowId xmlns:a16="http://schemas.microsoft.com/office/drawing/2014/main" val="2897246925"/>
                  </a:ext>
                </a:extLst>
              </a:tr>
              <a:tr h="306133">
                <a:tc>
                  <a:txBody>
                    <a:bodyPr/>
                    <a:lstStyle/>
                    <a:p>
                      <a:pPr rtl="0">
                        <a:buNone/>
                      </a:pPr>
                      <a:r>
                        <a:rPr lang="en-US" sz="1200" b="0" dirty="0">
                          <a:solidFill>
                            <a:srgbClr val="1F1F1F"/>
                          </a:solidFill>
                          <a:effectLst/>
                        </a:rPr>
                        <a:t>Human Resources and Talent Acquisition</a:t>
                      </a:r>
                      <a:endParaRPr lang="en-US" sz="1200" b="0" dirty="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400</a:t>
                      </a:r>
                      <a:endParaRPr lang="en-EG" sz="120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200</a:t>
                      </a:r>
                      <a:endParaRPr lang="en-EG" sz="120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600</a:t>
                      </a:r>
                      <a:endParaRPr lang="en-EG" sz="1200">
                        <a:solidFill>
                          <a:srgbClr val="1F1F1F"/>
                        </a:solidFill>
                        <a:effectLst/>
                        <a:latin typeface="Google Sans Text"/>
                      </a:endParaRPr>
                    </a:p>
                  </a:txBody>
                  <a:tcPr marL="49913" marR="49913" marT="33275" marB="33275" anchor="ctr"/>
                </a:tc>
                <a:extLst>
                  <a:ext uri="{0D108BD9-81ED-4DB2-BD59-A6C34878D82A}">
                    <a16:rowId xmlns:a16="http://schemas.microsoft.com/office/drawing/2014/main" val="4077550412"/>
                  </a:ext>
                </a:extLst>
              </a:tr>
              <a:tr h="306133">
                <a:tc>
                  <a:txBody>
                    <a:bodyPr/>
                    <a:lstStyle/>
                    <a:p>
                      <a:pPr rtl="0">
                        <a:buNone/>
                      </a:pPr>
                      <a:r>
                        <a:rPr lang="en-US" sz="1200" b="0" dirty="0">
                          <a:solidFill>
                            <a:srgbClr val="1F1F1F"/>
                          </a:solidFill>
                          <a:effectLst/>
                        </a:rPr>
                        <a:t>Logistics and Supply Chain Management</a:t>
                      </a:r>
                      <a:endParaRPr lang="en-US" sz="1200" b="0" dirty="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350</a:t>
                      </a:r>
                      <a:endParaRPr lang="en-EG" sz="120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150</a:t>
                      </a:r>
                      <a:endParaRPr lang="en-EG" sz="120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500</a:t>
                      </a:r>
                      <a:endParaRPr lang="en-EG" sz="1200">
                        <a:solidFill>
                          <a:srgbClr val="1F1F1F"/>
                        </a:solidFill>
                        <a:effectLst/>
                        <a:latin typeface="Google Sans Text"/>
                      </a:endParaRPr>
                    </a:p>
                  </a:txBody>
                  <a:tcPr marL="49913" marR="49913" marT="33275" marB="33275" anchor="ctr"/>
                </a:tc>
                <a:extLst>
                  <a:ext uri="{0D108BD9-81ED-4DB2-BD59-A6C34878D82A}">
                    <a16:rowId xmlns:a16="http://schemas.microsoft.com/office/drawing/2014/main" val="1000931607"/>
                  </a:ext>
                </a:extLst>
              </a:tr>
              <a:tr h="306133">
                <a:tc>
                  <a:txBody>
                    <a:bodyPr/>
                    <a:lstStyle/>
                    <a:p>
                      <a:pPr rtl="0">
                        <a:buNone/>
                      </a:pPr>
                      <a:r>
                        <a:rPr lang="en-US" sz="1200" b="0" dirty="0">
                          <a:solidFill>
                            <a:srgbClr val="1F1F1F"/>
                          </a:solidFill>
                          <a:effectLst/>
                        </a:rPr>
                        <a:t>Legal and Corporate Governance Dept</a:t>
                      </a:r>
                      <a:endParaRPr lang="en-US" sz="1200" b="0" dirty="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300</a:t>
                      </a:r>
                      <a:endParaRPr lang="en-EG" sz="120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100</a:t>
                      </a:r>
                      <a:endParaRPr lang="en-EG" sz="120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400</a:t>
                      </a:r>
                      <a:endParaRPr lang="en-EG" sz="1200">
                        <a:solidFill>
                          <a:srgbClr val="1F1F1F"/>
                        </a:solidFill>
                        <a:effectLst/>
                        <a:latin typeface="Google Sans Text"/>
                      </a:endParaRPr>
                    </a:p>
                  </a:txBody>
                  <a:tcPr marL="49913" marR="49913" marT="33275" marB="33275" anchor="ctr"/>
                </a:tc>
                <a:extLst>
                  <a:ext uri="{0D108BD9-81ED-4DB2-BD59-A6C34878D82A}">
                    <a16:rowId xmlns:a16="http://schemas.microsoft.com/office/drawing/2014/main" val="2564436405"/>
                  </a:ext>
                </a:extLst>
              </a:tr>
              <a:tr h="306133">
                <a:tc>
                  <a:txBody>
                    <a:bodyPr/>
                    <a:lstStyle/>
                    <a:p>
                      <a:pPr rtl="0">
                        <a:buNone/>
                      </a:pPr>
                      <a:r>
                        <a:rPr lang="en-US" sz="1200">
                          <a:solidFill>
                            <a:srgbClr val="1F1F1F"/>
                          </a:solidFill>
                          <a:effectLst/>
                        </a:rPr>
                        <a:t>Quality Assurance and Testing</a:t>
                      </a:r>
                      <a:endParaRPr lang="en-US" sz="120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200</a:t>
                      </a:r>
                      <a:endParaRPr lang="en-EG" sz="120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50</a:t>
                      </a:r>
                      <a:endParaRPr lang="en-EG" sz="120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250</a:t>
                      </a:r>
                      <a:endParaRPr lang="en-EG" sz="1200">
                        <a:solidFill>
                          <a:srgbClr val="1F1F1F"/>
                        </a:solidFill>
                        <a:effectLst/>
                        <a:latin typeface="Google Sans Text"/>
                      </a:endParaRPr>
                    </a:p>
                  </a:txBody>
                  <a:tcPr marL="49913" marR="49913" marT="33275" marB="33275" anchor="ctr"/>
                </a:tc>
                <a:extLst>
                  <a:ext uri="{0D108BD9-81ED-4DB2-BD59-A6C34878D82A}">
                    <a16:rowId xmlns:a16="http://schemas.microsoft.com/office/drawing/2014/main" val="295658918"/>
                  </a:ext>
                </a:extLst>
              </a:tr>
              <a:tr h="306133">
                <a:tc>
                  <a:txBody>
                    <a:bodyPr/>
                    <a:lstStyle/>
                    <a:p>
                      <a:pPr rtl="0">
                        <a:buNone/>
                      </a:pPr>
                      <a:r>
                        <a:rPr lang="en-US" sz="1200">
                          <a:solidFill>
                            <a:srgbClr val="1F1F1F"/>
                          </a:solidFill>
                          <a:effectLst/>
                        </a:rPr>
                        <a:t>Facilities and Maintenance Support</a:t>
                      </a:r>
                      <a:endParaRPr lang="en-US" sz="120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150</a:t>
                      </a:r>
                      <a:endParaRPr lang="en-EG" sz="120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40</a:t>
                      </a:r>
                      <a:endParaRPr lang="en-EG" sz="120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190</a:t>
                      </a:r>
                      <a:endParaRPr lang="en-EG" sz="1200">
                        <a:solidFill>
                          <a:srgbClr val="1F1F1F"/>
                        </a:solidFill>
                        <a:effectLst/>
                        <a:latin typeface="Google Sans Text"/>
                      </a:endParaRPr>
                    </a:p>
                  </a:txBody>
                  <a:tcPr marL="49913" marR="49913" marT="33275" marB="33275" anchor="ctr"/>
                </a:tc>
                <a:extLst>
                  <a:ext uri="{0D108BD9-81ED-4DB2-BD59-A6C34878D82A}">
                    <a16:rowId xmlns:a16="http://schemas.microsoft.com/office/drawing/2014/main" val="264300563"/>
                  </a:ext>
                </a:extLst>
              </a:tr>
              <a:tr h="306133">
                <a:tc>
                  <a:txBody>
                    <a:bodyPr/>
                    <a:lstStyle/>
                    <a:p>
                      <a:pPr rtl="0">
                        <a:buNone/>
                      </a:pPr>
                      <a:r>
                        <a:rPr lang="en-US" sz="1200">
                          <a:solidFill>
                            <a:srgbClr val="1F1F1F"/>
                          </a:solidFill>
                          <a:effectLst/>
                        </a:rPr>
                        <a:t>Corporate Social Responsibility</a:t>
                      </a:r>
                      <a:endParaRPr lang="en-US" sz="120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100</a:t>
                      </a:r>
                      <a:endParaRPr lang="en-EG" sz="120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30</a:t>
                      </a:r>
                      <a:endParaRPr lang="en-EG" sz="120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130</a:t>
                      </a:r>
                      <a:endParaRPr lang="en-EG" sz="1200">
                        <a:solidFill>
                          <a:srgbClr val="1F1F1F"/>
                        </a:solidFill>
                        <a:effectLst/>
                        <a:latin typeface="Google Sans Text"/>
                      </a:endParaRPr>
                    </a:p>
                  </a:txBody>
                  <a:tcPr marL="49913" marR="49913" marT="33275" marB="33275" anchor="ctr"/>
                </a:tc>
                <a:extLst>
                  <a:ext uri="{0D108BD9-81ED-4DB2-BD59-A6C34878D82A}">
                    <a16:rowId xmlns:a16="http://schemas.microsoft.com/office/drawing/2014/main" val="1983043798"/>
                  </a:ext>
                </a:extLst>
              </a:tr>
              <a:tr h="306133">
                <a:tc>
                  <a:txBody>
                    <a:bodyPr/>
                    <a:lstStyle/>
                    <a:p>
                      <a:pPr rtl="0">
                        <a:buNone/>
                      </a:pPr>
                      <a:r>
                        <a:rPr lang="en-US" sz="1200">
                          <a:solidFill>
                            <a:srgbClr val="1F1F1F"/>
                          </a:solidFill>
                          <a:effectLst/>
                        </a:rPr>
                        <a:t>Public Relations and Media</a:t>
                      </a:r>
                      <a:endParaRPr lang="en-US" sz="120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80</a:t>
                      </a:r>
                      <a:endParaRPr lang="en-EG" sz="120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20</a:t>
                      </a:r>
                      <a:endParaRPr lang="en-EG" sz="120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100</a:t>
                      </a:r>
                      <a:endParaRPr lang="en-EG" sz="1200">
                        <a:solidFill>
                          <a:srgbClr val="1F1F1F"/>
                        </a:solidFill>
                        <a:effectLst/>
                        <a:latin typeface="Google Sans Text"/>
                      </a:endParaRPr>
                    </a:p>
                  </a:txBody>
                  <a:tcPr marL="49913" marR="49913" marT="33275" marB="33275" anchor="ctr"/>
                </a:tc>
                <a:extLst>
                  <a:ext uri="{0D108BD9-81ED-4DB2-BD59-A6C34878D82A}">
                    <a16:rowId xmlns:a16="http://schemas.microsoft.com/office/drawing/2014/main" val="3256429824"/>
                  </a:ext>
                </a:extLst>
              </a:tr>
              <a:tr h="186342">
                <a:tc>
                  <a:txBody>
                    <a:bodyPr/>
                    <a:lstStyle/>
                    <a:p>
                      <a:pPr rtl="0">
                        <a:buNone/>
                      </a:pPr>
                      <a:r>
                        <a:rPr lang="en-US" sz="1200">
                          <a:solidFill>
                            <a:srgbClr val="1F1F1F"/>
                          </a:solidFill>
                          <a:effectLst/>
                        </a:rPr>
                        <a:t>Internal Audit and Risk</a:t>
                      </a:r>
                      <a:endParaRPr lang="en-US" sz="120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50</a:t>
                      </a:r>
                      <a:endParaRPr lang="en-EG" sz="1200">
                        <a:solidFill>
                          <a:srgbClr val="1F1F1F"/>
                        </a:solidFill>
                        <a:effectLst/>
                        <a:latin typeface="Google Sans Text"/>
                      </a:endParaRPr>
                    </a:p>
                  </a:txBody>
                  <a:tcPr marL="49913" marR="49913" marT="33275" marB="33275" anchor="ctr"/>
                </a:tc>
                <a:tc>
                  <a:txBody>
                    <a:bodyPr/>
                    <a:lstStyle/>
                    <a:p>
                      <a:pPr rtl="0">
                        <a:buNone/>
                      </a:pPr>
                      <a:r>
                        <a:rPr lang="en-EG" sz="1200">
                          <a:solidFill>
                            <a:srgbClr val="1F1F1F"/>
                          </a:solidFill>
                          <a:effectLst/>
                        </a:rPr>
                        <a:t>10</a:t>
                      </a:r>
                      <a:endParaRPr lang="en-EG" sz="1200">
                        <a:solidFill>
                          <a:srgbClr val="1F1F1F"/>
                        </a:solidFill>
                        <a:effectLst/>
                        <a:latin typeface="Google Sans Text"/>
                      </a:endParaRPr>
                    </a:p>
                  </a:txBody>
                  <a:tcPr marL="49913" marR="49913" marT="33275" marB="33275" anchor="ctr"/>
                </a:tc>
                <a:tc>
                  <a:txBody>
                    <a:bodyPr/>
                    <a:lstStyle/>
                    <a:p>
                      <a:pPr rtl="0">
                        <a:buNone/>
                      </a:pPr>
                      <a:r>
                        <a:rPr lang="en-EG" sz="1200" dirty="0">
                          <a:solidFill>
                            <a:srgbClr val="1F1F1F"/>
                          </a:solidFill>
                          <a:effectLst/>
                        </a:rPr>
                        <a:t>60</a:t>
                      </a:r>
                      <a:endParaRPr lang="en-EG" sz="1200" dirty="0">
                        <a:solidFill>
                          <a:srgbClr val="1F1F1F"/>
                        </a:solidFill>
                        <a:effectLst/>
                        <a:latin typeface="Google Sans Text"/>
                      </a:endParaRPr>
                    </a:p>
                  </a:txBody>
                  <a:tcPr marL="49913" marR="49913" marT="33275" marB="33275" anchor="ctr"/>
                </a:tc>
                <a:extLst>
                  <a:ext uri="{0D108BD9-81ED-4DB2-BD59-A6C34878D82A}">
                    <a16:rowId xmlns:a16="http://schemas.microsoft.com/office/drawing/2014/main" val="579453821"/>
                  </a:ext>
                </a:extLst>
              </a:tr>
            </a:tbl>
          </a:graphicData>
        </a:graphic>
      </p:graphicFrame>
    </p:spTree>
    <p:extLst>
      <p:ext uri="{BB962C8B-B14F-4D97-AF65-F5344CB8AC3E}">
        <p14:creationId xmlns:p14="http://schemas.microsoft.com/office/powerpoint/2010/main" val="23390871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28004-DC2C-4A8B-1E7E-6B91D83B74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5952DE-EF73-FF11-7C47-9944143FD4EC}"/>
              </a:ext>
            </a:extLst>
          </p:cNvPr>
          <p:cNvSpPr>
            <a:spLocks noGrp="1"/>
          </p:cNvSpPr>
          <p:nvPr>
            <p:ph type="title"/>
          </p:nvPr>
        </p:nvSpPr>
        <p:spPr>
          <a:xfrm>
            <a:off x="700635" y="914400"/>
            <a:ext cx="10691265" cy="598714"/>
          </a:xfrm>
        </p:spPr>
        <p:txBody>
          <a:bodyPr>
            <a:normAutofit/>
          </a:bodyPr>
          <a:lstStyle/>
          <a:p>
            <a:r>
              <a:rPr lang="en-US" sz="2800" b="1" dirty="0"/>
              <a:t>Answers 3: stacked chart</a:t>
            </a:r>
            <a:endParaRPr lang="en-EG" sz="2800" dirty="0"/>
          </a:p>
        </p:txBody>
      </p:sp>
      <p:pic>
        <p:nvPicPr>
          <p:cNvPr id="3078" name="Picture 6">
            <a:extLst>
              <a:ext uri="{FF2B5EF4-FFF2-40B4-BE49-F238E27FC236}">
                <a16:creationId xmlns:a16="http://schemas.microsoft.com/office/drawing/2014/main" id="{2956DEB6-7754-B5F8-19F9-ED69BCBA8F1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07740" y="1551600"/>
            <a:ext cx="6877054" cy="439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50417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221FB-A62D-F083-6EC2-2D67C99960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B430A8-A88B-D6D7-B7FD-E2F905A567A9}"/>
              </a:ext>
            </a:extLst>
          </p:cNvPr>
          <p:cNvSpPr>
            <a:spLocks noGrp="1"/>
          </p:cNvSpPr>
          <p:nvPr>
            <p:ph type="title"/>
          </p:nvPr>
        </p:nvSpPr>
        <p:spPr>
          <a:xfrm>
            <a:off x="704088" y="794766"/>
            <a:ext cx="5239272" cy="1280163"/>
          </a:xfrm>
        </p:spPr>
        <p:txBody>
          <a:bodyPr>
            <a:normAutofit fontScale="90000"/>
          </a:bodyPr>
          <a:lstStyle/>
          <a:p>
            <a:r>
              <a:rPr lang="en-US" dirty="0"/>
              <a:t>Practical Exercise 4: clustered chart</a:t>
            </a:r>
            <a:endParaRPr lang="en-EG" dirty="0"/>
          </a:p>
        </p:txBody>
      </p:sp>
      <p:sp>
        <p:nvSpPr>
          <p:cNvPr id="3" name="Content Placeholder 2">
            <a:extLst>
              <a:ext uri="{FF2B5EF4-FFF2-40B4-BE49-F238E27FC236}">
                <a16:creationId xmlns:a16="http://schemas.microsoft.com/office/drawing/2014/main" id="{B6A805A1-6384-5CC8-460B-EAF51300FF7F}"/>
              </a:ext>
            </a:extLst>
          </p:cNvPr>
          <p:cNvSpPr>
            <a:spLocks noGrp="1"/>
          </p:cNvSpPr>
          <p:nvPr>
            <p:ph idx="1"/>
          </p:nvPr>
        </p:nvSpPr>
        <p:spPr>
          <a:xfrm>
            <a:off x="6346176" y="914399"/>
            <a:ext cx="5138688" cy="5248657"/>
          </a:xfrm>
        </p:spPr>
        <p:txBody>
          <a:bodyPr>
            <a:normAutofit/>
          </a:bodyPr>
          <a:lstStyle/>
          <a:p>
            <a:pPr marL="0" indent="0">
              <a:buNone/>
            </a:pPr>
            <a:r>
              <a:rPr lang="en-US" b="1" dirty="0"/>
              <a:t>1. The Task</a:t>
            </a:r>
          </a:p>
          <a:p>
            <a:pPr marL="0" indent="0" algn="just">
              <a:buNone/>
            </a:pPr>
            <a:r>
              <a:rPr lang="en-US" dirty="0"/>
              <a:t>Perform a </a:t>
            </a:r>
            <a:r>
              <a:rPr lang="en-US" b="1" dirty="0"/>
              <a:t>Categorical vs. Numerical Bivariate Analysis</a:t>
            </a:r>
            <a:r>
              <a:rPr lang="en-US" dirty="0"/>
              <a:t>. You are comparing the performance of various "Specialized Consulting Divisions" over two consecutive years. Your goal is to show the data </a:t>
            </a:r>
            <a:r>
              <a:rPr lang="en-US" b="1" dirty="0"/>
              <a:t>Side-by-side</a:t>
            </a:r>
            <a:r>
              <a:rPr lang="en-US" dirty="0"/>
              <a:t> to identify the </a:t>
            </a:r>
            <a:r>
              <a:rPr lang="en-US" b="1" dirty="0"/>
              <a:t>Leader</a:t>
            </a:r>
            <a:r>
              <a:rPr lang="en-US" dirty="0"/>
              <a:t> and measure the performance </a:t>
            </a:r>
            <a:r>
              <a:rPr lang="en-US" b="1" dirty="0"/>
              <a:t>Gap</a:t>
            </a:r>
            <a:r>
              <a:rPr lang="en-US" dirty="0"/>
              <a:t>.</a:t>
            </a:r>
          </a:p>
          <a:p>
            <a:pPr marL="0" indent="0">
              <a:buNone/>
            </a:pPr>
            <a:endParaRPr lang="en-US" dirty="0"/>
          </a:p>
          <a:p>
            <a:pPr marL="0" indent="0">
              <a:buNone/>
            </a:pPr>
            <a:r>
              <a:rPr lang="en-US" b="1" dirty="0"/>
              <a:t>2. The Dataset</a:t>
            </a:r>
          </a:p>
          <a:p>
            <a:pPr marL="0" indent="0" algn="just">
              <a:buNone/>
            </a:pPr>
            <a:r>
              <a:rPr lang="en-US" dirty="0"/>
              <a:t>The dataset show the performance of various "Specialized Consulting Divisions" over two consecutive years.</a:t>
            </a:r>
          </a:p>
          <a:p>
            <a:pPr marL="0" indent="0" algn="just">
              <a:buNone/>
            </a:pPr>
            <a:endParaRPr lang="en-US" dirty="0"/>
          </a:p>
          <a:p>
            <a:endParaRPr lang="en-US" dirty="0"/>
          </a:p>
          <a:p>
            <a:endParaRPr lang="en-EG" dirty="0"/>
          </a:p>
        </p:txBody>
      </p:sp>
      <p:graphicFrame>
        <p:nvGraphicFramePr>
          <p:cNvPr id="4" name="Table 3">
            <a:extLst>
              <a:ext uri="{FF2B5EF4-FFF2-40B4-BE49-F238E27FC236}">
                <a16:creationId xmlns:a16="http://schemas.microsoft.com/office/drawing/2014/main" id="{84AB1487-795D-D4CA-D728-1E4A286F1E2F}"/>
              </a:ext>
            </a:extLst>
          </p:cNvPr>
          <p:cNvGraphicFramePr>
            <a:graphicFrameLocks noGrp="1"/>
          </p:cNvGraphicFramePr>
          <p:nvPr>
            <p:extLst>
              <p:ext uri="{D42A27DB-BD31-4B8C-83A1-F6EECF244321}">
                <p14:modId xmlns:p14="http://schemas.microsoft.com/office/powerpoint/2010/main" val="879467281"/>
              </p:ext>
            </p:extLst>
          </p:nvPr>
        </p:nvGraphicFramePr>
        <p:xfrm>
          <a:off x="523817" y="2789948"/>
          <a:ext cx="5646087" cy="2621280"/>
        </p:xfrm>
        <a:graphic>
          <a:graphicData uri="http://schemas.openxmlformats.org/drawingml/2006/table">
            <a:tbl>
              <a:tblPr>
                <a:tableStyleId>{5940675A-B579-460E-94D1-54222C63F5DA}</a:tableStyleId>
              </a:tblPr>
              <a:tblGrid>
                <a:gridCol w="2935477">
                  <a:extLst>
                    <a:ext uri="{9D8B030D-6E8A-4147-A177-3AD203B41FA5}">
                      <a16:colId xmlns:a16="http://schemas.microsoft.com/office/drawing/2014/main" val="3428749590"/>
                    </a:ext>
                  </a:extLst>
                </a:gridCol>
                <a:gridCol w="1344058">
                  <a:extLst>
                    <a:ext uri="{9D8B030D-6E8A-4147-A177-3AD203B41FA5}">
                      <a16:colId xmlns:a16="http://schemas.microsoft.com/office/drawing/2014/main" val="120111808"/>
                    </a:ext>
                  </a:extLst>
                </a:gridCol>
                <a:gridCol w="1366552">
                  <a:extLst>
                    <a:ext uri="{9D8B030D-6E8A-4147-A177-3AD203B41FA5}">
                      <a16:colId xmlns:a16="http://schemas.microsoft.com/office/drawing/2014/main" val="2339967672"/>
                    </a:ext>
                  </a:extLst>
                </a:gridCol>
              </a:tblGrid>
              <a:tr h="0">
                <a:tc>
                  <a:txBody>
                    <a:bodyPr/>
                    <a:lstStyle/>
                    <a:p>
                      <a:pPr rtl="0">
                        <a:buNone/>
                      </a:pPr>
                      <a:r>
                        <a:rPr lang="en-US" sz="1400" b="1" dirty="0">
                          <a:solidFill>
                            <a:srgbClr val="1F1F1F"/>
                          </a:solidFill>
                          <a:effectLst/>
                        </a:rPr>
                        <a:t>Consulting Division</a:t>
                      </a:r>
                      <a:endParaRPr lang="en-US" sz="1400" dirty="0">
                        <a:solidFill>
                          <a:srgbClr val="1F1F1F"/>
                        </a:solidFill>
                        <a:effectLst/>
                        <a:latin typeface="Google Sans Text"/>
                      </a:endParaRPr>
                    </a:p>
                  </a:txBody>
                  <a:tcPr marL="114300" marR="114300" marT="76200" marB="76200" anchor="ctr">
                    <a:solidFill>
                      <a:schemeClr val="accent6">
                        <a:lumMod val="60000"/>
                        <a:lumOff val="40000"/>
                      </a:schemeClr>
                    </a:solidFill>
                  </a:tcPr>
                </a:tc>
                <a:tc>
                  <a:txBody>
                    <a:bodyPr/>
                    <a:lstStyle/>
                    <a:p>
                      <a:pPr rtl="0">
                        <a:buNone/>
                      </a:pPr>
                      <a:r>
                        <a:rPr lang="en-US" sz="1400" b="1" dirty="0">
                          <a:solidFill>
                            <a:srgbClr val="1F1F1F"/>
                          </a:solidFill>
                          <a:effectLst/>
                        </a:rPr>
                        <a:t>2024 Revenue ($M)</a:t>
                      </a:r>
                      <a:endParaRPr lang="en-US" sz="1400" dirty="0">
                        <a:solidFill>
                          <a:srgbClr val="1F1F1F"/>
                        </a:solidFill>
                        <a:effectLst/>
                        <a:latin typeface="Google Sans Text"/>
                      </a:endParaRPr>
                    </a:p>
                  </a:txBody>
                  <a:tcPr marL="114300" marR="114300" marT="76200" marB="76200" anchor="ctr">
                    <a:solidFill>
                      <a:schemeClr val="accent6">
                        <a:lumMod val="60000"/>
                        <a:lumOff val="40000"/>
                      </a:schemeClr>
                    </a:solidFill>
                  </a:tcPr>
                </a:tc>
                <a:tc>
                  <a:txBody>
                    <a:bodyPr/>
                    <a:lstStyle/>
                    <a:p>
                      <a:pPr rtl="0">
                        <a:buNone/>
                      </a:pPr>
                      <a:r>
                        <a:rPr lang="en-US" sz="1400" b="1" dirty="0">
                          <a:solidFill>
                            <a:srgbClr val="1F1F1F"/>
                          </a:solidFill>
                          <a:effectLst/>
                        </a:rPr>
                        <a:t>2025 Revenue ($M)</a:t>
                      </a:r>
                      <a:endParaRPr lang="en-US" sz="1400" dirty="0">
                        <a:solidFill>
                          <a:srgbClr val="1F1F1F"/>
                        </a:solidFill>
                        <a:effectLst/>
                        <a:latin typeface="Google Sans Text"/>
                      </a:endParaRPr>
                    </a:p>
                  </a:txBody>
                  <a:tcPr marL="114300" marR="114300" marT="76200" marB="76200" anchor="ctr">
                    <a:solidFill>
                      <a:schemeClr val="accent6">
                        <a:lumMod val="60000"/>
                        <a:lumOff val="40000"/>
                      </a:schemeClr>
                    </a:solidFill>
                  </a:tcPr>
                </a:tc>
                <a:extLst>
                  <a:ext uri="{0D108BD9-81ED-4DB2-BD59-A6C34878D82A}">
                    <a16:rowId xmlns:a16="http://schemas.microsoft.com/office/drawing/2014/main" val="965945938"/>
                  </a:ext>
                </a:extLst>
              </a:tr>
              <a:tr h="0">
                <a:tc>
                  <a:txBody>
                    <a:bodyPr/>
                    <a:lstStyle/>
                    <a:p>
                      <a:pPr rtl="0">
                        <a:buNone/>
                      </a:pPr>
                      <a:r>
                        <a:rPr lang="en-US" sz="1400" b="1" dirty="0">
                          <a:solidFill>
                            <a:srgbClr val="1F1F1F"/>
                          </a:solidFill>
                          <a:effectLst/>
                        </a:rPr>
                        <a:t>Digital Transformation Strategy Group</a:t>
                      </a:r>
                      <a:endParaRPr lang="en-US" sz="1400" dirty="0">
                        <a:solidFill>
                          <a:srgbClr val="1F1F1F"/>
                        </a:solidFill>
                        <a:effectLst/>
                        <a:latin typeface="Google Sans Text"/>
                      </a:endParaRPr>
                    </a:p>
                  </a:txBody>
                  <a:tcPr marL="114300" marR="114300" marT="76200" marB="76200" anchor="ctr"/>
                </a:tc>
                <a:tc>
                  <a:txBody>
                    <a:bodyPr/>
                    <a:lstStyle/>
                    <a:p>
                      <a:pPr algn="ctr" rtl="0">
                        <a:buNone/>
                      </a:pPr>
                      <a:r>
                        <a:rPr lang="en-EG" sz="1400" dirty="0">
                          <a:solidFill>
                            <a:srgbClr val="1F1F1F"/>
                          </a:solidFill>
                          <a:effectLst/>
                        </a:rPr>
                        <a:t>4.2</a:t>
                      </a:r>
                      <a:endParaRPr lang="en-EG" sz="1400" dirty="0">
                        <a:solidFill>
                          <a:srgbClr val="1F1F1F"/>
                        </a:solidFill>
                        <a:effectLst/>
                        <a:latin typeface="Google Sans Text"/>
                      </a:endParaRPr>
                    </a:p>
                  </a:txBody>
                  <a:tcPr marL="114300" marR="114300" marT="76200" marB="76200" anchor="ctr"/>
                </a:tc>
                <a:tc>
                  <a:txBody>
                    <a:bodyPr/>
                    <a:lstStyle/>
                    <a:p>
                      <a:pPr algn="ctr" rtl="0">
                        <a:buNone/>
                      </a:pPr>
                      <a:r>
                        <a:rPr lang="en-EG" sz="1400" dirty="0">
                          <a:solidFill>
                            <a:srgbClr val="1F1F1F"/>
                          </a:solidFill>
                          <a:effectLst/>
                        </a:rPr>
                        <a:t>5.8</a:t>
                      </a:r>
                      <a:endParaRPr lang="en-EG" sz="1400"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2513017105"/>
                  </a:ext>
                </a:extLst>
              </a:tr>
              <a:tr h="0">
                <a:tc>
                  <a:txBody>
                    <a:bodyPr/>
                    <a:lstStyle/>
                    <a:p>
                      <a:pPr rtl="0">
                        <a:buNone/>
                      </a:pPr>
                      <a:r>
                        <a:rPr lang="en-US" sz="1400" b="1">
                          <a:solidFill>
                            <a:srgbClr val="1F1F1F"/>
                          </a:solidFill>
                          <a:effectLst/>
                        </a:rPr>
                        <a:t>Sustainable Energy Solutions Unit</a:t>
                      </a:r>
                      <a:endParaRPr lang="en-US" sz="1400">
                        <a:solidFill>
                          <a:srgbClr val="1F1F1F"/>
                        </a:solidFill>
                        <a:effectLst/>
                        <a:latin typeface="Google Sans Text"/>
                      </a:endParaRPr>
                    </a:p>
                  </a:txBody>
                  <a:tcPr marL="114300" marR="114300" marT="76200" marB="76200" anchor="ctr"/>
                </a:tc>
                <a:tc>
                  <a:txBody>
                    <a:bodyPr/>
                    <a:lstStyle/>
                    <a:p>
                      <a:pPr algn="ctr" rtl="0">
                        <a:buNone/>
                      </a:pPr>
                      <a:r>
                        <a:rPr lang="en-EG" sz="1400" dirty="0">
                          <a:solidFill>
                            <a:srgbClr val="1F1F1F"/>
                          </a:solidFill>
                          <a:effectLst/>
                        </a:rPr>
                        <a:t>3.8</a:t>
                      </a:r>
                      <a:endParaRPr lang="en-EG" sz="1400" dirty="0">
                        <a:solidFill>
                          <a:srgbClr val="1F1F1F"/>
                        </a:solidFill>
                        <a:effectLst/>
                        <a:latin typeface="Google Sans Text"/>
                      </a:endParaRPr>
                    </a:p>
                  </a:txBody>
                  <a:tcPr marL="114300" marR="114300" marT="76200" marB="76200" anchor="ctr"/>
                </a:tc>
                <a:tc>
                  <a:txBody>
                    <a:bodyPr/>
                    <a:lstStyle/>
                    <a:p>
                      <a:pPr algn="ctr" rtl="0">
                        <a:buNone/>
                      </a:pPr>
                      <a:r>
                        <a:rPr lang="en-EG" sz="1400">
                          <a:solidFill>
                            <a:srgbClr val="1F1F1F"/>
                          </a:solidFill>
                          <a:effectLst/>
                        </a:rPr>
                        <a:t>3.5</a:t>
                      </a:r>
                      <a:endParaRPr lang="en-EG" sz="140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754843938"/>
                  </a:ext>
                </a:extLst>
              </a:tr>
              <a:tr h="0">
                <a:tc>
                  <a:txBody>
                    <a:bodyPr/>
                    <a:lstStyle/>
                    <a:p>
                      <a:pPr rtl="0">
                        <a:buNone/>
                      </a:pPr>
                      <a:r>
                        <a:rPr lang="en-US" sz="1400" b="1">
                          <a:solidFill>
                            <a:srgbClr val="1F1F1F"/>
                          </a:solidFill>
                          <a:effectLst/>
                        </a:rPr>
                        <a:t>Cloud Infrastructure Architecture</a:t>
                      </a:r>
                      <a:endParaRPr lang="en-US" sz="1400">
                        <a:solidFill>
                          <a:srgbClr val="1F1F1F"/>
                        </a:solidFill>
                        <a:effectLst/>
                        <a:latin typeface="Google Sans Text"/>
                      </a:endParaRPr>
                    </a:p>
                  </a:txBody>
                  <a:tcPr marL="114300" marR="114300" marT="76200" marB="76200" anchor="ctr"/>
                </a:tc>
                <a:tc>
                  <a:txBody>
                    <a:bodyPr/>
                    <a:lstStyle/>
                    <a:p>
                      <a:pPr algn="ctr" rtl="0">
                        <a:buNone/>
                      </a:pPr>
                      <a:r>
                        <a:rPr lang="en-EG" sz="1400">
                          <a:solidFill>
                            <a:srgbClr val="1F1F1F"/>
                          </a:solidFill>
                          <a:effectLst/>
                        </a:rPr>
                        <a:t>5.1</a:t>
                      </a:r>
                      <a:endParaRPr lang="en-EG" sz="1400">
                        <a:solidFill>
                          <a:srgbClr val="1F1F1F"/>
                        </a:solidFill>
                        <a:effectLst/>
                        <a:latin typeface="Google Sans Text"/>
                      </a:endParaRPr>
                    </a:p>
                  </a:txBody>
                  <a:tcPr marL="114300" marR="114300" marT="76200" marB="76200" anchor="ctr"/>
                </a:tc>
                <a:tc>
                  <a:txBody>
                    <a:bodyPr/>
                    <a:lstStyle/>
                    <a:p>
                      <a:pPr algn="ctr" rtl="0">
                        <a:buNone/>
                      </a:pPr>
                      <a:r>
                        <a:rPr lang="en-EG" sz="1400" dirty="0">
                          <a:solidFill>
                            <a:srgbClr val="1F1F1F"/>
                          </a:solidFill>
                          <a:effectLst/>
                        </a:rPr>
                        <a:t>5.2</a:t>
                      </a:r>
                      <a:endParaRPr lang="en-EG" sz="1400"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1927614434"/>
                  </a:ext>
                </a:extLst>
              </a:tr>
              <a:tr h="0">
                <a:tc>
                  <a:txBody>
                    <a:bodyPr/>
                    <a:lstStyle/>
                    <a:p>
                      <a:pPr rtl="0">
                        <a:buNone/>
                      </a:pPr>
                      <a:r>
                        <a:rPr lang="en-US" sz="1400" b="1">
                          <a:solidFill>
                            <a:srgbClr val="1F1F1F"/>
                          </a:solidFill>
                          <a:effectLst/>
                        </a:rPr>
                        <a:t>Artificial Intelligence Ethics Lab</a:t>
                      </a:r>
                      <a:endParaRPr lang="en-US" sz="1400">
                        <a:solidFill>
                          <a:srgbClr val="1F1F1F"/>
                        </a:solidFill>
                        <a:effectLst/>
                        <a:latin typeface="Google Sans Text"/>
                      </a:endParaRPr>
                    </a:p>
                  </a:txBody>
                  <a:tcPr marL="114300" marR="114300" marT="76200" marB="76200" anchor="ctr"/>
                </a:tc>
                <a:tc>
                  <a:txBody>
                    <a:bodyPr/>
                    <a:lstStyle/>
                    <a:p>
                      <a:pPr algn="ctr" rtl="0">
                        <a:buNone/>
                      </a:pPr>
                      <a:r>
                        <a:rPr lang="en-EG" sz="1400">
                          <a:solidFill>
                            <a:srgbClr val="1F1F1F"/>
                          </a:solidFill>
                          <a:effectLst/>
                        </a:rPr>
                        <a:t>2.1</a:t>
                      </a:r>
                      <a:endParaRPr lang="en-EG" sz="1400">
                        <a:solidFill>
                          <a:srgbClr val="1F1F1F"/>
                        </a:solidFill>
                        <a:effectLst/>
                        <a:latin typeface="Google Sans Text"/>
                      </a:endParaRPr>
                    </a:p>
                  </a:txBody>
                  <a:tcPr marL="114300" marR="114300" marT="76200" marB="76200" anchor="ctr"/>
                </a:tc>
                <a:tc>
                  <a:txBody>
                    <a:bodyPr/>
                    <a:lstStyle/>
                    <a:p>
                      <a:pPr algn="ctr" rtl="0">
                        <a:buNone/>
                      </a:pPr>
                      <a:r>
                        <a:rPr lang="en-EG" sz="1400" dirty="0">
                          <a:solidFill>
                            <a:srgbClr val="1F1F1F"/>
                          </a:solidFill>
                          <a:effectLst/>
                        </a:rPr>
                        <a:t>4.9</a:t>
                      </a:r>
                      <a:endParaRPr lang="en-EG" sz="1400"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1337662378"/>
                  </a:ext>
                </a:extLst>
              </a:tr>
              <a:tr h="0">
                <a:tc>
                  <a:txBody>
                    <a:bodyPr/>
                    <a:lstStyle/>
                    <a:p>
                      <a:pPr rtl="0">
                        <a:buNone/>
                      </a:pPr>
                      <a:r>
                        <a:rPr lang="en-US" sz="1400" b="1">
                          <a:solidFill>
                            <a:srgbClr val="1F1F1F"/>
                          </a:solidFill>
                          <a:effectLst/>
                        </a:rPr>
                        <a:t>Supply Chain Resilience Partners</a:t>
                      </a:r>
                      <a:endParaRPr lang="en-US" sz="1400">
                        <a:solidFill>
                          <a:srgbClr val="1F1F1F"/>
                        </a:solidFill>
                        <a:effectLst/>
                        <a:latin typeface="Google Sans Text"/>
                      </a:endParaRPr>
                    </a:p>
                  </a:txBody>
                  <a:tcPr marL="114300" marR="114300" marT="76200" marB="76200" anchor="ctr"/>
                </a:tc>
                <a:tc>
                  <a:txBody>
                    <a:bodyPr/>
                    <a:lstStyle/>
                    <a:p>
                      <a:pPr algn="ctr" rtl="0">
                        <a:buNone/>
                      </a:pPr>
                      <a:r>
                        <a:rPr lang="en-EG" sz="1400">
                          <a:solidFill>
                            <a:srgbClr val="1F1F1F"/>
                          </a:solidFill>
                          <a:effectLst/>
                        </a:rPr>
                        <a:t>3.5</a:t>
                      </a:r>
                      <a:endParaRPr lang="en-EG" sz="1400">
                        <a:solidFill>
                          <a:srgbClr val="1F1F1F"/>
                        </a:solidFill>
                        <a:effectLst/>
                        <a:latin typeface="Google Sans Text"/>
                      </a:endParaRPr>
                    </a:p>
                  </a:txBody>
                  <a:tcPr marL="114300" marR="114300" marT="76200" marB="76200" anchor="ctr"/>
                </a:tc>
                <a:tc>
                  <a:txBody>
                    <a:bodyPr/>
                    <a:lstStyle/>
                    <a:p>
                      <a:pPr algn="ctr" rtl="0">
                        <a:buNone/>
                      </a:pPr>
                      <a:r>
                        <a:rPr lang="en-EG" sz="1400" dirty="0">
                          <a:solidFill>
                            <a:srgbClr val="1F1F1F"/>
                          </a:solidFill>
                          <a:effectLst/>
                        </a:rPr>
                        <a:t>3.9</a:t>
                      </a:r>
                      <a:endParaRPr lang="en-EG" sz="1400"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1139308803"/>
                  </a:ext>
                </a:extLst>
              </a:tr>
            </a:tbl>
          </a:graphicData>
        </a:graphic>
      </p:graphicFrame>
    </p:spTree>
    <p:extLst>
      <p:ext uri="{BB962C8B-B14F-4D97-AF65-F5344CB8AC3E}">
        <p14:creationId xmlns:p14="http://schemas.microsoft.com/office/powerpoint/2010/main" val="14260768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B978F-A860-E562-7F46-A27DF88CB6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CA35A7-FB3F-0B0B-6AFF-EBD08E5CC447}"/>
              </a:ext>
            </a:extLst>
          </p:cNvPr>
          <p:cNvSpPr>
            <a:spLocks noGrp="1"/>
          </p:cNvSpPr>
          <p:nvPr>
            <p:ph type="title"/>
          </p:nvPr>
        </p:nvSpPr>
        <p:spPr>
          <a:xfrm>
            <a:off x="704088" y="871368"/>
            <a:ext cx="5239272" cy="1226372"/>
          </a:xfrm>
        </p:spPr>
        <p:txBody>
          <a:bodyPr>
            <a:normAutofit fontScale="90000"/>
          </a:bodyPr>
          <a:lstStyle/>
          <a:p>
            <a:r>
              <a:rPr lang="en-US" dirty="0"/>
              <a:t>Practical Exercise 4: clustered chart</a:t>
            </a:r>
            <a:endParaRPr lang="en-EG" dirty="0"/>
          </a:p>
        </p:txBody>
      </p:sp>
      <p:sp>
        <p:nvSpPr>
          <p:cNvPr id="3" name="Content Placeholder 2">
            <a:extLst>
              <a:ext uri="{FF2B5EF4-FFF2-40B4-BE49-F238E27FC236}">
                <a16:creationId xmlns:a16="http://schemas.microsoft.com/office/drawing/2014/main" id="{C0BBF468-6D02-77E0-0CBF-EDC600C2DC4C}"/>
              </a:ext>
            </a:extLst>
          </p:cNvPr>
          <p:cNvSpPr>
            <a:spLocks noGrp="1"/>
          </p:cNvSpPr>
          <p:nvPr>
            <p:ph idx="1"/>
          </p:nvPr>
        </p:nvSpPr>
        <p:spPr>
          <a:xfrm>
            <a:off x="6346176" y="914399"/>
            <a:ext cx="5138688" cy="5248657"/>
          </a:xfrm>
        </p:spPr>
        <p:txBody>
          <a:bodyPr>
            <a:normAutofit/>
          </a:bodyPr>
          <a:lstStyle/>
          <a:p>
            <a:pPr marL="0" indent="0">
              <a:buNone/>
            </a:pPr>
            <a:r>
              <a:rPr lang="en-US" b="1" dirty="0"/>
              <a:t>3. The Audience Question</a:t>
            </a:r>
          </a:p>
          <a:p>
            <a:pPr marL="0" indent="0" algn="just">
              <a:buNone/>
            </a:pPr>
            <a:r>
              <a:rPr lang="en-US" dirty="0"/>
              <a:t>"When looking at the 2024 and 2025 performance </a:t>
            </a:r>
            <a:r>
              <a:rPr lang="en-US" b="1" dirty="0"/>
              <a:t>Side-by-side, </a:t>
            </a:r>
            <a:r>
              <a:rPr lang="en-US" dirty="0"/>
              <a:t>how large is the </a:t>
            </a:r>
            <a:r>
              <a:rPr lang="en-US" b="1" dirty="0"/>
              <a:t>Gap</a:t>
            </a:r>
            <a:r>
              <a:rPr lang="en-US" dirty="0"/>
              <a:t> compared to its previous year's </a:t>
            </a:r>
            <a:r>
              <a:rPr lang="en-US" b="1" dirty="0"/>
              <a:t>Difference</a:t>
            </a:r>
            <a:r>
              <a:rPr lang="en-US" dirty="0"/>
              <a:t>?"</a:t>
            </a:r>
          </a:p>
          <a:p>
            <a:pPr marL="0" indent="0">
              <a:buNone/>
            </a:pPr>
            <a:endParaRPr lang="en-US" dirty="0"/>
          </a:p>
          <a:p>
            <a:pPr marL="0" indent="0" algn="just">
              <a:buNone/>
            </a:pPr>
            <a:r>
              <a:rPr lang="en-US" b="1" u="sng" dirty="0"/>
              <a:t>Draw the most accurate visualization possible to answer the audience's question and follow the visualization guidelines.</a:t>
            </a:r>
          </a:p>
          <a:p>
            <a:endParaRPr lang="en-EG" dirty="0"/>
          </a:p>
        </p:txBody>
      </p:sp>
      <p:graphicFrame>
        <p:nvGraphicFramePr>
          <p:cNvPr id="6" name="Table 5">
            <a:extLst>
              <a:ext uri="{FF2B5EF4-FFF2-40B4-BE49-F238E27FC236}">
                <a16:creationId xmlns:a16="http://schemas.microsoft.com/office/drawing/2014/main" id="{01038340-830C-931E-6ED8-D3855855101B}"/>
              </a:ext>
            </a:extLst>
          </p:cNvPr>
          <p:cNvGraphicFramePr>
            <a:graphicFrameLocks noGrp="1"/>
          </p:cNvGraphicFramePr>
          <p:nvPr>
            <p:extLst>
              <p:ext uri="{D42A27DB-BD31-4B8C-83A1-F6EECF244321}">
                <p14:modId xmlns:p14="http://schemas.microsoft.com/office/powerpoint/2010/main" val="2749080378"/>
              </p:ext>
            </p:extLst>
          </p:nvPr>
        </p:nvGraphicFramePr>
        <p:xfrm>
          <a:off x="523817" y="2789948"/>
          <a:ext cx="5646087" cy="2621280"/>
        </p:xfrm>
        <a:graphic>
          <a:graphicData uri="http://schemas.openxmlformats.org/drawingml/2006/table">
            <a:tbl>
              <a:tblPr>
                <a:tableStyleId>{5940675A-B579-460E-94D1-54222C63F5DA}</a:tableStyleId>
              </a:tblPr>
              <a:tblGrid>
                <a:gridCol w="2935477">
                  <a:extLst>
                    <a:ext uri="{9D8B030D-6E8A-4147-A177-3AD203B41FA5}">
                      <a16:colId xmlns:a16="http://schemas.microsoft.com/office/drawing/2014/main" val="3428749590"/>
                    </a:ext>
                  </a:extLst>
                </a:gridCol>
                <a:gridCol w="1344058">
                  <a:extLst>
                    <a:ext uri="{9D8B030D-6E8A-4147-A177-3AD203B41FA5}">
                      <a16:colId xmlns:a16="http://schemas.microsoft.com/office/drawing/2014/main" val="120111808"/>
                    </a:ext>
                  </a:extLst>
                </a:gridCol>
                <a:gridCol w="1366552">
                  <a:extLst>
                    <a:ext uri="{9D8B030D-6E8A-4147-A177-3AD203B41FA5}">
                      <a16:colId xmlns:a16="http://schemas.microsoft.com/office/drawing/2014/main" val="2339967672"/>
                    </a:ext>
                  </a:extLst>
                </a:gridCol>
              </a:tblGrid>
              <a:tr h="0">
                <a:tc>
                  <a:txBody>
                    <a:bodyPr/>
                    <a:lstStyle/>
                    <a:p>
                      <a:pPr rtl="0">
                        <a:buNone/>
                      </a:pPr>
                      <a:r>
                        <a:rPr lang="en-US" sz="1400" b="1" dirty="0">
                          <a:solidFill>
                            <a:srgbClr val="1F1F1F"/>
                          </a:solidFill>
                          <a:effectLst/>
                        </a:rPr>
                        <a:t>Consulting Division</a:t>
                      </a:r>
                      <a:endParaRPr lang="en-US" sz="1400" dirty="0">
                        <a:solidFill>
                          <a:srgbClr val="1F1F1F"/>
                        </a:solidFill>
                        <a:effectLst/>
                        <a:latin typeface="Google Sans Text"/>
                      </a:endParaRPr>
                    </a:p>
                  </a:txBody>
                  <a:tcPr marL="114300" marR="114300" marT="76200" marB="76200" anchor="ctr">
                    <a:solidFill>
                      <a:schemeClr val="accent6">
                        <a:lumMod val="60000"/>
                        <a:lumOff val="40000"/>
                      </a:schemeClr>
                    </a:solidFill>
                  </a:tcPr>
                </a:tc>
                <a:tc>
                  <a:txBody>
                    <a:bodyPr/>
                    <a:lstStyle/>
                    <a:p>
                      <a:pPr rtl="0">
                        <a:buNone/>
                      </a:pPr>
                      <a:r>
                        <a:rPr lang="en-US" sz="1400" b="1" dirty="0">
                          <a:solidFill>
                            <a:srgbClr val="1F1F1F"/>
                          </a:solidFill>
                          <a:effectLst/>
                        </a:rPr>
                        <a:t>2024 Revenue ($M)</a:t>
                      </a:r>
                      <a:endParaRPr lang="en-US" sz="1400" dirty="0">
                        <a:solidFill>
                          <a:srgbClr val="1F1F1F"/>
                        </a:solidFill>
                        <a:effectLst/>
                        <a:latin typeface="Google Sans Text"/>
                      </a:endParaRPr>
                    </a:p>
                  </a:txBody>
                  <a:tcPr marL="114300" marR="114300" marT="76200" marB="76200" anchor="ctr">
                    <a:solidFill>
                      <a:schemeClr val="accent6">
                        <a:lumMod val="60000"/>
                        <a:lumOff val="40000"/>
                      </a:schemeClr>
                    </a:solidFill>
                  </a:tcPr>
                </a:tc>
                <a:tc>
                  <a:txBody>
                    <a:bodyPr/>
                    <a:lstStyle/>
                    <a:p>
                      <a:pPr rtl="0">
                        <a:buNone/>
                      </a:pPr>
                      <a:r>
                        <a:rPr lang="en-US" sz="1400" b="1" dirty="0">
                          <a:solidFill>
                            <a:srgbClr val="1F1F1F"/>
                          </a:solidFill>
                          <a:effectLst/>
                        </a:rPr>
                        <a:t>2025 Revenue ($M)</a:t>
                      </a:r>
                      <a:endParaRPr lang="en-US" sz="1400" dirty="0">
                        <a:solidFill>
                          <a:srgbClr val="1F1F1F"/>
                        </a:solidFill>
                        <a:effectLst/>
                        <a:latin typeface="Google Sans Text"/>
                      </a:endParaRPr>
                    </a:p>
                  </a:txBody>
                  <a:tcPr marL="114300" marR="114300" marT="76200" marB="76200" anchor="ctr">
                    <a:solidFill>
                      <a:schemeClr val="accent6">
                        <a:lumMod val="60000"/>
                        <a:lumOff val="40000"/>
                      </a:schemeClr>
                    </a:solidFill>
                  </a:tcPr>
                </a:tc>
                <a:extLst>
                  <a:ext uri="{0D108BD9-81ED-4DB2-BD59-A6C34878D82A}">
                    <a16:rowId xmlns:a16="http://schemas.microsoft.com/office/drawing/2014/main" val="965945938"/>
                  </a:ext>
                </a:extLst>
              </a:tr>
              <a:tr h="0">
                <a:tc>
                  <a:txBody>
                    <a:bodyPr/>
                    <a:lstStyle/>
                    <a:p>
                      <a:pPr rtl="0">
                        <a:buNone/>
                      </a:pPr>
                      <a:r>
                        <a:rPr lang="en-US" sz="1400" b="1" dirty="0">
                          <a:solidFill>
                            <a:srgbClr val="1F1F1F"/>
                          </a:solidFill>
                          <a:effectLst/>
                        </a:rPr>
                        <a:t>Digital Transformation Strategy Group</a:t>
                      </a:r>
                      <a:endParaRPr lang="en-US" sz="1400" dirty="0">
                        <a:solidFill>
                          <a:srgbClr val="1F1F1F"/>
                        </a:solidFill>
                        <a:effectLst/>
                        <a:latin typeface="Google Sans Text"/>
                      </a:endParaRPr>
                    </a:p>
                  </a:txBody>
                  <a:tcPr marL="114300" marR="114300" marT="76200" marB="76200" anchor="ctr"/>
                </a:tc>
                <a:tc>
                  <a:txBody>
                    <a:bodyPr/>
                    <a:lstStyle/>
                    <a:p>
                      <a:pPr algn="ctr" rtl="0">
                        <a:buNone/>
                      </a:pPr>
                      <a:r>
                        <a:rPr lang="en-EG" sz="1400" dirty="0">
                          <a:solidFill>
                            <a:srgbClr val="1F1F1F"/>
                          </a:solidFill>
                          <a:effectLst/>
                        </a:rPr>
                        <a:t>4.2</a:t>
                      </a:r>
                      <a:endParaRPr lang="en-EG" sz="1400" dirty="0">
                        <a:solidFill>
                          <a:srgbClr val="1F1F1F"/>
                        </a:solidFill>
                        <a:effectLst/>
                        <a:latin typeface="Google Sans Text"/>
                      </a:endParaRPr>
                    </a:p>
                  </a:txBody>
                  <a:tcPr marL="114300" marR="114300" marT="76200" marB="76200" anchor="ctr"/>
                </a:tc>
                <a:tc>
                  <a:txBody>
                    <a:bodyPr/>
                    <a:lstStyle/>
                    <a:p>
                      <a:pPr algn="ctr" rtl="0">
                        <a:buNone/>
                      </a:pPr>
                      <a:r>
                        <a:rPr lang="en-EG" sz="1400" dirty="0">
                          <a:solidFill>
                            <a:srgbClr val="1F1F1F"/>
                          </a:solidFill>
                          <a:effectLst/>
                        </a:rPr>
                        <a:t>5.8</a:t>
                      </a:r>
                      <a:endParaRPr lang="en-EG" sz="1400"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2513017105"/>
                  </a:ext>
                </a:extLst>
              </a:tr>
              <a:tr h="0">
                <a:tc>
                  <a:txBody>
                    <a:bodyPr/>
                    <a:lstStyle/>
                    <a:p>
                      <a:pPr rtl="0">
                        <a:buNone/>
                      </a:pPr>
                      <a:r>
                        <a:rPr lang="en-US" sz="1400" b="1">
                          <a:solidFill>
                            <a:srgbClr val="1F1F1F"/>
                          </a:solidFill>
                          <a:effectLst/>
                        </a:rPr>
                        <a:t>Sustainable Energy Solutions Unit</a:t>
                      </a:r>
                      <a:endParaRPr lang="en-US" sz="1400">
                        <a:solidFill>
                          <a:srgbClr val="1F1F1F"/>
                        </a:solidFill>
                        <a:effectLst/>
                        <a:latin typeface="Google Sans Text"/>
                      </a:endParaRPr>
                    </a:p>
                  </a:txBody>
                  <a:tcPr marL="114300" marR="114300" marT="76200" marB="76200" anchor="ctr"/>
                </a:tc>
                <a:tc>
                  <a:txBody>
                    <a:bodyPr/>
                    <a:lstStyle/>
                    <a:p>
                      <a:pPr algn="ctr" rtl="0">
                        <a:buNone/>
                      </a:pPr>
                      <a:r>
                        <a:rPr lang="en-EG" sz="1400" dirty="0">
                          <a:solidFill>
                            <a:srgbClr val="1F1F1F"/>
                          </a:solidFill>
                          <a:effectLst/>
                        </a:rPr>
                        <a:t>3.8</a:t>
                      </a:r>
                      <a:endParaRPr lang="en-EG" sz="1400" dirty="0">
                        <a:solidFill>
                          <a:srgbClr val="1F1F1F"/>
                        </a:solidFill>
                        <a:effectLst/>
                        <a:latin typeface="Google Sans Text"/>
                      </a:endParaRPr>
                    </a:p>
                  </a:txBody>
                  <a:tcPr marL="114300" marR="114300" marT="76200" marB="76200" anchor="ctr"/>
                </a:tc>
                <a:tc>
                  <a:txBody>
                    <a:bodyPr/>
                    <a:lstStyle/>
                    <a:p>
                      <a:pPr algn="ctr" rtl="0">
                        <a:buNone/>
                      </a:pPr>
                      <a:r>
                        <a:rPr lang="en-EG" sz="1400">
                          <a:solidFill>
                            <a:srgbClr val="1F1F1F"/>
                          </a:solidFill>
                          <a:effectLst/>
                        </a:rPr>
                        <a:t>3.5</a:t>
                      </a:r>
                      <a:endParaRPr lang="en-EG" sz="140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754843938"/>
                  </a:ext>
                </a:extLst>
              </a:tr>
              <a:tr h="0">
                <a:tc>
                  <a:txBody>
                    <a:bodyPr/>
                    <a:lstStyle/>
                    <a:p>
                      <a:pPr rtl="0">
                        <a:buNone/>
                      </a:pPr>
                      <a:r>
                        <a:rPr lang="en-US" sz="1400" b="1">
                          <a:solidFill>
                            <a:srgbClr val="1F1F1F"/>
                          </a:solidFill>
                          <a:effectLst/>
                        </a:rPr>
                        <a:t>Cloud Infrastructure Architecture</a:t>
                      </a:r>
                      <a:endParaRPr lang="en-US" sz="1400">
                        <a:solidFill>
                          <a:srgbClr val="1F1F1F"/>
                        </a:solidFill>
                        <a:effectLst/>
                        <a:latin typeface="Google Sans Text"/>
                      </a:endParaRPr>
                    </a:p>
                  </a:txBody>
                  <a:tcPr marL="114300" marR="114300" marT="76200" marB="76200" anchor="ctr"/>
                </a:tc>
                <a:tc>
                  <a:txBody>
                    <a:bodyPr/>
                    <a:lstStyle/>
                    <a:p>
                      <a:pPr algn="ctr" rtl="0">
                        <a:buNone/>
                      </a:pPr>
                      <a:r>
                        <a:rPr lang="en-EG" sz="1400">
                          <a:solidFill>
                            <a:srgbClr val="1F1F1F"/>
                          </a:solidFill>
                          <a:effectLst/>
                        </a:rPr>
                        <a:t>5.1</a:t>
                      </a:r>
                      <a:endParaRPr lang="en-EG" sz="1400">
                        <a:solidFill>
                          <a:srgbClr val="1F1F1F"/>
                        </a:solidFill>
                        <a:effectLst/>
                        <a:latin typeface="Google Sans Text"/>
                      </a:endParaRPr>
                    </a:p>
                  </a:txBody>
                  <a:tcPr marL="114300" marR="114300" marT="76200" marB="76200" anchor="ctr"/>
                </a:tc>
                <a:tc>
                  <a:txBody>
                    <a:bodyPr/>
                    <a:lstStyle/>
                    <a:p>
                      <a:pPr algn="ctr" rtl="0">
                        <a:buNone/>
                      </a:pPr>
                      <a:r>
                        <a:rPr lang="en-EG" sz="1400" dirty="0">
                          <a:solidFill>
                            <a:srgbClr val="1F1F1F"/>
                          </a:solidFill>
                          <a:effectLst/>
                        </a:rPr>
                        <a:t>5.2</a:t>
                      </a:r>
                      <a:endParaRPr lang="en-EG" sz="1400"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1927614434"/>
                  </a:ext>
                </a:extLst>
              </a:tr>
              <a:tr h="0">
                <a:tc>
                  <a:txBody>
                    <a:bodyPr/>
                    <a:lstStyle/>
                    <a:p>
                      <a:pPr rtl="0">
                        <a:buNone/>
                      </a:pPr>
                      <a:r>
                        <a:rPr lang="en-US" sz="1400" b="1">
                          <a:solidFill>
                            <a:srgbClr val="1F1F1F"/>
                          </a:solidFill>
                          <a:effectLst/>
                        </a:rPr>
                        <a:t>Artificial Intelligence Ethics Lab</a:t>
                      </a:r>
                      <a:endParaRPr lang="en-US" sz="1400">
                        <a:solidFill>
                          <a:srgbClr val="1F1F1F"/>
                        </a:solidFill>
                        <a:effectLst/>
                        <a:latin typeface="Google Sans Text"/>
                      </a:endParaRPr>
                    </a:p>
                  </a:txBody>
                  <a:tcPr marL="114300" marR="114300" marT="76200" marB="76200" anchor="ctr"/>
                </a:tc>
                <a:tc>
                  <a:txBody>
                    <a:bodyPr/>
                    <a:lstStyle/>
                    <a:p>
                      <a:pPr algn="ctr" rtl="0">
                        <a:buNone/>
                      </a:pPr>
                      <a:r>
                        <a:rPr lang="en-EG" sz="1400">
                          <a:solidFill>
                            <a:srgbClr val="1F1F1F"/>
                          </a:solidFill>
                          <a:effectLst/>
                        </a:rPr>
                        <a:t>2.1</a:t>
                      </a:r>
                      <a:endParaRPr lang="en-EG" sz="1400">
                        <a:solidFill>
                          <a:srgbClr val="1F1F1F"/>
                        </a:solidFill>
                        <a:effectLst/>
                        <a:latin typeface="Google Sans Text"/>
                      </a:endParaRPr>
                    </a:p>
                  </a:txBody>
                  <a:tcPr marL="114300" marR="114300" marT="76200" marB="76200" anchor="ctr"/>
                </a:tc>
                <a:tc>
                  <a:txBody>
                    <a:bodyPr/>
                    <a:lstStyle/>
                    <a:p>
                      <a:pPr algn="ctr" rtl="0">
                        <a:buNone/>
                      </a:pPr>
                      <a:r>
                        <a:rPr lang="en-EG" sz="1400" dirty="0">
                          <a:solidFill>
                            <a:srgbClr val="1F1F1F"/>
                          </a:solidFill>
                          <a:effectLst/>
                        </a:rPr>
                        <a:t>4.9</a:t>
                      </a:r>
                      <a:endParaRPr lang="en-EG" sz="1400"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1337662378"/>
                  </a:ext>
                </a:extLst>
              </a:tr>
              <a:tr h="0">
                <a:tc>
                  <a:txBody>
                    <a:bodyPr/>
                    <a:lstStyle/>
                    <a:p>
                      <a:pPr rtl="0">
                        <a:buNone/>
                      </a:pPr>
                      <a:r>
                        <a:rPr lang="en-US" sz="1400" b="1">
                          <a:solidFill>
                            <a:srgbClr val="1F1F1F"/>
                          </a:solidFill>
                          <a:effectLst/>
                        </a:rPr>
                        <a:t>Supply Chain Resilience Partners</a:t>
                      </a:r>
                      <a:endParaRPr lang="en-US" sz="1400">
                        <a:solidFill>
                          <a:srgbClr val="1F1F1F"/>
                        </a:solidFill>
                        <a:effectLst/>
                        <a:latin typeface="Google Sans Text"/>
                      </a:endParaRPr>
                    </a:p>
                  </a:txBody>
                  <a:tcPr marL="114300" marR="114300" marT="76200" marB="76200" anchor="ctr"/>
                </a:tc>
                <a:tc>
                  <a:txBody>
                    <a:bodyPr/>
                    <a:lstStyle/>
                    <a:p>
                      <a:pPr algn="ctr" rtl="0">
                        <a:buNone/>
                      </a:pPr>
                      <a:r>
                        <a:rPr lang="en-EG" sz="1400">
                          <a:solidFill>
                            <a:srgbClr val="1F1F1F"/>
                          </a:solidFill>
                          <a:effectLst/>
                        </a:rPr>
                        <a:t>3.5</a:t>
                      </a:r>
                      <a:endParaRPr lang="en-EG" sz="1400">
                        <a:solidFill>
                          <a:srgbClr val="1F1F1F"/>
                        </a:solidFill>
                        <a:effectLst/>
                        <a:latin typeface="Google Sans Text"/>
                      </a:endParaRPr>
                    </a:p>
                  </a:txBody>
                  <a:tcPr marL="114300" marR="114300" marT="76200" marB="76200" anchor="ctr"/>
                </a:tc>
                <a:tc>
                  <a:txBody>
                    <a:bodyPr/>
                    <a:lstStyle/>
                    <a:p>
                      <a:pPr algn="ctr" rtl="0">
                        <a:buNone/>
                      </a:pPr>
                      <a:r>
                        <a:rPr lang="en-EG" sz="1400" dirty="0">
                          <a:solidFill>
                            <a:srgbClr val="1F1F1F"/>
                          </a:solidFill>
                          <a:effectLst/>
                        </a:rPr>
                        <a:t>3.9</a:t>
                      </a:r>
                      <a:endParaRPr lang="en-EG" sz="1400"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1139308803"/>
                  </a:ext>
                </a:extLst>
              </a:tr>
            </a:tbl>
          </a:graphicData>
        </a:graphic>
      </p:graphicFrame>
    </p:spTree>
    <p:extLst>
      <p:ext uri="{BB962C8B-B14F-4D97-AF65-F5344CB8AC3E}">
        <p14:creationId xmlns:p14="http://schemas.microsoft.com/office/powerpoint/2010/main" val="40866848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D94167-36C8-99AD-445B-96DB71B06A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084B2E-97B0-A090-FF70-0965364A89E6}"/>
              </a:ext>
            </a:extLst>
          </p:cNvPr>
          <p:cNvSpPr>
            <a:spLocks noGrp="1"/>
          </p:cNvSpPr>
          <p:nvPr>
            <p:ph type="title"/>
          </p:nvPr>
        </p:nvSpPr>
        <p:spPr>
          <a:xfrm>
            <a:off x="700635" y="914400"/>
            <a:ext cx="10691265" cy="598714"/>
          </a:xfrm>
        </p:spPr>
        <p:txBody>
          <a:bodyPr>
            <a:normAutofit/>
          </a:bodyPr>
          <a:lstStyle/>
          <a:p>
            <a:r>
              <a:rPr lang="en-US" sz="2800" b="1" dirty="0"/>
              <a:t>Answers 4:</a:t>
            </a:r>
            <a:r>
              <a:rPr lang="en-US" sz="2800" dirty="0"/>
              <a:t> </a:t>
            </a:r>
            <a:r>
              <a:rPr lang="en-US" sz="2800" b="1" dirty="0"/>
              <a:t>clustered chart</a:t>
            </a:r>
            <a:endParaRPr lang="en-EG" sz="2800" b="1" dirty="0"/>
          </a:p>
        </p:txBody>
      </p:sp>
      <p:pic>
        <p:nvPicPr>
          <p:cNvPr id="10242" name="Picture 2">
            <a:extLst>
              <a:ext uri="{FF2B5EF4-FFF2-40B4-BE49-F238E27FC236}">
                <a16:creationId xmlns:a16="http://schemas.microsoft.com/office/drawing/2014/main" id="{05C75F47-A80B-89E9-8D12-2DB1B0ABC62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69650" y="1513114"/>
            <a:ext cx="8252699" cy="4464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18921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B5EDE-1DC5-AEE7-0CCC-2E061E14D9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68F946-C86B-8442-106A-487109B36D1C}"/>
              </a:ext>
            </a:extLst>
          </p:cNvPr>
          <p:cNvSpPr>
            <a:spLocks noGrp="1"/>
          </p:cNvSpPr>
          <p:nvPr>
            <p:ph type="title"/>
          </p:nvPr>
        </p:nvSpPr>
        <p:spPr>
          <a:xfrm>
            <a:off x="704088" y="794766"/>
            <a:ext cx="5239272" cy="1280163"/>
          </a:xfrm>
        </p:spPr>
        <p:txBody>
          <a:bodyPr>
            <a:normAutofit fontScale="90000"/>
          </a:bodyPr>
          <a:lstStyle/>
          <a:p>
            <a:r>
              <a:rPr lang="en-US" dirty="0"/>
              <a:t>Practical Exercise 5: clustered chart</a:t>
            </a:r>
            <a:endParaRPr lang="en-EG" dirty="0"/>
          </a:p>
        </p:txBody>
      </p:sp>
      <p:sp>
        <p:nvSpPr>
          <p:cNvPr id="3" name="Content Placeholder 2">
            <a:extLst>
              <a:ext uri="{FF2B5EF4-FFF2-40B4-BE49-F238E27FC236}">
                <a16:creationId xmlns:a16="http://schemas.microsoft.com/office/drawing/2014/main" id="{C586F309-A687-783B-FF52-3BFC0ECBB9BE}"/>
              </a:ext>
            </a:extLst>
          </p:cNvPr>
          <p:cNvSpPr>
            <a:spLocks noGrp="1"/>
          </p:cNvSpPr>
          <p:nvPr>
            <p:ph idx="1"/>
          </p:nvPr>
        </p:nvSpPr>
        <p:spPr>
          <a:xfrm>
            <a:off x="6346176" y="914399"/>
            <a:ext cx="5138688" cy="5248657"/>
          </a:xfrm>
        </p:spPr>
        <p:txBody>
          <a:bodyPr>
            <a:normAutofit/>
          </a:bodyPr>
          <a:lstStyle/>
          <a:p>
            <a:pPr marL="0" indent="0">
              <a:buNone/>
            </a:pPr>
            <a:r>
              <a:rPr lang="en-US" b="1" dirty="0"/>
              <a:t>1. The Task</a:t>
            </a:r>
          </a:p>
          <a:p>
            <a:pPr marL="0" indent="0" algn="just">
              <a:buNone/>
            </a:pPr>
            <a:r>
              <a:rPr lang="en-US" dirty="0"/>
              <a:t>Perform a </a:t>
            </a:r>
            <a:r>
              <a:rPr lang="en-US" b="1" dirty="0"/>
              <a:t>Categorical vs. Numerical Bivariate Analysis</a:t>
            </a:r>
            <a:r>
              <a:rPr lang="en-US" dirty="0"/>
              <a:t>. You are comparing the sales </a:t>
            </a:r>
            <a:r>
              <a:rPr lang="en-US" b="1" dirty="0"/>
              <a:t>Volume</a:t>
            </a:r>
            <a:r>
              <a:rPr lang="en-US" dirty="0"/>
              <a:t> of two different product lines. </a:t>
            </a:r>
          </a:p>
          <a:p>
            <a:pPr marL="0" indent="0">
              <a:buNone/>
            </a:pPr>
            <a:endParaRPr lang="en-US" dirty="0"/>
          </a:p>
          <a:p>
            <a:pPr marL="0" indent="0">
              <a:buNone/>
            </a:pPr>
            <a:r>
              <a:rPr lang="en-US" b="1" dirty="0"/>
              <a:t>2. The Dataset</a:t>
            </a:r>
          </a:p>
          <a:p>
            <a:pPr marL="0" indent="0" algn="just">
              <a:buNone/>
            </a:pPr>
            <a:r>
              <a:rPr lang="en-US" dirty="0"/>
              <a:t>The dataset show the sales </a:t>
            </a:r>
            <a:r>
              <a:rPr lang="en-US" b="1" dirty="0"/>
              <a:t>Volume</a:t>
            </a:r>
            <a:r>
              <a:rPr lang="en-US" dirty="0"/>
              <a:t> of two different product lines (Premium vs. Standard) across various global regions.</a:t>
            </a:r>
          </a:p>
          <a:p>
            <a:pPr marL="0" indent="0" algn="just">
              <a:buNone/>
            </a:pPr>
            <a:endParaRPr lang="en-US" dirty="0"/>
          </a:p>
          <a:p>
            <a:endParaRPr lang="en-US" dirty="0"/>
          </a:p>
          <a:p>
            <a:endParaRPr lang="en-EG" dirty="0"/>
          </a:p>
        </p:txBody>
      </p:sp>
      <p:graphicFrame>
        <p:nvGraphicFramePr>
          <p:cNvPr id="6" name="Table 5">
            <a:extLst>
              <a:ext uri="{FF2B5EF4-FFF2-40B4-BE49-F238E27FC236}">
                <a16:creationId xmlns:a16="http://schemas.microsoft.com/office/drawing/2014/main" id="{243941AE-605D-9F2D-979E-51581C052A7A}"/>
              </a:ext>
            </a:extLst>
          </p:cNvPr>
          <p:cNvGraphicFramePr>
            <a:graphicFrameLocks noGrp="1"/>
          </p:cNvGraphicFramePr>
          <p:nvPr>
            <p:extLst>
              <p:ext uri="{D42A27DB-BD31-4B8C-83A1-F6EECF244321}">
                <p14:modId xmlns:p14="http://schemas.microsoft.com/office/powerpoint/2010/main" val="1327688178"/>
              </p:ext>
            </p:extLst>
          </p:nvPr>
        </p:nvGraphicFramePr>
        <p:xfrm>
          <a:off x="700089" y="2385695"/>
          <a:ext cx="5395912" cy="3139440"/>
        </p:xfrm>
        <a:graphic>
          <a:graphicData uri="http://schemas.openxmlformats.org/drawingml/2006/table">
            <a:tbl>
              <a:tblPr>
                <a:tableStyleId>{5940675A-B579-460E-94D1-54222C63F5DA}</a:tableStyleId>
              </a:tblPr>
              <a:tblGrid>
                <a:gridCol w="3100730">
                  <a:extLst>
                    <a:ext uri="{9D8B030D-6E8A-4147-A177-3AD203B41FA5}">
                      <a16:colId xmlns:a16="http://schemas.microsoft.com/office/drawing/2014/main" val="282294868"/>
                    </a:ext>
                  </a:extLst>
                </a:gridCol>
                <a:gridCol w="1167788">
                  <a:extLst>
                    <a:ext uri="{9D8B030D-6E8A-4147-A177-3AD203B41FA5}">
                      <a16:colId xmlns:a16="http://schemas.microsoft.com/office/drawing/2014/main" val="3647459681"/>
                    </a:ext>
                  </a:extLst>
                </a:gridCol>
                <a:gridCol w="1127394">
                  <a:extLst>
                    <a:ext uri="{9D8B030D-6E8A-4147-A177-3AD203B41FA5}">
                      <a16:colId xmlns:a16="http://schemas.microsoft.com/office/drawing/2014/main" val="2782768615"/>
                    </a:ext>
                  </a:extLst>
                </a:gridCol>
              </a:tblGrid>
              <a:tr h="0">
                <a:tc>
                  <a:txBody>
                    <a:bodyPr/>
                    <a:lstStyle/>
                    <a:p>
                      <a:pPr rtl="0">
                        <a:buNone/>
                      </a:pPr>
                      <a:r>
                        <a:rPr lang="en-US" sz="1400" b="1" dirty="0">
                          <a:solidFill>
                            <a:schemeClr val="bg1"/>
                          </a:solidFill>
                          <a:effectLst/>
                        </a:rPr>
                        <a:t>Global Region (Long Name)</a:t>
                      </a:r>
                      <a:endParaRPr lang="en-US" sz="1400" dirty="0">
                        <a:solidFill>
                          <a:schemeClr val="bg1"/>
                        </a:solidFill>
                        <a:effectLst/>
                        <a:latin typeface="Google Sans Text"/>
                      </a:endParaRPr>
                    </a:p>
                  </a:txBody>
                  <a:tcPr marL="114300" marR="114300" marT="76200" marB="76200" anchor="ctr">
                    <a:solidFill>
                      <a:srgbClr val="FF0000"/>
                    </a:solidFill>
                  </a:tcPr>
                </a:tc>
                <a:tc>
                  <a:txBody>
                    <a:bodyPr/>
                    <a:lstStyle/>
                    <a:p>
                      <a:pPr rtl="0">
                        <a:buNone/>
                      </a:pPr>
                      <a:r>
                        <a:rPr lang="en-US" sz="1400" b="1" dirty="0">
                          <a:solidFill>
                            <a:schemeClr val="bg1"/>
                          </a:solidFill>
                          <a:effectLst/>
                        </a:rPr>
                        <a:t>Premium Line ($k)</a:t>
                      </a:r>
                      <a:endParaRPr lang="en-US" sz="1400" dirty="0">
                        <a:solidFill>
                          <a:schemeClr val="bg1"/>
                        </a:solidFill>
                        <a:effectLst/>
                        <a:latin typeface="Google Sans Text"/>
                      </a:endParaRPr>
                    </a:p>
                  </a:txBody>
                  <a:tcPr marL="114300" marR="114300" marT="76200" marB="76200" anchor="ctr">
                    <a:solidFill>
                      <a:srgbClr val="FF0000"/>
                    </a:solidFill>
                  </a:tcPr>
                </a:tc>
                <a:tc>
                  <a:txBody>
                    <a:bodyPr/>
                    <a:lstStyle/>
                    <a:p>
                      <a:pPr rtl="0">
                        <a:buNone/>
                      </a:pPr>
                      <a:r>
                        <a:rPr lang="en-US" sz="1400" b="1" dirty="0">
                          <a:solidFill>
                            <a:schemeClr val="bg1"/>
                          </a:solidFill>
                          <a:effectLst/>
                        </a:rPr>
                        <a:t>Standard Line ($k)</a:t>
                      </a:r>
                      <a:endParaRPr lang="en-US" sz="1400" dirty="0">
                        <a:solidFill>
                          <a:schemeClr val="bg1"/>
                        </a:solidFill>
                        <a:effectLst/>
                        <a:latin typeface="Google Sans Text"/>
                      </a:endParaRPr>
                    </a:p>
                  </a:txBody>
                  <a:tcPr marL="114300" marR="114300" marT="76200" marB="76200" anchor="ctr">
                    <a:solidFill>
                      <a:srgbClr val="FF0000"/>
                    </a:solidFill>
                  </a:tcPr>
                </a:tc>
                <a:extLst>
                  <a:ext uri="{0D108BD9-81ED-4DB2-BD59-A6C34878D82A}">
                    <a16:rowId xmlns:a16="http://schemas.microsoft.com/office/drawing/2014/main" val="4264312758"/>
                  </a:ext>
                </a:extLst>
              </a:tr>
              <a:tr h="0">
                <a:tc>
                  <a:txBody>
                    <a:bodyPr/>
                    <a:lstStyle/>
                    <a:p>
                      <a:pPr rtl="0">
                        <a:buNone/>
                      </a:pPr>
                      <a:r>
                        <a:rPr lang="en-US" sz="1400" b="1">
                          <a:solidFill>
                            <a:srgbClr val="1F1F1F"/>
                          </a:solidFill>
                          <a:effectLst/>
                        </a:rPr>
                        <a:t>North American Enterprise Sector</a:t>
                      </a:r>
                      <a:endParaRPr lang="en-US" sz="1400">
                        <a:solidFill>
                          <a:srgbClr val="1F1F1F"/>
                        </a:solidFill>
                        <a:effectLst/>
                        <a:latin typeface="Google Sans Text"/>
                      </a:endParaRPr>
                    </a:p>
                  </a:txBody>
                  <a:tcPr marL="114300" marR="114300" marT="76200" marB="76200" anchor="ctr"/>
                </a:tc>
                <a:tc>
                  <a:txBody>
                    <a:bodyPr/>
                    <a:lstStyle/>
                    <a:p>
                      <a:pPr algn="ctr" rtl="0">
                        <a:buNone/>
                      </a:pPr>
                      <a:r>
                        <a:rPr lang="en-EG" sz="1400" dirty="0">
                          <a:solidFill>
                            <a:srgbClr val="1F1F1F"/>
                          </a:solidFill>
                          <a:effectLst/>
                        </a:rPr>
                        <a:t>850</a:t>
                      </a:r>
                      <a:endParaRPr lang="en-EG" sz="1400" dirty="0">
                        <a:solidFill>
                          <a:srgbClr val="1F1F1F"/>
                        </a:solidFill>
                        <a:effectLst/>
                        <a:latin typeface="Google Sans Text"/>
                      </a:endParaRPr>
                    </a:p>
                  </a:txBody>
                  <a:tcPr marL="114300" marR="114300" marT="76200" marB="76200" anchor="ctr"/>
                </a:tc>
                <a:tc>
                  <a:txBody>
                    <a:bodyPr/>
                    <a:lstStyle/>
                    <a:p>
                      <a:pPr algn="ctr" rtl="0">
                        <a:buNone/>
                      </a:pPr>
                      <a:r>
                        <a:rPr lang="en-EG" sz="1400" dirty="0">
                          <a:solidFill>
                            <a:srgbClr val="1F1F1F"/>
                          </a:solidFill>
                          <a:effectLst/>
                        </a:rPr>
                        <a:t>600</a:t>
                      </a:r>
                      <a:endParaRPr lang="en-EG" sz="1400"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171039607"/>
                  </a:ext>
                </a:extLst>
              </a:tr>
              <a:tr h="0">
                <a:tc>
                  <a:txBody>
                    <a:bodyPr/>
                    <a:lstStyle/>
                    <a:p>
                      <a:pPr rtl="0">
                        <a:buNone/>
                      </a:pPr>
                      <a:r>
                        <a:rPr lang="en-US" sz="1400" b="1">
                          <a:solidFill>
                            <a:srgbClr val="1F1F1F"/>
                          </a:solidFill>
                          <a:effectLst/>
                        </a:rPr>
                        <a:t>European Union Strategic Markets</a:t>
                      </a:r>
                      <a:endParaRPr lang="en-US" sz="1400">
                        <a:solidFill>
                          <a:srgbClr val="1F1F1F"/>
                        </a:solidFill>
                        <a:effectLst/>
                        <a:latin typeface="Google Sans Text"/>
                      </a:endParaRPr>
                    </a:p>
                  </a:txBody>
                  <a:tcPr marL="114300" marR="114300" marT="76200" marB="76200" anchor="ctr"/>
                </a:tc>
                <a:tc>
                  <a:txBody>
                    <a:bodyPr/>
                    <a:lstStyle/>
                    <a:p>
                      <a:pPr algn="ctr" rtl="0">
                        <a:buNone/>
                      </a:pPr>
                      <a:r>
                        <a:rPr lang="en-EG" sz="1400">
                          <a:solidFill>
                            <a:srgbClr val="1F1F1F"/>
                          </a:solidFill>
                          <a:effectLst/>
                        </a:rPr>
                        <a:t>780</a:t>
                      </a:r>
                      <a:endParaRPr lang="en-EG" sz="1400">
                        <a:solidFill>
                          <a:srgbClr val="1F1F1F"/>
                        </a:solidFill>
                        <a:effectLst/>
                        <a:latin typeface="Google Sans Text"/>
                      </a:endParaRPr>
                    </a:p>
                  </a:txBody>
                  <a:tcPr marL="114300" marR="114300" marT="76200" marB="76200" anchor="ctr"/>
                </a:tc>
                <a:tc>
                  <a:txBody>
                    <a:bodyPr/>
                    <a:lstStyle/>
                    <a:p>
                      <a:pPr algn="ctr" rtl="0">
                        <a:buNone/>
                      </a:pPr>
                      <a:r>
                        <a:rPr lang="en-EG" sz="1400" dirty="0">
                          <a:solidFill>
                            <a:srgbClr val="1F1F1F"/>
                          </a:solidFill>
                          <a:effectLst/>
                        </a:rPr>
                        <a:t>550</a:t>
                      </a:r>
                      <a:endParaRPr lang="en-EG" sz="1400"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1693468369"/>
                  </a:ext>
                </a:extLst>
              </a:tr>
              <a:tr h="0">
                <a:tc>
                  <a:txBody>
                    <a:bodyPr/>
                    <a:lstStyle/>
                    <a:p>
                      <a:pPr rtl="0">
                        <a:buNone/>
                      </a:pPr>
                      <a:r>
                        <a:rPr lang="en-US" sz="1400" b="1">
                          <a:solidFill>
                            <a:srgbClr val="1F1F1F"/>
                          </a:solidFill>
                          <a:effectLst/>
                        </a:rPr>
                        <a:t>Asia-Pacific Emerging Economies</a:t>
                      </a:r>
                      <a:endParaRPr lang="en-US" sz="1400">
                        <a:solidFill>
                          <a:srgbClr val="1F1F1F"/>
                        </a:solidFill>
                        <a:effectLst/>
                        <a:latin typeface="Google Sans Text"/>
                      </a:endParaRPr>
                    </a:p>
                  </a:txBody>
                  <a:tcPr marL="114300" marR="114300" marT="76200" marB="76200" anchor="ctr"/>
                </a:tc>
                <a:tc>
                  <a:txBody>
                    <a:bodyPr/>
                    <a:lstStyle/>
                    <a:p>
                      <a:pPr algn="ctr" rtl="0">
                        <a:buNone/>
                      </a:pPr>
                      <a:r>
                        <a:rPr lang="en-EG" sz="1400">
                          <a:solidFill>
                            <a:srgbClr val="1F1F1F"/>
                          </a:solidFill>
                          <a:effectLst/>
                        </a:rPr>
                        <a:t>920</a:t>
                      </a:r>
                      <a:endParaRPr lang="en-EG" sz="1400">
                        <a:solidFill>
                          <a:srgbClr val="1F1F1F"/>
                        </a:solidFill>
                        <a:effectLst/>
                        <a:latin typeface="Google Sans Text"/>
                      </a:endParaRPr>
                    </a:p>
                  </a:txBody>
                  <a:tcPr marL="114300" marR="114300" marT="76200" marB="76200" anchor="ctr"/>
                </a:tc>
                <a:tc>
                  <a:txBody>
                    <a:bodyPr/>
                    <a:lstStyle/>
                    <a:p>
                      <a:pPr algn="ctr" rtl="0">
                        <a:buNone/>
                      </a:pPr>
                      <a:r>
                        <a:rPr lang="en-EG" sz="1400" dirty="0">
                          <a:solidFill>
                            <a:srgbClr val="1F1F1F"/>
                          </a:solidFill>
                          <a:effectLst/>
                        </a:rPr>
                        <a:t>400</a:t>
                      </a:r>
                      <a:endParaRPr lang="en-EG" sz="1400"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2125156211"/>
                  </a:ext>
                </a:extLst>
              </a:tr>
              <a:tr h="0">
                <a:tc>
                  <a:txBody>
                    <a:bodyPr/>
                    <a:lstStyle/>
                    <a:p>
                      <a:pPr rtl="0">
                        <a:buNone/>
                      </a:pPr>
                      <a:r>
                        <a:rPr lang="en-US" sz="1400" b="1">
                          <a:solidFill>
                            <a:srgbClr val="1F1F1F"/>
                          </a:solidFill>
                          <a:effectLst/>
                        </a:rPr>
                        <a:t>Latin American Growth Division</a:t>
                      </a:r>
                      <a:endParaRPr lang="en-US" sz="1400">
                        <a:solidFill>
                          <a:srgbClr val="1F1F1F"/>
                        </a:solidFill>
                        <a:effectLst/>
                        <a:latin typeface="Google Sans Text"/>
                      </a:endParaRPr>
                    </a:p>
                  </a:txBody>
                  <a:tcPr marL="114300" marR="114300" marT="76200" marB="76200" anchor="ctr"/>
                </a:tc>
                <a:tc>
                  <a:txBody>
                    <a:bodyPr/>
                    <a:lstStyle/>
                    <a:p>
                      <a:pPr algn="ctr" rtl="0">
                        <a:buNone/>
                      </a:pPr>
                      <a:r>
                        <a:rPr lang="en-EG" sz="1400">
                          <a:solidFill>
                            <a:srgbClr val="1F1F1F"/>
                          </a:solidFill>
                          <a:effectLst/>
                        </a:rPr>
                        <a:t>450</a:t>
                      </a:r>
                      <a:endParaRPr lang="en-EG" sz="1400">
                        <a:solidFill>
                          <a:srgbClr val="1F1F1F"/>
                        </a:solidFill>
                        <a:effectLst/>
                        <a:latin typeface="Google Sans Text"/>
                      </a:endParaRPr>
                    </a:p>
                  </a:txBody>
                  <a:tcPr marL="114300" marR="114300" marT="76200" marB="76200" anchor="ctr"/>
                </a:tc>
                <a:tc>
                  <a:txBody>
                    <a:bodyPr/>
                    <a:lstStyle/>
                    <a:p>
                      <a:pPr algn="ctr" rtl="0">
                        <a:buNone/>
                      </a:pPr>
                      <a:r>
                        <a:rPr lang="en-EG" sz="1400" dirty="0">
                          <a:solidFill>
                            <a:srgbClr val="1F1F1F"/>
                          </a:solidFill>
                          <a:effectLst/>
                        </a:rPr>
                        <a:t>300</a:t>
                      </a:r>
                      <a:endParaRPr lang="en-EG" sz="1400"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656730916"/>
                  </a:ext>
                </a:extLst>
              </a:tr>
              <a:tr h="0">
                <a:tc>
                  <a:txBody>
                    <a:bodyPr/>
                    <a:lstStyle/>
                    <a:p>
                      <a:pPr rtl="0">
                        <a:buNone/>
                      </a:pPr>
                      <a:r>
                        <a:rPr lang="en-US" sz="1400" b="1">
                          <a:solidFill>
                            <a:srgbClr val="1F1F1F"/>
                          </a:solidFill>
                          <a:effectLst/>
                        </a:rPr>
                        <a:t>Middle East and Africa Hub</a:t>
                      </a:r>
                      <a:endParaRPr lang="en-US" sz="1400">
                        <a:solidFill>
                          <a:srgbClr val="1F1F1F"/>
                        </a:solidFill>
                        <a:effectLst/>
                        <a:latin typeface="Google Sans Text"/>
                      </a:endParaRPr>
                    </a:p>
                  </a:txBody>
                  <a:tcPr marL="114300" marR="114300" marT="76200" marB="76200" anchor="ctr"/>
                </a:tc>
                <a:tc>
                  <a:txBody>
                    <a:bodyPr/>
                    <a:lstStyle/>
                    <a:p>
                      <a:pPr algn="ctr" rtl="0">
                        <a:buNone/>
                      </a:pPr>
                      <a:r>
                        <a:rPr lang="en-EG" sz="1400">
                          <a:solidFill>
                            <a:srgbClr val="1F1F1F"/>
                          </a:solidFill>
                          <a:effectLst/>
                        </a:rPr>
                        <a:t>380</a:t>
                      </a:r>
                      <a:endParaRPr lang="en-EG" sz="1400">
                        <a:solidFill>
                          <a:srgbClr val="1F1F1F"/>
                        </a:solidFill>
                        <a:effectLst/>
                        <a:latin typeface="Google Sans Text"/>
                      </a:endParaRPr>
                    </a:p>
                  </a:txBody>
                  <a:tcPr marL="114300" marR="114300" marT="76200" marB="76200" anchor="ctr"/>
                </a:tc>
                <a:tc>
                  <a:txBody>
                    <a:bodyPr/>
                    <a:lstStyle/>
                    <a:p>
                      <a:pPr algn="ctr" rtl="0">
                        <a:buNone/>
                      </a:pPr>
                      <a:r>
                        <a:rPr lang="en-EG" sz="1400" dirty="0">
                          <a:solidFill>
                            <a:srgbClr val="1F1F1F"/>
                          </a:solidFill>
                          <a:effectLst/>
                        </a:rPr>
                        <a:t>320</a:t>
                      </a:r>
                      <a:endParaRPr lang="en-EG" sz="1400"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2712335127"/>
                  </a:ext>
                </a:extLst>
              </a:tr>
              <a:tr h="0">
                <a:tc>
                  <a:txBody>
                    <a:bodyPr/>
                    <a:lstStyle/>
                    <a:p>
                      <a:pPr rtl="0">
                        <a:buNone/>
                      </a:pPr>
                      <a:r>
                        <a:rPr lang="en-US" sz="1400" b="1">
                          <a:solidFill>
                            <a:srgbClr val="1F1F1F"/>
                          </a:solidFill>
                          <a:effectLst/>
                        </a:rPr>
                        <a:t>Scandinavian Research District</a:t>
                      </a:r>
                      <a:endParaRPr lang="en-US" sz="1400">
                        <a:solidFill>
                          <a:srgbClr val="1F1F1F"/>
                        </a:solidFill>
                        <a:effectLst/>
                        <a:latin typeface="Google Sans Text"/>
                      </a:endParaRPr>
                    </a:p>
                  </a:txBody>
                  <a:tcPr marL="114300" marR="114300" marT="76200" marB="76200" anchor="ctr"/>
                </a:tc>
                <a:tc>
                  <a:txBody>
                    <a:bodyPr/>
                    <a:lstStyle/>
                    <a:p>
                      <a:pPr algn="ctr" rtl="0">
                        <a:buNone/>
                      </a:pPr>
                      <a:r>
                        <a:rPr lang="en-EG" sz="1400">
                          <a:solidFill>
                            <a:srgbClr val="1F1F1F"/>
                          </a:solidFill>
                          <a:effectLst/>
                        </a:rPr>
                        <a:t>310</a:t>
                      </a:r>
                      <a:endParaRPr lang="en-EG" sz="1400">
                        <a:solidFill>
                          <a:srgbClr val="1F1F1F"/>
                        </a:solidFill>
                        <a:effectLst/>
                        <a:latin typeface="Google Sans Text"/>
                      </a:endParaRPr>
                    </a:p>
                  </a:txBody>
                  <a:tcPr marL="114300" marR="114300" marT="76200" marB="76200" anchor="ctr"/>
                </a:tc>
                <a:tc>
                  <a:txBody>
                    <a:bodyPr/>
                    <a:lstStyle/>
                    <a:p>
                      <a:pPr algn="ctr" rtl="0">
                        <a:buNone/>
                      </a:pPr>
                      <a:r>
                        <a:rPr lang="en-EG" sz="1400" dirty="0">
                          <a:solidFill>
                            <a:srgbClr val="1F1F1F"/>
                          </a:solidFill>
                          <a:effectLst/>
                        </a:rPr>
                        <a:t>280</a:t>
                      </a:r>
                      <a:endParaRPr lang="en-EG" sz="1400"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963642337"/>
                  </a:ext>
                </a:extLst>
              </a:tr>
              <a:tr h="0">
                <a:tc>
                  <a:txBody>
                    <a:bodyPr/>
                    <a:lstStyle/>
                    <a:p>
                      <a:pPr rtl="0">
                        <a:buNone/>
                      </a:pPr>
                      <a:r>
                        <a:rPr lang="en-US" sz="1400" b="1" dirty="0">
                          <a:solidFill>
                            <a:srgbClr val="1F1F1F"/>
                          </a:solidFill>
                          <a:effectLst/>
                        </a:rPr>
                        <a:t>United Kingdom Financial Core</a:t>
                      </a:r>
                      <a:endParaRPr lang="en-US" sz="1400" dirty="0">
                        <a:solidFill>
                          <a:srgbClr val="1F1F1F"/>
                        </a:solidFill>
                        <a:effectLst/>
                        <a:latin typeface="Google Sans Text"/>
                      </a:endParaRPr>
                    </a:p>
                  </a:txBody>
                  <a:tcPr marL="114300" marR="114300" marT="76200" marB="76200" anchor="ctr"/>
                </a:tc>
                <a:tc>
                  <a:txBody>
                    <a:bodyPr/>
                    <a:lstStyle/>
                    <a:p>
                      <a:pPr algn="ctr" rtl="0">
                        <a:buNone/>
                      </a:pPr>
                      <a:r>
                        <a:rPr lang="en-EG" sz="1400">
                          <a:solidFill>
                            <a:srgbClr val="1F1F1F"/>
                          </a:solidFill>
                          <a:effectLst/>
                        </a:rPr>
                        <a:t>290</a:t>
                      </a:r>
                      <a:endParaRPr lang="en-EG" sz="1400">
                        <a:solidFill>
                          <a:srgbClr val="1F1F1F"/>
                        </a:solidFill>
                        <a:effectLst/>
                        <a:latin typeface="Google Sans Text"/>
                      </a:endParaRPr>
                    </a:p>
                  </a:txBody>
                  <a:tcPr marL="114300" marR="114300" marT="76200" marB="76200" anchor="ctr"/>
                </a:tc>
                <a:tc>
                  <a:txBody>
                    <a:bodyPr/>
                    <a:lstStyle/>
                    <a:p>
                      <a:pPr algn="ctr" rtl="0">
                        <a:buNone/>
                      </a:pPr>
                      <a:r>
                        <a:rPr lang="en-EG" sz="1400" dirty="0">
                          <a:solidFill>
                            <a:srgbClr val="1F1F1F"/>
                          </a:solidFill>
                          <a:effectLst/>
                        </a:rPr>
                        <a:t>250</a:t>
                      </a:r>
                      <a:endParaRPr lang="en-EG" sz="1400"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1316167552"/>
                  </a:ext>
                </a:extLst>
              </a:tr>
            </a:tbl>
          </a:graphicData>
        </a:graphic>
      </p:graphicFrame>
    </p:spTree>
    <p:extLst>
      <p:ext uri="{BB962C8B-B14F-4D97-AF65-F5344CB8AC3E}">
        <p14:creationId xmlns:p14="http://schemas.microsoft.com/office/powerpoint/2010/main" val="1320442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68247-B0AB-E231-402D-E07298AB3E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6869E7-2FF5-CCA8-6348-3F99893F9AAB}"/>
              </a:ext>
            </a:extLst>
          </p:cNvPr>
          <p:cNvSpPr>
            <a:spLocks noGrp="1"/>
          </p:cNvSpPr>
          <p:nvPr>
            <p:ph type="title"/>
          </p:nvPr>
        </p:nvSpPr>
        <p:spPr>
          <a:xfrm>
            <a:off x="704088" y="871368"/>
            <a:ext cx="5239272" cy="1226372"/>
          </a:xfrm>
        </p:spPr>
        <p:txBody>
          <a:bodyPr>
            <a:normAutofit fontScale="90000"/>
          </a:bodyPr>
          <a:lstStyle/>
          <a:p>
            <a:r>
              <a:rPr lang="en-US" dirty="0"/>
              <a:t>Practical Exercise 5: clustered chart</a:t>
            </a:r>
            <a:endParaRPr lang="en-EG" dirty="0"/>
          </a:p>
        </p:txBody>
      </p:sp>
      <p:sp>
        <p:nvSpPr>
          <p:cNvPr id="3" name="Content Placeholder 2">
            <a:extLst>
              <a:ext uri="{FF2B5EF4-FFF2-40B4-BE49-F238E27FC236}">
                <a16:creationId xmlns:a16="http://schemas.microsoft.com/office/drawing/2014/main" id="{9BD1C5E9-2A0E-A411-EE50-62B9B56B75FA}"/>
              </a:ext>
            </a:extLst>
          </p:cNvPr>
          <p:cNvSpPr>
            <a:spLocks noGrp="1"/>
          </p:cNvSpPr>
          <p:nvPr>
            <p:ph idx="1"/>
          </p:nvPr>
        </p:nvSpPr>
        <p:spPr>
          <a:xfrm>
            <a:off x="6346176" y="914399"/>
            <a:ext cx="5138688" cy="5248657"/>
          </a:xfrm>
        </p:spPr>
        <p:txBody>
          <a:bodyPr>
            <a:normAutofit/>
          </a:bodyPr>
          <a:lstStyle/>
          <a:p>
            <a:pPr marL="0" indent="0">
              <a:buNone/>
            </a:pPr>
            <a:r>
              <a:rPr lang="en-US" b="1" dirty="0"/>
              <a:t>3. The Audience Question</a:t>
            </a:r>
          </a:p>
          <a:p>
            <a:pPr marL="0" indent="0" algn="just">
              <a:buNone/>
            </a:pPr>
            <a:r>
              <a:rPr lang="en-US" dirty="0"/>
              <a:t>"When comparing both product lines </a:t>
            </a:r>
            <a:r>
              <a:rPr lang="en-US" b="1" dirty="0"/>
              <a:t>Side-by-side</a:t>
            </a:r>
            <a:r>
              <a:rPr lang="en-US" dirty="0"/>
              <a:t>, which regional office reached the highest </a:t>
            </a:r>
            <a:r>
              <a:rPr lang="en-US" b="1" dirty="0"/>
              <a:t>Peak</a:t>
            </a:r>
            <a:r>
              <a:rPr lang="en-US" dirty="0"/>
              <a:t> in sales volume?"</a:t>
            </a:r>
          </a:p>
          <a:p>
            <a:pPr marL="0" indent="0">
              <a:buNone/>
            </a:pPr>
            <a:endParaRPr lang="en-US" dirty="0"/>
          </a:p>
          <a:p>
            <a:pPr marL="0" indent="0" algn="just">
              <a:buNone/>
            </a:pPr>
            <a:r>
              <a:rPr lang="en-US" b="1" u="sng" dirty="0"/>
              <a:t>Draw the most accurate visualization possible to answer the audience's question and follow the visualization guidelines.</a:t>
            </a:r>
          </a:p>
          <a:p>
            <a:endParaRPr lang="en-EG" dirty="0"/>
          </a:p>
        </p:txBody>
      </p:sp>
      <p:graphicFrame>
        <p:nvGraphicFramePr>
          <p:cNvPr id="4" name="Table 3">
            <a:extLst>
              <a:ext uri="{FF2B5EF4-FFF2-40B4-BE49-F238E27FC236}">
                <a16:creationId xmlns:a16="http://schemas.microsoft.com/office/drawing/2014/main" id="{1DD6B140-C905-5615-454C-2FC248FD22B5}"/>
              </a:ext>
            </a:extLst>
          </p:cNvPr>
          <p:cNvGraphicFramePr>
            <a:graphicFrameLocks noGrp="1"/>
          </p:cNvGraphicFramePr>
          <p:nvPr>
            <p:extLst>
              <p:ext uri="{D42A27DB-BD31-4B8C-83A1-F6EECF244321}">
                <p14:modId xmlns:p14="http://schemas.microsoft.com/office/powerpoint/2010/main" val="1633118642"/>
              </p:ext>
            </p:extLst>
          </p:nvPr>
        </p:nvGraphicFramePr>
        <p:xfrm>
          <a:off x="700089" y="2385695"/>
          <a:ext cx="5395912" cy="3139440"/>
        </p:xfrm>
        <a:graphic>
          <a:graphicData uri="http://schemas.openxmlformats.org/drawingml/2006/table">
            <a:tbl>
              <a:tblPr>
                <a:tableStyleId>{5940675A-B579-460E-94D1-54222C63F5DA}</a:tableStyleId>
              </a:tblPr>
              <a:tblGrid>
                <a:gridCol w="3100730">
                  <a:extLst>
                    <a:ext uri="{9D8B030D-6E8A-4147-A177-3AD203B41FA5}">
                      <a16:colId xmlns:a16="http://schemas.microsoft.com/office/drawing/2014/main" val="282294868"/>
                    </a:ext>
                  </a:extLst>
                </a:gridCol>
                <a:gridCol w="1167788">
                  <a:extLst>
                    <a:ext uri="{9D8B030D-6E8A-4147-A177-3AD203B41FA5}">
                      <a16:colId xmlns:a16="http://schemas.microsoft.com/office/drawing/2014/main" val="3647459681"/>
                    </a:ext>
                  </a:extLst>
                </a:gridCol>
                <a:gridCol w="1127394">
                  <a:extLst>
                    <a:ext uri="{9D8B030D-6E8A-4147-A177-3AD203B41FA5}">
                      <a16:colId xmlns:a16="http://schemas.microsoft.com/office/drawing/2014/main" val="2782768615"/>
                    </a:ext>
                  </a:extLst>
                </a:gridCol>
              </a:tblGrid>
              <a:tr h="0">
                <a:tc>
                  <a:txBody>
                    <a:bodyPr/>
                    <a:lstStyle/>
                    <a:p>
                      <a:pPr rtl="0">
                        <a:buNone/>
                      </a:pPr>
                      <a:r>
                        <a:rPr lang="en-US" sz="1400" b="1" dirty="0">
                          <a:solidFill>
                            <a:schemeClr val="bg1"/>
                          </a:solidFill>
                          <a:effectLst/>
                        </a:rPr>
                        <a:t>Global Region (Long Name)</a:t>
                      </a:r>
                      <a:endParaRPr lang="en-US" sz="1400" dirty="0">
                        <a:solidFill>
                          <a:schemeClr val="bg1"/>
                        </a:solidFill>
                        <a:effectLst/>
                        <a:latin typeface="Google Sans Text"/>
                      </a:endParaRPr>
                    </a:p>
                  </a:txBody>
                  <a:tcPr marL="114300" marR="114300" marT="76200" marB="76200" anchor="ctr">
                    <a:solidFill>
                      <a:srgbClr val="FF0000"/>
                    </a:solidFill>
                  </a:tcPr>
                </a:tc>
                <a:tc>
                  <a:txBody>
                    <a:bodyPr/>
                    <a:lstStyle/>
                    <a:p>
                      <a:pPr rtl="0">
                        <a:buNone/>
                      </a:pPr>
                      <a:r>
                        <a:rPr lang="en-US" sz="1400" b="1" dirty="0">
                          <a:solidFill>
                            <a:schemeClr val="bg1"/>
                          </a:solidFill>
                          <a:effectLst/>
                        </a:rPr>
                        <a:t>Premium Line ($k)</a:t>
                      </a:r>
                      <a:endParaRPr lang="en-US" sz="1400" dirty="0">
                        <a:solidFill>
                          <a:schemeClr val="bg1"/>
                        </a:solidFill>
                        <a:effectLst/>
                        <a:latin typeface="Google Sans Text"/>
                      </a:endParaRPr>
                    </a:p>
                  </a:txBody>
                  <a:tcPr marL="114300" marR="114300" marT="76200" marB="76200" anchor="ctr">
                    <a:solidFill>
                      <a:srgbClr val="FF0000"/>
                    </a:solidFill>
                  </a:tcPr>
                </a:tc>
                <a:tc>
                  <a:txBody>
                    <a:bodyPr/>
                    <a:lstStyle/>
                    <a:p>
                      <a:pPr rtl="0">
                        <a:buNone/>
                      </a:pPr>
                      <a:r>
                        <a:rPr lang="en-US" sz="1400" b="1" dirty="0">
                          <a:solidFill>
                            <a:schemeClr val="bg1"/>
                          </a:solidFill>
                          <a:effectLst/>
                        </a:rPr>
                        <a:t>Standard Line ($k)</a:t>
                      </a:r>
                      <a:endParaRPr lang="en-US" sz="1400" dirty="0">
                        <a:solidFill>
                          <a:schemeClr val="bg1"/>
                        </a:solidFill>
                        <a:effectLst/>
                        <a:latin typeface="Google Sans Text"/>
                      </a:endParaRPr>
                    </a:p>
                  </a:txBody>
                  <a:tcPr marL="114300" marR="114300" marT="76200" marB="76200" anchor="ctr">
                    <a:solidFill>
                      <a:srgbClr val="FF0000"/>
                    </a:solidFill>
                  </a:tcPr>
                </a:tc>
                <a:extLst>
                  <a:ext uri="{0D108BD9-81ED-4DB2-BD59-A6C34878D82A}">
                    <a16:rowId xmlns:a16="http://schemas.microsoft.com/office/drawing/2014/main" val="4264312758"/>
                  </a:ext>
                </a:extLst>
              </a:tr>
              <a:tr h="0">
                <a:tc>
                  <a:txBody>
                    <a:bodyPr/>
                    <a:lstStyle/>
                    <a:p>
                      <a:pPr rtl="0">
                        <a:buNone/>
                      </a:pPr>
                      <a:r>
                        <a:rPr lang="en-US" sz="1400" b="1">
                          <a:solidFill>
                            <a:srgbClr val="1F1F1F"/>
                          </a:solidFill>
                          <a:effectLst/>
                        </a:rPr>
                        <a:t>North American Enterprise Sector</a:t>
                      </a:r>
                      <a:endParaRPr lang="en-US" sz="1400">
                        <a:solidFill>
                          <a:srgbClr val="1F1F1F"/>
                        </a:solidFill>
                        <a:effectLst/>
                        <a:latin typeface="Google Sans Text"/>
                      </a:endParaRPr>
                    </a:p>
                  </a:txBody>
                  <a:tcPr marL="114300" marR="114300" marT="76200" marB="76200" anchor="ctr"/>
                </a:tc>
                <a:tc>
                  <a:txBody>
                    <a:bodyPr/>
                    <a:lstStyle/>
                    <a:p>
                      <a:pPr algn="ctr" rtl="0">
                        <a:buNone/>
                      </a:pPr>
                      <a:r>
                        <a:rPr lang="en-EG" sz="1400" dirty="0">
                          <a:solidFill>
                            <a:srgbClr val="1F1F1F"/>
                          </a:solidFill>
                          <a:effectLst/>
                        </a:rPr>
                        <a:t>850</a:t>
                      </a:r>
                      <a:endParaRPr lang="en-EG" sz="1400" dirty="0">
                        <a:solidFill>
                          <a:srgbClr val="1F1F1F"/>
                        </a:solidFill>
                        <a:effectLst/>
                        <a:latin typeface="Google Sans Text"/>
                      </a:endParaRPr>
                    </a:p>
                  </a:txBody>
                  <a:tcPr marL="114300" marR="114300" marT="76200" marB="76200" anchor="ctr"/>
                </a:tc>
                <a:tc>
                  <a:txBody>
                    <a:bodyPr/>
                    <a:lstStyle/>
                    <a:p>
                      <a:pPr algn="ctr" rtl="0">
                        <a:buNone/>
                      </a:pPr>
                      <a:r>
                        <a:rPr lang="en-EG" sz="1400">
                          <a:solidFill>
                            <a:srgbClr val="1F1F1F"/>
                          </a:solidFill>
                          <a:effectLst/>
                        </a:rPr>
                        <a:t>600</a:t>
                      </a:r>
                      <a:endParaRPr lang="en-EG" sz="140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171039607"/>
                  </a:ext>
                </a:extLst>
              </a:tr>
              <a:tr h="0">
                <a:tc>
                  <a:txBody>
                    <a:bodyPr/>
                    <a:lstStyle/>
                    <a:p>
                      <a:pPr rtl="0">
                        <a:buNone/>
                      </a:pPr>
                      <a:r>
                        <a:rPr lang="en-US" sz="1400" b="1">
                          <a:solidFill>
                            <a:srgbClr val="1F1F1F"/>
                          </a:solidFill>
                          <a:effectLst/>
                        </a:rPr>
                        <a:t>European Union Strategic Markets</a:t>
                      </a:r>
                      <a:endParaRPr lang="en-US" sz="1400">
                        <a:solidFill>
                          <a:srgbClr val="1F1F1F"/>
                        </a:solidFill>
                        <a:effectLst/>
                        <a:latin typeface="Google Sans Text"/>
                      </a:endParaRPr>
                    </a:p>
                  </a:txBody>
                  <a:tcPr marL="114300" marR="114300" marT="76200" marB="76200" anchor="ctr"/>
                </a:tc>
                <a:tc>
                  <a:txBody>
                    <a:bodyPr/>
                    <a:lstStyle/>
                    <a:p>
                      <a:pPr algn="ctr" rtl="0">
                        <a:buNone/>
                      </a:pPr>
                      <a:r>
                        <a:rPr lang="en-EG" sz="1400" dirty="0">
                          <a:solidFill>
                            <a:srgbClr val="1F1F1F"/>
                          </a:solidFill>
                          <a:effectLst/>
                        </a:rPr>
                        <a:t>780</a:t>
                      </a:r>
                      <a:endParaRPr lang="en-EG" sz="1400" dirty="0">
                        <a:solidFill>
                          <a:srgbClr val="1F1F1F"/>
                        </a:solidFill>
                        <a:effectLst/>
                        <a:latin typeface="Google Sans Text"/>
                      </a:endParaRPr>
                    </a:p>
                  </a:txBody>
                  <a:tcPr marL="114300" marR="114300" marT="76200" marB="76200" anchor="ctr"/>
                </a:tc>
                <a:tc>
                  <a:txBody>
                    <a:bodyPr/>
                    <a:lstStyle/>
                    <a:p>
                      <a:pPr algn="ctr" rtl="0">
                        <a:buNone/>
                      </a:pPr>
                      <a:r>
                        <a:rPr lang="en-EG" sz="1400" dirty="0">
                          <a:solidFill>
                            <a:srgbClr val="1F1F1F"/>
                          </a:solidFill>
                          <a:effectLst/>
                        </a:rPr>
                        <a:t>550</a:t>
                      </a:r>
                      <a:endParaRPr lang="en-EG" sz="1400"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1693468369"/>
                  </a:ext>
                </a:extLst>
              </a:tr>
              <a:tr h="0">
                <a:tc>
                  <a:txBody>
                    <a:bodyPr/>
                    <a:lstStyle/>
                    <a:p>
                      <a:pPr rtl="0">
                        <a:buNone/>
                      </a:pPr>
                      <a:r>
                        <a:rPr lang="en-US" sz="1400" b="1">
                          <a:solidFill>
                            <a:srgbClr val="1F1F1F"/>
                          </a:solidFill>
                          <a:effectLst/>
                        </a:rPr>
                        <a:t>Asia-Pacific Emerging Economies</a:t>
                      </a:r>
                      <a:endParaRPr lang="en-US" sz="1400">
                        <a:solidFill>
                          <a:srgbClr val="1F1F1F"/>
                        </a:solidFill>
                        <a:effectLst/>
                        <a:latin typeface="Google Sans Text"/>
                      </a:endParaRPr>
                    </a:p>
                  </a:txBody>
                  <a:tcPr marL="114300" marR="114300" marT="76200" marB="76200" anchor="ctr"/>
                </a:tc>
                <a:tc>
                  <a:txBody>
                    <a:bodyPr/>
                    <a:lstStyle/>
                    <a:p>
                      <a:pPr algn="ctr" rtl="0">
                        <a:buNone/>
                      </a:pPr>
                      <a:r>
                        <a:rPr lang="en-EG" sz="1400">
                          <a:solidFill>
                            <a:srgbClr val="1F1F1F"/>
                          </a:solidFill>
                          <a:effectLst/>
                        </a:rPr>
                        <a:t>920</a:t>
                      </a:r>
                      <a:endParaRPr lang="en-EG" sz="1400">
                        <a:solidFill>
                          <a:srgbClr val="1F1F1F"/>
                        </a:solidFill>
                        <a:effectLst/>
                        <a:latin typeface="Google Sans Text"/>
                      </a:endParaRPr>
                    </a:p>
                  </a:txBody>
                  <a:tcPr marL="114300" marR="114300" marT="76200" marB="76200" anchor="ctr"/>
                </a:tc>
                <a:tc>
                  <a:txBody>
                    <a:bodyPr/>
                    <a:lstStyle/>
                    <a:p>
                      <a:pPr algn="ctr" rtl="0">
                        <a:buNone/>
                      </a:pPr>
                      <a:r>
                        <a:rPr lang="en-EG" sz="1400" dirty="0">
                          <a:solidFill>
                            <a:srgbClr val="1F1F1F"/>
                          </a:solidFill>
                          <a:effectLst/>
                        </a:rPr>
                        <a:t>400</a:t>
                      </a:r>
                      <a:endParaRPr lang="en-EG" sz="1400"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2125156211"/>
                  </a:ext>
                </a:extLst>
              </a:tr>
              <a:tr h="0">
                <a:tc>
                  <a:txBody>
                    <a:bodyPr/>
                    <a:lstStyle/>
                    <a:p>
                      <a:pPr rtl="0">
                        <a:buNone/>
                      </a:pPr>
                      <a:r>
                        <a:rPr lang="en-US" sz="1400" b="1">
                          <a:solidFill>
                            <a:srgbClr val="1F1F1F"/>
                          </a:solidFill>
                          <a:effectLst/>
                        </a:rPr>
                        <a:t>Latin American Growth Division</a:t>
                      </a:r>
                      <a:endParaRPr lang="en-US" sz="1400">
                        <a:solidFill>
                          <a:srgbClr val="1F1F1F"/>
                        </a:solidFill>
                        <a:effectLst/>
                        <a:latin typeface="Google Sans Text"/>
                      </a:endParaRPr>
                    </a:p>
                  </a:txBody>
                  <a:tcPr marL="114300" marR="114300" marT="76200" marB="76200" anchor="ctr"/>
                </a:tc>
                <a:tc>
                  <a:txBody>
                    <a:bodyPr/>
                    <a:lstStyle/>
                    <a:p>
                      <a:pPr algn="ctr" rtl="0">
                        <a:buNone/>
                      </a:pPr>
                      <a:r>
                        <a:rPr lang="en-EG" sz="1400">
                          <a:solidFill>
                            <a:srgbClr val="1F1F1F"/>
                          </a:solidFill>
                          <a:effectLst/>
                        </a:rPr>
                        <a:t>450</a:t>
                      </a:r>
                      <a:endParaRPr lang="en-EG" sz="1400">
                        <a:solidFill>
                          <a:srgbClr val="1F1F1F"/>
                        </a:solidFill>
                        <a:effectLst/>
                        <a:latin typeface="Google Sans Text"/>
                      </a:endParaRPr>
                    </a:p>
                  </a:txBody>
                  <a:tcPr marL="114300" marR="114300" marT="76200" marB="76200" anchor="ctr"/>
                </a:tc>
                <a:tc>
                  <a:txBody>
                    <a:bodyPr/>
                    <a:lstStyle/>
                    <a:p>
                      <a:pPr algn="ctr" rtl="0">
                        <a:buNone/>
                      </a:pPr>
                      <a:r>
                        <a:rPr lang="en-EG" sz="1400" dirty="0">
                          <a:solidFill>
                            <a:srgbClr val="1F1F1F"/>
                          </a:solidFill>
                          <a:effectLst/>
                        </a:rPr>
                        <a:t>300</a:t>
                      </a:r>
                      <a:endParaRPr lang="en-EG" sz="1400"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656730916"/>
                  </a:ext>
                </a:extLst>
              </a:tr>
              <a:tr h="0">
                <a:tc>
                  <a:txBody>
                    <a:bodyPr/>
                    <a:lstStyle/>
                    <a:p>
                      <a:pPr rtl="0">
                        <a:buNone/>
                      </a:pPr>
                      <a:r>
                        <a:rPr lang="en-US" sz="1400" b="1">
                          <a:solidFill>
                            <a:srgbClr val="1F1F1F"/>
                          </a:solidFill>
                          <a:effectLst/>
                        </a:rPr>
                        <a:t>Middle East and Africa Hub</a:t>
                      </a:r>
                      <a:endParaRPr lang="en-US" sz="1400">
                        <a:solidFill>
                          <a:srgbClr val="1F1F1F"/>
                        </a:solidFill>
                        <a:effectLst/>
                        <a:latin typeface="Google Sans Text"/>
                      </a:endParaRPr>
                    </a:p>
                  </a:txBody>
                  <a:tcPr marL="114300" marR="114300" marT="76200" marB="76200" anchor="ctr"/>
                </a:tc>
                <a:tc>
                  <a:txBody>
                    <a:bodyPr/>
                    <a:lstStyle/>
                    <a:p>
                      <a:pPr algn="ctr" rtl="0">
                        <a:buNone/>
                      </a:pPr>
                      <a:r>
                        <a:rPr lang="en-EG" sz="1400">
                          <a:solidFill>
                            <a:srgbClr val="1F1F1F"/>
                          </a:solidFill>
                          <a:effectLst/>
                        </a:rPr>
                        <a:t>380</a:t>
                      </a:r>
                      <a:endParaRPr lang="en-EG" sz="1400">
                        <a:solidFill>
                          <a:srgbClr val="1F1F1F"/>
                        </a:solidFill>
                        <a:effectLst/>
                        <a:latin typeface="Google Sans Text"/>
                      </a:endParaRPr>
                    </a:p>
                  </a:txBody>
                  <a:tcPr marL="114300" marR="114300" marT="76200" marB="76200" anchor="ctr"/>
                </a:tc>
                <a:tc>
                  <a:txBody>
                    <a:bodyPr/>
                    <a:lstStyle/>
                    <a:p>
                      <a:pPr algn="ctr" rtl="0">
                        <a:buNone/>
                      </a:pPr>
                      <a:r>
                        <a:rPr lang="en-EG" sz="1400" dirty="0">
                          <a:solidFill>
                            <a:srgbClr val="1F1F1F"/>
                          </a:solidFill>
                          <a:effectLst/>
                        </a:rPr>
                        <a:t>320</a:t>
                      </a:r>
                      <a:endParaRPr lang="en-EG" sz="1400"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2712335127"/>
                  </a:ext>
                </a:extLst>
              </a:tr>
              <a:tr h="0">
                <a:tc>
                  <a:txBody>
                    <a:bodyPr/>
                    <a:lstStyle/>
                    <a:p>
                      <a:pPr rtl="0">
                        <a:buNone/>
                      </a:pPr>
                      <a:r>
                        <a:rPr lang="en-US" sz="1400" b="1">
                          <a:solidFill>
                            <a:srgbClr val="1F1F1F"/>
                          </a:solidFill>
                          <a:effectLst/>
                        </a:rPr>
                        <a:t>Scandinavian Research District</a:t>
                      </a:r>
                      <a:endParaRPr lang="en-US" sz="1400">
                        <a:solidFill>
                          <a:srgbClr val="1F1F1F"/>
                        </a:solidFill>
                        <a:effectLst/>
                        <a:latin typeface="Google Sans Text"/>
                      </a:endParaRPr>
                    </a:p>
                  </a:txBody>
                  <a:tcPr marL="114300" marR="114300" marT="76200" marB="76200" anchor="ctr"/>
                </a:tc>
                <a:tc>
                  <a:txBody>
                    <a:bodyPr/>
                    <a:lstStyle/>
                    <a:p>
                      <a:pPr algn="ctr" rtl="0">
                        <a:buNone/>
                      </a:pPr>
                      <a:r>
                        <a:rPr lang="en-EG" sz="1400">
                          <a:solidFill>
                            <a:srgbClr val="1F1F1F"/>
                          </a:solidFill>
                          <a:effectLst/>
                        </a:rPr>
                        <a:t>310</a:t>
                      </a:r>
                      <a:endParaRPr lang="en-EG" sz="1400">
                        <a:solidFill>
                          <a:srgbClr val="1F1F1F"/>
                        </a:solidFill>
                        <a:effectLst/>
                        <a:latin typeface="Google Sans Text"/>
                      </a:endParaRPr>
                    </a:p>
                  </a:txBody>
                  <a:tcPr marL="114300" marR="114300" marT="76200" marB="76200" anchor="ctr"/>
                </a:tc>
                <a:tc>
                  <a:txBody>
                    <a:bodyPr/>
                    <a:lstStyle/>
                    <a:p>
                      <a:pPr algn="ctr" rtl="0">
                        <a:buNone/>
                      </a:pPr>
                      <a:r>
                        <a:rPr lang="en-EG" sz="1400" dirty="0">
                          <a:solidFill>
                            <a:srgbClr val="1F1F1F"/>
                          </a:solidFill>
                          <a:effectLst/>
                        </a:rPr>
                        <a:t>280</a:t>
                      </a:r>
                      <a:endParaRPr lang="en-EG" sz="1400"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963642337"/>
                  </a:ext>
                </a:extLst>
              </a:tr>
              <a:tr h="0">
                <a:tc>
                  <a:txBody>
                    <a:bodyPr/>
                    <a:lstStyle/>
                    <a:p>
                      <a:pPr rtl="0">
                        <a:buNone/>
                      </a:pPr>
                      <a:r>
                        <a:rPr lang="en-US" sz="1400" b="1" dirty="0">
                          <a:solidFill>
                            <a:srgbClr val="1F1F1F"/>
                          </a:solidFill>
                          <a:effectLst/>
                        </a:rPr>
                        <a:t>United Kingdom Financial Core</a:t>
                      </a:r>
                      <a:endParaRPr lang="en-US" sz="1400" dirty="0">
                        <a:solidFill>
                          <a:srgbClr val="1F1F1F"/>
                        </a:solidFill>
                        <a:effectLst/>
                        <a:latin typeface="Google Sans Text"/>
                      </a:endParaRPr>
                    </a:p>
                  </a:txBody>
                  <a:tcPr marL="114300" marR="114300" marT="76200" marB="76200" anchor="ctr"/>
                </a:tc>
                <a:tc>
                  <a:txBody>
                    <a:bodyPr/>
                    <a:lstStyle/>
                    <a:p>
                      <a:pPr algn="ctr" rtl="0">
                        <a:buNone/>
                      </a:pPr>
                      <a:r>
                        <a:rPr lang="en-EG" sz="1400">
                          <a:solidFill>
                            <a:srgbClr val="1F1F1F"/>
                          </a:solidFill>
                          <a:effectLst/>
                        </a:rPr>
                        <a:t>290</a:t>
                      </a:r>
                      <a:endParaRPr lang="en-EG" sz="1400">
                        <a:solidFill>
                          <a:srgbClr val="1F1F1F"/>
                        </a:solidFill>
                        <a:effectLst/>
                        <a:latin typeface="Google Sans Text"/>
                      </a:endParaRPr>
                    </a:p>
                  </a:txBody>
                  <a:tcPr marL="114300" marR="114300" marT="76200" marB="76200" anchor="ctr"/>
                </a:tc>
                <a:tc>
                  <a:txBody>
                    <a:bodyPr/>
                    <a:lstStyle/>
                    <a:p>
                      <a:pPr algn="ctr" rtl="0">
                        <a:buNone/>
                      </a:pPr>
                      <a:r>
                        <a:rPr lang="en-EG" sz="1400" dirty="0">
                          <a:solidFill>
                            <a:srgbClr val="1F1F1F"/>
                          </a:solidFill>
                          <a:effectLst/>
                        </a:rPr>
                        <a:t>250</a:t>
                      </a:r>
                      <a:endParaRPr lang="en-EG" sz="1400"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1316167552"/>
                  </a:ext>
                </a:extLst>
              </a:tr>
            </a:tbl>
          </a:graphicData>
        </a:graphic>
      </p:graphicFrame>
    </p:spTree>
    <p:extLst>
      <p:ext uri="{BB962C8B-B14F-4D97-AF65-F5344CB8AC3E}">
        <p14:creationId xmlns:p14="http://schemas.microsoft.com/office/powerpoint/2010/main" val="30952111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54F13-39CE-DC33-90D8-1A31E79132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42E48F-32E7-D211-64E3-9624425DFB20}"/>
              </a:ext>
            </a:extLst>
          </p:cNvPr>
          <p:cNvSpPr>
            <a:spLocks noGrp="1"/>
          </p:cNvSpPr>
          <p:nvPr>
            <p:ph type="title"/>
          </p:nvPr>
        </p:nvSpPr>
        <p:spPr>
          <a:xfrm>
            <a:off x="700635" y="914400"/>
            <a:ext cx="10691265" cy="598714"/>
          </a:xfrm>
        </p:spPr>
        <p:txBody>
          <a:bodyPr>
            <a:normAutofit/>
          </a:bodyPr>
          <a:lstStyle/>
          <a:p>
            <a:r>
              <a:rPr lang="en-US" sz="2800" b="1" dirty="0"/>
              <a:t>Answers 5:</a:t>
            </a:r>
            <a:r>
              <a:rPr lang="en-US" sz="2800" dirty="0"/>
              <a:t> </a:t>
            </a:r>
            <a:r>
              <a:rPr lang="en-US" sz="2800" b="1" dirty="0"/>
              <a:t>clustered chart</a:t>
            </a:r>
            <a:endParaRPr lang="en-EG" sz="2800" b="1" dirty="0"/>
          </a:p>
        </p:txBody>
      </p:sp>
      <p:pic>
        <p:nvPicPr>
          <p:cNvPr id="16388" name="Picture 4">
            <a:extLst>
              <a:ext uri="{FF2B5EF4-FFF2-40B4-BE49-F238E27FC236}">
                <a16:creationId xmlns:a16="http://schemas.microsoft.com/office/drawing/2014/main" id="{D1126685-4E55-6169-9E1B-3F0B81E5297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79555" y="1513114"/>
            <a:ext cx="6933423" cy="442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8511983"/>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Madison</Template>
  <TotalTime>2838</TotalTime>
  <Words>1800</Words>
  <Application>Microsoft Macintosh PowerPoint</Application>
  <PresentationFormat>Widescreen</PresentationFormat>
  <Paragraphs>403</Paragraphs>
  <Slides>23</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Aptos</vt:lpstr>
      <vt:lpstr>Arial</vt:lpstr>
      <vt:lpstr>Calisto MT</vt:lpstr>
      <vt:lpstr>Google Sans Text</vt:lpstr>
      <vt:lpstr>Univers Condensed</vt:lpstr>
      <vt:lpstr>ChronicleVTI</vt:lpstr>
      <vt:lpstr>Comparison charts (Stacked, clustered)</vt:lpstr>
      <vt:lpstr>Learning outcomes</vt:lpstr>
      <vt:lpstr>When to use a stacked chart?</vt:lpstr>
      <vt:lpstr>When to use a stacked chart?</vt:lpstr>
      <vt:lpstr>How to Draw a stacked chart? (our guidelines)</vt:lpstr>
      <vt:lpstr>When to use a clustered chart?</vt:lpstr>
      <vt:lpstr>When to use a clustered chart?</vt:lpstr>
      <vt:lpstr>How to Draw a clustered chart? (our guidelines)</vt:lpstr>
      <vt:lpstr>Practical Exercise 1: stacked chart</vt:lpstr>
      <vt:lpstr>Practical Exercise 1: stacked chart</vt:lpstr>
      <vt:lpstr>Answers 1: stacked chart</vt:lpstr>
      <vt:lpstr>Practical Exercise 2: stacked chart</vt:lpstr>
      <vt:lpstr>Practical Exercise 2: stacked chart</vt:lpstr>
      <vt:lpstr>Answers 2: stacked chart</vt:lpstr>
      <vt:lpstr>Practical Exercise 3: stacked chart</vt:lpstr>
      <vt:lpstr>Practical Exercise 3: stacked chart</vt:lpstr>
      <vt:lpstr>Answers 3: stacked chart</vt:lpstr>
      <vt:lpstr>Practical Exercise 4: clustered chart</vt:lpstr>
      <vt:lpstr>Practical Exercise 4: clustered chart</vt:lpstr>
      <vt:lpstr>Answers 4: clustered chart</vt:lpstr>
      <vt:lpstr>Practical Exercise 5: clustered chart</vt:lpstr>
      <vt:lpstr>Practical Exercise 5: clustered chart</vt:lpstr>
      <vt:lpstr>Answers 5: clustered chart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haitham ghallab</dc:creator>
  <cp:lastModifiedBy>haitham ghallab</cp:lastModifiedBy>
  <cp:revision>228</cp:revision>
  <dcterms:created xsi:type="dcterms:W3CDTF">2026-02-08T13:07:24Z</dcterms:created>
  <dcterms:modified xsi:type="dcterms:W3CDTF">2026-02-22T13:59:26Z</dcterms:modified>
</cp:coreProperties>
</file>