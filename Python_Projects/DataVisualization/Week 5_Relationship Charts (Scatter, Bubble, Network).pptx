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0"/>
  </p:notesMasterIdLst>
  <p:sldIdLst>
    <p:sldId id="256" r:id="rId2"/>
    <p:sldId id="300" r:id="rId3"/>
    <p:sldId id="304" r:id="rId4"/>
    <p:sldId id="310" r:id="rId5"/>
    <p:sldId id="307" r:id="rId6"/>
    <p:sldId id="308" r:id="rId7"/>
    <p:sldId id="309" r:id="rId8"/>
    <p:sldId id="305" r:id="rId9"/>
    <p:sldId id="306" r:id="rId10"/>
    <p:sldId id="311" r:id="rId11"/>
    <p:sldId id="301" r:id="rId12"/>
    <p:sldId id="302" r:id="rId13"/>
    <p:sldId id="303" r:id="rId14"/>
    <p:sldId id="337" r:id="rId15"/>
    <p:sldId id="336" r:id="rId16"/>
    <p:sldId id="341" r:id="rId17"/>
    <p:sldId id="342" r:id="rId18"/>
    <p:sldId id="343" r:id="rId19"/>
    <p:sldId id="344" r:id="rId20"/>
    <p:sldId id="345" r:id="rId21"/>
    <p:sldId id="346" r:id="rId22"/>
    <p:sldId id="347" r:id="rId23"/>
    <p:sldId id="348" r:id="rId24"/>
    <p:sldId id="349" r:id="rId25"/>
    <p:sldId id="350" r:id="rId26"/>
    <p:sldId id="362" r:id="rId27"/>
    <p:sldId id="363" r:id="rId28"/>
    <p:sldId id="351" r:id="rId29"/>
    <p:sldId id="352" r:id="rId30"/>
    <p:sldId id="353" r:id="rId31"/>
    <p:sldId id="354" r:id="rId32"/>
    <p:sldId id="355" r:id="rId33"/>
    <p:sldId id="356" r:id="rId34"/>
    <p:sldId id="357" r:id="rId35"/>
    <p:sldId id="358" r:id="rId36"/>
    <p:sldId id="359" r:id="rId37"/>
    <p:sldId id="360" r:id="rId38"/>
    <p:sldId id="361"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76"/>
    <p:restoredTop sz="94696"/>
  </p:normalViewPr>
  <p:slideViewPr>
    <p:cSldViewPr snapToGrid="0">
      <p:cViewPr varScale="1">
        <p:scale>
          <a:sx n="95" d="100"/>
          <a:sy n="95" d="100"/>
        </p:scale>
        <p:origin x="216"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DFC152-F608-6B4D-A15E-FB048E816187}" type="datetimeFigureOut">
              <a:rPr lang="en-EG" smtClean="0"/>
              <a:t>09/03/2026</a:t>
            </a:fld>
            <a:endParaRPr lang="en-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47CA16-4C66-994B-BEEA-F257DCF78D75}" type="slidenum">
              <a:rPr lang="en-EG" smtClean="0"/>
              <a:t>‹#›</a:t>
            </a:fld>
            <a:endParaRPr lang="en-EG"/>
          </a:p>
        </p:txBody>
      </p:sp>
    </p:spTree>
    <p:extLst>
      <p:ext uri="{BB962C8B-B14F-4D97-AF65-F5344CB8AC3E}">
        <p14:creationId xmlns:p14="http://schemas.microsoft.com/office/powerpoint/2010/main" val="341717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EG"/>
          </a:p>
        </p:txBody>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8447CA16-4C66-994B-BEEA-F257DCF78D75}" type="slidenum">
              <a:rPr lang="en-EG" smtClean="0"/>
              <a:t>15</a:t>
            </a:fld>
            <a:endParaRPr lang="en-EG"/>
          </a:p>
        </p:txBody>
      </p:sp>
    </p:spTree>
    <p:extLst>
      <p:ext uri="{BB962C8B-B14F-4D97-AF65-F5344CB8AC3E}">
        <p14:creationId xmlns:p14="http://schemas.microsoft.com/office/powerpoint/2010/main" val="3576413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C011E-A691-D100-FEF3-208B6E3282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E77B4-50F1-E532-FFCA-A33835ADB8FA}"/>
              </a:ext>
            </a:extLst>
          </p:cNvPr>
          <p:cNvSpPr>
            <a:spLocks noGrp="1" noRot="1" noChangeAspect="1"/>
          </p:cNvSpPr>
          <p:nvPr>
            <p:ph type="sldImg"/>
          </p:nvPr>
        </p:nvSpPr>
        <p:spPr/>
        <p:txBody>
          <a:bodyPr/>
          <a:lstStyle/>
          <a:p>
            <a:endParaRPr lang="en-EG"/>
          </a:p>
        </p:txBody>
      </p:sp>
      <p:sp>
        <p:nvSpPr>
          <p:cNvPr id="3" name="Notes Placeholder 2">
            <a:extLst>
              <a:ext uri="{FF2B5EF4-FFF2-40B4-BE49-F238E27FC236}">
                <a16:creationId xmlns:a16="http://schemas.microsoft.com/office/drawing/2014/main" id="{DE36A296-2E2B-E8A8-D052-C964F805C24B}"/>
              </a:ext>
            </a:extLst>
          </p:cNvPr>
          <p:cNvSpPr>
            <a:spLocks noGrp="1"/>
          </p:cNvSpPr>
          <p:nvPr>
            <p:ph type="body" idx="1"/>
          </p:nvPr>
        </p:nvSpPr>
        <p:spPr/>
        <p:txBody>
          <a:bodyPr/>
          <a:lstStyle/>
          <a:p>
            <a:endParaRPr lang="en-EG" dirty="0"/>
          </a:p>
        </p:txBody>
      </p:sp>
      <p:sp>
        <p:nvSpPr>
          <p:cNvPr id="4" name="Slide Number Placeholder 3">
            <a:extLst>
              <a:ext uri="{FF2B5EF4-FFF2-40B4-BE49-F238E27FC236}">
                <a16:creationId xmlns:a16="http://schemas.microsoft.com/office/drawing/2014/main" id="{6A9584B3-0F39-22DE-CFA8-DC1CA334C514}"/>
              </a:ext>
            </a:extLst>
          </p:cNvPr>
          <p:cNvSpPr>
            <a:spLocks noGrp="1"/>
          </p:cNvSpPr>
          <p:nvPr>
            <p:ph type="sldNum" sz="quarter" idx="5"/>
          </p:nvPr>
        </p:nvSpPr>
        <p:spPr/>
        <p:txBody>
          <a:bodyPr/>
          <a:lstStyle/>
          <a:p>
            <a:fld id="{8447CA16-4C66-994B-BEEA-F257DCF78D75}" type="slidenum">
              <a:rPr lang="en-EG" smtClean="0"/>
              <a:t>29</a:t>
            </a:fld>
            <a:endParaRPr lang="en-EG"/>
          </a:p>
        </p:txBody>
      </p:sp>
    </p:spTree>
    <p:extLst>
      <p:ext uri="{BB962C8B-B14F-4D97-AF65-F5344CB8AC3E}">
        <p14:creationId xmlns:p14="http://schemas.microsoft.com/office/powerpoint/2010/main" val="1442923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3/9/26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13333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3/9/26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14304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3/9/26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78602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3/9/26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28676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3/9/26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26641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3/9/26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78120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3/9/26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95701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3/9/26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25858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3/9/26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08524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3/9/26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37443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3/9/26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1824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3/9/26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421051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7" r:id="rId6"/>
    <p:sldLayoutId id="2147483692" r:id="rId7"/>
    <p:sldLayoutId id="2147483693" r:id="rId8"/>
    <p:sldLayoutId id="2147483694" r:id="rId9"/>
    <p:sldLayoutId id="2147483696" r:id="rId10"/>
    <p:sldLayoutId id="2147483695"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F3D318-CB8A-F900-C1F7-92F91A192F4A}"/>
              </a:ext>
            </a:extLst>
          </p:cNvPr>
          <p:cNvSpPr>
            <a:spLocks noGrp="1"/>
          </p:cNvSpPr>
          <p:nvPr>
            <p:ph type="ctrTitle"/>
          </p:nvPr>
        </p:nvSpPr>
        <p:spPr>
          <a:xfrm>
            <a:off x="525271" y="871758"/>
            <a:ext cx="6231790" cy="3871143"/>
          </a:xfrm>
        </p:spPr>
        <p:txBody>
          <a:bodyPr>
            <a:normAutofit/>
          </a:bodyPr>
          <a:lstStyle/>
          <a:p>
            <a:r>
              <a:rPr lang="en-EG" dirty="0"/>
              <a:t>relationship charts (scatter, bubble, Network)</a:t>
            </a:r>
          </a:p>
        </p:txBody>
      </p:sp>
      <p:sp>
        <p:nvSpPr>
          <p:cNvPr id="3" name="Subtitle 2">
            <a:extLst>
              <a:ext uri="{FF2B5EF4-FFF2-40B4-BE49-F238E27FC236}">
                <a16:creationId xmlns:a16="http://schemas.microsoft.com/office/drawing/2014/main" id="{4AFEEBEF-27BE-665A-96F1-62A0FD1D2B7D}"/>
              </a:ext>
            </a:extLst>
          </p:cNvPr>
          <p:cNvSpPr>
            <a:spLocks noGrp="1"/>
          </p:cNvSpPr>
          <p:nvPr>
            <p:ph type="subTitle" idx="1"/>
          </p:nvPr>
        </p:nvSpPr>
        <p:spPr>
          <a:xfrm>
            <a:off x="721688" y="4785543"/>
            <a:ext cx="4857857" cy="1005657"/>
          </a:xfrm>
        </p:spPr>
        <p:txBody>
          <a:bodyPr>
            <a:normAutofit/>
          </a:bodyPr>
          <a:lstStyle/>
          <a:p>
            <a:r>
              <a:rPr lang="en-EG" dirty="0"/>
              <a:t>Data Visualization</a:t>
            </a:r>
          </a:p>
        </p:txBody>
      </p:sp>
      <p:cxnSp>
        <p:nvCxnSpPr>
          <p:cNvPr id="15" name="Straight Connector 1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15" descr="A green cubes with lights&#10;&#10;AI-generated content may be incorrect.">
            <a:extLst>
              <a:ext uri="{FF2B5EF4-FFF2-40B4-BE49-F238E27FC236}">
                <a16:creationId xmlns:a16="http://schemas.microsoft.com/office/drawing/2014/main" id="{3BA9F730-B238-9C31-0CA6-EA5188D673E0}"/>
              </a:ext>
            </a:extLst>
          </p:cNvPr>
          <p:cNvPicPr>
            <a:picLocks noChangeAspect="1"/>
          </p:cNvPicPr>
          <p:nvPr/>
        </p:nvPicPr>
        <p:blipFill>
          <a:blip r:embed="rId2"/>
          <a:srcRect l="9997" r="43440"/>
          <a:stretch>
            <a:fillRect/>
          </a:stretch>
        </p:blipFill>
        <p:spPr>
          <a:xfrm>
            <a:off x="6515100" y="10"/>
            <a:ext cx="5676900" cy="6857990"/>
          </a:xfrm>
          <a:prstGeom prst="rect">
            <a:avLst/>
          </a:prstGeom>
        </p:spPr>
      </p:pic>
    </p:spTree>
    <p:extLst>
      <p:ext uri="{BB962C8B-B14F-4D97-AF65-F5344CB8AC3E}">
        <p14:creationId xmlns:p14="http://schemas.microsoft.com/office/powerpoint/2010/main" val="1397048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DB338-D08B-6066-7F8E-04A9C7EFAD0F}"/>
              </a:ext>
            </a:extLst>
          </p:cNvPr>
          <p:cNvSpPr>
            <a:spLocks noGrp="1"/>
          </p:cNvSpPr>
          <p:nvPr>
            <p:ph type="title"/>
          </p:nvPr>
        </p:nvSpPr>
        <p:spPr/>
        <p:txBody>
          <a:bodyPr/>
          <a:lstStyle/>
          <a:p>
            <a:r>
              <a:rPr lang="en-EG" dirty="0"/>
              <a:t>Learning outcomes</a:t>
            </a:r>
          </a:p>
        </p:txBody>
      </p:sp>
      <p:sp>
        <p:nvSpPr>
          <p:cNvPr id="3" name="Content Placeholder 2">
            <a:extLst>
              <a:ext uri="{FF2B5EF4-FFF2-40B4-BE49-F238E27FC236}">
                <a16:creationId xmlns:a16="http://schemas.microsoft.com/office/drawing/2014/main" id="{13B289F3-177E-2127-BFC5-0363A240F8C9}"/>
              </a:ext>
            </a:extLst>
          </p:cNvPr>
          <p:cNvSpPr>
            <a:spLocks noGrp="1"/>
          </p:cNvSpPr>
          <p:nvPr>
            <p:ph idx="1"/>
          </p:nvPr>
        </p:nvSpPr>
        <p:spPr>
          <a:xfrm>
            <a:off x="700635" y="2221992"/>
            <a:ext cx="10920347" cy="3739896"/>
          </a:xfrm>
        </p:spPr>
        <p:txBody>
          <a:bodyPr>
            <a:normAutofit/>
          </a:bodyPr>
          <a:lstStyle/>
          <a:p>
            <a:pPr marL="0" indent="0">
              <a:buNone/>
            </a:pPr>
            <a:r>
              <a:rPr lang="en-US" sz="2800" dirty="0"/>
              <a:t>1) Concepts Refreshing:</a:t>
            </a:r>
          </a:p>
          <a:p>
            <a:pPr marL="0" indent="0" algn="ctr">
              <a:buNone/>
            </a:pPr>
            <a:r>
              <a:rPr lang="en-US" sz="2200" dirty="0"/>
              <a:t>(Correlation, Continuous, Discrete, Arbitrary, Cardinality, Overplotting, Jittering, Binning)</a:t>
            </a:r>
          </a:p>
          <a:p>
            <a:pPr marL="0" indent="0">
              <a:buNone/>
            </a:pPr>
            <a:endParaRPr lang="en-US" sz="2800" dirty="0"/>
          </a:p>
          <a:p>
            <a:pPr marL="0" indent="0">
              <a:buNone/>
            </a:pPr>
            <a:r>
              <a:rPr lang="en-US" sz="2800" dirty="0"/>
              <a:t>2) Scatter vs Bubble vs Network charts</a:t>
            </a:r>
          </a:p>
          <a:p>
            <a:pPr marL="0" indent="0">
              <a:buNone/>
            </a:pPr>
            <a:endParaRPr lang="en-EG" sz="2800" dirty="0"/>
          </a:p>
          <a:p>
            <a:pPr marL="0" indent="0">
              <a:buNone/>
            </a:pPr>
            <a:r>
              <a:rPr lang="en-EG" sz="2800" dirty="0"/>
              <a:t>3) Exercises</a:t>
            </a:r>
          </a:p>
        </p:txBody>
      </p:sp>
    </p:spTree>
    <p:extLst>
      <p:ext uri="{BB962C8B-B14F-4D97-AF65-F5344CB8AC3E}">
        <p14:creationId xmlns:p14="http://schemas.microsoft.com/office/powerpoint/2010/main" val="181608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442F-8CF0-3035-200B-2DA54CB56B45}"/>
              </a:ext>
            </a:extLst>
          </p:cNvPr>
          <p:cNvSpPr>
            <a:spLocks noGrp="1"/>
          </p:cNvSpPr>
          <p:nvPr>
            <p:ph type="title"/>
          </p:nvPr>
        </p:nvSpPr>
        <p:spPr>
          <a:xfrm>
            <a:off x="700635" y="914400"/>
            <a:ext cx="10691265" cy="625033"/>
          </a:xfrm>
        </p:spPr>
        <p:txBody>
          <a:bodyPr>
            <a:normAutofit fontScale="90000"/>
          </a:bodyPr>
          <a:lstStyle/>
          <a:p>
            <a:r>
              <a:rPr lang="en-US" dirty="0"/>
              <a:t>Correlation, Arbitrary, and Cardinality</a:t>
            </a:r>
            <a:endParaRPr lang="en-EG" dirty="0"/>
          </a:p>
        </p:txBody>
      </p:sp>
      <p:graphicFrame>
        <p:nvGraphicFramePr>
          <p:cNvPr id="4" name="Content Placeholder 3">
            <a:extLst>
              <a:ext uri="{FF2B5EF4-FFF2-40B4-BE49-F238E27FC236}">
                <a16:creationId xmlns:a16="http://schemas.microsoft.com/office/drawing/2014/main" id="{0F1DFF33-1602-5D5C-9B53-40A79E06BC80}"/>
              </a:ext>
            </a:extLst>
          </p:cNvPr>
          <p:cNvGraphicFramePr>
            <a:graphicFrameLocks noGrp="1"/>
          </p:cNvGraphicFramePr>
          <p:nvPr>
            <p:ph idx="1"/>
            <p:extLst>
              <p:ext uri="{D42A27DB-BD31-4B8C-83A1-F6EECF244321}">
                <p14:modId xmlns:p14="http://schemas.microsoft.com/office/powerpoint/2010/main" val="2109125918"/>
              </p:ext>
            </p:extLst>
          </p:nvPr>
        </p:nvGraphicFramePr>
        <p:xfrm>
          <a:off x="300943" y="1666754"/>
          <a:ext cx="11597832" cy="4482142"/>
        </p:xfrm>
        <a:graphic>
          <a:graphicData uri="http://schemas.openxmlformats.org/drawingml/2006/table">
            <a:tbl>
              <a:tblPr firstRow="1" bandRow="1">
                <a:tableStyleId>{5940675A-B579-460E-94D1-54222C63F5DA}</a:tableStyleId>
              </a:tblPr>
              <a:tblGrid>
                <a:gridCol w="1307195">
                  <a:extLst>
                    <a:ext uri="{9D8B030D-6E8A-4147-A177-3AD203B41FA5}">
                      <a16:colId xmlns:a16="http://schemas.microsoft.com/office/drawing/2014/main" val="608399760"/>
                    </a:ext>
                  </a:extLst>
                </a:gridCol>
                <a:gridCol w="10290637">
                  <a:extLst>
                    <a:ext uri="{9D8B030D-6E8A-4147-A177-3AD203B41FA5}">
                      <a16:colId xmlns:a16="http://schemas.microsoft.com/office/drawing/2014/main" val="603857049"/>
                    </a:ext>
                  </a:extLst>
                </a:gridCol>
              </a:tblGrid>
              <a:tr h="1393276">
                <a:tc>
                  <a:txBody>
                    <a:bodyPr/>
                    <a:lstStyle/>
                    <a:p>
                      <a:r>
                        <a:rPr lang="en-EG" sz="1600" dirty="0"/>
                        <a:t>Correlation</a:t>
                      </a:r>
                    </a:p>
                  </a:txBody>
                  <a:tcPr/>
                </a:tc>
                <a:tc>
                  <a:txBody>
                    <a:bodyPr/>
                    <a:lstStyle/>
                    <a:p>
                      <a:pPr algn="just"/>
                      <a:r>
                        <a:rPr lang="en-US" sz="1600" kern="1200" dirty="0">
                          <a:solidFill>
                            <a:schemeClr val="tx1"/>
                          </a:solidFill>
                          <a:effectLst/>
                          <a:latin typeface="+mn-lt"/>
                          <a:ea typeface="+mn-ea"/>
                          <a:cs typeface="+mn-cs"/>
                        </a:rPr>
                        <a:t>A statistical measure that describes the size and direction of a relationship between two variables. It tells us if two things "move together.”</a:t>
                      </a:r>
                      <a:endParaRPr lang="en-US" sz="1400" kern="1200" dirty="0">
                        <a:solidFill>
                          <a:schemeClr val="tx1"/>
                        </a:solidFill>
                        <a:effectLst/>
                        <a:latin typeface="+mn-lt"/>
                        <a:ea typeface="+mn-ea"/>
                        <a:cs typeface="+mn-cs"/>
                      </a:endParaRPr>
                    </a:p>
                    <a:p>
                      <a:pPr algn="just"/>
                      <a:endParaRPr lang="en-US" sz="1400" kern="1200" dirty="0">
                        <a:solidFill>
                          <a:schemeClr val="tx1"/>
                        </a:solidFill>
                        <a:effectLst/>
                        <a:latin typeface="+mn-lt"/>
                        <a:ea typeface="+mn-ea"/>
                        <a:cs typeface="+mn-cs"/>
                      </a:endParaRPr>
                    </a:p>
                    <a:p>
                      <a:pPr algn="just"/>
                      <a:r>
                        <a:rPr lang="en-US" sz="1400" b="1" kern="1200" dirty="0">
                          <a:solidFill>
                            <a:schemeClr val="tx1"/>
                          </a:solidFill>
                          <a:effectLst/>
                          <a:latin typeface="+mn-lt"/>
                          <a:ea typeface="+mn-ea"/>
                          <a:cs typeface="+mn-cs"/>
                        </a:rPr>
                        <a:t>Positive Correlation:</a:t>
                      </a:r>
                      <a:r>
                        <a:rPr lang="en-US" sz="1400" kern="1200" dirty="0">
                          <a:solidFill>
                            <a:schemeClr val="tx1"/>
                          </a:solidFill>
                          <a:effectLst/>
                          <a:latin typeface="+mn-lt"/>
                          <a:ea typeface="+mn-ea"/>
                          <a:cs typeface="+mn-cs"/>
                        </a:rPr>
                        <a:t> As X increases, Y also increases (e.g., Temperature vs. Ice Cream Sales, </a:t>
                      </a:r>
                      <a:r>
                        <a:rPr lang="en-US" sz="1400" dirty="0"/>
                        <a:t>Years of experience vs. Salary</a:t>
                      </a:r>
                      <a:r>
                        <a:rPr lang="en-US" sz="1400" kern="1200" dirty="0">
                          <a:solidFill>
                            <a:schemeClr val="tx1"/>
                          </a:solidFill>
                          <a:effectLst/>
                          <a:latin typeface="+mn-lt"/>
                          <a:ea typeface="+mn-ea"/>
                          <a:cs typeface="+mn-cs"/>
                        </a:rPr>
                        <a:t>).</a:t>
                      </a:r>
                    </a:p>
                    <a:p>
                      <a:pPr algn="just"/>
                      <a:r>
                        <a:rPr lang="en-US" sz="1400" b="1" kern="1200" dirty="0">
                          <a:solidFill>
                            <a:schemeClr val="tx1"/>
                          </a:solidFill>
                          <a:effectLst/>
                          <a:latin typeface="+mn-lt"/>
                          <a:ea typeface="+mn-ea"/>
                          <a:cs typeface="+mn-cs"/>
                        </a:rPr>
                        <a:t>Negative Correlation:</a:t>
                      </a:r>
                      <a:r>
                        <a:rPr lang="en-US" sz="1400" kern="1200" dirty="0">
                          <a:solidFill>
                            <a:schemeClr val="tx1"/>
                          </a:solidFill>
                          <a:effectLst/>
                          <a:latin typeface="+mn-lt"/>
                          <a:ea typeface="+mn-ea"/>
                          <a:cs typeface="+mn-cs"/>
                        </a:rPr>
                        <a:t> As X increases, Y decreases (e.g., Price of a product vs. Number of buyers).</a:t>
                      </a:r>
                    </a:p>
                    <a:p>
                      <a:pPr algn="just"/>
                      <a:r>
                        <a:rPr lang="en-US" sz="1400" b="1" kern="1200" dirty="0">
                          <a:solidFill>
                            <a:schemeClr val="tx1"/>
                          </a:solidFill>
                          <a:effectLst/>
                          <a:latin typeface="+mn-lt"/>
                          <a:ea typeface="+mn-ea"/>
                          <a:cs typeface="+mn-cs"/>
                        </a:rPr>
                        <a:t>No Correlation:</a:t>
                      </a:r>
                      <a:r>
                        <a:rPr lang="en-US" sz="1400" kern="1200" dirty="0">
                          <a:solidFill>
                            <a:schemeClr val="tx1"/>
                          </a:solidFill>
                          <a:effectLst/>
                          <a:latin typeface="+mn-lt"/>
                          <a:ea typeface="+mn-ea"/>
                          <a:cs typeface="+mn-cs"/>
                        </a:rPr>
                        <a:t> The movement of X has no predictable effect on Y.</a:t>
                      </a:r>
                    </a:p>
                  </a:txBody>
                  <a:tcPr/>
                </a:tc>
                <a:extLst>
                  <a:ext uri="{0D108BD9-81ED-4DB2-BD59-A6C34878D82A}">
                    <a16:rowId xmlns:a16="http://schemas.microsoft.com/office/drawing/2014/main" val="318551281"/>
                  </a:ext>
                </a:extLst>
              </a:tr>
              <a:tr h="1174723">
                <a:tc>
                  <a:txBody>
                    <a:bodyPr/>
                    <a:lstStyle/>
                    <a:p>
                      <a:r>
                        <a:rPr lang="en-EG" sz="1600" dirty="0"/>
                        <a:t>Arbitrary</a:t>
                      </a:r>
                    </a:p>
                  </a:txBody>
                  <a:tcPr/>
                </a:tc>
                <a:tc>
                  <a:txBody>
                    <a:bodyPr/>
                    <a:lstStyle/>
                    <a:p>
                      <a:pPr algn="just"/>
                      <a:r>
                        <a:rPr lang="en-US" sz="1600" dirty="0"/>
                        <a:t>Data points (often in network chart) assigned randomly or for convenience, rather than being based on a natural scale or logical measurement. They are often used for identification or indexing purposes.</a:t>
                      </a:r>
                      <a:endParaRPr lang="en-US" sz="1400" dirty="0"/>
                    </a:p>
                    <a:p>
                      <a:pPr algn="just"/>
                      <a:endParaRPr lang="en-US" sz="1400" dirty="0"/>
                    </a:p>
                    <a:p>
                      <a:pPr algn="just"/>
                      <a:r>
                        <a:rPr lang="en-US" sz="1400" b="1" dirty="0"/>
                        <a:t>Example: </a:t>
                      </a:r>
                      <a:r>
                        <a:rPr lang="en-US" sz="1400" b="0" dirty="0"/>
                        <a:t>In network chart, </a:t>
                      </a:r>
                      <a:r>
                        <a:rPr lang="en-US" sz="1400" dirty="0"/>
                        <a:t>The "Top" of the chart doesn't necessarily mean "High Value"—it’s just where the dot happened to be placed.</a:t>
                      </a:r>
                      <a:endParaRPr lang="en-EG" sz="1400" b="0" dirty="0"/>
                    </a:p>
                  </a:txBody>
                  <a:tcPr/>
                </a:tc>
                <a:extLst>
                  <a:ext uri="{0D108BD9-81ED-4DB2-BD59-A6C34878D82A}">
                    <a16:rowId xmlns:a16="http://schemas.microsoft.com/office/drawing/2014/main" val="3841930584"/>
                  </a:ext>
                </a:extLst>
              </a:tr>
              <a:tr h="1830382">
                <a:tc>
                  <a:txBody>
                    <a:bodyPr/>
                    <a:lstStyle/>
                    <a:p>
                      <a:r>
                        <a:rPr lang="en-EG" sz="1600" dirty="0"/>
                        <a:t>Cardinality</a:t>
                      </a:r>
                    </a:p>
                  </a:txBody>
                  <a:tcPr/>
                </a:tc>
                <a:tc>
                  <a:txBody>
                    <a:bodyPr/>
                    <a:lstStyle/>
                    <a:p>
                      <a:pPr algn="just"/>
                      <a:r>
                        <a:rPr lang="en-US" sz="1600" dirty="0"/>
                        <a:t>The number of unique values in a dataset.</a:t>
                      </a:r>
                    </a:p>
                    <a:p>
                      <a:endParaRPr lang="en-US" sz="1400" b="1" dirty="0"/>
                    </a:p>
                    <a:p>
                      <a:r>
                        <a:rPr lang="en-US" sz="1400" b="1" dirty="0"/>
                        <a:t>High Cardinality:</a:t>
                      </a:r>
                      <a:r>
                        <a:rPr lang="en-US" sz="1400" dirty="0"/>
                        <a:t> A column with a high percentage of unique values. For </a:t>
                      </a:r>
                      <a:r>
                        <a:rPr lang="en-US" sz="1400" i="1" dirty="0"/>
                        <a:t>example:</a:t>
                      </a:r>
                      <a:r>
                        <a:rPr lang="en-US" sz="1400" dirty="0"/>
                        <a:t> GPS coordinates (latitude/longitude). Every point is likely a different number. </a:t>
                      </a:r>
                      <a:endParaRPr lang="en-US" sz="1400" b="1" dirty="0"/>
                    </a:p>
                    <a:p>
                      <a:endParaRPr lang="en-US" sz="1400" dirty="0"/>
                    </a:p>
                    <a:p>
                      <a:r>
                        <a:rPr lang="en-US" sz="1400" b="1" dirty="0"/>
                        <a:t>Low Cardinality:</a:t>
                      </a:r>
                      <a:r>
                        <a:rPr lang="en-US" sz="1400" dirty="0"/>
                        <a:t> A column with very few unique values or categories. For </a:t>
                      </a:r>
                      <a:r>
                        <a:rPr lang="en-US" sz="1400" i="1" dirty="0"/>
                        <a:t>example:</a:t>
                      </a:r>
                      <a:r>
                        <a:rPr lang="en-US" sz="1400" dirty="0"/>
                        <a:t> "Employment Status" (Full-time, Part-time, Unemployed). There are only 3 unique possibilities for thousands of people. Also "Gender" has </a:t>
                      </a:r>
                      <a:r>
                        <a:rPr lang="en-US" sz="1400" b="1" dirty="0"/>
                        <a:t>low cardinality.</a:t>
                      </a:r>
                      <a:endParaRPr lang="en-US" sz="1400" dirty="0"/>
                    </a:p>
                  </a:txBody>
                  <a:tcPr/>
                </a:tc>
                <a:extLst>
                  <a:ext uri="{0D108BD9-81ED-4DB2-BD59-A6C34878D82A}">
                    <a16:rowId xmlns:a16="http://schemas.microsoft.com/office/drawing/2014/main" val="1948386270"/>
                  </a:ext>
                </a:extLst>
              </a:tr>
            </a:tbl>
          </a:graphicData>
        </a:graphic>
      </p:graphicFrame>
    </p:spTree>
    <p:extLst>
      <p:ext uri="{BB962C8B-B14F-4D97-AF65-F5344CB8AC3E}">
        <p14:creationId xmlns:p14="http://schemas.microsoft.com/office/powerpoint/2010/main" val="3198401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27F04-5BFD-518F-5E41-2D6DA9E34FB6}"/>
              </a:ext>
            </a:extLst>
          </p:cNvPr>
          <p:cNvSpPr>
            <a:spLocks noGrp="1"/>
          </p:cNvSpPr>
          <p:nvPr>
            <p:ph type="title"/>
          </p:nvPr>
        </p:nvSpPr>
        <p:spPr>
          <a:xfrm>
            <a:off x="700635" y="914400"/>
            <a:ext cx="10691265" cy="890649"/>
          </a:xfrm>
        </p:spPr>
        <p:txBody>
          <a:bodyPr/>
          <a:lstStyle/>
          <a:p>
            <a:r>
              <a:rPr lang="en-US" dirty="0"/>
              <a:t>Overplotting, Jittering, and binning</a:t>
            </a:r>
            <a:endParaRPr lang="en-EG" dirty="0"/>
          </a:p>
        </p:txBody>
      </p:sp>
      <p:graphicFrame>
        <p:nvGraphicFramePr>
          <p:cNvPr id="5" name="Content Placeholder 3">
            <a:extLst>
              <a:ext uri="{FF2B5EF4-FFF2-40B4-BE49-F238E27FC236}">
                <a16:creationId xmlns:a16="http://schemas.microsoft.com/office/drawing/2014/main" id="{B30F29B8-B982-086E-DB7B-0F4BB25E3FF7}"/>
              </a:ext>
            </a:extLst>
          </p:cNvPr>
          <p:cNvGraphicFramePr>
            <a:graphicFrameLocks noGrp="1"/>
          </p:cNvGraphicFramePr>
          <p:nvPr>
            <p:ph idx="1"/>
            <p:extLst>
              <p:ext uri="{D42A27DB-BD31-4B8C-83A1-F6EECF244321}">
                <p14:modId xmlns:p14="http://schemas.microsoft.com/office/powerpoint/2010/main" val="223360547"/>
              </p:ext>
            </p:extLst>
          </p:nvPr>
        </p:nvGraphicFramePr>
        <p:xfrm>
          <a:off x="247351" y="1953256"/>
          <a:ext cx="11597832" cy="3995958"/>
        </p:xfrm>
        <a:graphic>
          <a:graphicData uri="http://schemas.openxmlformats.org/drawingml/2006/table">
            <a:tbl>
              <a:tblPr firstRow="1" bandRow="1">
                <a:tableStyleId>{5940675A-B579-460E-94D1-54222C63F5DA}</a:tableStyleId>
              </a:tblPr>
              <a:tblGrid>
                <a:gridCol w="2588446">
                  <a:extLst>
                    <a:ext uri="{9D8B030D-6E8A-4147-A177-3AD203B41FA5}">
                      <a16:colId xmlns:a16="http://schemas.microsoft.com/office/drawing/2014/main" val="608399760"/>
                    </a:ext>
                  </a:extLst>
                </a:gridCol>
                <a:gridCol w="9009386">
                  <a:extLst>
                    <a:ext uri="{9D8B030D-6E8A-4147-A177-3AD203B41FA5}">
                      <a16:colId xmlns:a16="http://schemas.microsoft.com/office/drawing/2014/main" val="603857049"/>
                    </a:ext>
                  </a:extLst>
                </a:gridCol>
              </a:tblGrid>
              <a:tr h="532436">
                <a:tc gridSpan="2">
                  <a:txBody>
                    <a:bodyPr/>
                    <a:lstStyle/>
                    <a:p>
                      <a:pPr algn="ctr"/>
                      <a:r>
                        <a:rPr lang="en-US" sz="2400" b="0" i="0" kern="1200" dirty="0">
                          <a:solidFill>
                            <a:schemeClr val="tx1"/>
                          </a:solidFill>
                          <a:effectLst/>
                          <a:latin typeface="+mn-lt"/>
                          <a:ea typeface="+mn-ea"/>
                          <a:cs typeface="+mn-cs"/>
                        </a:rPr>
                        <a:t>The "clutter" problem that happens with discrete numerical data</a:t>
                      </a:r>
                      <a:endParaRPr lang="en-EG" sz="2800" dirty="0">
                        <a:solidFill>
                          <a:srgbClr val="FF0000"/>
                        </a:solidFill>
                      </a:endParaRPr>
                    </a:p>
                  </a:txBody>
                  <a:tcPr/>
                </a:tc>
                <a:tc hMerge="1">
                  <a:txBody>
                    <a:bodyPr/>
                    <a:lstStyle/>
                    <a:p>
                      <a:pPr algn="just"/>
                      <a:endParaRPr lang="en-US" sz="1800" kern="1200" dirty="0">
                        <a:solidFill>
                          <a:schemeClr val="tx1"/>
                        </a:solidFill>
                        <a:effectLst/>
                        <a:latin typeface="+mn-lt"/>
                        <a:ea typeface="+mn-ea"/>
                        <a:cs typeface="+mn-cs"/>
                      </a:endParaRPr>
                    </a:p>
                  </a:txBody>
                  <a:tcPr/>
                </a:tc>
                <a:extLst>
                  <a:ext uri="{0D108BD9-81ED-4DB2-BD59-A6C34878D82A}">
                    <a16:rowId xmlns:a16="http://schemas.microsoft.com/office/drawing/2014/main" val="2343425577"/>
                  </a:ext>
                </a:extLst>
              </a:tr>
              <a:tr h="1047682">
                <a:tc>
                  <a:txBody>
                    <a:bodyPr/>
                    <a:lstStyle/>
                    <a:p>
                      <a:r>
                        <a:rPr lang="en-EG" sz="2000" dirty="0"/>
                        <a:t>Overplotting</a:t>
                      </a:r>
                    </a:p>
                    <a:p>
                      <a:endParaRPr lang="en-EG" sz="2000" dirty="0"/>
                    </a:p>
                    <a:p>
                      <a:r>
                        <a:rPr lang="en-EG" sz="2000" dirty="0">
                          <a:solidFill>
                            <a:srgbClr val="FF0000"/>
                          </a:solidFill>
                        </a:rPr>
                        <a:t>Problem</a:t>
                      </a:r>
                    </a:p>
                  </a:txBody>
                  <a:tcPr/>
                </a:tc>
                <a:tc>
                  <a:txBody>
                    <a:bodyPr/>
                    <a:lstStyle/>
                    <a:p>
                      <a:pPr algn="just"/>
                      <a:r>
                        <a:rPr lang="en-US" sz="1800" dirty="0"/>
                        <a:t>Occurs when data points in a chart overlap to the extent that you can no longer distinguish individual points or see the true density of the data. This is extremely common with </a:t>
                      </a:r>
                      <a:r>
                        <a:rPr lang="en-US" sz="1800" b="1" dirty="0"/>
                        <a:t>Low Cardinality</a:t>
                      </a:r>
                      <a:r>
                        <a:rPr lang="en-US" sz="1800" dirty="0"/>
                        <a:t> or </a:t>
                      </a:r>
                      <a:r>
                        <a:rPr lang="en-US" sz="1800" b="1" dirty="0"/>
                        <a:t>Discrete</a:t>
                      </a:r>
                      <a:r>
                        <a:rPr lang="en-US" sz="1800" dirty="0"/>
                        <a:t> data.</a:t>
                      </a:r>
                      <a:endParaRPr lang="en-US" sz="1800" kern="1200" dirty="0">
                        <a:solidFill>
                          <a:schemeClr val="tx1"/>
                        </a:solidFill>
                        <a:effectLst/>
                        <a:latin typeface="+mn-lt"/>
                        <a:ea typeface="+mn-ea"/>
                        <a:cs typeface="+mn-cs"/>
                      </a:endParaRPr>
                    </a:p>
                  </a:txBody>
                  <a:tcPr/>
                </a:tc>
                <a:extLst>
                  <a:ext uri="{0D108BD9-81ED-4DB2-BD59-A6C34878D82A}">
                    <a16:rowId xmlns:a16="http://schemas.microsoft.com/office/drawing/2014/main" val="318551281"/>
                  </a:ext>
                </a:extLst>
              </a:tr>
              <a:tr h="1238491">
                <a:tc>
                  <a:txBody>
                    <a:bodyPr/>
                    <a:lstStyle/>
                    <a:p>
                      <a:r>
                        <a:rPr lang="en-EG" sz="2000" dirty="0"/>
                        <a:t>Jittering </a:t>
                      </a:r>
                    </a:p>
                    <a:p>
                      <a:r>
                        <a:rPr lang="en-US" sz="1400" dirty="0"/>
                        <a:t>(The "Shake" Method)</a:t>
                      </a:r>
                    </a:p>
                    <a:p>
                      <a:endParaRPr lang="en-US" sz="1400" dirty="0"/>
                    </a:p>
                    <a:p>
                      <a:r>
                        <a:rPr lang="en-US" sz="2000" dirty="0">
                          <a:solidFill>
                            <a:srgbClr val="00B050"/>
                          </a:solidFill>
                        </a:rPr>
                        <a:t>Solution 1</a:t>
                      </a:r>
                      <a:endParaRPr lang="en-EG" sz="1600" dirty="0">
                        <a:solidFill>
                          <a:srgbClr val="00B050"/>
                        </a:solidFill>
                      </a:endParaRPr>
                    </a:p>
                  </a:txBody>
                  <a:tcPr/>
                </a:tc>
                <a:tc>
                  <a:txBody>
                    <a:bodyPr/>
                    <a:lstStyle/>
                    <a:p>
                      <a:pPr algn="just"/>
                      <a:r>
                        <a:rPr lang="en-US" sz="1800" dirty="0"/>
                        <a:t>It is a data visualization technique where you add a small amount of random "noise" (slight movement) to the position of each data point. This "shakes" the dots apart so you can see every individual record without changing the overall meaning of the data.</a:t>
                      </a:r>
                    </a:p>
                  </a:txBody>
                  <a:tcPr/>
                </a:tc>
                <a:extLst>
                  <a:ext uri="{0D108BD9-81ED-4DB2-BD59-A6C34878D82A}">
                    <a16:rowId xmlns:a16="http://schemas.microsoft.com/office/drawing/2014/main" val="1948386270"/>
                  </a:ext>
                </a:extLst>
              </a:tr>
              <a:tr h="1177349">
                <a:tc>
                  <a:txBody>
                    <a:bodyPr/>
                    <a:lstStyle/>
                    <a:p>
                      <a:r>
                        <a:rPr lang="en-US" sz="2000" dirty="0"/>
                        <a:t>Binning / Heatmaps</a:t>
                      </a:r>
                      <a:r>
                        <a:rPr lang="en-US" sz="1400" dirty="0"/>
                        <a:t> (The "Bucket" Method)</a:t>
                      </a:r>
                    </a:p>
                    <a:p>
                      <a:endParaRPr lang="en-US" sz="1400" dirty="0"/>
                    </a:p>
                    <a:p>
                      <a:r>
                        <a:rPr lang="en-US" sz="2000" dirty="0">
                          <a:solidFill>
                            <a:srgbClr val="00B050"/>
                          </a:solidFill>
                        </a:rPr>
                        <a:t>Solution 2</a:t>
                      </a:r>
                      <a:endParaRPr lang="en-EG" sz="1400" dirty="0"/>
                    </a:p>
                  </a:txBody>
                  <a:tcPr/>
                </a:tc>
                <a:tc>
                  <a:txBody>
                    <a:bodyPr/>
                    <a:lstStyle/>
                    <a:p>
                      <a:pPr algn="just"/>
                      <a:r>
                        <a:rPr lang="en-US" dirty="0"/>
                        <a:t>Instead of drawing dots, you divide the chart into squares or hexagons. You color the square based on how many points fall inside it.</a:t>
                      </a:r>
                      <a:endParaRPr lang="en-US" sz="1800" dirty="0"/>
                    </a:p>
                  </a:txBody>
                  <a:tcPr/>
                </a:tc>
                <a:extLst>
                  <a:ext uri="{0D108BD9-81ED-4DB2-BD59-A6C34878D82A}">
                    <a16:rowId xmlns:a16="http://schemas.microsoft.com/office/drawing/2014/main" val="2706539693"/>
                  </a:ext>
                </a:extLst>
              </a:tr>
            </a:tbl>
          </a:graphicData>
        </a:graphic>
      </p:graphicFrame>
    </p:spTree>
    <p:extLst>
      <p:ext uri="{BB962C8B-B14F-4D97-AF65-F5344CB8AC3E}">
        <p14:creationId xmlns:p14="http://schemas.microsoft.com/office/powerpoint/2010/main" val="2926604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7867F95D-2AD2-8ED7-F359-856582E21F2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44271" y="927000"/>
            <a:ext cx="6703457" cy="500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409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62BBF-A7BA-B815-8B3F-9C1ECA745AF1}"/>
            </a:ext>
          </a:extLst>
        </p:cNvPr>
        <p:cNvGrpSpPr/>
        <p:nvPr/>
      </p:nvGrpSpPr>
      <p:grpSpPr>
        <a:xfrm>
          <a:off x="0" y="0"/>
          <a:ext cx="0" cy="0"/>
          <a:chOff x="0" y="0"/>
          <a:chExt cx="0" cy="0"/>
        </a:xfrm>
      </p:grpSpPr>
      <p:pic>
        <p:nvPicPr>
          <p:cNvPr id="7170" name="Picture 2">
            <a:extLst>
              <a:ext uri="{FF2B5EF4-FFF2-40B4-BE49-F238E27FC236}">
                <a16:creationId xmlns:a16="http://schemas.microsoft.com/office/drawing/2014/main" id="{ACE12C62-C158-B89F-83BB-7E5799488AB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44271" y="927000"/>
            <a:ext cx="6703457" cy="500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6853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5C1D6-9DC4-3B29-B129-2DD470A64C5C}"/>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9C98EC09-A04C-CB0A-4C04-E8B413FC2E8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71932" y="873000"/>
            <a:ext cx="6848135" cy="511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232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 name="Picture 8">
            <a:extLst>
              <a:ext uri="{FF2B5EF4-FFF2-40B4-BE49-F238E27FC236}">
                <a16:creationId xmlns:a16="http://schemas.microsoft.com/office/drawing/2014/main" id="{2CEA0B3E-2AF2-6BAD-90FC-5D48068CE53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87562" y="891000"/>
            <a:ext cx="7416875" cy="507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8091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783E4-5E48-5C04-CE62-2531EB51E997}"/>
            </a:ext>
          </a:extLst>
        </p:cNvPr>
        <p:cNvGrpSpPr/>
        <p:nvPr/>
      </p:nvGrpSpPr>
      <p:grpSpPr>
        <a:xfrm>
          <a:off x="0" y="0"/>
          <a:ext cx="0" cy="0"/>
          <a:chOff x="0" y="0"/>
          <a:chExt cx="0" cy="0"/>
        </a:xfrm>
      </p:grpSpPr>
      <p:pic>
        <p:nvPicPr>
          <p:cNvPr id="10242" name="Picture 2">
            <a:extLst>
              <a:ext uri="{FF2B5EF4-FFF2-40B4-BE49-F238E27FC236}">
                <a16:creationId xmlns:a16="http://schemas.microsoft.com/office/drawing/2014/main" id="{43D2FDC5-AAEE-A403-872A-B5B051E474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03732" y="927000"/>
            <a:ext cx="7384536" cy="500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2005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49E5588-8700-7EC6-4644-9498041E604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0235" y="1143000"/>
            <a:ext cx="11351529"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222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80802-FE39-41E5-13D5-6BCFAD8BAB6A}"/>
              </a:ext>
            </a:extLst>
          </p:cNvPr>
          <p:cNvSpPr>
            <a:spLocks noGrp="1"/>
          </p:cNvSpPr>
          <p:nvPr>
            <p:ph type="title"/>
          </p:nvPr>
        </p:nvSpPr>
        <p:spPr/>
        <p:txBody>
          <a:bodyPr/>
          <a:lstStyle/>
          <a:p>
            <a:r>
              <a:rPr lang="en-US" dirty="0"/>
              <a:t>The Numerical Family (Quantitative)</a:t>
            </a:r>
            <a:endParaRPr lang="en-EG" dirty="0"/>
          </a:p>
        </p:txBody>
      </p:sp>
      <p:sp>
        <p:nvSpPr>
          <p:cNvPr id="3" name="Content Placeholder 2">
            <a:extLst>
              <a:ext uri="{FF2B5EF4-FFF2-40B4-BE49-F238E27FC236}">
                <a16:creationId xmlns:a16="http://schemas.microsoft.com/office/drawing/2014/main" id="{A5133BF4-ECCB-03AC-BF56-DAE33C2E0212}"/>
              </a:ext>
            </a:extLst>
          </p:cNvPr>
          <p:cNvSpPr>
            <a:spLocks noGrp="1"/>
          </p:cNvSpPr>
          <p:nvPr>
            <p:ph idx="1"/>
          </p:nvPr>
        </p:nvSpPr>
        <p:spPr>
          <a:xfrm>
            <a:off x="700635" y="1998132"/>
            <a:ext cx="10691265" cy="3963755"/>
          </a:xfrm>
        </p:spPr>
        <p:txBody>
          <a:bodyPr>
            <a:normAutofit fontScale="92500" lnSpcReduction="10000"/>
          </a:bodyPr>
          <a:lstStyle/>
          <a:p>
            <a:pPr marL="0" indent="0" algn="ctr">
              <a:buNone/>
            </a:pPr>
            <a:r>
              <a:rPr lang="en-US" sz="2200" dirty="0">
                <a:solidFill>
                  <a:srgbClr val="FF0000"/>
                </a:solidFill>
              </a:rPr>
              <a:t>Numerical data is always about </a:t>
            </a:r>
            <a:r>
              <a:rPr lang="en-US" sz="2200" b="1" dirty="0">
                <a:solidFill>
                  <a:srgbClr val="FF0000"/>
                </a:solidFill>
              </a:rPr>
              <a:t>numbers</a:t>
            </a:r>
            <a:r>
              <a:rPr lang="en-US" sz="2200" dirty="0">
                <a:solidFill>
                  <a:srgbClr val="FF0000"/>
                </a:solidFill>
              </a:rPr>
              <a:t>. It answers, "How many?" or "How much?”</a:t>
            </a:r>
            <a:endParaRPr lang="en-US" dirty="0">
              <a:solidFill>
                <a:srgbClr val="FF0000"/>
              </a:solidFill>
            </a:endParaRPr>
          </a:p>
          <a:p>
            <a:pPr marL="0" indent="0" algn="ctr">
              <a:buNone/>
            </a:pPr>
            <a:endParaRPr lang="en-US" b="1" dirty="0">
              <a:solidFill>
                <a:srgbClr val="FF0000"/>
              </a:solidFill>
            </a:endParaRPr>
          </a:p>
          <a:p>
            <a:pPr algn="just"/>
            <a:r>
              <a:rPr lang="en-US" b="1" dirty="0"/>
              <a:t>Continuous (Measuring):</a:t>
            </a:r>
            <a:r>
              <a:rPr lang="en-US" dirty="0"/>
              <a:t> Data that can be divided into smaller and smaller decimals. It has no "gaps.”. It is the data that can take any value in a range. Infinite possibilities.</a:t>
            </a:r>
          </a:p>
          <a:p>
            <a:pPr lvl="1" algn="just">
              <a:spcBef>
                <a:spcPts val="1100"/>
              </a:spcBef>
            </a:pPr>
            <a:r>
              <a:rPr lang="en-US" i="1" dirty="0"/>
              <a:t>Example:</a:t>
            </a:r>
            <a:r>
              <a:rPr lang="en-US" dirty="0"/>
              <a:t> A person's height (</a:t>
            </a:r>
            <a:r>
              <a:rPr lang="en-US" b="1" dirty="0"/>
              <a:t>1.75m</a:t>
            </a:r>
            <a:r>
              <a:rPr lang="en-US" dirty="0"/>
              <a:t>, </a:t>
            </a:r>
            <a:r>
              <a:rPr lang="en-US" b="1" dirty="0"/>
              <a:t>1.755m</a:t>
            </a:r>
            <a:r>
              <a:rPr lang="en-US" dirty="0"/>
              <a:t>, </a:t>
            </a:r>
            <a:r>
              <a:rPr lang="en-US" b="1" dirty="0"/>
              <a:t>1.7552m</a:t>
            </a:r>
            <a:r>
              <a:rPr lang="en-US" dirty="0"/>
              <a:t>), Temperature ($22.51$°C), weight, revenue. You can always be more precise.</a:t>
            </a:r>
          </a:p>
          <a:p>
            <a:pPr marL="457200" lvl="1" indent="0" algn="just">
              <a:buNone/>
            </a:pPr>
            <a:endParaRPr lang="en-US" dirty="0"/>
          </a:p>
          <a:p>
            <a:pPr algn="just"/>
            <a:r>
              <a:rPr lang="en-US" b="1" dirty="0"/>
              <a:t>Discrete (Counting):</a:t>
            </a:r>
            <a:r>
              <a:rPr lang="en-US" dirty="0"/>
              <a:t> Data that must be a "whole" number. You cannot have half of the item. It is the data that consists of "countable" whole numbers.</a:t>
            </a:r>
          </a:p>
          <a:p>
            <a:pPr lvl="1" algn="just">
              <a:spcBef>
                <a:spcPts val="1100"/>
              </a:spcBef>
            </a:pPr>
            <a:r>
              <a:rPr lang="en-US" i="1" dirty="0"/>
              <a:t>Example:</a:t>
            </a:r>
            <a:r>
              <a:rPr lang="en-US" dirty="0"/>
              <a:t> The number of students in a class (</a:t>
            </a:r>
            <a:r>
              <a:rPr lang="en-US" b="1" dirty="0"/>
              <a:t>25</a:t>
            </a:r>
            <a:r>
              <a:rPr lang="en-US" dirty="0"/>
              <a:t> or </a:t>
            </a:r>
            <a:r>
              <a:rPr lang="en-US" b="1" dirty="0"/>
              <a:t>26</a:t>
            </a:r>
            <a:r>
              <a:rPr lang="en-US" dirty="0"/>
              <a:t>). You cannot have </a:t>
            </a:r>
            <a:r>
              <a:rPr lang="en-US" b="1" dirty="0"/>
              <a:t>25.5</a:t>
            </a:r>
            <a:r>
              <a:rPr lang="en-US" dirty="0"/>
              <a:t> students. Also, the number of children (3), number of cars.</a:t>
            </a:r>
          </a:p>
          <a:p>
            <a:pPr algn="just"/>
            <a:endParaRPr lang="en-EG" dirty="0"/>
          </a:p>
        </p:txBody>
      </p:sp>
    </p:spTree>
    <p:extLst>
      <p:ext uri="{BB962C8B-B14F-4D97-AF65-F5344CB8AC3E}">
        <p14:creationId xmlns:p14="http://schemas.microsoft.com/office/powerpoint/2010/main" val="301119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DAF20-704C-E716-6795-B354850C25F3}"/>
              </a:ext>
            </a:extLst>
          </p:cNvPr>
          <p:cNvSpPr>
            <a:spLocks noGrp="1"/>
          </p:cNvSpPr>
          <p:nvPr>
            <p:ph type="title"/>
          </p:nvPr>
        </p:nvSpPr>
        <p:spPr/>
        <p:txBody>
          <a:bodyPr/>
          <a:lstStyle/>
          <a:p>
            <a:r>
              <a:rPr lang="en-US" dirty="0"/>
              <a:t>The Categorical Family (Qualitative)</a:t>
            </a:r>
            <a:endParaRPr lang="en-EG" dirty="0"/>
          </a:p>
        </p:txBody>
      </p:sp>
      <p:sp>
        <p:nvSpPr>
          <p:cNvPr id="3" name="Content Placeholder 2">
            <a:extLst>
              <a:ext uri="{FF2B5EF4-FFF2-40B4-BE49-F238E27FC236}">
                <a16:creationId xmlns:a16="http://schemas.microsoft.com/office/drawing/2014/main" id="{986D96AB-38FC-3118-48AD-0640E2D880CD}"/>
              </a:ext>
            </a:extLst>
          </p:cNvPr>
          <p:cNvSpPr>
            <a:spLocks noGrp="1"/>
          </p:cNvSpPr>
          <p:nvPr>
            <p:ph idx="1"/>
          </p:nvPr>
        </p:nvSpPr>
        <p:spPr>
          <a:xfrm>
            <a:off x="700635" y="1863524"/>
            <a:ext cx="10691265" cy="4098364"/>
          </a:xfrm>
        </p:spPr>
        <p:txBody>
          <a:bodyPr>
            <a:normAutofit fontScale="85000" lnSpcReduction="20000"/>
          </a:bodyPr>
          <a:lstStyle/>
          <a:p>
            <a:pPr marL="0" indent="0" algn="ctr">
              <a:buNone/>
            </a:pPr>
            <a:r>
              <a:rPr lang="en-US" sz="2400" dirty="0">
                <a:solidFill>
                  <a:srgbClr val="FF0000"/>
                </a:solidFill>
              </a:rPr>
              <a:t>Categorical data is about </a:t>
            </a:r>
            <a:r>
              <a:rPr lang="en-US" sz="2400" b="1" dirty="0">
                <a:solidFill>
                  <a:srgbClr val="FF0000"/>
                </a:solidFill>
              </a:rPr>
              <a:t>labels</a:t>
            </a:r>
            <a:r>
              <a:rPr lang="en-US" sz="2400" dirty="0">
                <a:solidFill>
                  <a:srgbClr val="FF0000"/>
                </a:solidFill>
              </a:rPr>
              <a:t> or </a:t>
            </a:r>
            <a:r>
              <a:rPr lang="en-US" sz="2400" b="1" dirty="0">
                <a:solidFill>
                  <a:srgbClr val="FF0000"/>
                </a:solidFill>
              </a:rPr>
              <a:t>groups</a:t>
            </a:r>
            <a:r>
              <a:rPr lang="en-US" sz="2400" dirty="0">
                <a:solidFill>
                  <a:srgbClr val="FF0000"/>
                </a:solidFill>
              </a:rPr>
              <a:t>. It answers, "What kind?”</a:t>
            </a:r>
            <a:endParaRPr lang="en-US" dirty="0">
              <a:solidFill>
                <a:srgbClr val="FF0000"/>
              </a:solidFill>
            </a:endParaRPr>
          </a:p>
          <a:p>
            <a:pPr marL="0" indent="0" algn="ctr">
              <a:buNone/>
            </a:pPr>
            <a:endParaRPr lang="en-US" dirty="0">
              <a:solidFill>
                <a:srgbClr val="FF0000"/>
              </a:solidFill>
            </a:endParaRPr>
          </a:p>
          <a:p>
            <a:pPr algn="just"/>
            <a:r>
              <a:rPr lang="en-US" sz="2400" b="1" dirty="0"/>
              <a:t>Discrete (Standard Categorical):</a:t>
            </a:r>
            <a:r>
              <a:rPr lang="en-US" sz="2400" dirty="0"/>
              <a:t> Almost all categorical data is </a:t>
            </a:r>
            <a:r>
              <a:rPr lang="en-US" sz="2400" b="1" dirty="0"/>
              <a:t>Discrete</a:t>
            </a:r>
            <a:r>
              <a:rPr lang="en-US" sz="2400" dirty="0"/>
              <a:t> because you belong to one "bucket" or another. There is no "in-between.”</a:t>
            </a:r>
          </a:p>
          <a:p>
            <a:pPr marL="892175" indent="-217488" algn="just"/>
            <a:r>
              <a:rPr lang="en-US" sz="2400" i="1" dirty="0"/>
              <a:t>	</a:t>
            </a:r>
            <a:r>
              <a:rPr lang="en-US" sz="2400" b="1" dirty="0"/>
              <a:t>Ordered: </a:t>
            </a:r>
            <a:r>
              <a:rPr lang="en-US" sz="2400" dirty="0"/>
              <a:t>Labels that follow a specific, logical sequence. Such as survey results (Poor, Good, Excellent), Seniority (Level 1, Level 2, Level 3, and Level 4).</a:t>
            </a:r>
          </a:p>
          <a:p>
            <a:pPr marL="892175" indent="-217488" algn="just"/>
            <a:r>
              <a:rPr lang="en-US" sz="2400" b="1" dirty="0"/>
              <a:t>Unordered: </a:t>
            </a:r>
            <a:r>
              <a:rPr lang="en-US" sz="2400" dirty="0"/>
              <a:t>Labels with no inherent "ranking" or "order." such as Blood Type (</a:t>
            </a:r>
            <a:r>
              <a:rPr lang="en-US" sz="2400" b="1" dirty="0"/>
              <a:t>A</a:t>
            </a:r>
            <a:r>
              <a:rPr lang="en-US" sz="2400" dirty="0"/>
              <a:t>, </a:t>
            </a:r>
            <a:r>
              <a:rPr lang="en-US" sz="2400" b="1" dirty="0"/>
              <a:t>B</a:t>
            </a:r>
            <a:r>
              <a:rPr lang="en-US" sz="2400" dirty="0"/>
              <a:t>, </a:t>
            </a:r>
            <a:r>
              <a:rPr lang="en-US" sz="2400" b="1" dirty="0"/>
              <a:t>AB</a:t>
            </a:r>
            <a:r>
              <a:rPr lang="en-US" sz="2400" dirty="0"/>
              <a:t>, </a:t>
            </a:r>
            <a:r>
              <a:rPr lang="en-US" sz="2400" b="1" dirty="0"/>
              <a:t>O</a:t>
            </a:r>
            <a:r>
              <a:rPr lang="en-US" sz="2400" dirty="0"/>
              <a:t>), Country (Egypt, USA), Color, Department.</a:t>
            </a:r>
            <a:endParaRPr lang="en-US" sz="2400" b="1" dirty="0"/>
          </a:p>
          <a:p>
            <a:pPr marL="0" indent="0" algn="just">
              <a:buNone/>
            </a:pPr>
            <a:endParaRPr lang="en-US" sz="2400" dirty="0"/>
          </a:p>
          <a:p>
            <a:pPr algn="just"/>
            <a:r>
              <a:rPr lang="en-US" sz="2400" b="1" dirty="0"/>
              <a:t>Continuous (Rarely used in Categories):</a:t>
            </a:r>
            <a:r>
              <a:rPr lang="en-US" sz="2400" dirty="0"/>
              <a:t> Generally, we </a:t>
            </a:r>
            <a:r>
              <a:rPr lang="en-US" sz="2400" b="1" dirty="0"/>
              <a:t>do not</a:t>
            </a:r>
            <a:r>
              <a:rPr lang="en-US" sz="2400" dirty="0"/>
              <a:t> use the term "continuous" for categories.</a:t>
            </a:r>
          </a:p>
          <a:p>
            <a:pPr marL="0" indent="0">
              <a:buNone/>
            </a:pPr>
            <a:endParaRPr lang="en-EG" dirty="0"/>
          </a:p>
        </p:txBody>
      </p:sp>
    </p:spTree>
    <p:extLst>
      <p:ext uri="{BB962C8B-B14F-4D97-AF65-F5344CB8AC3E}">
        <p14:creationId xmlns:p14="http://schemas.microsoft.com/office/powerpoint/2010/main" val="2164820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C0C99A3-B5F5-C13A-165B-AABA73895D16}"/>
              </a:ext>
            </a:extLst>
          </p:cNvPr>
          <p:cNvGraphicFramePr>
            <a:graphicFrameLocks noGrp="1"/>
          </p:cNvGraphicFramePr>
          <p:nvPr>
            <p:ph idx="1"/>
            <p:extLst>
              <p:ext uri="{D42A27DB-BD31-4B8C-83A1-F6EECF244321}">
                <p14:modId xmlns:p14="http://schemas.microsoft.com/office/powerpoint/2010/main" val="548049925"/>
              </p:ext>
            </p:extLst>
          </p:nvPr>
        </p:nvGraphicFramePr>
        <p:xfrm>
          <a:off x="750094" y="1731862"/>
          <a:ext cx="10691812" cy="3394275"/>
        </p:xfrm>
        <a:graphic>
          <a:graphicData uri="http://schemas.openxmlformats.org/drawingml/2006/table">
            <a:tbl>
              <a:tblPr>
                <a:tableStyleId>{5940675A-B579-460E-94D1-54222C63F5DA}</a:tableStyleId>
              </a:tblPr>
              <a:tblGrid>
                <a:gridCol w="1738463">
                  <a:extLst>
                    <a:ext uri="{9D8B030D-6E8A-4147-A177-3AD203B41FA5}">
                      <a16:colId xmlns:a16="http://schemas.microsoft.com/office/drawing/2014/main" val="2794832399"/>
                    </a:ext>
                  </a:extLst>
                </a:gridCol>
                <a:gridCol w="1828800">
                  <a:extLst>
                    <a:ext uri="{9D8B030D-6E8A-4147-A177-3AD203B41FA5}">
                      <a16:colId xmlns:a16="http://schemas.microsoft.com/office/drawing/2014/main" val="863147105"/>
                    </a:ext>
                  </a:extLst>
                </a:gridCol>
                <a:gridCol w="3125165">
                  <a:extLst>
                    <a:ext uri="{9D8B030D-6E8A-4147-A177-3AD203B41FA5}">
                      <a16:colId xmlns:a16="http://schemas.microsoft.com/office/drawing/2014/main" val="1475440130"/>
                    </a:ext>
                  </a:extLst>
                </a:gridCol>
                <a:gridCol w="3999384">
                  <a:extLst>
                    <a:ext uri="{9D8B030D-6E8A-4147-A177-3AD203B41FA5}">
                      <a16:colId xmlns:a16="http://schemas.microsoft.com/office/drawing/2014/main" val="2686886297"/>
                    </a:ext>
                  </a:extLst>
                </a:gridCol>
              </a:tblGrid>
              <a:tr h="934607">
                <a:tc>
                  <a:txBody>
                    <a:bodyPr/>
                    <a:lstStyle/>
                    <a:p>
                      <a:pPr rtl="0">
                        <a:buNone/>
                      </a:pPr>
                      <a:r>
                        <a:rPr lang="en-US" b="1" dirty="0">
                          <a:solidFill>
                            <a:srgbClr val="1F1F1F"/>
                          </a:solidFill>
                          <a:effectLst/>
                        </a:rPr>
                        <a:t>Data Family</a:t>
                      </a:r>
                      <a:endParaRPr lang="en-US" dirty="0">
                        <a:solidFill>
                          <a:srgbClr val="1F1F1F"/>
                        </a:solidFill>
                        <a:effectLst/>
                        <a:latin typeface="Google Sans Text"/>
                      </a:endParaRPr>
                    </a:p>
                  </a:txBody>
                  <a:tcPr marL="114300" marR="114300" marT="76200" marB="76200" anchor="ctr">
                    <a:solidFill>
                      <a:schemeClr val="accent2">
                        <a:lumMod val="60000"/>
                        <a:lumOff val="40000"/>
                      </a:schemeClr>
                    </a:solidFill>
                  </a:tcPr>
                </a:tc>
                <a:tc>
                  <a:txBody>
                    <a:bodyPr/>
                    <a:lstStyle/>
                    <a:p>
                      <a:pPr rtl="0">
                        <a:buNone/>
                      </a:pPr>
                      <a:r>
                        <a:rPr lang="en-US" b="1" dirty="0">
                          <a:solidFill>
                            <a:srgbClr val="1F1F1F"/>
                          </a:solidFill>
                          <a:effectLst/>
                        </a:rPr>
                        <a:t>Sub-Type</a:t>
                      </a:r>
                      <a:endParaRPr lang="en-US" dirty="0">
                        <a:solidFill>
                          <a:srgbClr val="1F1F1F"/>
                        </a:solidFill>
                        <a:effectLst/>
                        <a:latin typeface="Google Sans Text"/>
                      </a:endParaRPr>
                    </a:p>
                  </a:txBody>
                  <a:tcPr marL="114300" marR="114300" marT="76200" marB="76200" anchor="ctr">
                    <a:solidFill>
                      <a:schemeClr val="accent2">
                        <a:lumMod val="60000"/>
                        <a:lumOff val="40000"/>
                      </a:schemeClr>
                    </a:solidFill>
                  </a:tcPr>
                </a:tc>
                <a:tc>
                  <a:txBody>
                    <a:bodyPr/>
                    <a:lstStyle/>
                    <a:p>
                      <a:pPr rtl="0">
                        <a:buNone/>
                      </a:pPr>
                      <a:r>
                        <a:rPr lang="en-US" b="1" dirty="0">
                          <a:solidFill>
                            <a:srgbClr val="1F1F1F"/>
                          </a:solidFill>
                          <a:effectLst/>
                        </a:rPr>
                        <a:t>How to Identify</a:t>
                      </a:r>
                      <a:endParaRPr lang="en-US" dirty="0">
                        <a:solidFill>
                          <a:srgbClr val="1F1F1F"/>
                        </a:solidFill>
                        <a:effectLst/>
                        <a:latin typeface="Google Sans Text"/>
                      </a:endParaRPr>
                    </a:p>
                  </a:txBody>
                  <a:tcPr marL="114300" marR="114300" marT="76200" marB="76200" anchor="ctr">
                    <a:solidFill>
                      <a:schemeClr val="accent2">
                        <a:lumMod val="60000"/>
                        <a:lumOff val="40000"/>
                      </a:schemeClr>
                    </a:solidFill>
                  </a:tcPr>
                </a:tc>
                <a:tc>
                  <a:txBody>
                    <a:bodyPr/>
                    <a:lstStyle/>
                    <a:p>
                      <a:pPr rtl="0">
                        <a:buNone/>
                      </a:pPr>
                      <a:r>
                        <a:rPr lang="en-US" b="1" dirty="0">
                          <a:solidFill>
                            <a:srgbClr val="1F1F1F"/>
                          </a:solidFill>
                          <a:effectLst/>
                        </a:rPr>
                        <a:t>Example</a:t>
                      </a:r>
                      <a:endParaRPr lang="en-US" dirty="0">
                        <a:solidFill>
                          <a:srgbClr val="1F1F1F"/>
                        </a:solidFill>
                        <a:effectLst/>
                        <a:latin typeface="Google Sans Text"/>
                      </a:endParaRPr>
                    </a:p>
                  </a:txBody>
                  <a:tcPr marL="114300" marR="114300" marT="76200" marB="76200" anchor="ctr">
                    <a:solidFill>
                      <a:schemeClr val="accent2">
                        <a:lumMod val="60000"/>
                        <a:lumOff val="40000"/>
                      </a:schemeClr>
                    </a:solidFill>
                  </a:tcPr>
                </a:tc>
                <a:extLst>
                  <a:ext uri="{0D108BD9-81ED-4DB2-BD59-A6C34878D82A}">
                    <a16:rowId xmlns:a16="http://schemas.microsoft.com/office/drawing/2014/main" val="2889186927"/>
                  </a:ext>
                </a:extLst>
              </a:tr>
              <a:tr h="614917">
                <a:tc>
                  <a:txBody>
                    <a:bodyPr/>
                    <a:lstStyle/>
                    <a:p>
                      <a:pPr rtl="0">
                        <a:buNone/>
                      </a:pPr>
                      <a:r>
                        <a:rPr lang="en-US" sz="1800" b="1" kern="1200" dirty="0">
                          <a:solidFill>
                            <a:srgbClr val="1F1F1F"/>
                          </a:solidFill>
                          <a:effectLst/>
                          <a:latin typeface="+mn-lt"/>
                          <a:ea typeface="+mn-ea"/>
                          <a:cs typeface="+mn-cs"/>
                        </a:rPr>
                        <a:t>Numerical</a:t>
                      </a:r>
                    </a:p>
                  </a:txBody>
                  <a:tcPr marL="114300" marR="114300" marT="76200" marB="76200" anchor="ctr"/>
                </a:tc>
                <a:tc>
                  <a:txBody>
                    <a:bodyPr/>
                    <a:lstStyle/>
                    <a:p>
                      <a:pPr rtl="0">
                        <a:buNone/>
                      </a:pPr>
                      <a:r>
                        <a:rPr lang="en-US" sz="1800" b="1" kern="1200">
                          <a:solidFill>
                            <a:srgbClr val="1F1F1F"/>
                          </a:solidFill>
                          <a:effectLst/>
                          <a:latin typeface="+mn-lt"/>
                          <a:ea typeface="+mn-ea"/>
                          <a:cs typeface="+mn-cs"/>
                        </a:rPr>
                        <a:t>Continuous</a:t>
                      </a:r>
                    </a:p>
                  </a:txBody>
                  <a:tcPr marL="114300" marR="114300" marT="76200" marB="76200" anchor="ctr"/>
                </a:tc>
                <a:tc>
                  <a:txBody>
                    <a:bodyPr/>
                    <a:lstStyle/>
                    <a:p>
                      <a:pPr algn="ctr" rtl="0">
                        <a:buNone/>
                      </a:pPr>
                      <a:r>
                        <a:rPr lang="en-US" sz="1800" kern="1200" dirty="0">
                          <a:solidFill>
                            <a:srgbClr val="1F1F1F"/>
                          </a:solidFill>
                          <a:effectLst/>
                          <a:latin typeface="+mn-lt"/>
                          <a:ea typeface="+mn-ea"/>
                          <a:cs typeface="+mn-cs"/>
                        </a:rPr>
                        <a:t>Gaps and Infinite Possibilities</a:t>
                      </a:r>
                    </a:p>
                  </a:txBody>
                  <a:tcPr marL="114300" marR="114300" marT="76200" marB="76200" anchor="ctr"/>
                </a:tc>
                <a:tc>
                  <a:txBody>
                    <a:bodyPr/>
                    <a:lstStyle/>
                    <a:p>
                      <a:pPr rtl="0">
                        <a:buNone/>
                      </a:pPr>
                      <a:r>
                        <a:rPr lang="en-US" dirty="0">
                          <a:solidFill>
                            <a:srgbClr val="1F1F1F"/>
                          </a:solidFill>
                          <a:effectLst/>
                        </a:rPr>
                        <a:t>Price ($19.99), Weight (70.5kg)</a:t>
                      </a:r>
                      <a:endParaRPr lang="en-US"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736838781"/>
                  </a:ext>
                </a:extLst>
              </a:tr>
              <a:tr h="614917">
                <a:tc>
                  <a:txBody>
                    <a:bodyPr/>
                    <a:lstStyle/>
                    <a:p>
                      <a:pPr rtl="0">
                        <a:buNone/>
                      </a:pPr>
                      <a:r>
                        <a:rPr lang="en-US" sz="1800" b="1" kern="1200" dirty="0">
                          <a:solidFill>
                            <a:srgbClr val="1F1F1F"/>
                          </a:solidFill>
                          <a:effectLst/>
                          <a:latin typeface="+mn-lt"/>
                          <a:ea typeface="+mn-ea"/>
                          <a:cs typeface="+mn-cs"/>
                        </a:rPr>
                        <a:t>Numerical</a:t>
                      </a:r>
                    </a:p>
                  </a:txBody>
                  <a:tcPr marL="114300" marR="114300" marT="76200" marB="76200" anchor="ctr"/>
                </a:tc>
                <a:tc>
                  <a:txBody>
                    <a:bodyPr/>
                    <a:lstStyle/>
                    <a:p>
                      <a:pPr rtl="0">
                        <a:buNone/>
                      </a:pPr>
                      <a:r>
                        <a:rPr lang="en-US" sz="1800" b="1" kern="1200" dirty="0">
                          <a:solidFill>
                            <a:srgbClr val="1F1F1F"/>
                          </a:solidFill>
                          <a:effectLst/>
                          <a:latin typeface="+mn-lt"/>
                          <a:ea typeface="+mn-ea"/>
                          <a:cs typeface="+mn-cs"/>
                        </a:rPr>
                        <a:t>Discrete</a:t>
                      </a:r>
                    </a:p>
                  </a:txBody>
                  <a:tcPr marL="114300" marR="114300" marT="76200" marB="76200" anchor="ctr"/>
                </a:tc>
                <a:tc>
                  <a:txBody>
                    <a:bodyPr/>
                    <a:lstStyle/>
                    <a:p>
                      <a:pPr algn="ctr" rtl="0">
                        <a:buNone/>
                      </a:pPr>
                      <a:r>
                        <a:rPr lang="en-US" sz="1800" kern="1200" dirty="0">
                          <a:solidFill>
                            <a:srgbClr val="1F1F1F"/>
                          </a:solidFill>
                          <a:effectLst/>
                          <a:latin typeface="+mn-lt"/>
                          <a:ea typeface="+mn-ea"/>
                          <a:cs typeface="+mn-cs"/>
                        </a:rPr>
                        <a:t>”Countable" Whole Numbers</a:t>
                      </a:r>
                    </a:p>
                  </a:txBody>
                  <a:tcPr marL="114300" marR="114300" marT="76200" marB="76200" anchor="ctr"/>
                </a:tc>
                <a:tc>
                  <a:txBody>
                    <a:bodyPr/>
                    <a:lstStyle/>
                    <a:p>
                      <a:pPr rtl="0">
                        <a:buNone/>
                      </a:pPr>
                      <a:r>
                        <a:rPr lang="en-US">
                          <a:solidFill>
                            <a:srgbClr val="1F1F1F"/>
                          </a:solidFill>
                          <a:effectLst/>
                        </a:rPr>
                        <a:t>Number of cars (3), Goals scored (2)</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078040696"/>
                  </a:ext>
                </a:extLst>
              </a:tr>
              <a:tr h="614917">
                <a:tc rowSpan="2">
                  <a:txBody>
                    <a:bodyPr/>
                    <a:lstStyle/>
                    <a:p>
                      <a:pPr rtl="0">
                        <a:buNone/>
                      </a:pPr>
                      <a:r>
                        <a:rPr lang="en-US" sz="1800" b="1" kern="1200" dirty="0">
                          <a:solidFill>
                            <a:srgbClr val="1F1F1F"/>
                          </a:solidFill>
                          <a:effectLst/>
                          <a:latin typeface="+mn-lt"/>
                          <a:ea typeface="+mn-ea"/>
                          <a:cs typeface="+mn-cs"/>
                        </a:rPr>
                        <a:t>Categorical</a:t>
                      </a:r>
                    </a:p>
                  </a:txBody>
                  <a:tcPr marL="114300" marR="114300" marT="76200" marB="76200" anchor="ctr"/>
                </a:tc>
                <a:tc rowSpan="2">
                  <a:txBody>
                    <a:bodyPr/>
                    <a:lstStyle/>
                    <a:p>
                      <a:pPr rtl="0">
                        <a:buNone/>
                      </a:pPr>
                      <a:r>
                        <a:rPr lang="en-US" sz="1800" b="1" kern="1200" dirty="0">
                          <a:solidFill>
                            <a:srgbClr val="1F1F1F"/>
                          </a:solidFill>
                          <a:effectLst/>
                          <a:latin typeface="+mn-lt"/>
                          <a:ea typeface="+mn-ea"/>
                          <a:cs typeface="+mn-cs"/>
                        </a:rPr>
                        <a:t>Discrete</a:t>
                      </a:r>
                    </a:p>
                  </a:txBody>
                  <a:tcPr marL="114300" marR="114300" marT="76200" marB="76200" anchor="ctr"/>
                </a:tc>
                <a:tc>
                  <a:txBody>
                    <a:bodyPr/>
                    <a:lstStyle/>
                    <a:p>
                      <a:pPr algn="ctr" rtl="0">
                        <a:buNone/>
                      </a:pPr>
                      <a:r>
                        <a:rPr lang="en-US" sz="1800" kern="1200" dirty="0">
                          <a:solidFill>
                            <a:srgbClr val="1F1F1F"/>
                          </a:solidFill>
                          <a:effectLst/>
                          <a:latin typeface="+mn-lt"/>
                          <a:ea typeface="+mn-ea"/>
                          <a:cs typeface="+mn-cs"/>
                        </a:rPr>
                        <a:t>Ordered Groups</a:t>
                      </a:r>
                    </a:p>
                  </a:txBody>
                  <a:tcPr marL="114300" marR="114300" marT="76200" marB="76200" anchor="ctr"/>
                </a:tc>
                <a:tc>
                  <a:txBody>
                    <a:bodyPr/>
                    <a:lstStyle/>
                    <a:p>
                      <a:pPr rtl="0">
                        <a:buNone/>
                      </a:pPr>
                      <a:r>
                        <a:rPr lang="en-US" dirty="0"/>
                        <a:t>Poor, Good, Excellent</a:t>
                      </a:r>
                      <a:endParaRPr lang="en-US"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127089928"/>
                  </a:ext>
                </a:extLst>
              </a:tr>
              <a:tr h="614917">
                <a:tc vMerge="1">
                  <a:txBody>
                    <a:bodyPr/>
                    <a:lstStyle/>
                    <a:p>
                      <a:endParaRPr dirty="0"/>
                    </a:p>
                  </a:txBody>
                  <a:tcPr marL="114300" marR="114300" marT="76200" marB="76200" anchor="ctr"/>
                </a:tc>
                <a:tc vMerge="1">
                  <a:txBody>
                    <a:bodyPr/>
                    <a:lstStyle/>
                    <a:p>
                      <a:endParaRPr dirty="0"/>
                    </a:p>
                  </a:txBody>
                  <a:tcPr marL="114300" marR="114300" marT="76200" marB="76200" anchor="ctr"/>
                </a:tc>
                <a:tc>
                  <a:txBody>
                    <a:bodyPr/>
                    <a:lstStyle/>
                    <a:p>
                      <a:pPr algn="ctr" rtl="0">
                        <a:buNone/>
                      </a:pPr>
                      <a:r>
                        <a:rPr lang="en-US" sz="1800" kern="1200" dirty="0">
                          <a:solidFill>
                            <a:srgbClr val="1F1F1F"/>
                          </a:solidFill>
                          <a:effectLst/>
                          <a:latin typeface="+mn-lt"/>
                          <a:ea typeface="+mn-ea"/>
                          <a:cs typeface="+mn-cs"/>
                        </a:rPr>
                        <a:t>Unordered Groups</a:t>
                      </a:r>
                    </a:p>
                  </a:txBody>
                  <a:tcPr marL="114300" marR="114300" marT="76200" marB="76200" anchor="ctr"/>
                </a:tc>
                <a:tc>
                  <a:txBody>
                    <a:bodyPr/>
                    <a:lstStyle/>
                    <a:p>
                      <a:pPr rtl="0">
                        <a:buNone/>
                      </a:pPr>
                      <a:r>
                        <a:rPr lang="en-US" dirty="0">
                          <a:solidFill>
                            <a:srgbClr val="1F1F1F"/>
                          </a:solidFill>
                          <a:effectLst/>
                        </a:rPr>
                        <a:t>Eye color (Blue), Country (Egypt)</a:t>
                      </a:r>
                      <a:endParaRPr lang="en-US"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301450579"/>
                  </a:ext>
                </a:extLst>
              </a:tr>
            </a:tbl>
          </a:graphicData>
        </a:graphic>
      </p:graphicFrame>
    </p:spTree>
    <p:extLst>
      <p:ext uri="{BB962C8B-B14F-4D97-AF65-F5344CB8AC3E}">
        <p14:creationId xmlns:p14="http://schemas.microsoft.com/office/powerpoint/2010/main" val="1661774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0D86A-64B8-5AEB-BD55-E50485F6EB20}"/>
              </a:ext>
            </a:extLst>
          </p:cNvPr>
          <p:cNvSpPr>
            <a:spLocks noGrp="1"/>
          </p:cNvSpPr>
          <p:nvPr>
            <p:ph type="title"/>
          </p:nvPr>
        </p:nvSpPr>
        <p:spPr>
          <a:xfrm>
            <a:off x="700635" y="914400"/>
            <a:ext cx="10691265" cy="775504"/>
          </a:xfrm>
        </p:spPr>
        <p:txBody>
          <a:bodyPr/>
          <a:lstStyle/>
          <a:p>
            <a:r>
              <a:rPr lang="en-EG" dirty="0"/>
              <a:t>Scatter vs Bubble vs network</a:t>
            </a:r>
          </a:p>
        </p:txBody>
      </p:sp>
      <p:graphicFrame>
        <p:nvGraphicFramePr>
          <p:cNvPr id="4" name="Content Placeholder 3">
            <a:extLst>
              <a:ext uri="{FF2B5EF4-FFF2-40B4-BE49-F238E27FC236}">
                <a16:creationId xmlns:a16="http://schemas.microsoft.com/office/drawing/2014/main" id="{F97E4230-D6B8-A4A6-2821-2A4038479799}"/>
              </a:ext>
            </a:extLst>
          </p:cNvPr>
          <p:cNvGraphicFramePr>
            <a:graphicFrameLocks noGrp="1"/>
          </p:cNvGraphicFramePr>
          <p:nvPr>
            <p:ph idx="1"/>
            <p:extLst>
              <p:ext uri="{D42A27DB-BD31-4B8C-83A1-F6EECF244321}">
                <p14:modId xmlns:p14="http://schemas.microsoft.com/office/powerpoint/2010/main" val="1408018737"/>
              </p:ext>
            </p:extLst>
          </p:nvPr>
        </p:nvGraphicFramePr>
        <p:xfrm>
          <a:off x="700634" y="1616547"/>
          <a:ext cx="10691265" cy="4528381"/>
        </p:xfrm>
        <a:graphic>
          <a:graphicData uri="http://schemas.openxmlformats.org/drawingml/2006/table">
            <a:tbl>
              <a:tblPr>
                <a:tableStyleId>{5940675A-B579-460E-94D1-54222C63F5DA}</a:tableStyleId>
              </a:tblPr>
              <a:tblGrid>
                <a:gridCol w="1151315">
                  <a:extLst>
                    <a:ext uri="{9D8B030D-6E8A-4147-A177-3AD203B41FA5}">
                      <a16:colId xmlns:a16="http://schemas.microsoft.com/office/drawing/2014/main" val="1380454212"/>
                    </a:ext>
                  </a:extLst>
                </a:gridCol>
                <a:gridCol w="2731926">
                  <a:extLst>
                    <a:ext uri="{9D8B030D-6E8A-4147-A177-3AD203B41FA5}">
                      <a16:colId xmlns:a16="http://schemas.microsoft.com/office/drawing/2014/main" val="2581325656"/>
                    </a:ext>
                  </a:extLst>
                </a:gridCol>
                <a:gridCol w="3420094">
                  <a:extLst>
                    <a:ext uri="{9D8B030D-6E8A-4147-A177-3AD203B41FA5}">
                      <a16:colId xmlns:a16="http://schemas.microsoft.com/office/drawing/2014/main" val="224352027"/>
                    </a:ext>
                  </a:extLst>
                </a:gridCol>
                <a:gridCol w="3387930">
                  <a:extLst>
                    <a:ext uri="{9D8B030D-6E8A-4147-A177-3AD203B41FA5}">
                      <a16:colId xmlns:a16="http://schemas.microsoft.com/office/drawing/2014/main" val="847123651"/>
                    </a:ext>
                  </a:extLst>
                </a:gridCol>
              </a:tblGrid>
              <a:tr h="693963">
                <a:tc>
                  <a:txBody>
                    <a:bodyPr/>
                    <a:lstStyle/>
                    <a:p>
                      <a:pPr algn="just" rtl="0">
                        <a:buNone/>
                      </a:pPr>
                      <a:r>
                        <a:rPr lang="en-US" sz="1600" b="1" dirty="0">
                          <a:solidFill>
                            <a:srgbClr val="1F1F1F"/>
                          </a:solidFill>
                          <a:effectLst/>
                        </a:rPr>
                        <a:t>Type</a:t>
                      </a:r>
                      <a:endParaRPr lang="en-US" sz="1600" dirty="0">
                        <a:solidFill>
                          <a:srgbClr val="1F1F1F"/>
                        </a:solidFill>
                        <a:effectLst/>
                        <a:latin typeface="Google Sans Text"/>
                      </a:endParaRPr>
                    </a:p>
                  </a:txBody>
                  <a:tcPr marL="76650" marR="76650" marT="51100" marB="51100" anchor="ctr">
                    <a:solidFill>
                      <a:schemeClr val="accent6">
                        <a:lumMod val="20000"/>
                        <a:lumOff val="80000"/>
                      </a:schemeClr>
                    </a:solidFill>
                  </a:tcPr>
                </a:tc>
                <a:tc>
                  <a:txBody>
                    <a:bodyPr/>
                    <a:lstStyle/>
                    <a:p>
                      <a:pPr algn="just" rtl="0">
                        <a:buNone/>
                      </a:pPr>
                      <a:r>
                        <a:rPr lang="en-US" sz="1600" b="1" dirty="0">
                          <a:solidFill>
                            <a:srgbClr val="1F1F1F"/>
                          </a:solidFill>
                          <a:effectLst/>
                        </a:rPr>
                        <a:t>Reason for Use (Conditions)</a:t>
                      </a:r>
                      <a:endParaRPr lang="en-US" sz="1600" dirty="0">
                        <a:solidFill>
                          <a:srgbClr val="1F1F1F"/>
                        </a:solidFill>
                        <a:effectLst/>
                        <a:latin typeface="Google Sans Text"/>
                      </a:endParaRPr>
                    </a:p>
                  </a:txBody>
                  <a:tcPr marL="76650" marR="76650" marT="51100" marB="51100" anchor="ctr">
                    <a:solidFill>
                      <a:schemeClr val="accent6">
                        <a:lumMod val="20000"/>
                        <a:lumOff val="80000"/>
                      </a:schemeClr>
                    </a:solidFill>
                  </a:tcPr>
                </a:tc>
                <a:tc>
                  <a:txBody>
                    <a:bodyPr/>
                    <a:lstStyle/>
                    <a:p>
                      <a:pPr algn="just" rtl="0">
                        <a:buNone/>
                      </a:pPr>
                      <a:r>
                        <a:rPr lang="en-US" sz="1600" b="1" dirty="0">
                          <a:solidFill>
                            <a:srgbClr val="1F1F1F"/>
                          </a:solidFill>
                          <a:effectLst/>
                        </a:rPr>
                        <a:t>Keywords</a:t>
                      </a:r>
                      <a:endParaRPr lang="en-US" sz="1600" dirty="0">
                        <a:solidFill>
                          <a:srgbClr val="1F1F1F"/>
                        </a:solidFill>
                        <a:effectLst/>
                        <a:latin typeface="Google Sans Text"/>
                      </a:endParaRPr>
                    </a:p>
                  </a:txBody>
                  <a:tcPr marL="76650" marR="76650" marT="51100" marB="51100" anchor="ctr">
                    <a:solidFill>
                      <a:schemeClr val="accent6">
                        <a:lumMod val="20000"/>
                        <a:lumOff val="80000"/>
                      </a:schemeClr>
                    </a:solidFill>
                  </a:tcPr>
                </a:tc>
                <a:tc>
                  <a:txBody>
                    <a:bodyPr/>
                    <a:lstStyle/>
                    <a:p>
                      <a:pPr algn="just" rtl="0">
                        <a:buNone/>
                      </a:pPr>
                      <a:r>
                        <a:rPr lang="en-US" sz="1600" b="1" dirty="0">
                          <a:solidFill>
                            <a:srgbClr val="1F1F1F"/>
                          </a:solidFill>
                          <a:effectLst/>
                        </a:rPr>
                        <a:t>Variable Type (X vs Y)</a:t>
                      </a:r>
                      <a:endParaRPr lang="en-US" sz="1600" i="1" dirty="0">
                        <a:solidFill>
                          <a:schemeClr val="tx1">
                            <a:lumMod val="50000"/>
                            <a:lumOff val="50000"/>
                          </a:schemeClr>
                        </a:solidFill>
                        <a:effectLst/>
                        <a:latin typeface="Google Sans Text"/>
                      </a:endParaRPr>
                    </a:p>
                  </a:txBody>
                  <a:tcPr marL="76650" marR="76650" marT="51100" marB="51100" anchor="ctr">
                    <a:solidFill>
                      <a:schemeClr val="accent6">
                        <a:lumMod val="20000"/>
                        <a:lumOff val="80000"/>
                      </a:schemeClr>
                    </a:solidFill>
                  </a:tcPr>
                </a:tc>
                <a:extLst>
                  <a:ext uri="{0D108BD9-81ED-4DB2-BD59-A6C34878D82A}">
                    <a16:rowId xmlns:a16="http://schemas.microsoft.com/office/drawing/2014/main" val="3836329682"/>
                  </a:ext>
                </a:extLst>
              </a:tr>
              <a:tr h="1167465">
                <a:tc>
                  <a:txBody>
                    <a:bodyPr/>
                    <a:lstStyle/>
                    <a:p>
                      <a:pPr algn="just" rtl="0">
                        <a:buNone/>
                      </a:pPr>
                      <a:r>
                        <a:rPr lang="en-US" sz="1600" b="1" dirty="0">
                          <a:solidFill>
                            <a:srgbClr val="1F1F1F"/>
                          </a:solidFill>
                          <a:effectLst/>
                        </a:rPr>
                        <a:t>Scatter</a:t>
                      </a:r>
                      <a:endParaRPr lang="en-US" sz="1600" dirty="0">
                        <a:solidFill>
                          <a:srgbClr val="1F1F1F"/>
                        </a:solidFill>
                        <a:effectLst/>
                        <a:latin typeface="Google Sans Text"/>
                      </a:endParaRPr>
                    </a:p>
                  </a:txBody>
                  <a:tcPr marL="76650" marR="76650" marT="51100" marB="51100" anchor="ctr">
                    <a:solidFill>
                      <a:schemeClr val="accent6">
                        <a:lumMod val="20000"/>
                        <a:lumOff val="80000"/>
                      </a:schemeClr>
                    </a:solidFill>
                  </a:tcPr>
                </a:tc>
                <a:tc>
                  <a:txBody>
                    <a:bodyPr/>
                    <a:lstStyle/>
                    <a:p>
                      <a:pPr algn="just" rtl="0">
                        <a:buNone/>
                      </a:pPr>
                      <a:r>
                        <a:rPr lang="en-US" sz="1600" dirty="0">
                          <a:solidFill>
                            <a:srgbClr val="1F1F1F"/>
                          </a:solidFill>
                          <a:effectLst/>
                        </a:rPr>
                        <a:t>To see if one numerical variable affects another. Ideal for spotting patterns or "freak" occurrences.</a:t>
                      </a:r>
                      <a:endParaRPr lang="en-US" sz="1600" dirty="0">
                        <a:solidFill>
                          <a:srgbClr val="1F1F1F"/>
                        </a:solidFill>
                        <a:effectLst/>
                        <a:latin typeface="Google Sans Text"/>
                      </a:endParaRPr>
                    </a:p>
                  </a:txBody>
                  <a:tcPr marL="76650" marR="76650" marT="51100" marB="51100" anchor="ctr"/>
                </a:tc>
                <a:tc>
                  <a:txBody>
                    <a:bodyPr/>
                    <a:lstStyle/>
                    <a:p>
                      <a:pPr algn="just" rtl="0">
                        <a:buNone/>
                      </a:pPr>
                      <a:r>
                        <a:rPr lang="en-US" sz="1600" b="1" kern="1200" dirty="0">
                          <a:solidFill>
                            <a:srgbClr val="1F1F1F"/>
                          </a:solidFill>
                          <a:effectLst/>
                          <a:latin typeface="+mn-lt"/>
                          <a:ea typeface="+mn-ea"/>
                          <a:cs typeface="+mn-cs"/>
                        </a:rPr>
                        <a:t>Correlation, Outlier, Group, Cluster, Influence, Proportionality</a:t>
                      </a:r>
                    </a:p>
                  </a:txBody>
                  <a:tcPr marL="76650" marR="76650" marT="51100" marB="51100" anchor="ctr"/>
                </a:tc>
                <a:tc>
                  <a:txBody>
                    <a:bodyPr/>
                    <a:lstStyle/>
                    <a:p>
                      <a:pPr algn="just" rtl="0">
                        <a:buNone/>
                      </a:pPr>
                      <a:r>
                        <a:rPr lang="en-US" sz="1600" b="1" dirty="0">
                          <a:solidFill>
                            <a:srgbClr val="1F1F1F"/>
                          </a:solidFill>
                          <a:effectLst/>
                        </a:rPr>
                        <a:t>Continuous</a:t>
                      </a:r>
                      <a:r>
                        <a:rPr lang="en-US" sz="1600" dirty="0">
                          <a:solidFill>
                            <a:srgbClr val="1F1F1F"/>
                          </a:solidFill>
                          <a:effectLst/>
                        </a:rPr>
                        <a:t> vs. </a:t>
                      </a:r>
                      <a:r>
                        <a:rPr lang="en-US" sz="1600" b="1" dirty="0">
                          <a:solidFill>
                            <a:srgbClr val="1F1F1F"/>
                          </a:solidFill>
                          <a:effectLst/>
                        </a:rPr>
                        <a:t>Continuous</a:t>
                      </a:r>
                      <a:endParaRPr lang="en-US" sz="1600" dirty="0">
                        <a:solidFill>
                          <a:srgbClr val="1F1F1F"/>
                        </a:solidFill>
                        <a:effectLst/>
                        <a:latin typeface="Google Sans Text"/>
                      </a:endParaRPr>
                    </a:p>
                  </a:txBody>
                  <a:tcPr marL="76650" marR="76650" marT="51100" marB="51100" anchor="ctr"/>
                </a:tc>
                <a:extLst>
                  <a:ext uri="{0D108BD9-81ED-4DB2-BD59-A6C34878D82A}">
                    <a16:rowId xmlns:a16="http://schemas.microsoft.com/office/drawing/2014/main" val="2680670942"/>
                  </a:ext>
                </a:extLst>
              </a:tr>
              <a:tr h="1167465">
                <a:tc>
                  <a:txBody>
                    <a:bodyPr/>
                    <a:lstStyle/>
                    <a:p>
                      <a:pPr algn="just" rtl="0">
                        <a:buNone/>
                      </a:pPr>
                      <a:r>
                        <a:rPr lang="en-US" sz="1600" b="1" dirty="0">
                          <a:solidFill>
                            <a:srgbClr val="1F1F1F"/>
                          </a:solidFill>
                          <a:effectLst/>
                        </a:rPr>
                        <a:t>Bubble</a:t>
                      </a:r>
                      <a:endParaRPr lang="en-US" sz="1600" dirty="0">
                        <a:solidFill>
                          <a:srgbClr val="1F1F1F"/>
                        </a:solidFill>
                        <a:effectLst/>
                        <a:latin typeface="Google Sans Text"/>
                      </a:endParaRPr>
                    </a:p>
                  </a:txBody>
                  <a:tcPr marL="76650" marR="76650" marT="51100" marB="51100" anchor="ctr">
                    <a:solidFill>
                      <a:schemeClr val="accent6">
                        <a:lumMod val="20000"/>
                        <a:lumOff val="80000"/>
                      </a:schemeClr>
                    </a:solidFill>
                  </a:tcPr>
                </a:tc>
                <a:tc>
                  <a:txBody>
                    <a:bodyPr/>
                    <a:lstStyle/>
                    <a:p>
                      <a:pPr algn="just" rtl="0">
                        <a:buNone/>
                      </a:pPr>
                      <a:r>
                        <a:rPr lang="en-US" sz="1600" dirty="0">
                          <a:solidFill>
                            <a:srgbClr val="1F1F1F"/>
                          </a:solidFill>
                          <a:effectLst/>
                        </a:rPr>
                        <a:t>To compare three numerical variables at once. It adds "Weight" to see if one numerical variable affects another.</a:t>
                      </a:r>
                      <a:endParaRPr lang="en-US" sz="1600" dirty="0">
                        <a:solidFill>
                          <a:srgbClr val="1F1F1F"/>
                        </a:solidFill>
                        <a:effectLst/>
                        <a:latin typeface="Google Sans Text"/>
                      </a:endParaRPr>
                    </a:p>
                  </a:txBody>
                  <a:tcPr marL="76650" marR="76650" marT="51100" marB="51100" anchor="ctr"/>
                </a:tc>
                <a:tc>
                  <a:txBody>
                    <a:bodyPr/>
                    <a:lstStyle/>
                    <a:p>
                      <a:pPr algn="just" rtl="0">
                        <a:buNone/>
                      </a:pPr>
                      <a:r>
                        <a:rPr lang="en-US" sz="1600" b="1" kern="1200" dirty="0">
                          <a:solidFill>
                            <a:srgbClr val="1F1F1F"/>
                          </a:solidFill>
                          <a:effectLst/>
                          <a:latin typeface="+mn-lt"/>
                          <a:ea typeface="+mn-ea"/>
                          <a:cs typeface="+mn-cs"/>
                        </a:rPr>
                        <a:t>Correlation, Outlier, Group, Cluster, Influence, Proportionality + (weight or size)</a:t>
                      </a:r>
                    </a:p>
                  </a:txBody>
                  <a:tcPr marL="76650" marR="76650" marT="51100" marB="51100" anchor="ctr"/>
                </a:tc>
                <a:tc>
                  <a:txBody>
                    <a:bodyPr/>
                    <a:lstStyle/>
                    <a:p>
                      <a:pPr algn="just" rtl="0">
                        <a:buNone/>
                      </a:pPr>
                      <a:r>
                        <a:rPr lang="en-US" sz="1600" b="1" dirty="0">
                          <a:solidFill>
                            <a:srgbClr val="1F1F1F"/>
                          </a:solidFill>
                          <a:effectLst/>
                        </a:rPr>
                        <a:t>Continuous</a:t>
                      </a:r>
                      <a:r>
                        <a:rPr lang="en-US" sz="1600" dirty="0">
                          <a:solidFill>
                            <a:srgbClr val="1F1F1F"/>
                          </a:solidFill>
                          <a:effectLst/>
                        </a:rPr>
                        <a:t> vs. </a:t>
                      </a:r>
                      <a:r>
                        <a:rPr lang="en-US" sz="1600" b="1" dirty="0">
                          <a:solidFill>
                            <a:srgbClr val="1F1F1F"/>
                          </a:solidFill>
                          <a:effectLst/>
                        </a:rPr>
                        <a:t>Continuous</a:t>
                      </a:r>
                      <a:r>
                        <a:rPr lang="en-US" sz="1600" dirty="0">
                          <a:solidFill>
                            <a:srgbClr val="1F1F1F"/>
                          </a:solidFill>
                          <a:effectLst/>
                        </a:rPr>
                        <a:t> </a:t>
                      </a:r>
                    </a:p>
                    <a:p>
                      <a:pPr algn="just" rtl="0">
                        <a:buNone/>
                      </a:pPr>
                      <a:r>
                        <a:rPr lang="en-US" sz="1600" dirty="0">
                          <a:solidFill>
                            <a:srgbClr val="1F1F1F"/>
                          </a:solidFill>
                          <a:effectLst/>
                        </a:rPr>
                        <a:t>(plus, </a:t>
                      </a:r>
                      <a:r>
                        <a:rPr lang="en-US" sz="1600" b="1" dirty="0">
                          <a:solidFill>
                            <a:srgbClr val="1F1F1F"/>
                          </a:solidFill>
                          <a:effectLst/>
                        </a:rPr>
                        <a:t>Discrete/Continuous</a:t>
                      </a:r>
                      <a:r>
                        <a:rPr lang="en-US" sz="1600" dirty="0">
                          <a:solidFill>
                            <a:srgbClr val="1F1F1F"/>
                          </a:solidFill>
                          <a:effectLst/>
                        </a:rPr>
                        <a:t> for Size)</a:t>
                      </a:r>
                      <a:endParaRPr lang="en-US" sz="1600" dirty="0">
                        <a:solidFill>
                          <a:srgbClr val="1F1F1F"/>
                        </a:solidFill>
                        <a:effectLst/>
                        <a:latin typeface="Google Sans Text"/>
                      </a:endParaRPr>
                    </a:p>
                  </a:txBody>
                  <a:tcPr marL="76650" marR="76650" marT="51100" marB="51100" anchor="ctr"/>
                </a:tc>
                <a:extLst>
                  <a:ext uri="{0D108BD9-81ED-4DB2-BD59-A6C34878D82A}">
                    <a16:rowId xmlns:a16="http://schemas.microsoft.com/office/drawing/2014/main" val="2682808641"/>
                  </a:ext>
                </a:extLst>
              </a:tr>
              <a:tr h="1345553">
                <a:tc>
                  <a:txBody>
                    <a:bodyPr/>
                    <a:lstStyle/>
                    <a:p>
                      <a:pPr algn="just" rtl="0">
                        <a:buNone/>
                      </a:pPr>
                      <a:r>
                        <a:rPr lang="en-US" sz="1600" b="1" dirty="0">
                          <a:solidFill>
                            <a:srgbClr val="1F1F1F"/>
                          </a:solidFill>
                          <a:effectLst/>
                        </a:rPr>
                        <a:t>Network</a:t>
                      </a:r>
                      <a:endParaRPr lang="en-US" sz="1600" dirty="0">
                        <a:solidFill>
                          <a:srgbClr val="1F1F1F"/>
                        </a:solidFill>
                        <a:effectLst/>
                        <a:latin typeface="Google Sans Text"/>
                      </a:endParaRPr>
                    </a:p>
                  </a:txBody>
                  <a:tcPr marL="76650" marR="76650" marT="51100" marB="51100" anchor="ctr">
                    <a:solidFill>
                      <a:schemeClr val="accent6">
                        <a:lumMod val="20000"/>
                        <a:lumOff val="80000"/>
                      </a:schemeClr>
                    </a:solidFill>
                  </a:tcPr>
                </a:tc>
                <a:tc>
                  <a:txBody>
                    <a:bodyPr/>
                    <a:lstStyle/>
                    <a:p>
                      <a:pPr algn="just" rtl="0">
                        <a:buNone/>
                      </a:pPr>
                      <a:r>
                        <a:rPr lang="en-US" sz="1600" dirty="0">
                          <a:solidFill>
                            <a:srgbClr val="1F1F1F"/>
                          </a:solidFill>
                          <a:effectLst/>
                        </a:rPr>
                        <a:t>To map how different entities are linked. It is about "Flow" and "Distance" rather than numbers on an axis.</a:t>
                      </a:r>
                      <a:endParaRPr lang="en-US" sz="1600" dirty="0">
                        <a:solidFill>
                          <a:srgbClr val="1F1F1F"/>
                        </a:solidFill>
                        <a:effectLst/>
                        <a:latin typeface="Google Sans Text"/>
                      </a:endParaRPr>
                    </a:p>
                  </a:txBody>
                  <a:tcPr marL="76650" marR="76650" marT="51100" marB="51100" anchor="ctr"/>
                </a:tc>
                <a:tc>
                  <a:txBody>
                    <a:bodyPr/>
                    <a:lstStyle/>
                    <a:p>
                      <a:pPr algn="just" rtl="0">
                        <a:buNone/>
                      </a:pPr>
                      <a:r>
                        <a:rPr lang="en-US" sz="1600" b="1" kern="1200" dirty="0">
                          <a:solidFill>
                            <a:srgbClr val="1F1F1F"/>
                          </a:solidFill>
                          <a:effectLst/>
                          <a:latin typeface="+mn-lt"/>
                          <a:ea typeface="+mn-ea"/>
                          <a:cs typeface="+mn-cs"/>
                        </a:rPr>
                        <a:t>Connectivity, Node, Path, Centrality, Hierarchy</a:t>
                      </a:r>
                    </a:p>
                  </a:txBody>
                  <a:tcPr marL="76650" marR="76650" marT="51100" marB="51100" anchor="ctr"/>
                </a:tc>
                <a:tc>
                  <a:txBody>
                    <a:bodyPr/>
                    <a:lstStyle/>
                    <a:p>
                      <a:pPr algn="just" rtl="0">
                        <a:buNone/>
                      </a:pPr>
                      <a:r>
                        <a:rPr lang="en-US" sz="1600" b="1" dirty="0">
                          <a:solidFill>
                            <a:srgbClr val="1F1F1F"/>
                          </a:solidFill>
                          <a:effectLst/>
                        </a:rPr>
                        <a:t>Categorical</a:t>
                      </a:r>
                      <a:r>
                        <a:rPr lang="en-US" sz="1600" dirty="0">
                          <a:solidFill>
                            <a:srgbClr val="1F1F1F"/>
                          </a:solidFill>
                          <a:effectLst/>
                        </a:rPr>
                        <a:t> vs. </a:t>
                      </a:r>
                      <a:r>
                        <a:rPr lang="en-US" sz="1600" b="1" dirty="0">
                          <a:solidFill>
                            <a:srgbClr val="1F1F1F"/>
                          </a:solidFill>
                          <a:effectLst/>
                        </a:rPr>
                        <a:t>Categorical</a:t>
                      </a:r>
                      <a:r>
                        <a:rPr lang="en-US" sz="1600" dirty="0">
                          <a:solidFill>
                            <a:srgbClr val="1F1F1F"/>
                          </a:solidFill>
                          <a:effectLst/>
                        </a:rPr>
                        <a:t> (Arbitrary Positioning)</a:t>
                      </a:r>
                      <a:endParaRPr lang="en-US" sz="1600" dirty="0">
                        <a:solidFill>
                          <a:srgbClr val="1F1F1F"/>
                        </a:solidFill>
                        <a:effectLst/>
                        <a:latin typeface="Google Sans Text"/>
                      </a:endParaRPr>
                    </a:p>
                  </a:txBody>
                  <a:tcPr marL="76650" marR="76650" marT="51100" marB="51100" anchor="ctr"/>
                </a:tc>
                <a:extLst>
                  <a:ext uri="{0D108BD9-81ED-4DB2-BD59-A6C34878D82A}">
                    <a16:rowId xmlns:a16="http://schemas.microsoft.com/office/drawing/2014/main" val="1588623159"/>
                  </a:ext>
                </a:extLst>
              </a:tr>
            </a:tbl>
          </a:graphicData>
        </a:graphic>
      </p:graphicFrame>
    </p:spTree>
    <p:extLst>
      <p:ext uri="{BB962C8B-B14F-4D97-AF65-F5344CB8AC3E}">
        <p14:creationId xmlns:p14="http://schemas.microsoft.com/office/powerpoint/2010/main" val="1590806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0E461-9635-DED9-0843-A34AF8855DFE}"/>
              </a:ext>
            </a:extLst>
          </p:cNvPr>
          <p:cNvSpPr>
            <a:spLocks noGrp="1"/>
          </p:cNvSpPr>
          <p:nvPr>
            <p:ph type="title"/>
          </p:nvPr>
        </p:nvSpPr>
        <p:spPr>
          <a:xfrm>
            <a:off x="700635" y="816427"/>
            <a:ext cx="10691265" cy="696687"/>
          </a:xfrm>
        </p:spPr>
        <p:txBody>
          <a:bodyPr>
            <a:noAutofit/>
          </a:bodyPr>
          <a:lstStyle/>
          <a:p>
            <a:r>
              <a:rPr lang="en-US" sz="2800" dirty="0"/>
              <a:t>How to Draw scatter and bubble chart? (our guidelines)</a:t>
            </a:r>
            <a:endParaRPr lang="en-EG" sz="2800" dirty="0"/>
          </a:p>
        </p:txBody>
      </p:sp>
      <p:graphicFrame>
        <p:nvGraphicFramePr>
          <p:cNvPr id="5" name="Content Placeholder 4">
            <a:extLst>
              <a:ext uri="{FF2B5EF4-FFF2-40B4-BE49-F238E27FC236}">
                <a16:creationId xmlns:a16="http://schemas.microsoft.com/office/drawing/2014/main" id="{7F2E8D73-0637-1457-267C-3F4E0F395B58}"/>
              </a:ext>
            </a:extLst>
          </p:cNvPr>
          <p:cNvGraphicFramePr>
            <a:graphicFrameLocks noGrp="1"/>
          </p:cNvGraphicFramePr>
          <p:nvPr>
            <p:ph idx="1"/>
            <p:extLst>
              <p:ext uri="{D42A27DB-BD31-4B8C-83A1-F6EECF244321}">
                <p14:modId xmlns:p14="http://schemas.microsoft.com/office/powerpoint/2010/main" val="464591040"/>
              </p:ext>
            </p:extLst>
          </p:nvPr>
        </p:nvGraphicFramePr>
        <p:xfrm>
          <a:off x="700635" y="1504001"/>
          <a:ext cx="10790730" cy="4632942"/>
        </p:xfrm>
        <a:graphic>
          <a:graphicData uri="http://schemas.openxmlformats.org/drawingml/2006/table">
            <a:tbl>
              <a:tblPr>
                <a:tableStyleId>{5940675A-B579-460E-94D1-54222C63F5DA}</a:tableStyleId>
              </a:tblPr>
              <a:tblGrid>
                <a:gridCol w="758051">
                  <a:extLst>
                    <a:ext uri="{9D8B030D-6E8A-4147-A177-3AD203B41FA5}">
                      <a16:colId xmlns:a16="http://schemas.microsoft.com/office/drawing/2014/main" val="2092327845"/>
                    </a:ext>
                  </a:extLst>
                </a:gridCol>
                <a:gridCol w="2188028">
                  <a:extLst>
                    <a:ext uri="{9D8B030D-6E8A-4147-A177-3AD203B41FA5}">
                      <a16:colId xmlns:a16="http://schemas.microsoft.com/office/drawing/2014/main" val="2401887369"/>
                    </a:ext>
                  </a:extLst>
                </a:gridCol>
                <a:gridCol w="7844651">
                  <a:extLst>
                    <a:ext uri="{9D8B030D-6E8A-4147-A177-3AD203B41FA5}">
                      <a16:colId xmlns:a16="http://schemas.microsoft.com/office/drawing/2014/main" val="3766790695"/>
                    </a:ext>
                  </a:extLst>
                </a:gridCol>
              </a:tblGrid>
              <a:tr h="397351">
                <a:tc>
                  <a:txBody>
                    <a:bodyPr/>
                    <a:lstStyle/>
                    <a:p>
                      <a:pPr algn="ctr" rtl="0">
                        <a:buNone/>
                      </a:pPr>
                      <a:r>
                        <a:rPr lang="en-US" sz="1400" b="1" dirty="0">
                          <a:solidFill>
                            <a:srgbClr val="1F1F1F"/>
                          </a:solidFill>
                          <a:effectLst/>
                        </a:rPr>
                        <a:t>Rule #</a:t>
                      </a:r>
                      <a:endParaRPr lang="en-US" sz="1400" dirty="0">
                        <a:solidFill>
                          <a:srgbClr val="1F1F1F"/>
                        </a:solidFill>
                        <a:effectLst/>
                        <a:latin typeface="Google Sans Text"/>
                      </a:endParaRPr>
                    </a:p>
                  </a:txBody>
                  <a:tcPr marL="53738" marR="53738" marT="35825" marB="35825" anchor="ctr">
                    <a:solidFill>
                      <a:schemeClr val="bg1">
                        <a:lumMod val="95000"/>
                      </a:schemeClr>
                    </a:solidFill>
                  </a:tcPr>
                </a:tc>
                <a:tc>
                  <a:txBody>
                    <a:bodyPr/>
                    <a:lstStyle/>
                    <a:p>
                      <a:pPr algn="ctr" rtl="0">
                        <a:buNone/>
                      </a:pPr>
                      <a:r>
                        <a:rPr lang="en-US" sz="1400" b="1" dirty="0">
                          <a:solidFill>
                            <a:srgbClr val="1F1F1F"/>
                          </a:solidFill>
                          <a:effectLst/>
                        </a:rPr>
                        <a:t>Guideline</a:t>
                      </a:r>
                      <a:endParaRPr lang="en-US" sz="1400" dirty="0">
                        <a:solidFill>
                          <a:srgbClr val="1F1F1F"/>
                        </a:solidFill>
                        <a:effectLst/>
                        <a:latin typeface="Google Sans Text"/>
                      </a:endParaRPr>
                    </a:p>
                  </a:txBody>
                  <a:tcPr marL="53738" marR="53738" marT="35825" marB="35825" anchor="ctr">
                    <a:solidFill>
                      <a:schemeClr val="bg1">
                        <a:lumMod val="95000"/>
                      </a:schemeClr>
                    </a:solidFill>
                  </a:tcPr>
                </a:tc>
                <a:tc>
                  <a:txBody>
                    <a:bodyPr/>
                    <a:lstStyle/>
                    <a:p>
                      <a:pPr rtl="0">
                        <a:buNone/>
                      </a:pPr>
                      <a:r>
                        <a:rPr lang="en-US" sz="1400" b="1" dirty="0">
                          <a:solidFill>
                            <a:srgbClr val="1F1F1F"/>
                          </a:solidFill>
                          <a:effectLst/>
                        </a:rPr>
                        <a:t>Purpose / Description</a:t>
                      </a:r>
                      <a:endParaRPr lang="en-US" sz="1400" dirty="0">
                        <a:solidFill>
                          <a:srgbClr val="1F1F1F"/>
                        </a:solidFill>
                        <a:effectLst/>
                        <a:latin typeface="Google Sans Text"/>
                      </a:endParaRPr>
                    </a:p>
                  </a:txBody>
                  <a:tcPr marL="53738" marR="53738" marT="35825" marB="35825" anchor="ctr">
                    <a:solidFill>
                      <a:schemeClr val="bg1">
                        <a:lumMod val="95000"/>
                      </a:schemeClr>
                    </a:solidFill>
                  </a:tcPr>
                </a:tc>
                <a:extLst>
                  <a:ext uri="{0D108BD9-81ED-4DB2-BD59-A6C34878D82A}">
                    <a16:rowId xmlns:a16="http://schemas.microsoft.com/office/drawing/2014/main" val="596583762"/>
                  </a:ext>
                </a:extLst>
              </a:tr>
              <a:tr h="273436">
                <a:tc>
                  <a:txBody>
                    <a:bodyPr/>
                    <a:lstStyle/>
                    <a:p>
                      <a:pPr algn="ctr" rtl="0">
                        <a:buNone/>
                      </a:pPr>
                      <a:r>
                        <a:rPr lang="en-US" sz="1400" b="1" kern="1200" dirty="0">
                          <a:solidFill>
                            <a:srgbClr val="1F1F1F"/>
                          </a:solidFill>
                          <a:effectLst/>
                          <a:latin typeface="+mn-lt"/>
                          <a:ea typeface="+mn-ea"/>
                          <a:cs typeface="+mn-cs"/>
                        </a:rPr>
                        <a:t>Rule 1</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Chart Border</a:t>
                      </a:r>
                    </a:p>
                  </a:txBody>
                  <a:tcPr marL="53738" marR="53738" marT="35825" marB="35825" anchor="ctr"/>
                </a:tc>
                <a:tc>
                  <a:txBody>
                    <a:bodyPr/>
                    <a:lstStyle/>
                    <a:p>
                      <a:pPr rtl="0">
                        <a:buNone/>
                      </a:pPr>
                      <a:r>
                        <a:rPr lang="en-US" sz="1400" dirty="0">
                          <a:solidFill>
                            <a:srgbClr val="1F1F1F"/>
                          </a:solidFill>
                          <a:effectLst/>
                        </a:rPr>
                        <a:t>Ensure a black frame surrounds the data area to define the workspace.</a:t>
                      </a:r>
                      <a:endParaRPr lang="en-US" sz="14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1307597587"/>
                  </a:ext>
                </a:extLst>
              </a:tr>
              <a:tr h="339243">
                <a:tc>
                  <a:txBody>
                    <a:bodyPr/>
                    <a:lstStyle/>
                    <a:p>
                      <a:pPr algn="ctr" rtl="0">
                        <a:buNone/>
                      </a:pPr>
                      <a:r>
                        <a:rPr lang="en-US" sz="1400" b="1" kern="1200" dirty="0">
                          <a:solidFill>
                            <a:srgbClr val="1F1F1F"/>
                          </a:solidFill>
                          <a:effectLst/>
                          <a:latin typeface="+mn-lt"/>
                          <a:ea typeface="+mn-ea"/>
                          <a:cs typeface="+mn-cs"/>
                        </a:rPr>
                        <a:t>Rule 2</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Zero Baseline</a:t>
                      </a:r>
                    </a:p>
                  </a:txBody>
                  <a:tcPr marL="53738" marR="53738" marT="35825" marB="35825" anchor="ctr"/>
                </a:tc>
                <a:tc>
                  <a:txBody>
                    <a:bodyPr/>
                    <a:lstStyle/>
                    <a:p>
                      <a:pPr rtl="0">
                        <a:buNone/>
                      </a:pPr>
                      <a:r>
                        <a:rPr lang="en-US" sz="1400" dirty="0">
                          <a:solidFill>
                            <a:srgbClr val="1F1F1F"/>
                          </a:solidFill>
                          <a:effectLst/>
                        </a:rPr>
                        <a:t>The Y-axis </a:t>
                      </a:r>
                      <a:r>
                        <a:rPr lang="en-US" sz="1400" b="1" dirty="0">
                          <a:solidFill>
                            <a:srgbClr val="1F1F1F"/>
                          </a:solidFill>
                          <a:effectLst/>
                        </a:rPr>
                        <a:t>must</a:t>
                      </a:r>
                      <a:r>
                        <a:rPr lang="en-US" sz="1400" dirty="0">
                          <a:solidFill>
                            <a:srgbClr val="1F1F1F"/>
                          </a:solidFill>
                          <a:effectLst/>
                        </a:rPr>
                        <a:t> start at 0 to avoid distorting the magnitude of the plots.</a:t>
                      </a:r>
                      <a:endParaRPr lang="en-US" sz="14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3913399402"/>
                  </a:ext>
                </a:extLst>
              </a:tr>
              <a:tr h="478132">
                <a:tc>
                  <a:txBody>
                    <a:bodyPr/>
                    <a:lstStyle/>
                    <a:p>
                      <a:pPr algn="ctr" rtl="0">
                        <a:buNone/>
                      </a:pPr>
                      <a:r>
                        <a:rPr lang="en-US" sz="1400" b="1" kern="1200" dirty="0">
                          <a:solidFill>
                            <a:srgbClr val="1F1F1F"/>
                          </a:solidFill>
                          <a:effectLst/>
                          <a:latin typeface="+mn-lt"/>
                          <a:ea typeface="+mn-ea"/>
                          <a:cs typeface="+mn-cs"/>
                        </a:rPr>
                        <a:t>Rule 3</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Horizontal/Vertical Text</a:t>
                      </a:r>
                    </a:p>
                  </a:txBody>
                  <a:tcPr marL="53738" marR="53738" marT="35825" marB="35825" anchor="ctr"/>
                </a:tc>
                <a:tc>
                  <a:txBody>
                    <a:bodyPr/>
                    <a:lstStyle/>
                    <a:p>
                      <a:pPr rtl="0">
                        <a:buNone/>
                      </a:pPr>
                      <a:r>
                        <a:rPr lang="en-US" sz="1400" dirty="0">
                          <a:solidFill>
                            <a:srgbClr val="1F1F1F"/>
                          </a:solidFill>
                          <a:effectLst/>
                        </a:rPr>
                        <a:t>All labels in the chart, such as those in the X-axis, Legends, Bottom, and Top titles, must be horizontal for easy reading, except the Y-axis, which must be vertically oriented. </a:t>
                      </a:r>
                      <a:endParaRPr lang="en-US" sz="14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1934749214"/>
                  </a:ext>
                </a:extLst>
              </a:tr>
              <a:tr h="339243">
                <a:tc>
                  <a:txBody>
                    <a:bodyPr/>
                    <a:lstStyle/>
                    <a:p>
                      <a:pPr algn="ctr" rtl="0">
                        <a:buNone/>
                      </a:pPr>
                      <a:r>
                        <a:rPr lang="en-US" sz="1400" b="1" kern="1200" dirty="0">
                          <a:solidFill>
                            <a:srgbClr val="1F1F1F"/>
                          </a:solidFill>
                          <a:effectLst/>
                          <a:latin typeface="+mn-lt"/>
                          <a:ea typeface="+mn-ea"/>
                          <a:cs typeface="+mn-cs"/>
                        </a:rPr>
                        <a:t>Rule 4</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Include Legend</a:t>
                      </a:r>
                    </a:p>
                  </a:txBody>
                  <a:tcPr marL="53738" marR="53738" marT="35825" marB="35825" anchor="ctr"/>
                </a:tc>
                <a:tc>
                  <a:txBody>
                    <a:bodyPr/>
                    <a:lstStyle/>
                    <a:p>
                      <a:pPr rtl="0">
                        <a:buNone/>
                      </a:pPr>
                      <a:r>
                        <a:rPr lang="en-US" sz="1400" dirty="0">
                          <a:solidFill>
                            <a:srgbClr val="1F1F1F"/>
                          </a:solidFill>
                          <a:effectLst/>
                        </a:rPr>
                        <a:t>Place a legend (usually top-right) to explain what the plot colors represent.</a:t>
                      </a:r>
                      <a:endParaRPr lang="en-US" sz="14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3018967591"/>
                  </a:ext>
                </a:extLst>
              </a:tr>
              <a:tr h="339243">
                <a:tc>
                  <a:txBody>
                    <a:bodyPr/>
                    <a:lstStyle/>
                    <a:p>
                      <a:pPr algn="ctr" rtl="0">
                        <a:buNone/>
                      </a:pPr>
                      <a:r>
                        <a:rPr lang="en-US" sz="1400" b="1" kern="1200" dirty="0">
                          <a:solidFill>
                            <a:srgbClr val="1F1F1F"/>
                          </a:solidFill>
                          <a:effectLst/>
                          <a:latin typeface="+mn-lt"/>
                          <a:ea typeface="+mn-ea"/>
                          <a:cs typeface="+mn-cs"/>
                        </a:rPr>
                        <a:t>Rule 5</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Clear Titles</a:t>
                      </a:r>
                    </a:p>
                  </a:txBody>
                  <a:tcPr marL="53738" marR="53738" marT="35825" marB="35825" anchor="ctr"/>
                </a:tc>
                <a:tc>
                  <a:txBody>
                    <a:bodyPr/>
                    <a:lstStyle/>
                    <a:p>
                      <a:pPr rtl="0">
                        <a:buNone/>
                      </a:pPr>
                      <a:r>
                        <a:rPr lang="en-US" sz="1400" dirty="0">
                          <a:solidFill>
                            <a:srgbClr val="1F1F1F"/>
                          </a:solidFill>
                          <a:effectLst/>
                        </a:rPr>
                        <a:t>Every chart needs three titles: a </a:t>
                      </a:r>
                      <a:r>
                        <a:rPr lang="en-US" sz="1400" b="1" dirty="0">
                          <a:solidFill>
                            <a:srgbClr val="1F1F1F"/>
                          </a:solidFill>
                          <a:effectLst/>
                        </a:rPr>
                        <a:t>Main Title</a:t>
                      </a:r>
                      <a:r>
                        <a:rPr lang="en-US" sz="1400" dirty="0">
                          <a:solidFill>
                            <a:srgbClr val="1F1F1F"/>
                          </a:solidFill>
                          <a:effectLst/>
                        </a:rPr>
                        <a:t>, an </a:t>
                      </a:r>
                      <a:r>
                        <a:rPr lang="en-US" sz="1400" b="1" dirty="0">
                          <a:solidFill>
                            <a:srgbClr val="1F1F1F"/>
                          </a:solidFill>
                          <a:effectLst/>
                        </a:rPr>
                        <a:t>X-axis Title</a:t>
                      </a:r>
                      <a:r>
                        <a:rPr lang="en-US" sz="1400" dirty="0">
                          <a:solidFill>
                            <a:srgbClr val="1F1F1F"/>
                          </a:solidFill>
                          <a:effectLst/>
                        </a:rPr>
                        <a:t>, and a </a:t>
                      </a:r>
                      <a:r>
                        <a:rPr lang="en-US" sz="1400" b="1" dirty="0">
                          <a:solidFill>
                            <a:srgbClr val="1F1F1F"/>
                          </a:solidFill>
                          <a:effectLst/>
                        </a:rPr>
                        <a:t>Y-axis Title</a:t>
                      </a:r>
                      <a:r>
                        <a:rPr lang="en-US" sz="1400" dirty="0">
                          <a:solidFill>
                            <a:srgbClr val="1F1F1F"/>
                          </a:solidFill>
                          <a:effectLst/>
                        </a:rPr>
                        <a:t>.</a:t>
                      </a:r>
                      <a:endParaRPr lang="en-US" sz="14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1827549170"/>
                  </a:ext>
                </a:extLst>
              </a:tr>
              <a:tr h="1501611">
                <a:tc>
                  <a:txBody>
                    <a:bodyPr/>
                    <a:lstStyle/>
                    <a:p>
                      <a:pPr algn="ctr" rtl="0">
                        <a:buNone/>
                      </a:pPr>
                      <a:r>
                        <a:rPr lang="en-US" sz="1400" b="1" kern="1200" dirty="0">
                          <a:solidFill>
                            <a:srgbClr val="1F1F1F"/>
                          </a:solidFill>
                          <a:effectLst/>
                          <a:latin typeface="+mn-lt"/>
                          <a:ea typeface="+mn-ea"/>
                          <a:cs typeface="+mn-cs"/>
                        </a:rPr>
                        <a:t>Rule 6</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Color Strategy</a:t>
                      </a:r>
                    </a:p>
                  </a:txBody>
                  <a:tcPr marL="53738" marR="53738" marT="35825" marB="35825" anchor="ctr"/>
                </a:tc>
                <a:tc>
                  <a:txBody>
                    <a:bodyPr/>
                    <a:lstStyle/>
                    <a:p>
                      <a:pPr rtl="0">
                        <a:buNone/>
                      </a:pPr>
                      <a:r>
                        <a:rPr lang="en-US" sz="1400" b="1" dirty="0">
                          <a:solidFill>
                            <a:srgbClr val="1F1F1F"/>
                          </a:solidFill>
                          <a:effectLst/>
                        </a:rPr>
                        <a:t>In case of one cluster:</a:t>
                      </a:r>
                      <a:r>
                        <a:rPr lang="en-US" sz="1400" dirty="0">
                          <a:solidFill>
                            <a:srgbClr val="1F1F1F"/>
                          </a:solidFill>
                          <a:effectLst/>
                        </a:rPr>
                        <a:t> use one uniform light color (e.g., lightblue) with a black border for all plots.</a:t>
                      </a:r>
                    </a:p>
                    <a:p>
                      <a:pPr rtl="0">
                        <a:buNone/>
                      </a:pPr>
                      <a:br>
                        <a:rPr lang="en-US" sz="1400" dirty="0">
                          <a:solidFill>
                            <a:srgbClr val="1F1F1F"/>
                          </a:solidFill>
                          <a:effectLst/>
                        </a:rPr>
                      </a:br>
                      <a:r>
                        <a:rPr lang="en-US" sz="1400" b="1" dirty="0">
                          <a:solidFill>
                            <a:srgbClr val="1F1F1F"/>
                          </a:solidFill>
                          <a:effectLst/>
                        </a:rPr>
                        <a:t>In case of more than one cluster:</a:t>
                      </a:r>
                      <a:r>
                        <a:rPr lang="en-US" sz="1400" dirty="0">
                          <a:solidFill>
                            <a:srgbClr val="1F1F1F"/>
                          </a:solidFill>
                          <a:effectLst/>
                        </a:rPr>
                        <a:t> use one uniform light color with a black border for each cluster (e.g., lightblue for cluster A, lightgreen for cluster B, and lightred for cluster C). </a:t>
                      </a:r>
                    </a:p>
                    <a:p>
                      <a:pPr rtl="0">
                        <a:buNone/>
                      </a:pPr>
                      <a:br>
                        <a:rPr lang="en-US" sz="1400" dirty="0">
                          <a:solidFill>
                            <a:srgbClr val="1F1F1F"/>
                          </a:solidFill>
                          <a:effectLst/>
                        </a:rPr>
                      </a:br>
                      <a:r>
                        <a:rPr lang="en-US" sz="1400" b="1" dirty="0">
                          <a:solidFill>
                            <a:srgbClr val="1F1F1F"/>
                          </a:solidFill>
                          <a:effectLst/>
                        </a:rPr>
                        <a:t>In case of outliers:</a:t>
                      </a:r>
                      <a:r>
                        <a:rPr lang="en-US" sz="1400" dirty="0">
                          <a:solidFill>
                            <a:srgbClr val="1F1F1F"/>
                          </a:solidFill>
                          <a:effectLst/>
                        </a:rPr>
                        <a:t> use one uniform light color (e.g., lightblue) with a black border for all plots and a different light color (e.g., lightgreen) for the outliers.</a:t>
                      </a:r>
                      <a:endParaRPr lang="en-US" sz="14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4209903674"/>
                  </a:ext>
                </a:extLst>
              </a:tr>
              <a:tr h="434656">
                <a:tc>
                  <a:txBody>
                    <a:bodyPr/>
                    <a:lstStyle/>
                    <a:p>
                      <a:pPr algn="ctr" rtl="0">
                        <a:buNone/>
                      </a:pPr>
                      <a:r>
                        <a:rPr lang="en-US" sz="1400" b="1" kern="1200" dirty="0">
                          <a:solidFill>
                            <a:srgbClr val="1F1F1F"/>
                          </a:solidFill>
                          <a:effectLst/>
                          <a:latin typeface="+mn-lt"/>
                          <a:ea typeface="+mn-ea"/>
                          <a:cs typeface="+mn-cs"/>
                        </a:rPr>
                        <a:t>Rule 7</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Gridlines</a:t>
                      </a:r>
                    </a:p>
                  </a:txBody>
                  <a:tcPr marL="53738" marR="53738" marT="35825" marB="35825" anchor="ctr"/>
                </a:tc>
                <a:tc>
                  <a:txBody>
                    <a:bodyPr/>
                    <a:lstStyle/>
                    <a:p>
                      <a:pPr rtl="0">
                        <a:buNone/>
                      </a:pPr>
                      <a:r>
                        <a:rPr lang="en-US" sz="1400" kern="1200" dirty="0">
                          <a:solidFill>
                            <a:srgbClr val="1F1F1F"/>
                          </a:solidFill>
                          <a:effectLst/>
                          <a:latin typeface="+mn-lt"/>
                          <a:ea typeface="+mn-ea"/>
                          <a:cs typeface="+mn-cs"/>
                        </a:rPr>
                        <a:t>Draw the gridlines to assist in reading the values.</a:t>
                      </a:r>
                    </a:p>
                  </a:txBody>
                  <a:tcPr marL="53738" marR="53738" marT="35825" marB="35825" anchor="ctr"/>
                </a:tc>
                <a:extLst>
                  <a:ext uri="{0D108BD9-81ED-4DB2-BD59-A6C34878D82A}">
                    <a16:rowId xmlns:a16="http://schemas.microsoft.com/office/drawing/2014/main" val="58238060"/>
                  </a:ext>
                </a:extLst>
              </a:tr>
              <a:tr h="434656">
                <a:tc>
                  <a:txBody>
                    <a:bodyPr/>
                    <a:lstStyle/>
                    <a:p>
                      <a:pPr algn="ctr" rtl="0">
                        <a:buNone/>
                      </a:pPr>
                      <a:r>
                        <a:rPr lang="en-US" sz="1400" b="1" kern="1200" dirty="0">
                          <a:solidFill>
                            <a:srgbClr val="1F1F1F"/>
                          </a:solidFill>
                          <a:effectLst/>
                          <a:latin typeface="+mn-lt"/>
                          <a:ea typeface="+mn-ea"/>
                          <a:cs typeface="+mn-cs"/>
                        </a:rPr>
                        <a:t>Rule 8</a:t>
                      </a:r>
                    </a:p>
                  </a:txBody>
                  <a:tcPr marL="53738" marR="53738" marT="35825" marB="35825" anchor="ctr"/>
                </a:tc>
                <a:tc>
                  <a:txBody>
                    <a:bodyPr/>
                    <a:lstStyle/>
                    <a:p>
                      <a:pPr algn="ctr" rtl="0">
                        <a:buNone/>
                      </a:pPr>
                      <a:r>
                        <a:rPr lang="en-US" sz="1400" b="1" kern="1200" dirty="0">
                          <a:solidFill>
                            <a:srgbClr val="1F1F1F"/>
                          </a:solidFill>
                          <a:effectLst/>
                          <a:latin typeface="+mn-lt"/>
                          <a:ea typeface="+mn-ea"/>
                          <a:cs typeface="+mn-cs"/>
                        </a:rPr>
                        <a:t>Outliers Strategy</a:t>
                      </a:r>
                    </a:p>
                  </a:txBody>
                  <a:tcPr marL="53738" marR="53738" marT="35825" marB="35825" anchor="ctr"/>
                </a:tc>
                <a:tc>
                  <a:txBody>
                    <a:bodyPr/>
                    <a:lstStyle/>
                    <a:p>
                      <a:pPr rtl="0">
                        <a:buNone/>
                      </a:pPr>
                      <a:r>
                        <a:rPr lang="en-US" sz="1400" kern="1200" dirty="0">
                          <a:solidFill>
                            <a:srgbClr val="1F1F1F"/>
                          </a:solidFill>
                          <a:effectLst/>
                          <a:latin typeface="+mn-lt"/>
                          <a:ea typeface="+mn-ea"/>
                          <a:cs typeface="+mn-cs"/>
                        </a:rPr>
                        <a:t>Add the label of the outlier if it is required in the audience question.</a:t>
                      </a:r>
                    </a:p>
                  </a:txBody>
                  <a:tcPr marL="53738" marR="53738" marT="35825" marB="35825" anchor="ctr"/>
                </a:tc>
                <a:extLst>
                  <a:ext uri="{0D108BD9-81ED-4DB2-BD59-A6C34878D82A}">
                    <a16:rowId xmlns:a16="http://schemas.microsoft.com/office/drawing/2014/main" val="1272827781"/>
                  </a:ext>
                </a:extLst>
              </a:tr>
            </a:tbl>
          </a:graphicData>
        </a:graphic>
      </p:graphicFrame>
    </p:spTree>
    <p:extLst>
      <p:ext uri="{BB962C8B-B14F-4D97-AF65-F5344CB8AC3E}">
        <p14:creationId xmlns:p14="http://schemas.microsoft.com/office/powerpoint/2010/main" val="456645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132DC-8456-29B4-5FD0-B83BA982E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4628B-D4B9-C688-3B13-6BFB8539B542}"/>
              </a:ext>
            </a:extLst>
          </p:cNvPr>
          <p:cNvSpPr>
            <a:spLocks noGrp="1"/>
          </p:cNvSpPr>
          <p:nvPr>
            <p:ph type="title"/>
          </p:nvPr>
        </p:nvSpPr>
        <p:spPr>
          <a:xfrm>
            <a:off x="704088" y="914399"/>
            <a:ext cx="5239272" cy="1621147"/>
          </a:xfrm>
        </p:spPr>
        <p:txBody>
          <a:bodyPr>
            <a:normAutofit/>
          </a:bodyPr>
          <a:lstStyle/>
          <a:p>
            <a:r>
              <a:rPr lang="en-US" dirty="0"/>
              <a:t>Practical Exercise 1: scatter plot </a:t>
            </a:r>
            <a:endParaRPr lang="en-EG" dirty="0"/>
          </a:p>
        </p:txBody>
      </p:sp>
      <p:sp>
        <p:nvSpPr>
          <p:cNvPr id="3" name="Content Placeholder 2">
            <a:extLst>
              <a:ext uri="{FF2B5EF4-FFF2-40B4-BE49-F238E27FC236}">
                <a16:creationId xmlns:a16="http://schemas.microsoft.com/office/drawing/2014/main" id="{ADCB9DB9-FE99-4C7E-DEE0-D50D59A57E42}"/>
              </a:ext>
            </a:extLst>
          </p:cNvPr>
          <p:cNvSpPr>
            <a:spLocks noGrp="1"/>
          </p:cNvSpPr>
          <p:nvPr>
            <p:ph idx="1"/>
          </p:nvPr>
        </p:nvSpPr>
        <p:spPr>
          <a:xfrm>
            <a:off x="6531371" y="914399"/>
            <a:ext cx="5138688" cy="5248657"/>
          </a:xfrm>
        </p:spPr>
        <p:txBody>
          <a:bodyPr>
            <a:normAutofit/>
          </a:bodyPr>
          <a:lstStyle/>
          <a:p>
            <a:pPr marL="0" indent="0">
              <a:buNone/>
            </a:pPr>
            <a:r>
              <a:rPr lang="en-US" b="1" dirty="0"/>
              <a:t>1. The Task</a:t>
            </a:r>
          </a:p>
          <a:p>
            <a:pPr marL="0" indent="0" algn="just">
              <a:buNone/>
            </a:pPr>
            <a:r>
              <a:rPr lang="en-US" dirty="0"/>
              <a:t>Perform a </a:t>
            </a:r>
            <a:r>
              <a:rPr lang="en-US" b="1" dirty="0"/>
              <a:t>Numerical vs. Numerical Bivariate Analysis </a:t>
            </a:r>
            <a:r>
              <a:rPr lang="en-US" dirty="0"/>
              <a:t>and analyze the relationship between the number of </a:t>
            </a:r>
            <a:r>
              <a:rPr lang="en-US" b="1" dirty="0"/>
              <a:t>Research Hours</a:t>
            </a:r>
            <a:r>
              <a:rPr lang="en-US" dirty="0"/>
              <a:t> invested and the number of </a:t>
            </a:r>
            <a:r>
              <a:rPr lang="en-US" b="1" dirty="0"/>
              <a:t>Patents Filed</a:t>
            </a:r>
            <a:r>
              <a:rPr lang="en-US" dirty="0"/>
              <a:t> across different scientific laboratories.</a:t>
            </a:r>
          </a:p>
          <a:p>
            <a:pPr marL="0" indent="0" algn="just">
              <a:buNone/>
            </a:pPr>
            <a:endParaRPr lang="en-US" dirty="0"/>
          </a:p>
          <a:p>
            <a:endParaRPr lang="en-US" dirty="0"/>
          </a:p>
          <a:p>
            <a:pPr marL="0" indent="0">
              <a:buNone/>
            </a:pPr>
            <a:r>
              <a:rPr lang="en-US" b="1" dirty="0"/>
              <a:t>2. The Dataset</a:t>
            </a:r>
          </a:p>
          <a:p>
            <a:pPr marL="0" indent="0" algn="just">
              <a:buNone/>
            </a:pPr>
            <a:r>
              <a:rPr lang="en-US" dirty="0"/>
              <a:t>It shows </a:t>
            </a:r>
            <a:r>
              <a:rPr lang="en-US" b="1" dirty="0"/>
              <a:t>Research Hours</a:t>
            </a:r>
            <a:r>
              <a:rPr lang="en-US" dirty="0"/>
              <a:t> invested, and the number of </a:t>
            </a:r>
            <a:r>
              <a:rPr lang="en-US" b="1" dirty="0"/>
              <a:t>Patents Filed</a:t>
            </a:r>
            <a:r>
              <a:rPr lang="en-US" dirty="0"/>
              <a:t> across different scientific laboratories.</a:t>
            </a:r>
          </a:p>
          <a:p>
            <a:pPr marL="0" indent="0">
              <a:buNone/>
            </a:pPr>
            <a:endParaRPr lang="en-US" dirty="0"/>
          </a:p>
          <a:p>
            <a:endParaRPr lang="en-US" dirty="0"/>
          </a:p>
          <a:p>
            <a:endParaRPr lang="en-EG" dirty="0"/>
          </a:p>
        </p:txBody>
      </p:sp>
      <p:graphicFrame>
        <p:nvGraphicFramePr>
          <p:cNvPr id="4" name="Table 3">
            <a:extLst>
              <a:ext uri="{FF2B5EF4-FFF2-40B4-BE49-F238E27FC236}">
                <a16:creationId xmlns:a16="http://schemas.microsoft.com/office/drawing/2014/main" id="{582E0A18-7637-6FD2-1DCF-7D4940085177}"/>
              </a:ext>
            </a:extLst>
          </p:cNvPr>
          <p:cNvGraphicFramePr>
            <a:graphicFrameLocks noGrp="1"/>
          </p:cNvGraphicFramePr>
          <p:nvPr>
            <p:extLst>
              <p:ext uri="{D42A27DB-BD31-4B8C-83A1-F6EECF244321}">
                <p14:modId xmlns:p14="http://schemas.microsoft.com/office/powerpoint/2010/main" val="3706599514"/>
              </p:ext>
            </p:extLst>
          </p:nvPr>
        </p:nvGraphicFramePr>
        <p:xfrm>
          <a:off x="358815" y="2338245"/>
          <a:ext cx="5987361" cy="3740154"/>
        </p:xfrm>
        <a:graphic>
          <a:graphicData uri="http://schemas.openxmlformats.org/drawingml/2006/table">
            <a:tbl>
              <a:tblPr>
                <a:tableStyleId>{5940675A-B579-460E-94D1-54222C63F5DA}</a:tableStyleId>
              </a:tblPr>
              <a:tblGrid>
                <a:gridCol w="1736203">
                  <a:extLst>
                    <a:ext uri="{9D8B030D-6E8A-4147-A177-3AD203B41FA5}">
                      <a16:colId xmlns:a16="http://schemas.microsoft.com/office/drawing/2014/main" val="520207258"/>
                    </a:ext>
                  </a:extLst>
                </a:gridCol>
                <a:gridCol w="2013995">
                  <a:extLst>
                    <a:ext uri="{9D8B030D-6E8A-4147-A177-3AD203B41FA5}">
                      <a16:colId xmlns:a16="http://schemas.microsoft.com/office/drawing/2014/main" val="1451661009"/>
                    </a:ext>
                  </a:extLst>
                </a:gridCol>
                <a:gridCol w="2237163">
                  <a:extLst>
                    <a:ext uri="{9D8B030D-6E8A-4147-A177-3AD203B41FA5}">
                      <a16:colId xmlns:a16="http://schemas.microsoft.com/office/drawing/2014/main" val="2928939276"/>
                    </a:ext>
                  </a:extLst>
                </a:gridCol>
              </a:tblGrid>
              <a:tr h="340014">
                <a:tc>
                  <a:txBody>
                    <a:bodyPr/>
                    <a:lstStyle/>
                    <a:p>
                      <a:pPr rtl="0">
                        <a:buNone/>
                      </a:pPr>
                      <a:r>
                        <a:rPr lang="en-US" sz="1200" b="1" dirty="0">
                          <a:solidFill>
                            <a:srgbClr val="1F1F1F"/>
                          </a:solidFill>
                          <a:effectLst/>
                        </a:rPr>
                        <a:t>Scientific Laboratory</a:t>
                      </a:r>
                      <a:endParaRPr lang="en-US" sz="1200" dirty="0">
                        <a:solidFill>
                          <a:srgbClr val="1F1F1F"/>
                        </a:solidFill>
                        <a:effectLst/>
                        <a:latin typeface="Google Sans Text"/>
                      </a:endParaRPr>
                    </a:p>
                  </a:txBody>
                  <a:tcPr marL="91075" marR="91075" marT="60717" marB="60717" anchor="ctr">
                    <a:solidFill>
                      <a:srgbClr val="FFC000"/>
                    </a:solidFill>
                  </a:tcPr>
                </a:tc>
                <a:tc>
                  <a:txBody>
                    <a:bodyPr/>
                    <a:lstStyle/>
                    <a:p>
                      <a:pPr rtl="0">
                        <a:buNone/>
                      </a:pPr>
                      <a:r>
                        <a:rPr lang="en-US" sz="1200" b="1" dirty="0">
                          <a:solidFill>
                            <a:srgbClr val="1F1F1F"/>
                          </a:solidFill>
                          <a:effectLst/>
                        </a:rPr>
                        <a:t>Total Research Hours (X)</a:t>
                      </a:r>
                      <a:endParaRPr lang="en-US" sz="1200" dirty="0">
                        <a:solidFill>
                          <a:srgbClr val="1F1F1F"/>
                        </a:solidFill>
                        <a:effectLst/>
                        <a:latin typeface="Google Sans Text"/>
                      </a:endParaRPr>
                    </a:p>
                  </a:txBody>
                  <a:tcPr marL="91075" marR="91075" marT="60717" marB="60717" anchor="ctr">
                    <a:solidFill>
                      <a:srgbClr val="FFC000"/>
                    </a:solidFill>
                  </a:tcPr>
                </a:tc>
                <a:tc>
                  <a:txBody>
                    <a:bodyPr/>
                    <a:lstStyle/>
                    <a:p>
                      <a:pPr rtl="0">
                        <a:buNone/>
                      </a:pPr>
                      <a:r>
                        <a:rPr lang="en-US" sz="1200" b="1" dirty="0">
                          <a:solidFill>
                            <a:srgbClr val="1F1F1F"/>
                          </a:solidFill>
                          <a:effectLst/>
                        </a:rPr>
                        <a:t>Number of Patents Filed (Y)</a:t>
                      </a:r>
                      <a:endParaRPr lang="en-US" sz="1200" dirty="0">
                        <a:solidFill>
                          <a:srgbClr val="1F1F1F"/>
                        </a:solidFill>
                        <a:effectLst/>
                        <a:latin typeface="Google Sans Text"/>
                      </a:endParaRPr>
                    </a:p>
                  </a:txBody>
                  <a:tcPr marL="91075" marR="91075" marT="60717" marB="60717" anchor="ctr">
                    <a:solidFill>
                      <a:srgbClr val="FFC000"/>
                    </a:solidFill>
                  </a:tcPr>
                </a:tc>
                <a:extLst>
                  <a:ext uri="{0D108BD9-81ED-4DB2-BD59-A6C34878D82A}">
                    <a16:rowId xmlns:a16="http://schemas.microsoft.com/office/drawing/2014/main" val="821567259"/>
                  </a:ext>
                </a:extLst>
              </a:tr>
              <a:tr h="340014">
                <a:tc>
                  <a:txBody>
                    <a:bodyPr/>
                    <a:lstStyle/>
                    <a:p>
                      <a:pPr rtl="0">
                        <a:buNone/>
                      </a:pPr>
                      <a:r>
                        <a:rPr lang="en-US" sz="1400" b="1" dirty="0">
                          <a:solidFill>
                            <a:srgbClr val="1F1F1F"/>
                          </a:solidFill>
                          <a:effectLst/>
                        </a:rPr>
                        <a:t>AI Lab</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120</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5</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712199192"/>
                  </a:ext>
                </a:extLst>
              </a:tr>
              <a:tr h="340014">
                <a:tc>
                  <a:txBody>
                    <a:bodyPr/>
                    <a:lstStyle/>
                    <a:p>
                      <a:pPr rtl="0">
                        <a:buNone/>
                      </a:pPr>
                      <a:r>
                        <a:rPr lang="en-US" sz="1400" b="1" dirty="0">
                          <a:solidFill>
                            <a:srgbClr val="1F1F1F"/>
                          </a:solidFill>
                          <a:effectLst/>
                        </a:rPr>
                        <a:t>Biotech Research</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250</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12</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1328264367"/>
                  </a:ext>
                </a:extLst>
              </a:tr>
              <a:tr h="340014">
                <a:tc>
                  <a:txBody>
                    <a:bodyPr/>
                    <a:lstStyle/>
                    <a:p>
                      <a:pPr rtl="0">
                        <a:buNone/>
                      </a:pPr>
                      <a:r>
                        <a:rPr lang="en-US" sz="1400" b="1" dirty="0">
                          <a:solidFill>
                            <a:srgbClr val="1F1F1F"/>
                          </a:solidFill>
                          <a:effectLst/>
                        </a:rPr>
                        <a:t>Energy Division</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480</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22</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472966600"/>
                  </a:ext>
                </a:extLst>
              </a:tr>
              <a:tr h="340014">
                <a:tc>
                  <a:txBody>
                    <a:bodyPr/>
                    <a:lstStyle/>
                    <a:p>
                      <a:pPr rtl="0">
                        <a:buNone/>
                      </a:pPr>
                      <a:r>
                        <a:rPr lang="en-US" sz="1400" b="1" dirty="0">
                          <a:solidFill>
                            <a:srgbClr val="1F1F1F"/>
                          </a:solidFill>
                          <a:effectLst/>
                        </a:rPr>
                        <a:t>Robotics Wing</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600</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30</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343157448"/>
                  </a:ext>
                </a:extLst>
              </a:tr>
              <a:tr h="340014">
                <a:tc>
                  <a:txBody>
                    <a:bodyPr/>
                    <a:lstStyle/>
                    <a:p>
                      <a:pPr rtl="0">
                        <a:buNone/>
                      </a:pPr>
                      <a:r>
                        <a:rPr lang="en-US" sz="1400" b="1" dirty="0">
                          <a:solidFill>
                            <a:srgbClr val="1F1F1F"/>
                          </a:solidFill>
                          <a:effectLst/>
                        </a:rPr>
                        <a:t>Quantum Systems</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750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38</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1943872292"/>
                  </a:ext>
                </a:extLst>
              </a:tr>
              <a:tr h="340014">
                <a:tc>
                  <a:txBody>
                    <a:bodyPr/>
                    <a:lstStyle/>
                    <a:p>
                      <a:pPr rtl="0">
                        <a:buNone/>
                      </a:pPr>
                      <a:r>
                        <a:rPr lang="en-US" sz="1400" b="1" dirty="0">
                          <a:solidFill>
                            <a:srgbClr val="1F1F1F"/>
                          </a:solidFill>
                          <a:effectLst/>
                        </a:rPr>
                        <a:t>FinTech Group</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900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45</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1432321757"/>
                  </a:ext>
                </a:extLst>
              </a:tr>
              <a:tr h="340014">
                <a:tc>
                  <a:txBody>
                    <a:bodyPr/>
                    <a:lstStyle/>
                    <a:p>
                      <a:pPr rtl="0">
                        <a:buNone/>
                      </a:pPr>
                      <a:r>
                        <a:rPr lang="en-US" sz="1400" b="1" dirty="0" err="1">
                          <a:solidFill>
                            <a:srgbClr val="1F1F1F"/>
                          </a:solidFill>
                          <a:effectLst/>
                        </a:rPr>
                        <a:t>AgriTech</a:t>
                      </a:r>
                      <a:r>
                        <a:rPr lang="en-US" sz="1400" b="1" dirty="0">
                          <a:solidFill>
                            <a:srgbClr val="1F1F1F"/>
                          </a:solidFill>
                          <a:effectLst/>
                        </a:rPr>
                        <a:t> Sector</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1050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52</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4048097000"/>
                  </a:ext>
                </a:extLst>
              </a:tr>
              <a:tr h="340014">
                <a:tc>
                  <a:txBody>
                    <a:bodyPr/>
                    <a:lstStyle/>
                    <a:p>
                      <a:pPr rtl="0">
                        <a:buNone/>
                      </a:pPr>
                      <a:r>
                        <a:rPr lang="en-US" sz="1400" b="1" dirty="0">
                          <a:solidFill>
                            <a:srgbClr val="1F1F1F"/>
                          </a:solidFill>
                          <a:effectLst/>
                        </a:rPr>
                        <a:t>Materials Science</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1200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60</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1236192882"/>
                  </a:ext>
                </a:extLst>
              </a:tr>
              <a:tr h="340014">
                <a:tc>
                  <a:txBody>
                    <a:bodyPr/>
                    <a:lstStyle/>
                    <a:p>
                      <a:pPr rtl="0">
                        <a:buNone/>
                      </a:pPr>
                      <a:r>
                        <a:rPr lang="en-US" sz="1400" b="1" dirty="0">
                          <a:solidFill>
                            <a:srgbClr val="1F1F1F"/>
                          </a:solidFill>
                          <a:effectLst/>
                        </a:rPr>
                        <a:t>SpaceX Division</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1350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68</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4219031448"/>
                  </a:ext>
                </a:extLst>
              </a:tr>
              <a:tr h="340014">
                <a:tc>
                  <a:txBody>
                    <a:bodyPr/>
                    <a:lstStyle/>
                    <a:p>
                      <a:pPr rtl="0">
                        <a:buNone/>
                      </a:pPr>
                      <a:r>
                        <a:rPr lang="en-US" sz="1400" b="1" dirty="0">
                          <a:solidFill>
                            <a:srgbClr val="1F1F1F"/>
                          </a:solidFill>
                          <a:effectLst/>
                        </a:rPr>
                        <a:t>MedTech Hub</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200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65</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865388301"/>
                  </a:ext>
                </a:extLst>
              </a:tr>
            </a:tbl>
          </a:graphicData>
        </a:graphic>
      </p:graphicFrame>
    </p:spTree>
    <p:extLst>
      <p:ext uri="{BB962C8B-B14F-4D97-AF65-F5344CB8AC3E}">
        <p14:creationId xmlns:p14="http://schemas.microsoft.com/office/powerpoint/2010/main" val="2873211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032A2-2744-0A26-B9AF-CFDAF9B1E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5CE94-4B1F-D099-0A86-3145D6C33AEF}"/>
              </a:ext>
            </a:extLst>
          </p:cNvPr>
          <p:cNvSpPr>
            <a:spLocks noGrp="1"/>
          </p:cNvSpPr>
          <p:nvPr>
            <p:ph type="title"/>
          </p:nvPr>
        </p:nvSpPr>
        <p:spPr>
          <a:xfrm>
            <a:off x="704088" y="914399"/>
            <a:ext cx="5239272" cy="1621147"/>
          </a:xfrm>
        </p:spPr>
        <p:txBody>
          <a:bodyPr>
            <a:normAutofit/>
          </a:bodyPr>
          <a:lstStyle/>
          <a:p>
            <a:r>
              <a:rPr lang="en-US" dirty="0"/>
              <a:t>Practical Exercise 1: scatter plot</a:t>
            </a:r>
            <a:endParaRPr lang="en-EG" dirty="0"/>
          </a:p>
        </p:txBody>
      </p:sp>
      <p:sp>
        <p:nvSpPr>
          <p:cNvPr id="3" name="Content Placeholder 2">
            <a:extLst>
              <a:ext uri="{FF2B5EF4-FFF2-40B4-BE49-F238E27FC236}">
                <a16:creationId xmlns:a16="http://schemas.microsoft.com/office/drawing/2014/main" id="{88C5CF41-955C-EB7C-59B0-EF39CE404E89}"/>
              </a:ext>
            </a:extLst>
          </p:cNvPr>
          <p:cNvSpPr>
            <a:spLocks noGrp="1"/>
          </p:cNvSpPr>
          <p:nvPr>
            <p:ph idx="1"/>
          </p:nvPr>
        </p:nvSpPr>
        <p:spPr>
          <a:xfrm>
            <a:off x="6566095" y="914399"/>
            <a:ext cx="5138688" cy="5248657"/>
          </a:xfrm>
        </p:spPr>
        <p:txBody>
          <a:bodyPr>
            <a:normAutofit/>
          </a:bodyPr>
          <a:lstStyle/>
          <a:p>
            <a:pPr marL="0" indent="0">
              <a:buNone/>
            </a:pPr>
            <a:r>
              <a:rPr lang="en-US" b="1" dirty="0"/>
              <a:t>3. The Audience Question</a:t>
            </a:r>
          </a:p>
          <a:p>
            <a:pPr marL="0" indent="0" algn="just">
              <a:buNone/>
            </a:pPr>
            <a:r>
              <a:rPr lang="en-US" dirty="0"/>
              <a:t>”Is there a </a:t>
            </a:r>
            <a:r>
              <a:rPr lang="en-US" b="1" dirty="0"/>
              <a:t>Correlation</a:t>
            </a:r>
            <a:r>
              <a:rPr lang="en-US" dirty="0"/>
              <a:t> between research hours and patent output, and which specific laboratory is identified as the high-performance </a:t>
            </a:r>
            <a:r>
              <a:rPr lang="en-US" b="1" dirty="0"/>
              <a:t>Outlier</a:t>
            </a:r>
            <a:r>
              <a:rPr lang="en-US" dirty="0"/>
              <a:t>? ”</a:t>
            </a:r>
          </a:p>
          <a:p>
            <a:pPr marL="0" indent="0">
              <a:buNone/>
            </a:pPr>
            <a:endParaRPr lang="en-US" dirty="0"/>
          </a:p>
          <a:p>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4" name="Table 3">
            <a:extLst>
              <a:ext uri="{FF2B5EF4-FFF2-40B4-BE49-F238E27FC236}">
                <a16:creationId xmlns:a16="http://schemas.microsoft.com/office/drawing/2014/main" id="{D0639291-C0E5-547D-F01F-F986C8DF5CBD}"/>
              </a:ext>
            </a:extLst>
          </p:cNvPr>
          <p:cNvGraphicFramePr>
            <a:graphicFrameLocks noGrp="1"/>
          </p:cNvGraphicFramePr>
          <p:nvPr>
            <p:extLst>
              <p:ext uri="{D42A27DB-BD31-4B8C-83A1-F6EECF244321}">
                <p14:modId xmlns:p14="http://schemas.microsoft.com/office/powerpoint/2010/main" val="1175810813"/>
              </p:ext>
            </p:extLst>
          </p:nvPr>
        </p:nvGraphicFramePr>
        <p:xfrm>
          <a:off x="358815" y="2338245"/>
          <a:ext cx="5987361" cy="3740154"/>
        </p:xfrm>
        <a:graphic>
          <a:graphicData uri="http://schemas.openxmlformats.org/drawingml/2006/table">
            <a:tbl>
              <a:tblPr>
                <a:tableStyleId>{5940675A-B579-460E-94D1-54222C63F5DA}</a:tableStyleId>
              </a:tblPr>
              <a:tblGrid>
                <a:gridCol w="1736203">
                  <a:extLst>
                    <a:ext uri="{9D8B030D-6E8A-4147-A177-3AD203B41FA5}">
                      <a16:colId xmlns:a16="http://schemas.microsoft.com/office/drawing/2014/main" val="520207258"/>
                    </a:ext>
                  </a:extLst>
                </a:gridCol>
                <a:gridCol w="2013995">
                  <a:extLst>
                    <a:ext uri="{9D8B030D-6E8A-4147-A177-3AD203B41FA5}">
                      <a16:colId xmlns:a16="http://schemas.microsoft.com/office/drawing/2014/main" val="1451661009"/>
                    </a:ext>
                  </a:extLst>
                </a:gridCol>
                <a:gridCol w="2237163">
                  <a:extLst>
                    <a:ext uri="{9D8B030D-6E8A-4147-A177-3AD203B41FA5}">
                      <a16:colId xmlns:a16="http://schemas.microsoft.com/office/drawing/2014/main" val="2928939276"/>
                    </a:ext>
                  </a:extLst>
                </a:gridCol>
              </a:tblGrid>
              <a:tr h="340014">
                <a:tc>
                  <a:txBody>
                    <a:bodyPr/>
                    <a:lstStyle/>
                    <a:p>
                      <a:pPr rtl="0">
                        <a:buNone/>
                      </a:pPr>
                      <a:r>
                        <a:rPr lang="en-US" sz="1200" b="1" dirty="0">
                          <a:solidFill>
                            <a:srgbClr val="1F1F1F"/>
                          </a:solidFill>
                          <a:effectLst/>
                        </a:rPr>
                        <a:t>Scientific Laboratory</a:t>
                      </a:r>
                      <a:endParaRPr lang="en-US" sz="1200" dirty="0">
                        <a:solidFill>
                          <a:srgbClr val="1F1F1F"/>
                        </a:solidFill>
                        <a:effectLst/>
                        <a:latin typeface="Google Sans Text"/>
                      </a:endParaRPr>
                    </a:p>
                  </a:txBody>
                  <a:tcPr marL="91075" marR="91075" marT="60717" marB="60717" anchor="ctr">
                    <a:solidFill>
                      <a:srgbClr val="FFC000"/>
                    </a:solidFill>
                  </a:tcPr>
                </a:tc>
                <a:tc>
                  <a:txBody>
                    <a:bodyPr/>
                    <a:lstStyle/>
                    <a:p>
                      <a:pPr rtl="0">
                        <a:buNone/>
                      </a:pPr>
                      <a:r>
                        <a:rPr lang="en-US" sz="1200" b="1" dirty="0">
                          <a:solidFill>
                            <a:srgbClr val="1F1F1F"/>
                          </a:solidFill>
                          <a:effectLst/>
                        </a:rPr>
                        <a:t>Total Research Hours (X)</a:t>
                      </a:r>
                      <a:endParaRPr lang="en-US" sz="1200" dirty="0">
                        <a:solidFill>
                          <a:srgbClr val="1F1F1F"/>
                        </a:solidFill>
                        <a:effectLst/>
                        <a:latin typeface="Google Sans Text"/>
                      </a:endParaRPr>
                    </a:p>
                  </a:txBody>
                  <a:tcPr marL="91075" marR="91075" marT="60717" marB="60717" anchor="ctr">
                    <a:solidFill>
                      <a:srgbClr val="FFC000"/>
                    </a:solidFill>
                  </a:tcPr>
                </a:tc>
                <a:tc>
                  <a:txBody>
                    <a:bodyPr/>
                    <a:lstStyle/>
                    <a:p>
                      <a:pPr rtl="0">
                        <a:buNone/>
                      </a:pPr>
                      <a:r>
                        <a:rPr lang="en-US" sz="1200" b="1" dirty="0">
                          <a:solidFill>
                            <a:srgbClr val="1F1F1F"/>
                          </a:solidFill>
                          <a:effectLst/>
                        </a:rPr>
                        <a:t>Number of Patents Filed (Y)</a:t>
                      </a:r>
                      <a:endParaRPr lang="en-US" sz="1200" dirty="0">
                        <a:solidFill>
                          <a:srgbClr val="1F1F1F"/>
                        </a:solidFill>
                        <a:effectLst/>
                        <a:latin typeface="Google Sans Text"/>
                      </a:endParaRPr>
                    </a:p>
                  </a:txBody>
                  <a:tcPr marL="91075" marR="91075" marT="60717" marB="60717" anchor="ctr">
                    <a:solidFill>
                      <a:srgbClr val="FFC000"/>
                    </a:solidFill>
                  </a:tcPr>
                </a:tc>
                <a:extLst>
                  <a:ext uri="{0D108BD9-81ED-4DB2-BD59-A6C34878D82A}">
                    <a16:rowId xmlns:a16="http://schemas.microsoft.com/office/drawing/2014/main" val="821567259"/>
                  </a:ext>
                </a:extLst>
              </a:tr>
              <a:tr h="340014">
                <a:tc>
                  <a:txBody>
                    <a:bodyPr/>
                    <a:lstStyle/>
                    <a:p>
                      <a:pPr rtl="0">
                        <a:buNone/>
                      </a:pPr>
                      <a:r>
                        <a:rPr lang="en-US" sz="1400" b="1" dirty="0">
                          <a:solidFill>
                            <a:srgbClr val="1F1F1F"/>
                          </a:solidFill>
                          <a:effectLst/>
                        </a:rPr>
                        <a:t>AI Lab</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120</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5</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712199192"/>
                  </a:ext>
                </a:extLst>
              </a:tr>
              <a:tr h="340014">
                <a:tc>
                  <a:txBody>
                    <a:bodyPr/>
                    <a:lstStyle/>
                    <a:p>
                      <a:pPr rtl="0">
                        <a:buNone/>
                      </a:pPr>
                      <a:r>
                        <a:rPr lang="en-US" sz="1400" b="1" dirty="0">
                          <a:solidFill>
                            <a:srgbClr val="1F1F1F"/>
                          </a:solidFill>
                          <a:effectLst/>
                        </a:rPr>
                        <a:t>Biotech Research</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250</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12</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1328264367"/>
                  </a:ext>
                </a:extLst>
              </a:tr>
              <a:tr h="340014">
                <a:tc>
                  <a:txBody>
                    <a:bodyPr/>
                    <a:lstStyle/>
                    <a:p>
                      <a:pPr rtl="0">
                        <a:buNone/>
                      </a:pPr>
                      <a:r>
                        <a:rPr lang="en-US" sz="1400" b="1" dirty="0">
                          <a:solidFill>
                            <a:srgbClr val="1F1F1F"/>
                          </a:solidFill>
                          <a:effectLst/>
                        </a:rPr>
                        <a:t>Energy Division</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480</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22</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472966600"/>
                  </a:ext>
                </a:extLst>
              </a:tr>
              <a:tr h="340014">
                <a:tc>
                  <a:txBody>
                    <a:bodyPr/>
                    <a:lstStyle/>
                    <a:p>
                      <a:pPr rtl="0">
                        <a:buNone/>
                      </a:pPr>
                      <a:r>
                        <a:rPr lang="en-US" sz="1400" b="1" dirty="0">
                          <a:solidFill>
                            <a:srgbClr val="1F1F1F"/>
                          </a:solidFill>
                          <a:effectLst/>
                        </a:rPr>
                        <a:t>Robotics Wing</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600</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30</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343157448"/>
                  </a:ext>
                </a:extLst>
              </a:tr>
              <a:tr h="340014">
                <a:tc>
                  <a:txBody>
                    <a:bodyPr/>
                    <a:lstStyle/>
                    <a:p>
                      <a:pPr rtl="0">
                        <a:buNone/>
                      </a:pPr>
                      <a:r>
                        <a:rPr lang="en-US" sz="1400" b="1" dirty="0">
                          <a:solidFill>
                            <a:srgbClr val="1F1F1F"/>
                          </a:solidFill>
                          <a:effectLst/>
                        </a:rPr>
                        <a:t>Quantum Systems</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750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38</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1943872292"/>
                  </a:ext>
                </a:extLst>
              </a:tr>
              <a:tr h="340014">
                <a:tc>
                  <a:txBody>
                    <a:bodyPr/>
                    <a:lstStyle/>
                    <a:p>
                      <a:pPr rtl="0">
                        <a:buNone/>
                      </a:pPr>
                      <a:r>
                        <a:rPr lang="en-US" sz="1400" b="1" dirty="0">
                          <a:solidFill>
                            <a:srgbClr val="1F1F1F"/>
                          </a:solidFill>
                          <a:effectLst/>
                        </a:rPr>
                        <a:t>FinTech Group</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900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45</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1432321757"/>
                  </a:ext>
                </a:extLst>
              </a:tr>
              <a:tr h="340014">
                <a:tc>
                  <a:txBody>
                    <a:bodyPr/>
                    <a:lstStyle/>
                    <a:p>
                      <a:pPr rtl="0">
                        <a:buNone/>
                      </a:pPr>
                      <a:r>
                        <a:rPr lang="en-US" sz="1400" b="1" dirty="0" err="1">
                          <a:solidFill>
                            <a:srgbClr val="1F1F1F"/>
                          </a:solidFill>
                          <a:effectLst/>
                        </a:rPr>
                        <a:t>AgriTech</a:t>
                      </a:r>
                      <a:r>
                        <a:rPr lang="en-US" sz="1400" b="1" dirty="0">
                          <a:solidFill>
                            <a:srgbClr val="1F1F1F"/>
                          </a:solidFill>
                          <a:effectLst/>
                        </a:rPr>
                        <a:t> Sector</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1050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52</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4048097000"/>
                  </a:ext>
                </a:extLst>
              </a:tr>
              <a:tr h="340014">
                <a:tc>
                  <a:txBody>
                    <a:bodyPr/>
                    <a:lstStyle/>
                    <a:p>
                      <a:pPr rtl="0">
                        <a:buNone/>
                      </a:pPr>
                      <a:r>
                        <a:rPr lang="en-US" sz="1400" b="1" dirty="0">
                          <a:solidFill>
                            <a:srgbClr val="1F1F1F"/>
                          </a:solidFill>
                          <a:effectLst/>
                        </a:rPr>
                        <a:t>Materials Science</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1200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60</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1236192882"/>
                  </a:ext>
                </a:extLst>
              </a:tr>
              <a:tr h="340014">
                <a:tc>
                  <a:txBody>
                    <a:bodyPr/>
                    <a:lstStyle/>
                    <a:p>
                      <a:pPr rtl="0">
                        <a:buNone/>
                      </a:pPr>
                      <a:r>
                        <a:rPr lang="en-US" sz="1400" b="1" dirty="0">
                          <a:solidFill>
                            <a:srgbClr val="1F1F1F"/>
                          </a:solidFill>
                          <a:effectLst/>
                        </a:rPr>
                        <a:t>SpaceX Division</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1350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68</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4219031448"/>
                  </a:ext>
                </a:extLst>
              </a:tr>
              <a:tr h="340014">
                <a:tc>
                  <a:txBody>
                    <a:bodyPr/>
                    <a:lstStyle/>
                    <a:p>
                      <a:pPr rtl="0">
                        <a:buNone/>
                      </a:pPr>
                      <a:r>
                        <a:rPr lang="en-US" sz="1400" b="1" dirty="0">
                          <a:solidFill>
                            <a:srgbClr val="1F1F1F"/>
                          </a:solidFill>
                          <a:effectLst/>
                        </a:rPr>
                        <a:t>MedTech Hub</a:t>
                      </a:r>
                      <a:endParaRPr lang="en-US"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200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65</a:t>
                      </a:r>
                      <a:endParaRPr lang="en-EG"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865388301"/>
                  </a:ext>
                </a:extLst>
              </a:tr>
            </a:tbl>
          </a:graphicData>
        </a:graphic>
      </p:graphicFrame>
    </p:spTree>
    <p:extLst>
      <p:ext uri="{BB962C8B-B14F-4D97-AF65-F5344CB8AC3E}">
        <p14:creationId xmlns:p14="http://schemas.microsoft.com/office/powerpoint/2010/main" val="2527126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DECC1-03D2-3573-C52C-259205C17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F232C-C056-6DEB-880A-5F9ED601692A}"/>
              </a:ext>
            </a:extLst>
          </p:cNvPr>
          <p:cNvSpPr>
            <a:spLocks noGrp="1"/>
          </p:cNvSpPr>
          <p:nvPr>
            <p:ph type="title"/>
          </p:nvPr>
        </p:nvSpPr>
        <p:spPr>
          <a:xfrm>
            <a:off x="700635" y="914400"/>
            <a:ext cx="10691265" cy="598714"/>
          </a:xfrm>
        </p:spPr>
        <p:txBody>
          <a:bodyPr>
            <a:normAutofit/>
          </a:bodyPr>
          <a:lstStyle/>
          <a:p>
            <a:r>
              <a:rPr lang="en-US" sz="2800" b="1" dirty="0"/>
              <a:t>Answers 1:</a:t>
            </a:r>
            <a:r>
              <a:rPr lang="en-US" sz="2800" dirty="0"/>
              <a:t> scatter plot</a:t>
            </a:r>
            <a:endParaRPr lang="en-EG" sz="2800" dirty="0"/>
          </a:p>
        </p:txBody>
      </p:sp>
      <p:pic>
        <p:nvPicPr>
          <p:cNvPr id="15362" name="Picture 2">
            <a:extLst>
              <a:ext uri="{FF2B5EF4-FFF2-40B4-BE49-F238E27FC236}">
                <a16:creationId xmlns:a16="http://schemas.microsoft.com/office/drawing/2014/main" id="{6B5E7D2D-4CE6-C435-6372-3DC1D37A3B0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34000" y="1628864"/>
            <a:ext cx="7524000" cy="4480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9266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8E4D7-066C-562D-4548-CAC5C7C02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4C5E0-FEBA-6FA2-1343-AEB77663E7E7}"/>
              </a:ext>
            </a:extLst>
          </p:cNvPr>
          <p:cNvSpPr>
            <a:spLocks noGrp="1"/>
          </p:cNvSpPr>
          <p:nvPr>
            <p:ph type="title"/>
          </p:nvPr>
        </p:nvSpPr>
        <p:spPr>
          <a:xfrm>
            <a:off x="704088" y="757875"/>
            <a:ext cx="5239272" cy="1302419"/>
          </a:xfrm>
        </p:spPr>
        <p:txBody>
          <a:bodyPr>
            <a:normAutofit fontScale="90000"/>
          </a:bodyPr>
          <a:lstStyle/>
          <a:p>
            <a:r>
              <a:rPr lang="en-US" dirty="0"/>
              <a:t>Practical Exercise 2: bubble chart </a:t>
            </a:r>
            <a:endParaRPr lang="en-EG" dirty="0"/>
          </a:p>
        </p:txBody>
      </p:sp>
      <p:sp>
        <p:nvSpPr>
          <p:cNvPr id="3" name="Content Placeholder 2">
            <a:extLst>
              <a:ext uri="{FF2B5EF4-FFF2-40B4-BE49-F238E27FC236}">
                <a16:creationId xmlns:a16="http://schemas.microsoft.com/office/drawing/2014/main" id="{0B498608-DA64-A1C5-9EEB-A434B1BF6A88}"/>
              </a:ext>
            </a:extLst>
          </p:cNvPr>
          <p:cNvSpPr>
            <a:spLocks noGrp="1"/>
          </p:cNvSpPr>
          <p:nvPr>
            <p:ph idx="1"/>
          </p:nvPr>
        </p:nvSpPr>
        <p:spPr>
          <a:xfrm>
            <a:off x="6832315" y="914399"/>
            <a:ext cx="5138688" cy="5248657"/>
          </a:xfrm>
        </p:spPr>
        <p:txBody>
          <a:bodyPr>
            <a:normAutofit/>
          </a:bodyPr>
          <a:lstStyle/>
          <a:p>
            <a:pPr marL="0" indent="0">
              <a:buNone/>
            </a:pPr>
            <a:r>
              <a:rPr lang="en-US" b="1" dirty="0"/>
              <a:t>1. The Task</a:t>
            </a:r>
          </a:p>
          <a:p>
            <a:pPr marL="0" indent="0" algn="just">
              <a:buNone/>
            </a:pPr>
            <a:r>
              <a:rPr lang="en-US" dirty="0"/>
              <a:t>Perform a </a:t>
            </a:r>
            <a:r>
              <a:rPr lang="en-US" b="1" dirty="0"/>
              <a:t>Numerical vs. Numerical Multivariate Analysis</a:t>
            </a:r>
            <a:r>
              <a:rPr lang="en-US" dirty="0"/>
              <a:t> and analyze the relationship between </a:t>
            </a:r>
            <a:r>
              <a:rPr lang="en-US" b="1" dirty="0"/>
              <a:t>Marketing Spend</a:t>
            </a:r>
            <a:r>
              <a:rPr lang="en-US" dirty="0"/>
              <a:t> and </a:t>
            </a:r>
            <a:r>
              <a:rPr lang="en-US" b="1" dirty="0"/>
              <a:t>Sales Revenue</a:t>
            </a:r>
            <a:r>
              <a:rPr lang="en-US" dirty="0"/>
              <a:t>, and the </a:t>
            </a:r>
            <a:r>
              <a:rPr lang="en-US" b="1" dirty="0"/>
              <a:t>Customer Base</a:t>
            </a:r>
            <a:r>
              <a:rPr lang="en-US" dirty="0"/>
              <a:t> size of each region.</a:t>
            </a:r>
          </a:p>
          <a:p>
            <a:pPr marL="0" indent="0" algn="just">
              <a:buNone/>
            </a:pPr>
            <a:endParaRPr lang="en-US" dirty="0"/>
          </a:p>
          <a:p>
            <a:endParaRPr lang="en-US" dirty="0"/>
          </a:p>
          <a:p>
            <a:pPr marL="0" indent="0">
              <a:buNone/>
            </a:pPr>
            <a:r>
              <a:rPr lang="en-US" b="1" dirty="0"/>
              <a:t>2. The Dataset</a:t>
            </a:r>
          </a:p>
          <a:p>
            <a:pPr marL="0" indent="0" algn="just">
              <a:buNone/>
            </a:pPr>
            <a:r>
              <a:rPr lang="en-US" dirty="0"/>
              <a:t>It show the </a:t>
            </a:r>
            <a:r>
              <a:rPr lang="en-US" b="1" dirty="0"/>
              <a:t>Marketing Spend</a:t>
            </a:r>
            <a:r>
              <a:rPr lang="en-US" dirty="0"/>
              <a:t> and </a:t>
            </a:r>
            <a:r>
              <a:rPr lang="en-US" b="1" dirty="0"/>
              <a:t>Sales Revenue</a:t>
            </a:r>
            <a:r>
              <a:rPr lang="en-US" dirty="0"/>
              <a:t>, and the </a:t>
            </a:r>
            <a:r>
              <a:rPr lang="en-US" b="1" dirty="0"/>
              <a:t>Customer Base</a:t>
            </a:r>
            <a:r>
              <a:rPr lang="en-US" dirty="0"/>
              <a:t> size of each region.</a:t>
            </a:r>
          </a:p>
          <a:p>
            <a:endParaRPr lang="en-US" dirty="0"/>
          </a:p>
          <a:p>
            <a:endParaRPr lang="en-EG" dirty="0"/>
          </a:p>
        </p:txBody>
      </p:sp>
      <p:graphicFrame>
        <p:nvGraphicFramePr>
          <p:cNvPr id="4" name="Table 3">
            <a:extLst>
              <a:ext uri="{FF2B5EF4-FFF2-40B4-BE49-F238E27FC236}">
                <a16:creationId xmlns:a16="http://schemas.microsoft.com/office/drawing/2014/main" id="{EDFA130D-4E21-872E-700E-72524E3F1E5E}"/>
              </a:ext>
            </a:extLst>
          </p:cNvPr>
          <p:cNvGraphicFramePr>
            <a:graphicFrameLocks noGrp="1"/>
          </p:cNvGraphicFramePr>
          <p:nvPr>
            <p:extLst>
              <p:ext uri="{D42A27DB-BD31-4B8C-83A1-F6EECF244321}">
                <p14:modId xmlns:p14="http://schemas.microsoft.com/office/powerpoint/2010/main" val="43798577"/>
              </p:ext>
            </p:extLst>
          </p:nvPr>
        </p:nvGraphicFramePr>
        <p:xfrm>
          <a:off x="173620" y="2072024"/>
          <a:ext cx="6589245" cy="3948294"/>
        </p:xfrm>
        <a:graphic>
          <a:graphicData uri="http://schemas.openxmlformats.org/drawingml/2006/table">
            <a:tbl>
              <a:tblPr>
                <a:tableStyleId>{5940675A-B579-460E-94D1-54222C63F5DA}</a:tableStyleId>
              </a:tblPr>
              <a:tblGrid>
                <a:gridCol w="2152891">
                  <a:extLst>
                    <a:ext uri="{9D8B030D-6E8A-4147-A177-3AD203B41FA5}">
                      <a16:colId xmlns:a16="http://schemas.microsoft.com/office/drawing/2014/main" val="2661895911"/>
                    </a:ext>
                  </a:extLst>
                </a:gridCol>
                <a:gridCol w="1574157">
                  <a:extLst>
                    <a:ext uri="{9D8B030D-6E8A-4147-A177-3AD203B41FA5}">
                      <a16:colId xmlns:a16="http://schemas.microsoft.com/office/drawing/2014/main" val="3810023593"/>
                    </a:ext>
                  </a:extLst>
                </a:gridCol>
                <a:gridCol w="1342664">
                  <a:extLst>
                    <a:ext uri="{9D8B030D-6E8A-4147-A177-3AD203B41FA5}">
                      <a16:colId xmlns:a16="http://schemas.microsoft.com/office/drawing/2014/main" val="2667760123"/>
                    </a:ext>
                  </a:extLst>
                </a:gridCol>
                <a:gridCol w="1519533">
                  <a:extLst>
                    <a:ext uri="{9D8B030D-6E8A-4147-A177-3AD203B41FA5}">
                      <a16:colId xmlns:a16="http://schemas.microsoft.com/office/drawing/2014/main" val="458277586"/>
                    </a:ext>
                  </a:extLst>
                </a:gridCol>
              </a:tblGrid>
              <a:tr h="340014">
                <a:tc>
                  <a:txBody>
                    <a:bodyPr/>
                    <a:lstStyle/>
                    <a:p>
                      <a:pPr rtl="0">
                        <a:buNone/>
                      </a:pPr>
                      <a:r>
                        <a:rPr lang="en-US" sz="1400" b="1" dirty="0">
                          <a:solidFill>
                            <a:srgbClr val="1F1F1F"/>
                          </a:solidFill>
                          <a:effectLst/>
                        </a:rPr>
                        <a:t>Regional Business Unit</a:t>
                      </a:r>
                      <a:endParaRPr lang="en-US" sz="1400" dirty="0">
                        <a:solidFill>
                          <a:srgbClr val="1F1F1F"/>
                        </a:solidFill>
                        <a:effectLst/>
                        <a:latin typeface="Google Sans Text"/>
                      </a:endParaRPr>
                    </a:p>
                  </a:txBody>
                  <a:tcPr marL="91075" marR="91075" marT="60717" marB="60717" anchor="ctr">
                    <a:solidFill>
                      <a:schemeClr val="tx2">
                        <a:lumMod val="10000"/>
                        <a:lumOff val="90000"/>
                      </a:schemeClr>
                    </a:solidFill>
                  </a:tcPr>
                </a:tc>
                <a:tc>
                  <a:txBody>
                    <a:bodyPr/>
                    <a:lstStyle/>
                    <a:p>
                      <a:pPr algn="ctr" rtl="0">
                        <a:buNone/>
                      </a:pPr>
                      <a:r>
                        <a:rPr lang="en-US" sz="1400" b="1" dirty="0">
                          <a:solidFill>
                            <a:srgbClr val="1F1F1F"/>
                          </a:solidFill>
                          <a:effectLst/>
                        </a:rPr>
                        <a:t>Marketing Spend ($k)</a:t>
                      </a:r>
                      <a:endParaRPr lang="en-US" sz="1400" dirty="0">
                        <a:solidFill>
                          <a:srgbClr val="1F1F1F"/>
                        </a:solidFill>
                        <a:effectLst/>
                        <a:latin typeface="Google Sans Text"/>
                      </a:endParaRPr>
                    </a:p>
                  </a:txBody>
                  <a:tcPr marL="91075" marR="91075" marT="60717" marB="60717" anchor="ctr">
                    <a:solidFill>
                      <a:schemeClr val="tx2">
                        <a:lumMod val="10000"/>
                        <a:lumOff val="90000"/>
                      </a:schemeClr>
                    </a:solidFill>
                  </a:tcPr>
                </a:tc>
                <a:tc>
                  <a:txBody>
                    <a:bodyPr/>
                    <a:lstStyle/>
                    <a:p>
                      <a:pPr algn="ctr" rtl="0">
                        <a:buNone/>
                      </a:pPr>
                      <a:r>
                        <a:rPr lang="en-US" sz="1400" b="1" dirty="0">
                          <a:solidFill>
                            <a:srgbClr val="1F1F1F"/>
                          </a:solidFill>
                          <a:effectLst/>
                        </a:rPr>
                        <a:t>Sales Revenue ($M)</a:t>
                      </a:r>
                      <a:endParaRPr lang="en-US" sz="1400" dirty="0">
                        <a:solidFill>
                          <a:srgbClr val="1F1F1F"/>
                        </a:solidFill>
                        <a:effectLst/>
                        <a:latin typeface="Google Sans Text"/>
                      </a:endParaRPr>
                    </a:p>
                  </a:txBody>
                  <a:tcPr marL="91075" marR="91075" marT="60717" marB="60717" anchor="ctr">
                    <a:solidFill>
                      <a:schemeClr val="tx2">
                        <a:lumMod val="10000"/>
                        <a:lumOff val="90000"/>
                      </a:schemeClr>
                    </a:solidFill>
                  </a:tcPr>
                </a:tc>
                <a:tc>
                  <a:txBody>
                    <a:bodyPr/>
                    <a:lstStyle/>
                    <a:p>
                      <a:pPr algn="ctr" rtl="0">
                        <a:buNone/>
                      </a:pPr>
                      <a:r>
                        <a:rPr lang="en-US" sz="1400" b="1" dirty="0">
                          <a:solidFill>
                            <a:srgbClr val="1F1F1F"/>
                          </a:solidFill>
                          <a:effectLst/>
                        </a:rPr>
                        <a:t>Customer Base (Weight)</a:t>
                      </a:r>
                      <a:endParaRPr lang="en-US" sz="1400" dirty="0">
                        <a:solidFill>
                          <a:srgbClr val="1F1F1F"/>
                        </a:solidFill>
                        <a:effectLst/>
                        <a:latin typeface="Google Sans Text"/>
                      </a:endParaRPr>
                    </a:p>
                  </a:txBody>
                  <a:tcPr marL="91075" marR="91075" marT="60717" marB="60717" anchor="ctr">
                    <a:solidFill>
                      <a:schemeClr val="tx2">
                        <a:lumMod val="10000"/>
                        <a:lumOff val="90000"/>
                      </a:schemeClr>
                    </a:solidFill>
                  </a:tcPr>
                </a:tc>
                <a:extLst>
                  <a:ext uri="{0D108BD9-81ED-4DB2-BD59-A6C34878D82A}">
                    <a16:rowId xmlns:a16="http://schemas.microsoft.com/office/drawing/2014/main" val="2060485588"/>
                  </a:ext>
                </a:extLst>
              </a:tr>
              <a:tr h="340014">
                <a:tc>
                  <a:txBody>
                    <a:bodyPr/>
                    <a:lstStyle/>
                    <a:p>
                      <a:pPr rtl="0">
                        <a:buNone/>
                      </a:pPr>
                      <a:r>
                        <a:rPr lang="en-US" sz="1400" b="1">
                          <a:solidFill>
                            <a:srgbClr val="1F1F1F"/>
                          </a:solidFill>
                          <a:effectLst/>
                        </a:rPr>
                        <a:t>North America Sector</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500</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15</a:t>
                      </a:r>
                      <a:endParaRPr lang="en-EG" sz="1400">
                        <a:solidFill>
                          <a:srgbClr val="1F1F1F"/>
                        </a:solidFill>
                        <a:effectLst/>
                        <a:latin typeface="Google Sans Text"/>
                      </a:endParaRPr>
                    </a:p>
                  </a:txBody>
                  <a:tcPr marL="91075" marR="91075" marT="60717" marB="60717" anchor="ctr"/>
                </a:tc>
                <a:tc>
                  <a:txBody>
                    <a:bodyPr/>
                    <a:lstStyle/>
                    <a:p>
                      <a:pPr algn="ctr" rtl="0">
                        <a:buNone/>
                      </a:pPr>
                      <a:r>
                        <a:rPr lang="en-US" sz="1400">
                          <a:solidFill>
                            <a:srgbClr val="1F1F1F"/>
                          </a:solidFill>
                          <a:effectLst/>
                        </a:rPr>
                        <a:t>500k</a:t>
                      </a:r>
                      <a:endParaRPr lang="en-US" sz="140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410728044"/>
                  </a:ext>
                </a:extLst>
              </a:tr>
              <a:tr h="340014">
                <a:tc>
                  <a:txBody>
                    <a:bodyPr/>
                    <a:lstStyle/>
                    <a:p>
                      <a:pPr rtl="0">
                        <a:buNone/>
                      </a:pPr>
                      <a:r>
                        <a:rPr lang="en-US" sz="1400" b="1">
                          <a:solidFill>
                            <a:srgbClr val="1F1F1F"/>
                          </a:solidFill>
                          <a:effectLst/>
                        </a:rPr>
                        <a:t>Western Europe Hub</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450</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14</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US" sz="1400">
                          <a:solidFill>
                            <a:srgbClr val="1F1F1F"/>
                          </a:solidFill>
                          <a:effectLst/>
                        </a:rPr>
                        <a:t>450k</a:t>
                      </a:r>
                      <a:endParaRPr lang="en-US" sz="140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298462703"/>
                  </a:ext>
                </a:extLst>
              </a:tr>
              <a:tr h="340014">
                <a:tc>
                  <a:txBody>
                    <a:bodyPr/>
                    <a:lstStyle/>
                    <a:p>
                      <a:pPr rtl="0">
                        <a:buNone/>
                      </a:pPr>
                      <a:r>
                        <a:rPr lang="en-US" sz="1400" b="1">
                          <a:solidFill>
                            <a:srgbClr val="1F1F1F"/>
                          </a:solidFill>
                          <a:effectLst/>
                        </a:rPr>
                        <a:t>Asia Pacific Market</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600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18</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600k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37307412"/>
                  </a:ext>
                </a:extLst>
              </a:tr>
              <a:tr h="340014">
                <a:tc>
                  <a:txBody>
                    <a:bodyPr/>
                    <a:lstStyle/>
                    <a:p>
                      <a:pPr rtl="0">
                        <a:buNone/>
                      </a:pPr>
                      <a:r>
                        <a:rPr lang="en-US" sz="1400" b="1">
                          <a:solidFill>
                            <a:srgbClr val="1F1F1F"/>
                          </a:solidFill>
                          <a:effectLst/>
                        </a:rPr>
                        <a:t>Latin America Division</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300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9</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US" sz="1400">
                          <a:solidFill>
                            <a:srgbClr val="1F1F1F"/>
                          </a:solidFill>
                          <a:effectLst/>
                        </a:rPr>
                        <a:t>300k</a:t>
                      </a:r>
                      <a:endParaRPr lang="en-US" sz="140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602540806"/>
                  </a:ext>
                </a:extLst>
              </a:tr>
              <a:tr h="340014">
                <a:tc>
                  <a:txBody>
                    <a:bodyPr/>
                    <a:lstStyle/>
                    <a:p>
                      <a:pPr rtl="0">
                        <a:buNone/>
                      </a:pPr>
                      <a:r>
                        <a:rPr lang="en-US" sz="1400" b="1">
                          <a:solidFill>
                            <a:srgbClr val="1F1F1F"/>
                          </a:solidFill>
                          <a:effectLst/>
                        </a:rPr>
                        <a:t>Middle East Group</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250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7</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250k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083984885"/>
                  </a:ext>
                </a:extLst>
              </a:tr>
              <a:tr h="340014">
                <a:tc>
                  <a:txBody>
                    <a:bodyPr/>
                    <a:lstStyle/>
                    <a:p>
                      <a:pPr rtl="0">
                        <a:buNone/>
                      </a:pPr>
                      <a:r>
                        <a:rPr lang="en-US" sz="1400" b="1">
                          <a:solidFill>
                            <a:srgbClr val="1F1F1F"/>
                          </a:solidFill>
                          <a:effectLst/>
                        </a:rPr>
                        <a:t>Eastern Europe Unit</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200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6</a:t>
                      </a:r>
                      <a:endParaRPr lang="en-EG" sz="140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200k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56297057"/>
                  </a:ext>
                </a:extLst>
              </a:tr>
              <a:tr h="340014">
                <a:tc>
                  <a:txBody>
                    <a:bodyPr/>
                    <a:lstStyle/>
                    <a:p>
                      <a:pPr rtl="0">
                        <a:buNone/>
                      </a:pPr>
                      <a:r>
                        <a:rPr lang="en-US" sz="1400" b="1">
                          <a:solidFill>
                            <a:srgbClr val="1F1F1F"/>
                          </a:solidFill>
                          <a:effectLst/>
                        </a:rPr>
                        <a:t>Scandinavia Branch</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150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5</a:t>
                      </a:r>
                      <a:endParaRPr lang="en-EG" sz="140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150k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388126875"/>
                  </a:ext>
                </a:extLst>
              </a:tr>
              <a:tr h="340014">
                <a:tc>
                  <a:txBody>
                    <a:bodyPr/>
                    <a:lstStyle/>
                    <a:p>
                      <a:pPr rtl="0">
                        <a:buNone/>
                      </a:pPr>
                      <a:r>
                        <a:rPr lang="en-US" sz="1400" b="1">
                          <a:solidFill>
                            <a:srgbClr val="1F1F1F"/>
                          </a:solidFill>
                          <a:effectLst/>
                        </a:rPr>
                        <a:t>Southeast Asia Core</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350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350k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4117177225"/>
                  </a:ext>
                </a:extLst>
              </a:tr>
              <a:tr h="340014">
                <a:tc>
                  <a:txBody>
                    <a:bodyPr/>
                    <a:lstStyle/>
                    <a:p>
                      <a:pPr rtl="0">
                        <a:buNone/>
                      </a:pPr>
                      <a:r>
                        <a:rPr lang="en-US" sz="1400" b="1">
                          <a:solidFill>
                            <a:srgbClr val="1F1F1F"/>
                          </a:solidFill>
                          <a:effectLst/>
                        </a:rPr>
                        <a:t>Oceania District</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3</a:t>
                      </a:r>
                      <a:endParaRPr lang="en-EG" sz="140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100k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640805072"/>
                  </a:ext>
                </a:extLst>
              </a:tr>
              <a:tr h="340014">
                <a:tc>
                  <a:txBody>
                    <a:bodyPr/>
                    <a:lstStyle/>
                    <a:p>
                      <a:pPr rtl="0">
                        <a:buNone/>
                      </a:pPr>
                      <a:r>
                        <a:rPr lang="en-US" sz="1400" b="1">
                          <a:solidFill>
                            <a:srgbClr val="1F1F1F"/>
                          </a:solidFill>
                          <a:effectLst/>
                        </a:rPr>
                        <a:t>Global Digital Hub</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80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20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1,200k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746912969"/>
                  </a:ext>
                </a:extLst>
              </a:tr>
            </a:tbl>
          </a:graphicData>
        </a:graphic>
      </p:graphicFrame>
    </p:spTree>
    <p:extLst>
      <p:ext uri="{BB962C8B-B14F-4D97-AF65-F5344CB8AC3E}">
        <p14:creationId xmlns:p14="http://schemas.microsoft.com/office/powerpoint/2010/main" val="2049106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95272-456C-1FD5-CBA9-E959718CE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25A6A-9796-674B-5736-73A94260BB19}"/>
              </a:ext>
            </a:extLst>
          </p:cNvPr>
          <p:cNvSpPr>
            <a:spLocks noGrp="1"/>
          </p:cNvSpPr>
          <p:nvPr>
            <p:ph type="title"/>
          </p:nvPr>
        </p:nvSpPr>
        <p:spPr>
          <a:xfrm>
            <a:off x="704088" y="833374"/>
            <a:ext cx="5239272" cy="1014887"/>
          </a:xfrm>
        </p:spPr>
        <p:txBody>
          <a:bodyPr>
            <a:normAutofit fontScale="90000"/>
          </a:bodyPr>
          <a:lstStyle/>
          <a:p>
            <a:r>
              <a:rPr lang="en-US" dirty="0"/>
              <a:t>Practical Exercise 2: bubble chart</a:t>
            </a:r>
            <a:endParaRPr lang="en-EG" dirty="0"/>
          </a:p>
        </p:txBody>
      </p:sp>
      <p:sp>
        <p:nvSpPr>
          <p:cNvPr id="3" name="Content Placeholder 2">
            <a:extLst>
              <a:ext uri="{FF2B5EF4-FFF2-40B4-BE49-F238E27FC236}">
                <a16:creationId xmlns:a16="http://schemas.microsoft.com/office/drawing/2014/main" id="{6D130BA1-BA79-A7E0-50F9-99314E6E93DC}"/>
              </a:ext>
            </a:extLst>
          </p:cNvPr>
          <p:cNvSpPr>
            <a:spLocks noGrp="1"/>
          </p:cNvSpPr>
          <p:nvPr>
            <p:ph idx="1"/>
          </p:nvPr>
        </p:nvSpPr>
        <p:spPr>
          <a:xfrm>
            <a:off x="6890184" y="914399"/>
            <a:ext cx="5138688" cy="5248657"/>
          </a:xfrm>
        </p:spPr>
        <p:txBody>
          <a:bodyPr>
            <a:normAutofit/>
          </a:bodyPr>
          <a:lstStyle/>
          <a:p>
            <a:pPr marL="0" indent="0">
              <a:buNone/>
            </a:pPr>
            <a:r>
              <a:rPr lang="en-US" b="1" dirty="0"/>
              <a:t>3. The Audience Question</a:t>
            </a:r>
          </a:p>
          <a:p>
            <a:pPr marL="0" indent="0" algn="just">
              <a:buNone/>
            </a:pPr>
            <a:r>
              <a:rPr lang="en-US" dirty="0"/>
              <a:t>"Is there a direct </a:t>
            </a:r>
            <a:r>
              <a:rPr lang="en-US" b="1" dirty="0"/>
              <a:t>Proportionality</a:t>
            </a:r>
            <a:r>
              <a:rPr lang="en-US" dirty="0"/>
              <a:t> between marketing spend and revenue for the main </a:t>
            </a:r>
            <a:r>
              <a:rPr lang="en-US" b="1" dirty="0"/>
              <a:t>Group</a:t>
            </a:r>
            <a:r>
              <a:rPr lang="en-US" dirty="0"/>
              <a:t>, and how does the </a:t>
            </a:r>
            <a:r>
              <a:rPr lang="en-US" b="1" dirty="0"/>
              <a:t>Weight</a:t>
            </a:r>
            <a:r>
              <a:rPr lang="en-US" dirty="0"/>
              <a:t> of the customer base </a:t>
            </a:r>
            <a:r>
              <a:rPr lang="en-US" b="1" dirty="0"/>
              <a:t>Influence</a:t>
            </a:r>
            <a:r>
              <a:rPr lang="en-US" dirty="0"/>
              <a:t> the high-performing </a:t>
            </a:r>
            <a:r>
              <a:rPr lang="en-US" b="1" dirty="0"/>
              <a:t>Outlier</a:t>
            </a:r>
            <a:r>
              <a:rPr lang="en-US" dirty="0"/>
              <a:t>?”</a:t>
            </a:r>
          </a:p>
          <a:p>
            <a:pPr marL="0" indent="0">
              <a:buNone/>
            </a:pPr>
            <a:endParaRPr lang="en-US" dirty="0"/>
          </a:p>
          <a:p>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4" name="Table 3">
            <a:extLst>
              <a:ext uri="{FF2B5EF4-FFF2-40B4-BE49-F238E27FC236}">
                <a16:creationId xmlns:a16="http://schemas.microsoft.com/office/drawing/2014/main" id="{8B18FD33-A70F-CE2B-9441-90ECDBC8F209}"/>
              </a:ext>
            </a:extLst>
          </p:cNvPr>
          <p:cNvGraphicFramePr>
            <a:graphicFrameLocks noGrp="1"/>
          </p:cNvGraphicFramePr>
          <p:nvPr>
            <p:extLst>
              <p:ext uri="{D42A27DB-BD31-4B8C-83A1-F6EECF244321}">
                <p14:modId xmlns:p14="http://schemas.microsoft.com/office/powerpoint/2010/main" val="2207353882"/>
              </p:ext>
            </p:extLst>
          </p:nvPr>
        </p:nvGraphicFramePr>
        <p:xfrm>
          <a:off x="173620" y="2072024"/>
          <a:ext cx="6589245" cy="3948294"/>
        </p:xfrm>
        <a:graphic>
          <a:graphicData uri="http://schemas.openxmlformats.org/drawingml/2006/table">
            <a:tbl>
              <a:tblPr>
                <a:tableStyleId>{5940675A-B579-460E-94D1-54222C63F5DA}</a:tableStyleId>
              </a:tblPr>
              <a:tblGrid>
                <a:gridCol w="2152891">
                  <a:extLst>
                    <a:ext uri="{9D8B030D-6E8A-4147-A177-3AD203B41FA5}">
                      <a16:colId xmlns:a16="http://schemas.microsoft.com/office/drawing/2014/main" val="2661895911"/>
                    </a:ext>
                  </a:extLst>
                </a:gridCol>
                <a:gridCol w="1574157">
                  <a:extLst>
                    <a:ext uri="{9D8B030D-6E8A-4147-A177-3AD203B41FA5}">
                      <a16:colId xmlns:a16="http://schemas.microsoft.com/office/drawing/2014/main" val="3810023593"/>
                    </a:ext>
                  </a:extLst>
                </a:gridCol>
                <a:gridCol w="1342664">
                  <a:extLst>
                    <a:ext uri="{9D8B030D-6E8A-4147-A177-3AD203B41FA5}">
                      <a16:colId xmlns:a16="http://schemas.microsoft.com/office/drawing/2014/main" val="2667760123"/>
                    </a:ext>
                  </a:extLst>
                </a:gridCol>
                <a:gridCol w="1519533">
                  <a:extLst>
                    <a:ext uri="{9D8B030D-6E8A-4147-A177-3AD203B41FA5}">
                      <a16:colId xmlns:a16="http://schemas.microsoft.com/office/drawing/2014/main" val="458277586"/>
                    </a:ext>
                  </a:extLst>
                </a:gridCol>
              </a:tblGrid>
              <a:tr h="340014">
                <a:tc>
                  <a:txBody>
                    <a:bodyPr/>
                    <a:lstStyle/>
                    <a:p>
                      <a:pPr rtl="0">
                        <a:buNone/>
                      </a:pPr>
                      <a:r>
                        <a:rPr lang="en-US" sz="1400" b="1" dirty="0">
                          <a:solidFill>
                            <a:srgbClr val="1F1F1F"/>
                          </a:solidFill>
                          <a:effectLst/>
                        </a:rPr>
                        <a:t>Regional Business Unit</a:t>
                      </a:r>
                      <a:endParaRPr lang="en-US" sz="1400" dirty="0">
                        <a:solidFill>
                          <a:srgbClr val="1F1F1F"/>
                        </a:solidFill>
                        <a:effectLst/>
                        <a:latin typeface="Google Sans Text"/>
                      </a:endParaRPr>
                    </a:p>
                  </a:txBody>
                  <a:tcPr marL="91075" marR="91075" marT="60717" marB="60717" anchor="ctr">
                    <a:solidFill>
                      <a:schemeClr val="tx2">
                        <a:lumMod val="10000"/>
                        <a:lumOff val="90000"/>
                      </a:schemeClr>
                    </a:solidFill>
                  </a:tcPr>
                </a:tc>
                <a:tc>
                  <a:txBody>
                    <a:bodyPr/>
                    <a:lstStyle/>
                    <a:p>
                      <a:pPr algn="ctr" rtl="0">
                        <a:buNone/>
                      </a:pPr>
                      <a:r>
                        <a:rPr lang="en-US" sz="1400" b="1" dirty="0">
                          <a:solidFill>
                            <a:srgbClr val="1F1F1F"/>
                          </a:solidFill>
                          <a:effectLst/>
                        </a:rPr>
                        <a:t>Marketing Spend ($k)</a:t>
                      </a:r>
                      <a:endParaRPr lang="en-US" sz="1400" dirty="0">
                        <a:solidFill>
                          <a:srgbClr val="1F1F1F"/>
                        </a:solidFill>
                        <a:effectLst/>
                        <a:latin typeface="Google Sans Text"/>
                      </a:endParaRPr>
                    </a:p>
                  </a:txBody>
                  <a:tcPr marL="91075" marR="91075" marT="60717" marB="60717" anchor="ctr">
                    <a:solidFill>
                      <a:schemeClr val="tx2">
                        <a:lumMod val="10000"/>
                        <a:lumOff val="90000"/>
                      </a:schemeClr>
                    </a:solidFill>
                  </a:tcPr>
                </a:tc>
                <a:tc>
                  <a:txBody>
                    <a:bodyPr/>
                    <a:lstStyle/>
                    <a:p>
                      <a:pPr algn="ctr" rtl="0">
                        <a:buNone/>
                      </a:pPr>
                      <a:r>
                        <a:rPr lang="en-US" sz="1400" b="1" dirty="0">
                          <a:solidFill>
                            <a:srgbClr val="1F1F1F"/>
                          </a:solidFill>
                          <a:effectLst/>
                        </a:rPr>
                        <a:t>Sales Revenue ($M)</a:t>
                      </a:r>
                      <a:endParaRPr lang="en-US" sz="1400" dirty="0">
                        <a:solidFill>
                          <a:srgbClr val="1F1F1F"/>
                        </a:solidFill>
                        <a:effectLst/>
                        <a:latin typeface="Google Sans Text"/>
                      </a:endParaRPr>
                    </a:p>
                  </a:txBody>
                  <a:tcPr marL="91075" marR="91075" marT="60717" marB="60717" anchor="ctr">
                    <a:solidFill>
                      <a:schemeClr val="tx2">
                        <a:lumMod val="10000"/>
                        <a:lumOff val="90000"/>
                      </a:schemeClr>
                    </a:solidFill>
                  </a:tcPr>
                </a:tc>
                <a:tc>
                  <a:txBody>
                    <a:bodyPr/>
                    <a:lstStyle/>
                    <a:p>
                      <a:pPr algn="ctr" rtl="0">
                        <a:buNone/>
                      </a:pPr>
                      <a:r>
                        <a:rPr lang="en-US" sz="1400" b="1" dirty="0">
                          <a:solidFill>
                            <a:srgbClr val="1F1F1F"/>
                          </a:solidFill>
                          <a:effectLst/>
                        </a:rPr>
                        <a:t>Customer Base (Weight)</a:t>
                      </a:r>
                      <a:endParaRPr lang="en-US" sz="1400" dirty="0">
                        <a:solidFill>
                          <a:srgbClr val="1F1F1F"/>
                        </a:solidFill>
                        <a:effectLst/>
                        <a:latin typeface="Google Sans Text"/>
                      </a:endParaRPr>
                    </a:p>
                  </a:txBody>
                  <a:tcPr marL="91075" marR="91075" marT="60717" marB="60717" anchor="ctr">
                    <a:solidFill>
                      <a:schemeClr val="tx2">
                        <a:lumMod val="10000"/>
                        <a:lumOff val="90000"/>
                      </a:schemeClr>
                    </a:solidFill>
                  </a:tcPr>
                </a:tc>
                <a:extLst>
                  <a:ext uri="{0D108BD9-81ED-4DB2-BD59-A6C34878D82A}">
                    <a16:rowId xmlns:a16="http://schemas.microsoft.com/office/drawing/2014/main" val="2060485588"/>
                  </a:ext>
                </a:extLst>
              </a:tr>
              <a:tr h="340014">
                <a:tc>
                  <a:txBody>
                    <a:bodyPr/>
                    <a:lstStyle/>
                    <a:p>
                      <a:pPr rtl="0">
                        <a:buNone/>
                      </a:pPr>
                      <a:r>
                        <a:rPr lang="en-US" sz="1400" b="1">
                          <a:solidFill>
                            <a:srgbClr val="1F1F1F"/>
                          </a:solidFill>
                          <a:effectLst/>
                        </a:rPr>
                        <a:t>North America Sector</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500</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15</a:t>
                      </a:r>
                      <a:endParaRPr lang="en-EG" sz="1400">
                        <a:solidFill>
                          <a:srgbClr val="1F1F1F"/>
                        </a:solidFill>
                        <a:effectLst/>
                        <a:latin typeface="Google Sans Text"/>
                      </a:endParaRPr>
                    </a:p>
                  </a:txBody>
                  <a:tcPr marL="91075" marR="91075" marT="60717" marB="60717" anchor="ctr"/>
                </a:tc>
                <a:tc>
                  <a:txBody>
                    <a:bodyPr/>
                    <a:lstStyle/>
                    <a:p>
                      <a:pPr algn="ctr" rtl="0">
                        <a:buNone/>
                      </a:pPr>
                      <a:r>
                        <a:rPr lang="en-US" sz="1400">
                          <a:solidFill>
                            <a:srgbClr val="1F1F1F"/>
                          </a:solidFill>
                          <a:effectLst/>
                        </a:rPr>
                        <a:t>500k</a:t>
                      </a:r>
                      <a:endParaRPr lang="en-US" sz="140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410728044"/>
                  </a:ext>
                </a:extLst>
              </a:tr>
              <a:tr h="340014">
                <a:tc>
                  <a:txBody>
                    <a:bodyPr/>
                    <a:lstStyle/>
                    <a:p>
                      <a:pPr rtl="0">
                        <a:buNone/>
                      </a:pPr>
                      <a:r>
                        <a:rPr lang="en-US" sz="1400" b="1">
                          <a:solidFill>
                            <a:srgbClr val="1F1F1F"/>
                          </a:solidFill>
                          <a:effectLst/>
                        </a:rPr>
                        <a:t>Western Europe Hub</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450</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14</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US" sz="1400">
                          <a:solidFill>
                            <a:srgbClr val="1F1F1F"/>
                          </a:solidFill>
                          <a:effectLst/>
                        </a:rPr>
                        <a:t>450k</a:t>
                      </a:r>
                      <a:endParaRPr lang="en-US" sz="140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298462703"/>
                  </a:ext>
                </a:extLst>
              </a:tr>
              <a:tr h="340014">
                <a:tc>
                  <a:txBody>
                    <a:bodyPr/>
                    <a:lstStyle/>
                    <a:p>
                      <a:pPr rtl="0">
                        <a:buNone/>
                      </a:pPr>
                      <a:r>
                        <a:rPr lang="en-US" sz="1400" b="1">
                          <a:solidFill>
                            <a:srgbClr val="1F1F1F"/>
                          </a:solidFill>
                          <a:effectLst/>
                        </a:rPr>
                        <a:t>Asia Pacific Market</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600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18</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600k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37307412"/>
                  </a:ext>
                </a:extLst>
              </a:tr>
              <a:tr h="340014">
                <a:tc>
                  <a:txBody>
                    <a:bodyPr/>
                    <a:lstStyle/>
                    <a:p>
                      <a:pPr rtl="0">
                        <a:buNone/>
                      </a:pPr>
                      <a:r>
                        <a:rPr lang="en-US" sz="1400" b="1">
                          <a:solidFill>
                            <a:srgbClr val="1F1F1F"/>
                          </a:solidFill>
                          <a:effectLst/>
                        </a:rPr>
                        <a:t>Latin America Division</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300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9</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US" sz="1400">
                          <a:solidFill>
                            <a:srgbClr val="1F1F1F"/>
                          </a:solidFill>
                          <a:effectLst/>
                        </a:rPr>
                        <a:t>300k</a:t>
                      </a:r>
                      <a:endParaRPr lang="en-US" sz="140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602540806"/>
                  </a:ext>
                </a:extLst>
              </a:tr>
              <a:tr h="340014">
                <a:tc>
                  <a:txBody>
                    <a:bodyPr/>
                    <a:lstStyle/>
                    <a:p>
                      <a:pPr rtl="0">
                        <a:buNone/>
                      </a:pPr>
                      <a:r>
                        <a:rPr lang="en-US" sz="1400" b="1">
                          <a:solidFill>
                            <a:srgbClr val="1F1F1F"/>
                          </a:solidFill>
                          <a:effectLst/>
                        </a:rPr>
                        <a:t>Middle East Group</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250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dirty="0">
                          <a:solidFill>
                            <a:srgbClr val="1F1F1F"/>
                          </a:solidFill>
                          <a:effectLst/>
                        </a:rPr>
                        <a:t>7</a:t>
                      </a:r>
                      <a:endParaRPr lang="en-EG" sz="1400" dirty="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250k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083984885"/>
                  </a:ext>
                </a:extLst>
              </a:tr>
              <a:tr h="340014">
                <a:tc>
                  <a:txBody>
                    <a:bodyPr/>
                    <a:lstStyle/>
                    <a:p>
                      <a:pPr rtl="0">
                        <a:buNone/>
                      </a:pPr>
                      <a:r>
                        <a:rPr lang="en-US" sz="1400" b="1">
                          <a:solidFill>
                            <a:srgbClr val="1F1F1F"/>
                          </a:solidFill>
                          <a:effectLst/>
                        </a:rPr>
                        <a:t>Eastern Europe Unit</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200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6</a:t>
                      </a:r>
                      <a:endParaRPr lang="en-EG" sz="140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200k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56297057"/>
                  </a:ext>
                </a:extLst>
              </a:tr>
              <a:tr h="340014">
                <a:tc>
                  <a:txBody>
                    <a:bodyPr/>
                    <a:lstStyle/>
                    <a:p>
                      <a:pPr rtl="0">
                        <a:buNone/>
                      </a:pPr>
                      <a:r>
                        <a:rPr lang="en-US" sz="1400" b="1">
                          <a:solidFill>
                            <a:srgbClr val="1F1F1F"/>
                          </a:solidFill>
                          <a:effectLst/>
                        </a:rPr>
                        <a:t>Scandinavia Branch</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150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5</a:t>
                      </a:r>
                      <a:endParaRPr lang="en-EG" sz="140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150k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388126875"/>
                  </a:ext>
                </a:extLst>
              </a:tr>
              <a:tr h="340014">
                <a:tc>
                  <a:txBody>
                    <a:bodyPr/>
                    <a:lstStyle/>
                    <a:p>
                      <a:pPr rtl="0">
                        <a:buNone/>
                      </a:pPr>
                      <a:r>
                        <a:rPr lang="en-US" sz="1400" b="1">
                          <a:solidFill>
                            <a:srgbClr val="1F1F1F"/>
                          </a:solidFill>
                          <a:effectLst/>
                        </a:rPr>
                        <a:t>Southeast Asia Core</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350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350k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4117177225"/>
                  </a:ext>
                </a:extLst>
              </a:tr>
              <a:tr h="340014">
                <a:tc>
                  <a:txBody>
                    <a:bodyPr/>
                    <a:lstStyle/>
                    <a:p>
                      <a:pPr rtl="0">
                        <a:buNone/>
                      </a:pPr>
                      <a:r>
                        <a:rPr lang="en-US" sz="1400" b="1">
                          <a:solidFill>
                            <a:srgbClr val="1F1F1F"/>
                          </a:solidFill>
                          <a:effectLst/>
                        </a:rPr>
                        <a:t>Oceania District</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100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3</a:t>
                      </a:r>
                      <a:endParaRPr lang="en-EG" sz="140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100k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640805072"/>
                  </a:ext>
                </a:extLst>
              </a:tr>
              <a:tr h="340014">
                <a:tc>
                  <a:txBody>
                    <a:bodyPr/>
                    <a:lstStyle/>
                    <a:p>
                      <a:pPr rtl="0">
                        <a:buNone/>
                      </a:pPr>
                      <a:r>
                        <a:rPr lang="en-US" sz="1400" b="1">
                          <a:solidFill>
                            <a:srgbClr val="1F1F1F"/>
                          </a:solidFill>
                          <a:effectLst/>
                        </a:rPr>
                        <a:t>Global Digital Hub</a:t>
                      </a:r>
                      <a:endParaRPr lang="en-US"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80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EG" sz="1400">
                          <a:solidFill>
                            <a:srgbClr val="1F1F1F"/>
                          </a:solidFill>
                          <a:effectLst/>
                        </a:rPr>
                        <a:t>20</a:t>
                      </a:r>
                      <a:endParaRPr lang="en-EG" sz="1400">
                        <a:solidFill>
                          <a:srgbClr val="1F1F1F"/>
                        </a:solidFill>
                        <a:effectLst/>
                        <a:latin typeface="Google Sans Text"/>
                      </a:endParaRPr>
                    </a:p>
                  </a:txBody>
                  <a:tcPr marL="91075" marR="91075" marT="60717" marB="60717" anchor="ctr"/>
                </a:tc>
                <a:tc>
                  <a:txBody>
                    <a:bodyPr/>
                    <a:lstStyle/>
                    <a:p>
                      <a:pPr algn="ctr" rtl="0">
                        <a:buNone/>
                      </a:pPr>
                      <a:r>
                        <a:rPr lang="en-US" sz="1400" dirty="0">
                          <a:solidFill>
                            <a:srgbClr val="1F1F1F"/>
                          </a:solidFill>
                          <a:effectLst/>
                        </a:rPr>
                        <a:t>1,200k</a:t>
                      </a:r>
                      <a:endParaRPr lang="en-US" sz="1400" dirty="0">
                        <a:solidFill>
                          <a:srgbClr val="1F1F1F"/>
                        </a:solidFill>
                        <a:effectLst/>
                        <a:latin typeface="Google Sans Text"/>
                      </a:endParaRPr>
                    </a:p>
                  </a:txBody>
                  <a:tcPr marL="91075" marR="91075" marT="60717" marB="60717" anchor="ctr"/>
                </a:tc>
                <a:extLst>
                  <a:ext uri="{0D108BD9-81ED-4DB2-BD59-A6C34878D82A}">
                    <a16:rowId xmlns:a16="http://schemas.microsoft.com/office/drawing/2014/main" val="2746912969"/>
                  </a:ext>
                </a:extLst>
              </a:tr>
            </a:tbl>
          </a:graphicData>
        </a:graphic>
      </p:graphicFrame>
    </p:spTree>
    <p:extLst>
      <p:ext uri="{BB962C8B-B14F-4D97-AF65-F5344CB8AC3E}">
        <p14:creationId xmlns:p14="http://schemas.microsoft.com/office/powerpoint/2010/main" val="2688822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8CC0B-1CE6-BD01-71AC-7A39CFB19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044A4-24C9-7B00-D902-66D850A53757}"/>
              </a:ext>
            </a:extLst>
          </p:cNvPr>
          <p:cNvSpPr>
            <a:spLocks noGrp="1"/>
          </p:cNvSpPr>
          <p:nvPr>
            <p:ph type="title"/>
          </p:nvPr>
        </p:nvSpPr>
        <p:spPr>
          <a:xfrm>
            <a:off x="700635" y="914400"/>
            <a:ext cx="10691265" cy="598714"/>
          </a:xfrm>
        </p:spPr>
        <p:txBody>
          <a:bodyPr>
            <a:normAutofit/>
          </a:bodyPr>
          <a:lstStyle/>
          <a:p>
            <a:r>
              <a:rPr lang="en-US" sz="2800" b="1" dirty="0"/>
              <a:t>Answers 2:</a:t>
            </a:r>
            <a:r>
              <a:rPr lang="en-US" sz="2800" dirty="0"/>
              <a:t> bubble chart</a:t>
            </a:r>
            <a:endParaRPr lang="en-EG" sz="2800" dirty="0"/>
          </a:p>
        </p:txBody>
      </p:sp>
      <p:pic>
        <p:nvPicPr>
          <p:cNvPr id="16388" name="Picture 4">
            <a:extLst>
              <a:ext uri="{FF2B5EF4-FFF2-40B4-BE49-F238E27FC236}">
                <a16:creationId xmlns:a16="http://schemas.microsoft.com/office/drawing/2014/main" id="{309B6F96-95AB-82B1-AEEE-B42BABE86F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78023" y="1513114"/>
            <a:ext cx="6835954" cy="453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003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0D60B-43E9-8808-0E16-FFBED7914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31D4F-645F-F57D-67DA-924B4CB6114C}"/>
              </a:ext>
            </a:extLst>
          </p:cNvPr>
          <p:cNvSpPr>
            <a:spLocks noGrp="1"/>
          </p:cNvSpPr>
          <p:nvPr>
            <p:ph type="title"/>
          </p:nvPr>
        </p:nvSpPr>
        <p:spPr>
          <a:xfrm>
            <a:off x="704088" y="914400"/>
            <a:ext cx="5239272" cy="1340784"/>
          </a:xfrm>
        </p:spPr>
        <p:txBody>
          <a:bodyPr>
            <a:normAutofit/>
          </a:bodyPr>
          <a:lstStyle/>
          <a:p>
            <a:r>
              <a:rPr lang="en-US" dirty="0"/>
              <a:t>Practical Exercise 3: scatter plot </a:t>
            </a:r>
            <a:endParaRPr lang="en-EG" dirty="0"/>
          </a:p>
        </p:txBody>
      </p:sp>
      <p:sp>
        <p:nvSpPr>
          <p:cNvPr id="3" name="Content Placeholder 2">
            <a:extLst>
              <a:ext uri="{FF2B5EF4-FFF2-40B4-BE49-F238E27FC236}">
                <a16:creationId xmlns:a16="http://schemas.microsoft.com/office/drawing/2014/main" id="{FDFAF4B5-DE58-27C1-76AB-D9E231EE2CE9}"/>
              </a:ext>
            </a:extLst>
          </p:cNvPr>
          <p:cNvSpPr>
            <a:spLocks noGrp="1"/>
          </p:cNvSpPr>
          <p:nvPr>
            <p:ph idx="1"/>
          </p:nvPr>
        </p:nvSpPr>
        <p:spPr>
          <a:xfrm>
            <a:off x="7018316" y="914399"/>
            <a:ext cx="4797632" cy="5248657"/>
          </a:xfrm>
        </p:spPr>
        <p:txBody>
          <a:bodyPr>
            <a:normAutofit/>
          </a:bodyPr>
          <a:lstStyle/>
          <a:p>
            <a:pPr marL="0" indent="0">
              <a:buNone/>
            </a:pPr>
            <a:r>
              <a:rPr lang="en-US" b="1" dirty="0"/>
              <a:t>1. The Task</a:t>
            </a:r>
          </a:p>
          <a:p>
            <a:pPr marL="0" indent="0" algn="just">
              <a:buNone/>
            </a:pPr>
            <a:r>
              <a:rPr lang="en-US" dirty="0"/>
              <a:t>Perform a </a:t>
            </a:r>
            <a:r>
              <a:rPr lang="en-US" b="1" dirty="0"/>
              <a:t>Categorical vs Categorical Bivariate Analysis</a:t>
            </a:r>
            <a:r>
              <a:rPr lang="en-US" dirty="0"/>
              <a:t> and analyze the </a:t>
            </a:r>
            <a:r>
              <a:rPr lang="en-US" b="1" dirty="0"/>
              <a:t>Satisfaction Score</a:t>
            </a:r>
            <a:r>
              <a:rPr lang="en-US" dirty="0"/>
              <a:t> and </a:t>
            </a:r>
            <a:r>
              <a:rPr lang="en-US" b="1" dirty="0"/>
              <a:t>Performance Rating</a:t>
            </a:r>
            <a:r>
              <a:rPr lang="en-US" dirty="0"/>
              <a:t> for a sample of 10 employees.</a:t>
            </a:r>
          </a:p>
          <a:p>
            <a:pPr marL="0" indent="0">
              <a:buNone/>
            </a:pPr>
            <a:endParaRPr lang="en-US" dirty="0"/>
          </a:p>
          <a:p>
            <a:pPr marL="0" indent="0">
              <a:buNone/>
            </a:pPr>
            <a:r>
              <a:rPr lang="en-US" b="1" dirty="0"/>
              <a:t>2. The Dataset</a:t>
            </a:r>
          </a:p>
          <a:p>
            <a:pPr marL="0" indent="0" algn="just">
              <a:buNone/>
            </a:pPr>
            <a:r>
              <a:rPr lang="en-US" dirty="0"/>
              <a:t>It show the </a:t>
            </a:r>
            <a:r>
              <a:rPr lang="en-US" b="1" dirty="0"/>
              <a:t>Satisfaction Score</a:t>
            </a:r>
            <a:r>
              <a:rPr lang="en-US" dirty="0"/>
              <a:t> and </a:t>
            </a:r>
            <a:r>
              <a:rPr lang="en-US" b="1" dirty="0"/>
              <a:t>Performance Rating</a:t>
            </a:r>
            <a:r>
              <a:rPr lang="en-US" dirty="0"/>
              <a:t> for a sample of 10 employees (representing a larger 200-person trend).</a:t>
            </a:r>
          </a:p>
          <a:p>
            <a:pPr marL="0" indent="0">
              <a:buNone/>
            </a:pPr>
            <a:endParaRPr lang="en-US" dirty="0"/>
          </a:p>
          <a:p>
            <a:endParaRPr lang="en-US" dirty="0"/>
          </a:p>
          <a:p>
            <a:endParaRPr lang="en-EG" dirty="0"/>
          </a:p>
        </p:txBody>
      </p:sp>
      <p:graphicFrame>
        <p:nvGraphicFramePr>
          <p:cNvPr id="5" name="Table 4">
            <a:extLst>
              <a:ext uri="{FF2B5EF4-FFF2-40B4-BE49-F238E27FC236}">
                <a16:creationId xmlns:a16="http://schemas.microsoft.com/office/drawing/2014/main" id="{93C6429F-044E-C2B3-F921-44E0762C8557}"/>
              </a:ext>
            </a:extLst>
          </p:cNvPr>
          <p:cNvGraphicFramePr>
            <a:graphicFrameLocks noGrp="1"/>
          </p:cNvGraphicFramePr>
          <p:nvPr>
            <p:extLst>
              <p:ext uri="{D42A27DB-BD31-4B8C-83A1-F6EECF244321}">
                <p14:modId xmlns:p14="http://schemas.microsoft.com/office/powerpoint/2010/main" val="4126074389"/>
              </p:ext>
            </p:extLst>
          </p:nvPr>
        </p:nvGraphicFramePr>
        <p:xfrm>
          <a:off x="213753" y="2302683"/>
          <a:ext cx="6714311" cy="3764302"/>
        </p:xfrm>
        <a:graphic>
          <a:graphicData uri="http://schemas.openxmlformats.org/drawingml/2006/table">
            <a:tbl>
              <a:tblPr>
                <a:tableStyleId>{5940675A-B579-460E-94D1-54222C63F5DA}</a:tableStyleId>
              </a:tblPr>
              <a:tblGrid>
                <a:gridCol w="985652">
                  <a:extLst>
                    <a:ext uri="{9D8B030D-6E8A-4147-A177-3AD203B41FA5}">
                      <a16:colId xmlns:a16="http://schemas.microsoft.com/office/drawing/2014/main" val="1303364424"/>
                    </a:ext>
                  </a:extLst>
                </a:gridCol>
                <a:gridCol w="1068779">
                  <a:extLst>
                    <a:ext uri="{9D8B030D-6E8A-4147-A177-3AD203B41FA5}">
                      <a16:colId xmlns:a16="http://schemas.microsoft.com/office/drawing/2014/main" val="1540801125"/>
                    </a:ext>
                  </a:extLst>
                </a:gridCol>
                <a:gridCol w="1199408">
                  <a:extLst>
                    <a:ext uri="{9D8B030D-6E8A-4147-A177-3AD203B41FA5}">
                      <a16:colId xmlns:a16="http://schemas.microsoft.com/office/drawing/2014/main" val="2614088225"/>
                    </a:ext>
                  </a:extLst>
                </a:gridCol>
                <a:gridCol w="1900052">
                  <a:extLst>
                    <a:ext uri="{9D8B030D-6E8A-4147-A177-3AD203B41FA5}">
                      <a16:colId xmlns:a16="http://schemas.microsoft.com/office/drawing/2014/main" val="2357359503"/>
                    </a:ext>
                  </a:extLst>
                </a:gridCol>
                <a:gridCol w="1560420">
                  <a:extLst>
                    <a:ext uri="{9D8B030D-6E8A-4147-A177-3AD203B41FA5}">
                      <a16:colId xmlns:a16="http://schemas.microsoft.com/office/drawing/2014/main" val="1315431039"/>
                    </a:ext>
                  </a:extLst>
                </a:gridCol>
              </a:tblGrid>
              <a:tr h="695842">
                <a:tc>
                  <a:txBody>
                    <a:bodyPr/>
                    <a:lstStyle/>
                    <a:p>
                      <a:pPr algn="ctr" rtl="0">
                        <a:buNone/>
                      </a:pPr>
                      <a:r>
                        <a:rPr lang="en-US" sz="1300" b="1" dirty="0">
                          <a:solidFill>
                            <a:srgbClr val="1F1F1F"/>
                          </a:solidFill>
                          <a:effectLst/>
                        </a:rPr>
                        <a:t>Employee ID</a:t>
                      </a:r>
                      <a:endParaRPr lang="en-US" sz="1300" dirty="0">
                        <a:solidFill>
                          <a:srgbClr val="1F1F1F"/>
                        </a:solidFill>
                        <a:effectLst/>
                        <a:latin typeface="Google Sans Text"/>
                      </a:endParaRPr>
                    </a:p>
                  </a:txBody>
                  <a:tcPr marL="81544" marR="81544" marT="54363" marB="54363" anchor="ctr">
                    <a:solidFill>
                      <a:schemeClr val="bg2">
                        <a:lumMod val="90000"/>
                      </a:schemeClr>
                    </a:solidFill>
                  </a:tcPr>
                </a:tc>
                <a:tc>
                  <a:txBody>
                    <a:bodyPr/>
                    <a:lstStyle/>
                    <a:p>
                      <a:pPr algn="ctr" rtl="0">
                        <a:buNone/>
                      </a:pPr>
                      <a:r>
                        <a:rPr lang="en-US" sz="1300" b="1" dirty="0">
                          <a:solidFill>
                            <a:srgbClr val="1F1F1F"/>
                          </a:solidFill>
                          <a:effectLst/>
                        </a:rPr>
                        <a:t>Satisfaction Score</a:t>
                      </a:r>
                      <a:endParaRPr lang="en-US" sz="1300" dirty="0">
                        <a:solidFill>
                          <a:srgbClr val="1F1F1F"/>
                        </a:solidFill>
                        <a:effectLst/>
                        <a:latin typeface="Google Sans Text"/>
                      </a:endParaRPr>
                    </a:p>
                  </a:txBody>
                  <a:tcPr marL="81544" marR="81544" marT="54363" marB="54363" anchor="ctr">
                    <a:solidFill>
                      <a:schemeClr val="bg2">
                        <a:lumMod val="90000"/>
                      </a:schemeClr>
                    </a:solidFill>
                  </a:tcPr>
                </a:tc>
                <a:tc>
                  <a:txBody>
                    <a:bodyPr/>
                    <a:lstStyle/>
                    <a:p>
                      <a:pPr algn="ctr" rtl="0">
                        <a:buNone/>
                      </a:pPr>
                      <a:r>
                        <a:rPr lang="en-US" sz="1300" b="1" dirty="0">
                          <a:solidFill>
                            <a:srgbClr val="1F1F1F"/>
                          </a:solidFill>
                          <a:effectLst/>
                        </a:rPr>
                        <a:t>Performance Rating</a:t>
                      </a:r>
                      <a:endParaRPr lang="en-US" sz="1300" dirty="0">
                        <a:solidFill>
                          <a:srgbClr val="1F1F1F"/>
                        </a:solidFill>
                        <a:effectLst/>
                        <a:latin typeface="Google Sans Text"/>
                      </a:endParaRPr>
                    </a:p>
                  </a:txBody>
                  <a:tcPr marL="81544" marR="81544" marT="54363" marB="54363" anchor="ctr">
                    <a:solidFill>
                      <a:schemeClr val="bg2">
                        <a:lumMod val="90000"/>
                      </a:schemeClr>
                    </a:solidFill>
                  </a:tcPr>
                </a:tc>
                <a:tc>
                  <a:txBody>
                    <a:bodyPr/>
                    <a:lstStyle/>
                    <a:p>
                      <a:pPr algn="ctr" rtl="0">
                        <a:buNone/>
                      </a:pPr>
                      <a:r>
                        <a:rPr lang="en-US" sz="1300" b="1" dirty="0">
                          <a:solidFill>
                            <a:srgbClr val="1F1F1F"/>
                          </a:solidFill>
                          <a:effectLst/>
                        </a:rPr>
                        <a:t>Jittering Random Numbers (-0.15, +0.15)</a:t>
                      </a:r>
                      <a:endParaRPr lang="en-US" sz="1300" dirty="0">
                        <a:solidFill>
                          <a:srgbClr val="1F1F1F"/>
                        </a:solidFill>
                        <a:effectLst/>
                        <a:latin typeface="Google Sans Text"/>
                      </a:endParaRPr>
                    </a:p>
                  </a:txBody>
                  <a:tcPr marL="81544" marR="81544" marT="54363" marB="54363" anchor="ctr">
                    <a:solidFill>
                      <a:schemeClr val="bg2">
                        <a:lumMod val="75000"/>
                      </a:schemeClr>
                    </a:solidFill>
                  </a:tcPr>
                </a:tc>
                <a:tc>
                  <a:txBody>
                    <a:bodyPr/>
                    <a:lstStyle/>
                    <a:p>
                      <a:pPr algn="ctr" rtl="0">
                        <a:buNone/>
                      </a:pPr>
                      <a:r>
                        <a:rPr lang="en-US" sz="1300" b="1" dirty="0">
                          <a:solidFill>
                            <a:srgbClr val="1F1F1F"/>
                          </a:solidFill>
                          <a:effectLst/>
                        </a:rPr>
                        <a:t>Final Jittered Plotting Position</a:t>
                      </a:r>
                      <a:endParaRPr lang="en-US" sz="1300" dirty="0">
                        <a:solidFill>
                          <a:srgbClr val="1F1F1F"/>
                        </a:solidFill>
                        <a:effectLst/>
                        <a:latin typeface="Google Sans Text"/>
                      </a:endParaRPr>
                    </a:p>
                  </a:txBody>
                  <a:tcPr marL="81544" marR="81544" marT="54363" marB="54363" anchor="ctr">
                    <a:solidFill>
                      <a:schemeClr val="bg2">
                        <a:lumMod val="75000"/>
                      </a:schemeClr>
                    </a:solidFill>
                  </a:tcPr>
                </a:tc>
                <a:extLst>
                  <a:ext uri="{0D108BD9-81ED-4DB2-BD59-A6C34878D82A}">
                    <a16:rowId xmlns:a16="http://schemas.microsoft.com/office/drawing/2014/main" val="2759215973"/>
                  </a:ext>
                </a:extLst>
              </a:tr>
              <a:tr h="304431">
                <a:tc>
                  <a:txBody>
                    <a:bodyPr/>
                    <a:lstStyle/>
                    <a:p>
                      <a:pPr algn="ctr" rtl="0">
                        <a:buNone/>
                      </a:pPr>
                      <a:r>
                        <a:rPr lang="en-US" sz="1300" b="1">
                          <a:solidFill>
                            <a:srgbClr val="1F1F1F"/>
                          </a:solidFill>
                          <a:effectLst/>
                        </a:rPr>
                        <a:t>EMP_001</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dirty="0">
                          <a:solidFill>
                            <a:srgbClr val="1F1F1F"/>
                          </a:solidFill>
                          <a:effectLst/>
                        </a:rPr>
                        <a:t>5</a:t>
                      </a:r>
                      <a:endParaRPr lang="en-EG" sz="1300" dirty="0">
                        <a:solidFill>
                          <a:srgbClr val="1F1F1F"/>
                        </a:solidFill>
                        <a:effectLst/>
                        <a:latin typeface="Google Sans Text"/>
                      </a:endParaRPr>
                    </a:p>
                  </a:txBody>
                  <a:tcPr marL="81544" marR="81544" marT="54363" marB="54363" anchor="ctr"/>
                </a:tc>
                <a:tc>
                  <a:txBody>
                    <a:bodyPr/>
                    <a:lstStyle/>
                    <a:p>
                      <a:pPr algn="ctr" rtl="0">
                        <a:buNone/>
                      </a:pPr>
                      <a:r>
                        <a:rPr lang="en-EG" sz="1300" dirty="0">
                          <a:solidFill>
                            <a:srgbClr val="1F1F1F"/>
                          </a:solidFill>
                          <a:effectLst/>
                        </a:rPr>
                        <a:t>(+0.08, -0.04)</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a:solidFill>
                            <a:srgbClr val="1F1F1F"/>
                          </a:solidFill>
                          <a:effectLst/>
                        </a:rPr>
                        <a:t>(5.08, 4.96)</a:t>
                      </a:r>
                      <a:endParaRPr lang="en-EG" sz="130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2661429738"/>
                  </a:ext>
                </a:extLst>
              </a:tr>
              <a:tr h="304431">
                <a:tc>
                  <a:txBody>
                    <a:bodyPr/>
                    <a:lstStyle/>
                    <a:p>
                      <a:pPr algn="ctr" rtl="0">
                        <a:buNone/>
                      </a:pPr>
                      <a:r>
                        <a:rPr lang="en-US" sz="1300" b="1">
                          <a:solidFill>
                            <a:srgbClr val="1F1F1F"/>
                          </a:solidFill>
                          <a:effectLst/>
                        </a:rPr>
                        <a:t>EMP_002</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dirty="0">
                          <a:solidFill>
                            <a:srgbClr val="1F1F1F"/>
                          </a:solidFill>
                          <a:effectLst/>
                        </a:rPr>
                        <a:t>(-0.12, +0.07)</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a:solidFill>
                            <a:srgbClr val="1F1F1F"/>
                          </a:solidFill>
                          <a:effectLst/>
                        </a:rPr>
                        <a:t>(4.88, 5.07)</a:t>
                      </a:r>
                      <a:endParaRPr lang="en-EG" sz="130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2658136713"/>
                  </a:ext>
                </a:extLst>
              </a:tr>
              <a:tr h="304431">
                <a:tc>
                  <a:txBody>
                    <a:bodyPr/>
                    <a:lstStyle/>
                    <a:p>
                      <a:pPr algn="ctr" rtl="0">
                        <a:buNone/>
                      </a:pPr>
                      <a:r>
                        <a:rPr lang="en-US" sz="1300" b="1">
                          <a:solidFill>
                            <a:srgbClr val="1F1F1F"/>
                          </a:solidFill>
                          <a:effectLst/>
                        </a:rPr>
                        <a:t>EMP_003</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dirty="0">
                          <a:solidFill>
                            <a:srgbClr val="1F1F1F"/>
                          </a:solidFill>
                          <a:effectLst/>
                        </a:rPr>
                        <a:t>(+0.02, +0.11)</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(4.02, 4.11)</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3863863342"/>
                  </a:ext>
                </a:extLst>
              </a:tr>
              <a:tr h="304431">
                <a:tc>
                  <a:txBody>
                    <a:bodyPr/>
                    <a:lstStyle/>
                    <a:p>
                      <a:pPr algn="ctr" rtl="0">
                        <a:buNone/>
                      </a:pPr>
                      <a:r>
                        <a:rPr lang="en-US" sz="1300" b="1">
                          <a:solidFill>
                            <a:srgbClr val="1F1F1F"/>
                          </a:solidFill>
                          <a:effectLst/>
                        </a:rPr>
                        <a:t>EMP_004</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2</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2</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(-0.05, -0.09)</a:t>
                      </a:r>
                      <a:endParaRPr lang="en-EG" sz="130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(1.95, 1.91)</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1956424680"/>
                  </a:ext>
                </a:extLst>
              </a:tr>
              <a:tr h="304431">
                <a:tc>
                  <a:txBody>
                    <a:bodyPr/>
                    <a:lstStyle/>
                    <a:p>
                      <a:pPr algn="ctr" rtl="0">
                        <a:buNone/>
                      </a:pPr>
                      <a:r>
                        <a:rPr lang="en-US" sz="1300" b="1">
                          <a:solidFill>
                            <a:srgbClr val="1F1F1F"/>
                          </a:solidFill>
                          <a:effectLst/>
                        </a:rPr>
                        <a:t>EMP_005</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3</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(+0.14, -0.02)</a:t>
                      </a:r>
                      <a:endParaRPr lang="en-EG" sz="130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(3.14, 3.98)</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3017160045"/>
                  </a:ext>
                </a:extLst>
              </a:tr>
              <a:tr h="304431">
                <a:tc>
                  <a:txBody>
                    <a:bodyPr/>
                    <a:lstStyle/>
                    <a:p>
                      <a:pPr algn="ctr" rtl="0">
                        <a:buNone/>
                      </a:pPr>
                      <a:r>
                        <a:rPr lang="en-US" sz="1300" b="1">
                          <a:solidFill>
                            <a:srgbClr val="1F1F1F"/>
                          </a:solidFill>
                          <a:effectLst/>
                        </a:rPr>
                        <a:t>EMP_006</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(-0.07, +0.05)</a:t>
                      </a:r>
                      <a:endParaRPr lang="en-EG" sz="130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(3.93, 5.05)</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296201821"/>
                  </a:ext>
                </a:extLst>
              </a:tr>
              <a:tr h="304431">
                <a:tc>
                  <a:txBody>
                    <a:bodyPr/>
                    <a:lstStyle/>
                    <a:p>
                      <a:pPr algn="ctr" rtl="0">
                        <a:buNone/>
                      </a:pPr>
                      <a:r>
                        <a:rPr lang="en-US" sz="1300" b="1">
                          <a:solidFill>
                            <a:srgbClr val="1F1F1F"/>
                          </a:solidFill>
                          <a:effectLst/>
                        </a:rPr>
                        <a:t>EMP_007</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1</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2</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(+0.01, -0.13)</a:t>
                      </a:r>
                      <a:endParaRPr lang="en-EG" sz="130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(1.01, 1.87)</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177956182"/>
                  </a:ext>
                </a:extLst>
              </a:tr>
              <a:tr h="304431">
                <a:tc>
                  <a:txBody>
                    <a:bodyPr/>
                    <a:lstStyle/>
                    <a:p>
                      <a:pPr algn="ctr" rtl="0">
                        <a:buNone/>
                      </a:pPr>
                      <a:r>
                        <a:rPr lang="en-US" sz="1300" b="1">
                          <a:solidFill>
                            <a:srgbClr val="1F1F1F"/>
                          </a:solidFill>
                          <a:effectLst/>
                        </a:rPr>
                        <a:t>EMP_008</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(-0.03, +0.06)</a:t>
                      </a:r>
                      <a:endParaRPr lang="en-EG" sz="130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(3.97, 4.06)</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802001089"/>
                  </a:ext>
                </a:extLst>
              </a:tr>
              <a:tr h="304431">
                <a:tc>
                  <a:txBody>
                    <a:bodyPr/>
                    <a:lstStyle/>
                    <a:p>
                      <a:pPr algn="ctr" rtl="0">
                        <a:buNone/>
                      </a:pPr>
                      <a:r>
                        <a:rPr lang="en-US" sz="1300" b="1">
                          <a:solidFill>
                            <a:srgbClr val="1F1F1F"/>
                          </a:solidFill>
                          <a:effectLst/>
                        </a:rPr>
                        <a:t>EMP_009</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(+0.09, -0.01)</a:t>
                      </a:r>
                      <a:endParaRPr lang="en-EG" sz="130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(5.09, 3.99)</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1149952097"/>
                  </a:ext>
                </a:extLst>
              </a:tr>
              <a:tr h="304431">
                <a:tc>
                  <a:txBody>
                    <a:bodyPr/>
                    <a:lstStyle/>
                    <a:p>
                      <a:pPr algn="ctr" rtl="0">
                        <a:buNone/>
                      </a:pPr>
                      <a:r>
                        <a:rPr lang="en-US" sz="1300" b="1">
                          <a:solidFill>
                            <a:srgbClr val="1F1F1F"/>
                          </a:solidFill>
                          <a:effectLst/>
                        </a:rPr>
                        <a:t>EMP_010</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dirty="0">
                          <a:solidFill>
                            <a:srgbClr val="1F1F1F"/>
                          </a:solidFill>
                          <a:effectLst/>
                        </a:rPr>
                        <a:t>(+0.05, +0.12)</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(5.05, 5.12)</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3856785857"/>
                  </a:ext>
                </a:extLst>
              </a:tr>
            </a:tbl>
          </a:graphicData>
        </a:graphic>
      </p:graphicFrame>
    </p:spTree>
    <p:extLst>
      <p:ext uri="{BB962C8B-B14F-4D97-AF65-F5344CB8AC3E}">
        <p14:creationId xmlns:p14="http://schemas.microsoft.com/office/powerpoint/2010/main" val="1450658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E6E1D-64D5-F4D1-433E-DC51596CA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D5DBD-4DD3-4885-164D-219F809D0C36}"/>
              </a:ext>
            </a:extLst>
          </p:cNvPr>
          <p:cNvSpPr>
            <a:spLocks noGrp="1"/>
          </p:cNvSpPr>
          <p:nvPr>
            <p:ph type="title"/>
          </p:nvPr>
        </p:nvSpPr>
        <p:spPr>
          <a:xfrm>
            <a:off x="704088" y="914399"/>
            <a:ext cx="5239272" cy="1621147"/>
          </a:xfrm>
        </p:spPr>
        <p:txBody>
          <a:bodyPr>
            <a:normAutofit/>
          </a:bodyPr>
          <a:lstStyle/>
          <a:p>
            <a:r>
              <a:rPr lang="en-US" dirty="0"/>
              <a:t>Practical Exercise 3: scatter plot</a:t>
            </a:r>
            <a:endParaRPr lang="en-EG" dirty="0"/>
          </a:p>
        </p:txBody>
      </p:sp>
      <p:sp>
        <p:nvSpPr>
          <p:cNvPr id="3" name="Content Placeholder 2">
            <a:extLst>
              <a:ext uri="{FF2B5EF4-FFF2-40B4-BE49-F238E27FC236}">
                <a16:creationId xmlns:a16="http://schemas.microsoft.com/office/drawing/2014/main" id="{C3F888BF-671B-E220-4004-71751D160CA4}"/>
              </a:ext>
            </a:extLst>
          </p:cNvPr>
          <p:cNvSpPr>
            <a:spLocks noGrp="1"/>
          </p:cNvSpPr>
          <p:nvPr>
            <p:ph idx="1"/>
          </p:nvPr>
        </p:nvSpPr>
        <p:spPr>
          <a:xfrm>
            <a:off x="7077690" y="914399"/>
            <a:ext cx="4738255" cy="5248657"/>
          </a:xfrm>
        </p:spPr>
        <p:txBody>
          <a:bodyPr>
            <a:normAutofit/>
          </a:bodyPr>
          <a:lstStyle/>
          <a:p>
            <a:pPr marL="0" indent="0">
              <a:buNone/>
            </a:pPr>
            <a:r>
              <a:rPr lang="en-US" b="1" dirty="0"/>
              <a:t>3. The Audience Question</a:t>
            </a:r>
          </a:p>
          <a:p>
            <a:pPr marL="0" indent="0" algn="just">
              <a:buNone/>
            </a:pPr>
            <a:r>
              <a:rPr lang="en-US" dirty="0"/>
              <a:t>”Where is the primary </a:t>
            </a:r>
            <a:r>
              <a:rPr lang="en-US" b="1" dirty="0"/>
              <a:t>Cluster</a:t>
            </a:r>
            <a:r>
              <a:rPr lang="en-US" dirty="0"/>
              <a:t> of employees located, and does a high satisfaction score have an </a:t>
            </a:r>
            <a:r>
              <a:rPr lang="en-US" b="1" dirty="0"/>
              <a:t>Influence</a:t>
            </a:r>
            <a:r>
              <a:rPr lang="en-US" dirty="0"/>
              <a:t> on the performance rating?”</a:t>
            </a:r>
          </a:p>
          <a:p>
            <a:pPr marL="0" indent="0">
              <a:buNone/>
            </a:pPr>
            <a:endParaRPr lang="en-US" dirty="0"/>
          </a:p>
          <a:p>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4" name="Table 3">
            <a:extLst>
              <a:ext uri="{FF2B5EF4-FFF2-40B4-BE49-F238E27FC236}">
                <a16:creationId xmlns:a16="http://schemas.microsoft.com/office/drawing/2014/main" id="{720B2879-6A37-5B7A-61E5-4D3F881E5C65}"/>
              </a:ext>
            </a:extLst>
          </p:cNvPr>
          <p:cNvGraphicFramePr>
            <a:graphicFrameLocks noGrp="1"/>
          </p:cNvGraphicFramePr>
          <p:nvPr>
            <p:extLst>
              <p:ext uri="{D42A27DB-BD31-4B8C-83A1-F6EECF244321}">
                <p14:modId xmlns:p14="http://schemas.microsoft.com/office/powerpoint/2010/main" val="274183404"/>
              </p:ext>
            </p:extLst>
          </p:nvPr>
        </p:nvGraphicFramePr>
        <p:xfrm>
          <a:off x="273128" y="2302683"/>
          <a:ext cx="6714311" cy="3764302"/>
        </p:xfrm>
        <a:graphic>
          <a:graphicData uri="http://schemas.openxmlformats.org/drawingml/2006/table">
            <a:tbl>
              <a:tblPr>
                <a:tableStyleId>{5940675A-B579-460E-94D1-54222C63F5DA}</a:tableStyleId>
              </a:tblPr>
              <a:tblGrid>
                <a:gridCol w="985652">
                  <a:extLst>
                    <a:ext uri="{9D8B030D-6E8A-4147-A177-3AD203B41FA5}">
                      <a16:colId xmlns:a16="http://schemas.microsoft.com/office/drawing/2014/main" val="1303364424"/>
                    </a:ext>
                  </a:extLst>
                </a:gridCol>
                <a:gridCol w="1068779">
                  <a:extLst>
                    <a:ext uri="{9D8B030D-6E8A-4147-A177-3AD203B41FA5}">
                      <a16:colId xmlns:a16="http://schemas.microsoft.com/office/drawing/2014/main" val="1540801125"/>
                    </a:ext>
                  </a:extLst>
                </a:gridCol>
                <a:gridCol w="1199408">
                  <a:extLst>
                    <a:ext uri="{9D8B030D-6E8A-4147-A177-3AD203B41FA5}">
                      <a16:colId xmlns:a16="http://schemas.microsoft.com/office/drawing/2014/main" val="2614088225"/>
                    </a:ext>
                  </a:extLst>
                </a:gridCol>
                <a:gridCol w="1900052">
                  <a:extLst>
                    <a:ext uri="{9D8B030D-6E8A-4147-A177-3AD203B41FA5}">
                      <a16:colId xmlns:a16="http://schemas.microsoft.com/office/drawing/2014/main" val="2357359503"/>
                    </a:ext>
                  </a:extLst>
                </a:gridCol>
                <a:gridCol w="1560420">
                  <a:extLst>
                    <a:ext uri="{9D8B030D-6E8A-4147-A177-3AD203B41FA5}">
                      <a16:colId xmlns:a16="http://schemas.microsoft.com/office/drawing/2014/main" val="1315431039"/>
                    </a:ext>
                  </a:extLst>
                </a:gridCol>
              </a:tblGrid>
              <a:tr h="695842">
                <a:tc>
                  <a:txBody>
                    <a:bodyPr/>
                    <a:lstStyle/>
                    <a:p>
                      <a:pPr algn="ctr" rtl="0">
                        <a:buNone/>
                      </a:pPr>
                      <a:r>
                        <a:rPr lang="en-US" sz="1300" b="1" dirty="0">
                          <a:solidFill>
                            <a:srgbClr val="1F1F1F"/>
                          </a:solidFill>
                          <a:effectLst/>
                        </a:rPr>
                        <a:t>Employee ID</a:t>
                      </a:r>
                      <a:endParaRPr lang="en-US" sz="1300" dirty="0">
                        <a:solidFill>
                          <a:srgbClr val="1F1F1F"/>
                        </a:solidFill>
                        <a:effectLst/>
                        <a:latin typeface="Google Sans Text"/>
                      </a:endParaRPr>
                    </a:p>
                  </a:txBody>
                  <a:tcPr marL="81544" marR="81544" marT="54363" marB="54363" anchor="ctr">
                    <a:solidFill>
                      <a:schemeClr val="bg2">
                        <a:lumMod val="90000"/>
                      </a:schemeClr>
                    </a:solidFill>
                  </a:tcPr>
                </a:tc>
                <a:tc>
                  <a:txBody>
                    <a:bodyPr/>
                    <a:lstStyle/>
                    <a:p>
                      <a:pPr algn="ctr" rtl="0">
                        <a:buNone/>
                      </a:pPr>
                      <a:r>
                        <a:rPr lang="en-US" sz="1300" b="1" dirty="0">
                          <a:solidFill>
                            <a:srgbClr val="1F1F1F"/>
                          </a:solidFill>
                          <a:effectLst/>
                        </a:rPr>
                        <a:t>Satisfaction Score</a:t>
                      </a:r>
                      <a:endParaRPr lang="en-US" sz="1300" dirty="0">
                        <a:solidFill>
                          <a:srgbClr val="1F1F1F"/>
                        </a:solidFill>
                        <a:effectLst/>
                        <a:latin typeface="Google Sans Text"/>
                      </a:endParaRPr>
                    </a:p>
                  </a:txBody>
                  <a:tcPr marL="81544" marR="81544" marT="54363" marB="54363" anchor="ctr">
                    <a:solidFill>
                      <a:schemeClr val="bg2">
                        <a:lumMod val="90000"/>
                      </a:schemeClr>
                    </a:solidFill>
                  </a:tcPr>
                </a:tc>
                <a:tc>
                  <a:txBody>
                    <a:bodyPr/>
                    <a:lstStyle/>
                    <a:p>
                      <a:pPr algn="ctr" rtl="0">
                        <a:buNone/>
                      </a:pPr>
                      <a:r>
                        <a:rPr lang="en-US" sz="1300" b="1" dirty="0">
                          <a:solidFill>
                            <a:srgbClr val="1F1F1F"/>
                          </a:solidFill>
                          <a:effectLst/>
                        </a:rPr>
                        <a:t>Performance Rating</a:t>
                      </a:r>
                      <a:endParaRPr lang="en-US" sz="1300" dirty="0">
                        <a:solidFill>
                          <a:srgbClr val="1F1F1F"/>
                        </a:solidFill>
                        <a:effectLst/>
                        <a:latin typeface="Google Sans Text"/>
                      </a:endParaRPr>
                    </a:p>
                  </a:txBody>
                  <a:tcPr marL="81544" marR="81544" marT="54363" marB="54363" anchor="ctr">
                    <a:solidFill>
                      <a:schemeClr val="bg2">
                        <a:lumMod val="90000"/>
                      </a:schemeClr>
                    </a:solidFill>
                  </a:tcPr>
                </a:tc>
                <a:tc>
                  <a:txBody>
                    <a:bodyPr/>
                    <a:lstStyle/>
                    <a:p>
                      <a:pPr algn="ctr" rtl="0">
                        <a:buNone/>
                      </a:pPr>
                      <a:r>
                        <a:rPr lang="en-US" sz="1300" b="1" dirty="0">
                          <a:solidFill>
                            <a:srgbClr val="1F1F1F"/>
                          </a:solidFill>
                          <a:effectLst/>
                        </a:rPr>
                        <a:t>Jittering Random Numbers (-0.15, +0.15)</a:t>
                      </a:r>
                      <a:endParaRPr lang="en-US" sz="1300" dirty="0">
                        <a:solidFill>
                          <a:srgbClr val="1F1F1F"/>
                        </a:solidFill>
                        <a:effectLst/>
                        <a:latin typeface="Google Sans Text"/>
                      </a:endParaRPr>
                    </a:p>
                  </a:txBody>
                  <a:tcPr marL="81544" marR="81544" marT="54363" marB="54363" anchor="ctr">
                    <a:solidFill>
                      <a:schemeClr val="bg2">
                        <a:lumMod val="75000"/>
                      </a:schemeClr>
                    </a:solidFill>
                  </a:tcPr>
                </a:tc>
                <a:tc>
                  <a:txBody>
                    <a:bodyPr/>
                    <a:lstStyle/>
                    <a:p>
                      <a:pPr algn="ctr" rtl="0">
                        <a:buNone/>
                      </a:pPr>
                      <a:r>
                        <a:rPr lang="en-US" sz="1300" b="1" dirty="0">
                          <a:solidFill>
                            <a:srgbClr val="1F1F1F"/>
                          </a:solidFill>
                          <a:effectLst/>
                        </a:rPr>
                        <a:t>Final Jittered Plotting Position</a:t>
                      </a:r>
                      <a:endParaRPr lang="en-US" sz="1300" dirty="0">
                        <a:solidFill>
                          <a:srgbClr val="1F1F1F"/>
                        </a:solidFill>
                        <a:effectLst/>
                        <a:latin typeface="Google Sans Text"/>
                      </a:endParaRPr>
                    </a:p>
                  </a:txBody>
                  <a:tcPr marL="81544" marR="81544" marT="54363" marB="54363" anchor="ctr">
                    <a:solidFill>
                      <a:schemeClr val="bg2">
                        <a:lumMod val="75000"/>
                      </a:schemeClr>
                    </a:solidFill>
                  </a:tcPr>
                </a:tc>
                <a:extLst>
                  <a:ext uri="{0D108BD9-81ED-4DB2-BD59-A6C34878D82A}">
                    <a16:rowId xmlns:a16="http://schemas.microsoft.com/office/drawing/2014/main" val="2759215973"/>
                  </a:ext>
                </a:extLst>
              </a:tr>
              <a:tr h="304431">
                <a:tc>
                  <a:txBody>
                    <a:bodyPr/>
                    <a:lstStyle/>
                    <a:p>
                      <a:pPr algn="ctr" rtl="0">
                        <a:buNone/>
                      </a:pPr>
                      <a:r>
                        <a:rPr lang="en-US" sz="1300" b="1">
                          <a:solidFill>
                            <a:srgbClr val="1F1F1F"/>
                          </a:solidFill>
                          <a:effectLst/>
                        </a:rPr>
                        <a:t>EMP_001</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dirty="0">
                          <a:solidFill>
                            <a:srgbClr val="1F1F1F"/>
                          </a:solidFill>
                          <a:effectLst/>
                        </a:rPr>
                        <a:t>5</a:t>
                      </a:r>
                      <a:endParaRPr lang="en-EG" sz="1300" dirty="0">
                        <a:solidFill>
                          <a:srgbClr val="1F1F1F"/>
                        </a:solidFill>
                        <a:effectLst/>
                        <a:latin typeface="Google Sans Text"/>
                      </a:endParaRPr>
                    </a:p>
                  </a:txBody>
                  <a:tcPr marL="81544" marR="81544" marT="54363" marB="54363" anchor="ctr"/>
                </a:tc>
                <a:tc>
                  <a:txBody>
                    <a:bodyPr/>
                    <a:lstStyle/>
                    <a:p>
                      <a:pPr algn="ctr" rtl="0">
                        <a:buNone/>
                      </a:pPr>
                      <a:r>
                        <a:rPr lang="en-EG" sz="1300" dirty="0">
                          <a:solidFill>
                            <a:srgbClr val="1F1F1F"/>
                          </a:solidFill>
                          <a:effectLst/>
                        </a:rPr>
                        <a:t>(+0.08, -0.04)</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a:solidFill>
                            <a:srgbClr val="1F1F1F"/>
                          </a:solidFill>
                          <a:effectLst/>
                        </a:rPr>
                        <a:t>(5.08, 4.96)</a:t>
                      </a:r>
                      <a:endParaRPr lang="en-EG" sz="130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2661429738"/>
                  </a:ext>
                </a:extLst>
              </a:tr>
              <a:tr h="304431">
                <a:tc>
                  <a:txBody>
                    <a:bodyPr/>
                    <a:lstStyle/>
                    <a:p>
                      <a:pPr algn="ctr" rtl="0">
                        <a:buNone/>
                      </a:pPr>
                      <a:r>
                        <a:rPr lang="en-US" sz="1300" b="1">
                          <a:solidFill>
                            <a:srgbClr val="1F1F1F"/>
                          </a:solidFill>
                          <a:effectLst/>
                        </a:rPr>
                        <a:t>EMP_002</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dirty="0">
                          <a:solidFill>
                            <a:srgbClr val="1F1F1F"/>
                          </a:solidFill>
                          <a:effectLst/>
                        </a:rPr>
                        <a:t>(-0.12, +0.07)</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a:solidFill>
                            <a:srgbClr val="1F1F1F"/>
                          </a:solidFill>
                          <a:effectLst/>
                        </a:rPr>
                        <a:t>(4.88, 5.07)</a:t>
                      </a:r>
                      <a:endParaRPr lang="en-EG" sz="130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2658136713"/>
                  </a:ext>
                </a:extLst>
              </a:tr>
              <a:tr h="304431">
                <a:tc>
                  <a:txBody>
                    <a:bodyPr/>
                    <a:lstStyle/>
                    <a:p>
                      <a:pPr algn="ctr" rtl="0">
                        <a:buNone/>
                      </a:pPr>
                      <a:r>
                        <a:rPr lang="en-US" sz="1300" b="1">
                          <a:solidFill>
                            <a:srgbClr val="1F1F1F"/>
                          </a:solidFill>
                          <a:effectLst/>
                        </a:rPr>
                        <a:t>EMP_003</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dirty="0">
                          <a:solidFill>
                            <a:srgbClr val="1F1F1F"/>
                          </a:solidFill>
                          <a:effectLst/>
                        </a:rPr>
                        <a:t>(+0.02, +0.11)</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(4.02, 4.11)</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3863863342"/>
                  </a:ext>
                </a:extLst>
              </a:tr>
              <a:tr h="304431">
                <a:tc>
                  <a:txBody>
                    <a:bodyPr/>
                    <a:lstStyle/>
                    <a:p>
                      <a:pPr algn="ctr" rtl="0">
                        <a:buNone/>
                      </a:pPr>
                      <a:r>
                        <a:rPr lang="en-US" sz="1300" b="1">
                          <a:solidFill>
                            <a:srgbClr val="1F1F1F"/>
                          </a:solidFill>
                          <a:effectLst/>
                        </a:rPr>
                        <a:t>EMP_004</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2</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2</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(-0.05, -0.09)</a:t>
                      </a:r>
                      <a:endParaRPr lang="en-EG" sz="130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(1.95, 1.91)</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1956424680"/>
                  </a:ext>
                </a:extLst>
              </a:tr>
              <a:tr h="304431">
                <a:tc>
                  <a:txBody>
                    <a:bodyPr/>
                    <a:lstStyle/>
                    <a:p>
                      <a:pPr algn="ctr" rtl="0">
                        <a:buNone/>
                      </a:pPr>
                      <a:r>
                        <a:rPr lang="en-US" sz="1300" b="1">
                          <a:solidFill>
                            <a:srgbClr val="1F1F1F"/>
                          </a:solidFill>
                          <a:effectLst/>
                        </a:rPr>
                        <a:t>EMP_005</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3</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(+0.14, -0.02)</a:t>
                      </a:r>
                      <a:endParaRPr lang="en-EG" sz="130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(3.14, 3.98)</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3017160045"/>
                  </a:ext>
                </a:extLst>
              </a:tr>
              <a:tr h="304431">
                <a:tc>
                  <a:txBody>
                    <a:bodyPr/>
                    <a:lstStyle/>
                    <a:p>
                      <a:pPr algn="ctr" rtl="0">
                        <a:buNone/>
                      </a:pPr>
                      <a:r>
                        <a:rPr lang="en-US" sz="1300" b="1">
                          <a:solidFill>
                            <a:srgbClr val="1F1F1F"/>
                          </a:solidFill>
                          <a:effectLst/>
                        </a:rPr>
                        <a:t>EMP_006</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(-0.07, +0.05)</a:t>
                      </a:r>
                      <a:endParaRPr lang="en-EG" sz="130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(3.93, 5.05)</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296201821"/>
                  </a:ext>
                </a:extLst>
              </a:tr>
              <a:tr h="304431">
                <a:tc>
                  <a:txBody>
                    <a:bodyPr/>
                    <a:lstStyle/>
                    <a:p>
                      <a:pPr algn="ctr" rtl="0">
                        <a:buNone/>
                      </a:pPr>
                      <a:r>
                        <a:rPr lang="en-US" sz="1300" b="1">
                          <a:solidFill>
                            <a:srgbClr val="1F1F1F"/>
                          </a:solidFill>
                          <a:effectLst/>
                        </a:rPr>
                        <a:t>EMP_007</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1</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2</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(+0.01, -0.13)</a:t>
                      </a:r>
                      <a:endParaRPr lang="en-EG" sz="130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(1.01, 1.87)</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177956182"/>
                  </a:ext>
                </a:extLst>
              </a:tr>
              <a:tr h="304431">
                <a:tc>
                  <a:txBody>
                    <a:bodyPr/>
                    <a:lstStyle/>
                    <a:p>
                      <a:pPr algn="ctr" rtl="0">
                        <a:buNone/>
                      </a:pPr>
                      <a:r>
                        <a:rPr lang="en-US" sz="1300" b="1">
                          <a:solidFill>
                            <a:srgbClr val="1F1F1F"/>
                          </a:solidFill>
                          <a:effectLst/>
                        </a:rPr>
                        <a:t>EMP_008</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(-0.03, +0.06)</a:t>
                      </a:r>
                      <a:endParaRPr lang="en-EG" sz="130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(3.97, 4.06)</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802001089"/>
                  </a:ext>
                </a:extLst>
              </a:tr>
              <a:tr h="304431">
                <a:tc>
                  <a:txBody>
                    <a:bodyPr/>
                    <a:lstStyle/>
                    <a:p>
                      <a:pPr algn="ctr" rtl="0">
                        <a:buNone/>
                      </a:pPr>
                      <a:r>
                        <a:rPr lang="en-US" sz="1300" b="1">
                          <a:solidFill>
                            <a:srgbClr val="1F1F1F"/>
                          </a:solidFill>
                          <a:effectLst/>
                        </a:rPr>
                        <a:t>EMP_009</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4</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(+0.09, -0.01)</a:t>
                      </a:r>
                      <a:endParaRPr lang="en-EG" sz="130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(5.09, 3.99)</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1149952097"/>
                  </a:ext>
                </a:extLst>
              </a:tr>
              <a:tr h="304431">
                <a:tc>
                  <a:txBody>
                    <a:bodyPr/>
                    <a:lstStyle/>
                    <a:p>
                      <a:pPr algn="ctr" rtl="0">
                        <a:buNone/>
                      </a:pPr>
                      <a:r>
                        <a:rPr lang="en-US" sz="1300" b="1">
                          <a:solidFill>
                            <a:srgbClr val="1F1F1F"/>
                          </a:solidFill>
                          <a:effectLst/>
                        </a:rPr>
                        <a:t>EMP_010</a:t>
                      </a:r>
                      <a:endParaRPr lang="en-US"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a:solidFill>
                            <a:srgbClr val="1F1F1F"/>
                          </a:solidFill>
                          <a:effectLst/>
                        </a:rPr>
                        <a:t>5</a:t>
                      </a:r>
                      <a:endParaRPr lang="en-EG" sz="1300">
                        <a:solidFill>
                          <a:srgbClr val="1F1F1F"/>
                        </a:solidFill>
                        <a:effectLst/>
                        <a:latin typeface="Google Sans Text"/>
                      </a:endParaRPr>
                    </a:p>
                  </a:txBody>
                  <a:tcPr marL="81544" marR="81544" marT="54363" marB="54363" anchor="ctr"/>
                </a:tc>
                <a:tc>
                  <a:txBody>
                    <a:bodyPr/>
                    <a:lstStyle/>
                    <a:p>
                      <a:pPr algn="ctr" rtl="0">
                        <a:buNone/>
                      </a:pPr>
                      <a:r>
                        <a:rPr lang="en-EG" sz="1300" dirty="0">
                          <a:solidFill>
                            <a:srgbClr val="1F1F1F"/>
                          </a:solidFill>
                          <a:effectLst/>
                        </a:rPr>
                        <a:t>(+0.05, +0.12)</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tc>
                  <a:txBody>
                    <a:bodyPr/>
                    <a:lstStyle/>
                    <a:p>
                      <a:pPr algn="ctr" rtl="0">
                        <a:buNone/>
                      </a:pPr>
                      <a:r>
                        <a:rPr lang="en-EG" sz="1300" b="1" dirty="0">
                          <a:solidFill>
                            <a:srgbClr val="1F1F1F"/>
                          </a:solidFill>
                          <a:effectLst/>
                        </a:rPr>
                        <a:t>(5.05, 5.12)</a:t>
                      </a:r>
                      <a:endParaRPr lang="en-EG" sz="1300" dirty="0">
                        <a:solidFill>
                          <a:srgbClr val="1F1F1F"/>
                        </a:solidFill>
                        <a:effectLst/>
                        <a:latin typeface="Google Sans Text"/>
                      </a:endParaRPr>
                    </a:p>
                  </a:txBody>
                  <a:tcPr marL="81544" marR="81544" marT="54363" marB="54363" anchor="ctr">
                    <a:solidFill>
                      <a:schemeClr val="bg1">
                        <a:lumMod val="95000"/>
                      </a:schemeClr>
                    </a:solidFill>
                  </a:tcPr>
                </a:tc>
                <a:extLst>
                  <a:ext uri="{0D108BD9-81ED-4DB2-BD59-A6C34878D82A}">
                    <a16:rowId xmlns:a16="http://schemas.microsoft.com/office/drawing/2014/main" val="3856785857"/>
                  </a:ext>
                </a:extLst>
              </a:tr>
            </a:tbl>
          </a:graphicData>
        </a:graphic>
      </p:graphicFrame>
    </p:spTree>
    <p:extLst>
      <p:ext uri="{BB962C8B-B14F-4D97-AF65-F5344CB8AC3E}">
        <p14:creationId xmlns:p14="http://schemas.microsoft.com/office/powerpoint/2010/main" val="3297348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295F5-E7CC-C89D-5C27-84624E3C6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2A574-1CC6-0CCE-8C28-F30AE805FFBF}"/>
              </a:ext>
            </a:extLst>
          </p:cNvPr>
          <p:cNvSpPr>
            <a:spLocks noGrp="1"/>
          </p:cNvSpPr>
          <p:nvPr>
            <p:ph type="title"/>
          </p:nvPr>
        </p:nvSpPr>
        <p:spPr>
          <a:xfrm>
            <a:off x="700635" y="855025"/>
            <a:ext cx="10691265" cy="598714"/>
          </a:xfrm>
        </p:spPr>
        <p:txBody>
          <a:bodyPr>
            <a:normAutofit/>
          </a:bodyPr>
          <a:lstStyle/>
          <a:p>
            <a:r>
              <a:rPr lang="en-US" sz="2800" b="1" dirty="0"/>
              <a:t>Answers 3:</a:t>
            </a:r>
            <a:r>
              <a:rPr lang="en-US" sz="2800" dirty="0"/>
              <a:t> scatter plot</a:t>
            </a:r>
            <a:endParaRPr lang="en-EG" sz="2800" dirty="0"/>
          </a:p>
        </p:txBody>
      </p:sp>
      <p:pic>
        <p:nvPicPr>
          <p:cNvPr id="3076" name="Picture 4">
            <a:extLst>
              <a:ext uri="{FF2B5EF4-FFF2-40B4-BE49-F238E27FC236}">
                <a16:creationId xmlns:a16="http://schemas.microsoft.com/office/drawing/2014/main" id="{AF480534-A099-81AF-0F39-5D920515657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8650" y="1513114"/>
            <a:ext cx="6614700" cy="460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813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61DF0-EB25-29D7-ACAB-100CD68B850A}"/>
              </a:ext>
            </a:extLst>
          </p:cNvPr>
          <p:cNvSpPr>
            <a:spLocks noGrp="1"/>
          </p:cNvSpPr>
          <p:nvPr>
            <p:ph type="title"/>
          </p:nvPr>
        </p:nvSpPr>
        <p:spPr/>
        <p:txBody>
          <a:bodyPr/>
          <a:lstStyle/>
          <a:p>
            <a:r>
              <a:rPr lang="en-US" dirty="0"/>
              <a:t>N</a:t>
            </a:r>
            <a:r>
              <a:rPr lang="en-EG" dirty="0"/>
              <a:t>etwork chart</a:t>
            </a:r>
          </a:p>
        </p:txBody>
      </p:sp>
      <p:sp>
        <p:nvSpPr>
          <p:cNvPr id="3" name="Content Placeholder 2">
            <a:extLst>
              <a:ext uri="{FF2B5EF4-FFF2-40B4-BE49-F238E27FC236}">
                <a16:creationId xmlns:a16="http://schemas.microsoft.com/office/drawing/2014/main" id="{CDF54109-8AC5-3638-FFAA-E9087448E02A}"/>
              </a:ext>
            </a:extLst>
          </p:cNvPr>
          <p:cNvSpPr>
            <a:spLocks noGrp="1"/>
          </p:cNvSpPr>
          <p:nvPr>
            <p:ph idx="1"/>
          </p:nvPr>
        </p:nvSpPr>
        <p:spPr/>
        <p:txBody>
          <a:bodyPr>
            <a:normAutofit/>
          </a:bodyPr>
          <a:lstStyle/>
          <a:p>
            <a:pPr marL="0" indent="0">
              <a:buNone/>
            </a:pPr>
            <a:endParaRPr lang="en-US" dirty="0"/>
          </a:p>
          <a:p>
            <a:pPr algn="just"/>
            <a:endParaRPr lang="en-EG" dirty="0"/>
          </a:p>
        </p:txBody>
      </p:sp>
      <p:graphicFrame>
        <p:nvGraphicFramePr>
          <p:cNvPr id="4" name="Table 3">
            <a:extLst>
              <a:ext uri="{FF2B5EF4-FFF2-40B4-BE49-F238E27FC236}">
                <a16:creationId xmlns:a16="http://schemas.microsoft.com/office/drawing/2014/main" id="{422F8EB0-B080-B5AA-DF87-1CD82B39A284}"/>
              </a:ext>
            </a:extLst>
          </p:cNvPr>
          <p:cNvGraphicFramePr>
            <a:graphicFrameLocks noGrp="1"/>
          </p:cNvGraphicFramePr>
          <p:nvPr>
            <p:extLst>
              <p:ext uri="{D42A27DB-BD31-4B8C-83A1-F6EECF244321}">
                <p14:modId xmlns:p14="http://schemas.microsoft.com/office/powerpoint/2010/main" val="1533910677"/>
              </p:ext>
            </p:extLst>
          </p:nvPr>
        </p:nvGraphicFramePr>
        <p:xfrm>
          <a:off x="700088" y="2053709"/>
          <a:ext cx="10691811" cy="3714522"/>
        </p:xfrm>
        <a:graphic>
          <a:graphicData uri="http://schemas.openxmlformats.org/drawingml/2006/table">
            <a:tbl>
              <a:tblPr>
                <a:tableStyleId>{5940675A-B579-460E-94D1-54222C63F5DA}</a:tableStyleId>
              </a:tblPr>
              <a:tblGrid>
                <a:gridCol w="1758907">
                  <a:extLst>
                    <a:ext uri="{9D8B030D-6E8A-4147-A177-3AD203B41FA5}">
                      <a16:colId xmlns:a16="http://schemas.microsoft.com/office/drawing/2014/main" val="3949555247"/>
                    </a:ext>
                  </a:extLst>
                </a:gridCol>
                <a:gridCol w="4621427">
                  <a:extLst>
                    <a:ext uri="{9D8B030D-6E8A-4147-A177-3AD203B41FA5}">
                      <a16:colId xmlns:a16="http://schemas.microsoft.com/office/drawing/2014/main" val="1278617408"/>
                    </a:ext>
                  </a:extLst>
                </a:gridCol>
                <a:gridCol w="4311477">
                  <a:extLst>
                    <a:ext uri="{9D8B030D-6E8A-4147-A177-3AD203B41FA5}">
                      <a16:colId xmlns:a16="http://schemas.microsoft.com/office/drawing/2014/main" val="3823279855"/>
                    </a:ext>
                  </a:extLst>
                </a:gridCol>
              </a:tblGrid>
              <a:tr h="775988">
                <a:tc>
                  <a:txBody>
                    <a:bodyPr/>
                    <a:lstStyle/>
                    <a:p>
                      <a:pPr rtl="0">
                        <a:buNone/>
                      </a:pPr>
                      <a:r>
                        <a:rPr lang="en-US" b="1" dirty="0">
                          <a:solidFill>
                            <a:srgbClr val="1F1F1F"/>
                          </a:solidFill>
                          <a:effectLst/>
                        </a:rPr>
                        <a:t>Feature</a:t>
                      </a:r>
                      <a:endParaRPr lang="en-US" dirty="0">
                        <a:solidFill>
                          <a:srgbClr val="1F1F1F"/>
                        </a:solidFill>
                        <a:effectLst/>
                        <a:latin typeface="Google Sans Text"/>
                      </a:endParaRPr>
                    </a:p>
                  </a:txBody>
                  <a:tcPr marL="114300" marR="114300" marT="76200" marB="76200" anchor="ctr">
                    <a:solidFill>
                      <a:schemeClr val="accent3">
                        <a:lumMod val="20000"/>
                        <a:lumOff val="80000"/>
                      </a:schemeClr>
                    </a:solidFill>
                  </a:tcPr>
                </a:tc>
                <a:tc>
                  <a:txBody>
                    <a:bodyPr/>
                    <a:lstStyle/>
                    <a:p>
                      <a:pPr rtl="0">
                        <a:buNone/>
                      </a:pPr>
                      <a:r>
                        <a:rPr lang="en-US" b="1" dirty="0">
                          <a:solidFill>
                            <a:srgbClr val="1F1F1F"/>
                          </a:solidFill>
                          <a:effectLst/>
                        </a:rPr>
                        <a:t>Scatter / Bubble Charts</a:t>
                      </a:r>
                      <a:endParaRPr lang="en-US" dirty="0">
                        <a:solidFill>
                          <a:srgbClr val="1F1F1F"/>
                        </a:solidFill>
                        <a:effectLst/>
                        <a:latin typeface="Google Sans Text"/>
                      </a:endParaRPr>
                    </a:p>
                  </a:txBody>
                  <a:tcPr marL="114300" marR="114300" marT="76200" marB="76200" anchor="ctr">
                    <a:solidFill>
                      <a:schemeClr val="accent3">
                        <a:lumMod val="20000"/>
                        <a:lumOff val="80000"/>
                      </a:schemeClr>
                    </a:solidFill>
                  </a:tcPr>
                </a:tc>
                <a:tc>
                  <a:txBody>
                    <a:bodyPr/>
                    <a:lstStyle/>
                    <a:p>
                      <a:pPr rtl="0">
                        <a:buNone/>
                      </a:pPr>
                      <a:r>
                        <a:rPr lang="en-US" b="1" dirty="0">
                          <a:solidFill>
                            <a:srgbClr val="1F1F1F"/>
                          </a:solidFill>
                          <a:effectLst/>
                        </a:rPr>
                        <a:t>Network Charts</a:t>
                      </a:r>
                      <a:endParaRPr lang="en-US" dirty="0">
                        <a:solidFill>
                          <a:srgbClr val="1F1F1F"/>
                        </a:solidFill>
                        <a:effectLst/>
                        <a:latin typeface="Google Sans Text"/>
                      </a:endParaRPr>
                    </a:p>
                  </a:txBody>
                  <a:tcPr marL="114300" marR="114300" marT="76200" marB="76200" anchor="ctr">
                    <a:solidFill>
                      <a:schemeClr val="accent3">
                        <a:lumMod val="20000"/>
                        <a:lumOff val="80000"/>
                      </a:schemeClr>
                    </a:solidFill>
                  </a:tcPr>
                </a:tc>
                <a:extLst>
                  <a:ext uri="{0D108BD9-81ED-4DB2-BD59-A6C34878D82A}">
                    <a16:rowId xmlns:a16="http://schemas.microsoft.com/office/drawing/2014/main" val="1673670834"/>
                  </a:ext>
                </a:extLst>
              </a:tr>
              <a:tr h="913328">
                <a:tc>
                  <a:txBody>
                    <a:bodyPr/>
                    <a:lstStyle/>
                    <a:p>
                      <a:pPr rtl="0">
                        <a:buNone/>
                      </a:pPr>
                      <a:r>
                        <a:rPr lang="en-US" sz="1600" b="1" dirty="0">
                          <a:solidFill>
                            <a:srgbClr val="1F1F1F"/>
                          </a:solidFill>
                          <a:effectLst/>
                        </a:rPr>
                        <a:t>Primary System</a:t>
                      </a:r>
                      <a:endParaRPr lang="en-US" sz="1600" dirty="0">
                        <a:solidFill>
                          <a:srgbClr val="1F1F1F"/>
                        </a:solidFill>
                        <a:effectLst/>
                        <a:latin typeface="Google Sans Text"/>
                      </a:endParaRPr>
                    </a:p>
                  </a:txBody>
                  <a:tcPr marL="114300" marR="114300" marT="76200" marB="76200" anchor="ctr"/>
                </a:tc>
                <a:tc>
                  <a:txBody>
                    <a:bodyPr/>
                    <a:lstStyle/>
                    <a:p>
                      <a:pPr rtl="0">
                        <a:buNone/>
                      </a:pPr>
                      <a:r>
                        <a:rPr lang="en-US" sz="1600" b="1" dirty="0">
                          <a:solidFill>
                            <a:srgbClr val="1F1F1F"/>
                          </a:solidFill>
                          <a:effectLst/>
                        </a:rPr>
                        <a:t>Coordinate System</a:t>
                      </a:r>
                      <a:r>
                        <a:rPr lang="en-US" sz="1600" dirty="0">
                          <a:solidFill>
                            <a:srgbClr val="1F1F1F"/>
                          </a:solidFill>
                          <a:effectLst/>
                        </a:rPr>
                        <a:t> (X and Y axes)</a:t>
                      </a:r>
                      <a:endParaRPr lang="en-US" sz="1600" dirty="0">
                        <a:solidFill>
                          <a:srgbClr val="1F1F1F"/>
                        </a:solidFill>
                        <a:effectLst/>
                        <a:latin typeface="Google Sans Text"/>
                      </a:endParaRPr>
                    </a:p>
                  </a:txBody>
                  <a:tcPr marL="114300" marR="114300" marT="76200" marB="76200" anchor="ctr"/>
                </a:tc>
                <a:tc>
                  <a:txBody>
                    <a:bodyPr/>
                    <a:lstStyle/>
                    <a:p>
                      <a:pPr rtl="0">
                        <a:buNone/>
                      </a:pPr>
                      <a:r>
                        <a:rPr lang="en-US" sz="1600" b="1">
                          <a:solidFill>
                            <a:srgbClr val="1F1F1F"/>
                          </a:solidFill>
                          <a:effectLst/>
                        </a:rPr>
                        <a:t>Connectivity System</a:t>
                      </a:r>
                      <a:r>
                        <a:rPr lang="en-US" sz="1600">
                          <a:solidFill>
                            <a:srgbClr val="1F1F1F"/>
                          </a:solidFill>
                          <a:effectLst/>
                        </a:rPr>
                        <a:t> (Nodes and Edges)</a:t>
                      </a:r>
                      <a:endParaRPr lang="en-US" sz="16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4031834074"/>
                  </a:ext>
                </a:extLst>
              </a:tr>
              <a:tr h="913328">
                <a:tc>
                  <a:txBody>
                    <a:bodyPr/>
                    <a:lstStyle/>
                    <a:p>
                      <a:pPr rtl="0">
                        <a:buNone/>
                      </a:pPr>
                      <a:r>
                        <a:rPr lang="en-US" sz="1600" b="1">
                          <a:solidFill>
                            <a:srgbClr val="1F1F1F"/>
                          </a:solidFill>
                          <a:effectLst/>
                        </a:rPr>
                        <a:t>Positioning</a:t>
                      </a:r>
                      <a:endParaRPr lang="en-US" sz="1600">
                        <a:solidFill>
                          <a:srgbClr val="1F1F1F"/>
                        </a:solidFill>
                        <a:effectLst/>
                        <a:latin typeface="Google Sans Text"/>
                      </a:endParaRPr>
                    </a:p>
                  </a:txBody>
                  <a:tcPr marL="114300" marR="114300" marT="76200" marB="76200" anchor="ctr"/>
                </a:tc>
                <a:tc>
                  <a:txBody>
                    <a:bodyPr/>
                    <a:lstStyle/>
                    <a:p>
                      <a:pPr rtl="0">
                        <a:buNone/>
                      </a:pPr>
                      <a:r>
                        <a:rPr lang="en-US" sz="1600" b="1" dirty="0">
                          <a:solidFill>
                            <a:srgbClr val="1F1F1F"/>
                          </a:solidFill>
                          <a:effectLst/>
                        </a:rPr>
                        <a:t>Fixed:</a:t>
                      </a:r>
                      <a:r>
                        <a:rPr lang="en-US" sz="1600" dirty="0">
                          <a:solidFill>
                            <a:srgbClr val="1F1F1F"/>
                          </a:solidFill>
                          <a:effectLst/>
                        </a:rPr>
                        <a:t> Based on magnitude/measurement</a:t>
                      </a:r>
                      <a:endParaRPr lang="en-US" sz="1600" dirty="0">
                        <a:solidFill>
                          <a:srgbClr val="1F1F1F"/>
                        </a:solidFill>
                        <a:effectLst/>
                        <a:latin typeface="Google Sans Text"/>
                      </a:endParaRPr>
                    </a:p>
                  </a:txBody>
                  <a:tcPr marL="114300" marR="114300" marT="76200" marB="76200" anchor="ctr"/>
                </a:tc>
                <a:tc>
                  <a:txBody>
                    <a:bodyPr/>
                    <a:lstStyle/>
                    <a:p>
                      <a:pPr rtl="0">
                        <a:buNone/>
                      </a:pPr>
                      <a:r>
                        <a:rPr lang="en-US" sz="1600" b="1" dirty="0">
                          <a:solidFill>
                            <a:srgbClr val="1F1F1F"/>
                          </a:solidFill>
                          <a:effectLst/>
                        </a:rPr>
                        <a:t>Arbitrary:</a:t>
                      </a:r>
                      <a:r>
                        <a:rPr lang="en-US" sz="1600" dirty="0">
                          <a:solidFill>
                            <a:srgbClr val="1F1F1F"/>
                          </a:solidFill>
                          <a:effectLst/>
                        </a:rPr>
                        <a:t> Based on layout convenience</a:t>
                      </a:r>
                      <a:endParaRPr lang="en-US" sz="16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139372489"/>
                  </a:ext>
                </a:extLst>
              </a:tr>
              <a:tr h="555939">
                <a:tc>
                  <a:txBody>
                    <a:bodyPr/>
                    <a:lstStyle/>
                    <a:p>
                      <a:pPr rtl="0">
                        <a:buNone/>
                      </a:pPr>
                      <a:r>
                        <a:rPr lang="en-US" sz="1600" b="1">
                          <a:solidFill>
                            <a:srgbClr val="1F1F1F"/>
                          </a:solidFill>
                          <a:effectLst/>
                        </a:rPr>
                        <a:t>Components</a:t>
                      </a:r>
                      <a:endParaRPr lang="en-US" sz="1600">
                        <a:solidFill>
                          <a:srgbClr val="1F1F1F"/>
                        </a:solidFill>
                        <a:effectLst/>
                        <a:latin typeface="Google Sans Text"/>
                      </a:endParaRPr>
                    </a:p>
                  </a:txBody>
                  <a:tcPr marL="114300" marR="114300" marT="76200" marB="76200" anchor="ctr"/>
                </a:tc>
                <a:tc>
                  <a:txBody>
                    <a:bodyPr/>
                    <a:lstStyle/>
                    <a:p>
                      <a:pPr rtl="0">
                        <a:buNone/>
                      </a:pPr>
                      <a:r>
                        <a:rPr lang="en-US" sz="1600" b="1" dirty="0">
                          <a:solidFill>
                            <a:srgbClr val="1F1F1F"/>
                          </a:solidFill>
                          <a:effectLst/>
                        </a:rPr>
                        <a:t>Plots</a:t>
                      </a:r>
                      <a:r>
                        <a:rPr lang="en-US" sz="1600" dirty="0">
                          <a:solidFill>
                            <a:srgbClr val="1F1F1F"/>
                          </a:solidFill>
                          <a:effectLst/>
                        </a:rPr>
                        <a:t> representing data points</a:t>
                      </a:r>
                      <a:endParaRPr lang="en-US" sz="1600" dirty="0">
                        <a:solidFill>
                          <a:srgbClr val="1F1F1F"/>
                        </a:solidFill>
                        <a:effectLst/>
                        <a:latin typeface="Google Sans Text"/>
                      </a:endParaRPr>
                    </a:p>
                  </a:txBody>
                  <a:tcPr marL="114300" marR="114300" marT="76200" marB="76200" anchor="ctr"/>
                </a:tc>
                <a:tc>
                  <a:txBody>
                    <a:bodyPr/>
                    <a:lstStyle/>
                    <a:p>
                      <a:pPr rtl="0">
                        <a:buNone/>
                      </a:pPr>
                      <a:r>
                        <a:rPr lang="en-US" sz="1600" b="1" dirty="0">
                          <a:solidFill>
                            <a:srgbClr val="1F1F1F"/>
                          </a:solidFill>
                          <a:effectLst/>
                        </a:rPr>
                        <a:t>Nodes</a:t>
                      </a:r>
                      <a:r>
                        <a:rPr lang="en-US" sz="1600" dirty="0">
                          <a:solidFill>
                            <a:srgbClr val="1F1F1F"/>
                          </a:solidFill>
                          <a:effectLst/>
                        </a:rPr>
                        <a:t> (entities) and </a:t>
                      </a:r>
                      <a:r>
                        <a:rPr lang="en-US" sz="1600" b="1" dirty="0">
                          <a:solidFill>
                            <a:srgbClr val="1F1F1F"/>
                          </a:solidFill>
                          <a:effectLst/>
                        </a:rPr>
                        <a:t>Edges</a:t>
                      </a:r>
                      <a:r>
                        <a:rPr lang="en-US" sz="1600" dirty="0">
                          <a:solidFill>
                            <a:srgbClr val="1F1F1F"/>
                          </a:solidFill>
                          <a:effectLst/>
                        </a:rPr>
                        <a:t> (links)</a:t>
                      </a:r>
                      <a:endParaRPr lang="en-US" sz="16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002049016"/>
                  </a:ext>
                </a:extLst>
              </a:tr>
              <a:tr h="555939">
                <a:tc>
                  <a:txBody>
                    <a:bodyPr/>
                    <a:lstStyle/>
                    <a:p>
                      <a:pPr rtl="0">
                        <a:buNone/>
                      </a:pPr>
                      <a:r>
                        <a:rPr lang="en-US" sz="1600" b="1">
                          <a:solidFill>
                            <a:srgbClr val="1F1F1F"/>
                          </a:solidFill>
                          <a:effectLst/>
                        </a:rPr>
                        <a:t>Visual Goal</a:t>
                      </a:r>
                      <a:endParaRPr lang="en-US" sz="1600">
                        <a:solidFill>
                          <a:srgbClr val="1F1F1F"/>
                        </a:solidFill>
                        <a:effectLst/>
                        <a:latin typeface="Google Sans Text"/>
                      </a:endParaRPr>
                    </a:p>
                  </a:txBody>
                  <a:tcPr marL="114300" marR="114300" marT="76200" marB="76200" anchor="ctr"/>
                </a:tc>
                <a:tc>
                  <a:txBody>
                    <a:bodyPr/>
                    <a:lstStyle/>
                    <a:p>
                      <a:pPr rtl="0">
                        <a:buNone/>
                      </a:pPr>
                      <a:r>
                        <a:rPr lang="en-US" sz="1600">
                          <a:solidFill>
                            <a:srgbClr val="1F1F1F"/>
                          </a:solidFill>
                          <a:effectLst/>
                        </a:rPr>
                        <a:t>To see </a:t>
                      </a:r>
                      <a:r>
                        <a:rPr lang="en-US" sz="1600" b="1">
                          <a:solidFill>
                            <a:srgbClr val="1F1F1F"/>
                          </a:solidFill>
                          <a:effectLst/>
                        </a:rPr>
                        <a:t>Correlation</a:t>
                      </a:r>
                      <a:r>
                        <a:rPr lang="en-US" sz="1600">
                          <a:solidFill>
                            <a:srgbClr val="1F1F1F"/>
                          </a:solidFill>
                          <a:effectLst/>
                        </a:rPr>
                        <a:t> and </a:t>
                      </a:r>
                      <a:r>
                        <a:rPr lang="en-US" sz="1600" b="1">
                          <a:solidFill>
                            <a:srgbClr val="1F1F1F"/>
                          </a:solidFill>
                          <a:effectLst/>
                        </a:rPr>
                        <a:t>Proportionality</a:t>
                      </a:r>
                      <a:endParaRPr lang="en-US" sz="1600">
                        <a:solidFill>
                          <a:srgbClr val="1F1F1F"/>
                        </a:solidFill>
                        <a:effectLst/>
                        <a:latin typeface="Google Sans Text"/>
                      </a:endParaRPr>
                    </a:p>
                  </a:txBody>
                  <a:tcPr marL="114300" marR="114300" marT="76200" marB="76200" anchor="ctr"/>
                </a:tc>
                <a:tc>
                  <a:txBody>
                    <a:bodyPr/>
                    <a:lstStyle/>
                    <a:p>
                      <a:pPr rtl="0">
                        <a:buNone/>
                      </a:pPr>
                      <a:r>
                        <a:rPr lang="en-US" sz="1600" dirty="0">
                          <a:solidFill>
                            <a:srgbClr val="1F1F1F"/>
                          </a:solidFill>
                          <a:effectLst/>
                        </a:rPr>
                        <a:t>To see </a:t>
                      </a:r>
                      <a:r>
                        <a:rPr lang="en-US" sz="1600" b="1" dirty="0">
                          <a:solidFill>
                            <a:srgbClr val="1F1F1F"/>
                          </a:solidFill>
                          <a:effectLst/>
                        </a:rPr>
                        <a:t>Connectivity</a:t>
                      </a:r>
                      <a:r>
                        <a:rPr lang="en-US" sz="1600" dirty="0">
                          <a:solidFill>
                            <a:srgbClr val="1F1F1F"/>
                          </a:solidFill>
                          <a:effectLst/>
                        </a:rPr>
                        <a:t> and </a:t>
                      </a:r>
                      <a:r>
                        <a:rPr lang="en-US" sz="1600" b="1" dirty="0">
                          <a:solidFill>
                            <a:srgbClr val="1F1F1F"/>
                          </a:solidFill>
                          <a:effectLst/>
                        </a:rPr>
                        <a:t>Paths</a:t>
                      </a:r>
                      <a:endParaRPr lang="en-US" sz="16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805955361"/>
                  </a:ext>
                </a:extLst>
              </a:tr>
            </a:tbl>
          </a:graphicData>
        </a:graphic>
      </p:graphicFrame>
    </p:spTree>
    <p:extLst>
      <p:ext uri="{BB962C8B-B14F-4D97-AF65-F5344CB8AC3E}">
        <p14:creationId xmlns:p14="http://schemas.microsoft.com/office/powerpoint/2010/main" val="11402235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F063A2-A7D7-01A5-1322-E68C98797B8A}"/>
              </a:ext>
            </a:extLst>
          </p:cNvPr>
          <p:cNvSpPr>
            <a:spLocks noGrp="1"/>
          </p:cNvSpPr>
          <p:nvPr>
            <p:ph type="title"/>
          </p:nvPr>
        </p:nvSpPr>
        <p:spPr>
          <a:xfrm>
            <a:off x="685800" y="899024"/>
            <a:ext cx="3076032" cy="3914947"/>
          </a:xfrm>
        </p:spPr>
        <p:txBody>
          <a:bodyPr vert="horz" lIns="91440" tIns="45720" rIns="91440" bIns="45720" rtlCol="0" anchor="t">
            <a:normAutofit/>
          </a:bodyPr>
          <a:lstStyle/>
          <a:p>
            <a:r>
              <a:rPr lang="en-US" dirty="0"/>
              <a:t>Network chart</a:t>
            </a:r>
          </a:p>
        </p:txBody>
      </p:sp>
      <p:cxnSp>
        <p:nvCxnSpPr>
          <p:cNvPr id="19" name="Straight Connector 18">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6" descr="A graph with a green circle and a green line&#10;&#10;AI-generated content may be incorrect.">
            <a:extLst>
              <a:ext uri="{FF2B5EF4-FFF2-40B4-BE49-F238E27FC236}">
                <a16:creationId xmlns:a16="http://schemas.microsoft.com/office/drawing/2014/main" id="{E247C5BD-7D80-F1A5-8C9F-C99DA26502B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687436" y="1665000"/>
            <a:ext cx="9104513" cy="3528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a:extLst>
              <a:ext uri="{FF2B5EF4-FFF2-40B4-BE49-F238E27FC236}">
                <a16:creationId xmlns:a16="http://schemas.microsoft.com/office/drawing/2014/main" id="{5E5A7312-FF74-FD43-70C4-16AE4AC4976E}"/>
              </a:ext>
            </a:extLst>
          </p:cNvPr>
          <p:cNvGraphicFramePr>
            <a:graphicFrameLocks noGrp="1"/>
          </p:cNvGraphicFramePr>
          <p:nvPr>
            <p:extLst>
              <p:ext uri="{D42A27DB-BD31-4B8C-83A1-F6EECF244321}">
                <p14:modId xmlns:p14="http://schemas.microsoft.com/office/powerpoint/2010/main" val="252651289"/>
              </p:ext>
            </p:extLst>
          </p:nvPr>
        </p:nvGraphicFramePr>
        <p:xfrm>
          <a:off x="800100" y="5301049"/>
          <a:ext cx="10991849" cy="1079261"/>
        </p:xfrm>
        <a:graphic>
          <a:graphicData uri="http://schemas.openxmlformats.org/drawingml/2006/table">
            <a:tbl>
              <a:tblPr firstRow="1" bandRow="1">
                <a:tableStyleId>{5940675A-B579-460E-94D1-54222C63F5DA}</a:tableStyleId>
              </a:tblPr>
              <a:tblGrid>
                <a:gridCol w="10991849">
                  <a:extLst>
                    <a:ext uri="{9D8B030D-6E8A-4147-A177-3AD203B41FA5}">
                      <a16:colId xmlns:a16="http://schemas.microsoft.com/office/drawing/2014/main" val="1886724205"/>
                    </a:ext>
                  </a:extLst>
                </a:gridCol>
              </a:tblGrid>
              <a:tr h="381560">
                <a:tc>
                  <a:txBody>
                    <a:bodyPr/>
                    <a:lstStyle/>
                    <a:p>
                      <a:pPr algn="just"/>
                      <a:r>
                        <a:rPr lang="en-US" sz="1600" b="1" dirty="0"/>
                        <a:t>The Scatter Plot (Left):</a:t>
                      </a:r>
                      <a:r>
                        <a:rPr lang="en-US" sz="1600" dirty="0"/>
                        <a:t> If we moved that dot to the left, its Value would change.</a:t>
                      </a:r>
                    </a:p>
                  </a:txBody>
                  <a:tcPr/>
                </a:tc>
                <a:extLst>
                  <a:ext uri="{0D108BD9-81ED-4DB2-BD59-A6C34878D82A}">
                    <a16:rowId xmlns:a16="http://schemas.microsoft.com/office/drawing/2014/main" val="457948139"/>
                  </a:ext>
                </a:extLst>
              </a:tr>
              <a:tr h="697701">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1" dirty="0"/>
                        <a:t>The Network Chart (Right):</a:t>
                      </a:r>
                      <a:r>
                        <a:rPr lang="en-US" sz="1600" dirty="0"/>
                        <a:t> If we moved 'Node X' to the top of the screen, the Relationship remains exactly the same. Its position is just for visual convenience.</a:t>
                      </a:r>
                      <a:endParaRPr lang="en-EG" sz="1600" dirty="0"/>
                    </a:p>
                  </a:txBody>
                  <a:tcPr/>
                </a:tc>
                <a:extLst>
                  <a:ext uri="{0D108BD9-81ED-4DB2-BD59-A6C34878D82A}">
                    <a16:rowId xmlns:a16="http://schemas.microsoft.com/office/drawing/2014/main" val="784812089"/>
                  </a:ext>
                </a:extLst>
              </a:tr>
            </a:tbl>
          </a:graphicData>
        </a:graphic>
      </p:graphicFrame>
    </p:spTree>
    <p:extLst>
      <p:ext uri="{BB962C8B-B14F-4D97-AF65-F5344CB8AC3E}">
        <p14:creationId xmlns:p14="http://schemas.microsoft.com/office/powerpoint/2010/main" val="4283284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11462-FEC2-7A4D-A706-0118454E3AF4}"/>
              </a:ext>
            </a:extLst>
          </p:cNvPr>
          <p:cNvSpPr>
            <a:spLocks noGrp="1"/>
          </p:cNvSpPr>
          <p:nvPr>
            <p:ph type="title"/>
          </p:nvPr>
        </p:nvSpPr>
        <p:spPr/>
        <p:txBody>
          <a:bodyPr/>
          <a:lstStyle/>
          <a:p>
            <a:r>
              <a:rPr lang="en-US" dirty="0"/>
              <a:t>N</a:t>
            </a:r>
            <a:r>
              <a:rPr lang="en-EG" dirty="0"/>
              <a:t>etwork chart layouts</a:t>
            </a:r>
          </a:p>
        </p:txBody>
      </p:sp>
      <p:pic>
        <p:nvPicPr>
          <p:cNvPr id="9220" name="Picture 4">
            <a:extLst>
              <a:ext uri="{FF2B5EF4-FFF2-40B4-BE49-F238E27FC236}">
                <a16:creationId xmlns:a16="http://schemas.microsoft.com/office/drawing/2014/main" id="{1A446B86-E0C6-987F-BB55-55F8A55FF8D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2755" y="1803600"/>
            <a:ext cx="9846490" cy="41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620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0C0C9-DF66-0D02-DD5A-9D4369207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D5C70-148E-569E-8CE1-D6F3385E12EF}"/>
              </a:ext>
            </a:extLst>
          </p:cNvPr>
          <p:cNvSpPr>
            <a:spLocks noGrp="1"/>
          </p:cNvSpPr>
          <p:nvPr>
            <p:ph type="title"/>
          </p:nvPr>
        </p:nvSpPr>
        <p:spPr>
          <a:xfrm>
            <a:off x="700635" y="914400"/>
            <a:ext cx="10691265" cy="775504"/>
          </a:xfrm>
        </p:spPr>
        <p:txBody>
          <a:bodyPr/>
          <a:lstStyle/>
          <a:p>
            <a:r>
              <a:rPr lang="en-US" dirty="0"/>
              <a:t>N</a:t>
            </a:r>
            <a:r>
              <a:rPr lang="en-EG" dirty="0"/>
              <a:t>etwork chart</a:t>
            </a:r>
          </a:p>
        </p:txBody>
      </p:sp>
      <p:graphicFrame>
        <p:nvGraphicFramePr>
          <p:cNvPr id="4" name="Content Placeholder 3">
            <a:extLst>
              <a:ext uri="{FF2B5EF4-FFF2-40B4-BE49-F238E27FC236}">
                <a16:creationId xmlns:a16="http://schemas.microsoft.com/office/drawing/2014/main" id="{7285B8A3-B9ED-A1DA-5D03-32439DC7B413}"/>
              </a:ext>
            </a:extLst>
          </p:cNvPr>
          <p:cNvGraphicFramePr>
            <a:graphicFrameLocks noGrp="1"/>
          </p:cNvGraphicFramePr>
          <p:nvPr>
            <p:ph idx="1"/>
            <p:extLst>
              <p:ext uri="{D42A27DB-BD31-4B8C-83A1-F6EECF244321}">
                <p14:modId xmlns:p14="http://schemas.microsoft.com/office/powerpoint/2010/main" val="4246618094"/>
              </p:ext>
            </p:extLst>
          </p:nvPr>
        </p:nvGraphicFramePr>
        <p:xfrm>
          <a:off x="750366" y="2409242"/>
          <a:ext cx="10641533" cy="3262509"/>
        </p:xfrm>
        <a:graphic>
          <a:graphicData uri="http://schemas.openxmlformats.org/drawingml/2006/table">
            <a:tbl>
              <a:tblPr>
                <a:tableStyleId>{5940675A-B579-460E-94D1-54222C63F5DA}</a:tableStyleId>
              </a:tblPr>
              <a:tblGrid>
                <a:gridCol w="3472010">
                  <a:extLst>
                    <a:ext uri="{9D8B030D-6E8A-4147-A177-3AD203B41FA5}">
                      <a16:colId xmlns:a16="http://schemas.microsoft.com/office/drawing/2014/main" val="2581325656"/>
                    </a:ext>
                  </a:extLst>
                </a:gridCol>
                <a:gridCol w="3811593">
                  <a:extLst>
                    <a:ext uri="{9D8B030D-6E8A-4147-A177-3AD203B41FA5}">
                      <a16:colId xmlns:a16="http://schemas.microsoft.com/office/drawing/2014/main" val="224352027"/>
                    </a:ext>
                  </a:extLst>
                </a:gridCol>
                <a:gridCol w="3357930">
                  <a:extLst>
                    <a:ext uri="{9D8B030D-6E8A-4147-A177-3AD203B41FA5}">
                      <a16:colId xmlns:a16="http://schemas.microsoft.com/office/drawing/2014/main" val="847123651"/>
                    </a:ext>
                  </a:extLst>
                </a:gridCol>
              </a:tblGrid>
              <a:tr h="693963">
                <a:tc>
                  <a:txBody>
                    <a:bodyPr/>
                    <a:lstStyle/>
                    <a:p>
                      <a:pPr algn="just" rtl="0">
                        <a:buNone/>
                      </a:pPr>
                      <a:r>
                        <a:rPr lang="en-US" sz="1800" b="1" dirty="0">
                          <a:solidFill>
                            <a:srgbClr val="1F1F1F"/>
                          </a:solidFill>
                          <a:effectLst/>
                        </a:rPr>
                        <a:t>Reason for Use (Conditions)</a:t>
                      </a:r>
                      <a:endParaRPr lang="en-US" sz="1800" dirty="0">
                        <a:solidFill>
                          <a:srgbClr val="1F1F1F"/>
                        </a:solidFill>
                        <a:effectLst/>
                        <a:latin typeface="Google Sans Text"/>
                      </a:endParaRPr>
                    </a:p>
                  </a:txBody>
                  <a:tcPr marL="76650" marR="76650" marT="51100" marB="51100" anchor="ctr">
                    <a:solidFill>
                      <a:schemeClr val="accent3">
                        <a:lumMod val="20000"/>
                        <a:lumOff val="80000"/>
                      </a:schemeClr>
                    </a:solidFill>
                  </a:tcPr>
                </a:tc>
                <a:tc>
                  <a:txBody>
                    <a:bodyPr/>
                    <a:lstStyle/>
                    <a:p>
                      <a:pPr algn="just" rtl="0">
                        <a:buNone/>
                      </a:pPr>
                      <a:r>
                        <a:rPr lang="en-US" sz="1800" b="1" dirty="0">
                          <a:solidFill>
                            <a:srgbClr val="1F1F1F"/>
                          </a:solidFill>
                          <a:effectLst/>
                        </a:rPr>
                        <a:t>Keywords</a:t>
                      </a:r>
                      <a:endParaRPr lang="en-US" sz="1800" dirty="0">
                        <a:solidFill>
                          <a:srgbClr val="1F1F1F"/>
                        </a:solidFill>
                        <a:effectLst/>
                        <a:latin typeface="Google Sans Text"/>
                      </a:endParaRPr>
                    </a:p>
                  </a:txBody>
                  <a:tcPr marL="76650" marR="76650" marT="51100" marB="51100" anchor="ctr">
                    <a:solidFill>
                      <a:schemeClr val="accent3">
                        <a:lumMod val="20000"/>
                        <a:lumOff val="80000"/>
                      </a:schemeClr>
                    </a:solidFill>
                  </a:tcPr>
                </a:tc>
                <a:tc>
                  <a:txBody>
                    <a:bodyPr/>
                    <a:lstStyle/>
                    <a:p>
                      <a:pPr algn="just" rtl="0">
                        <a:buNone/>
                      </a:pPr>
                      <a:r>
                        <a:rPr lang="en-US" sz="1800" b="1" dirty="0">
                          <a:solidFill>
                            <a:srgbClr val="1F1F1F"/>
                          </a:solidFill>
                          <a:effectLst/>
                        </a:rPr>
                        <a:t>Variable Type </a:t>
                      </a:r>
                      <a:endParaRPr lang="en-US" sz="1800" i="1" dirty="0">
                        <a:solidFill>
                          <a:schemeClr val="tx1">
                            <a:lumMod val="50000"/>
                            <a:lumOff val="50000"/>
                          </a:schemeClr>
                        </a:solidFill>
                        <a:effectLst/>
                        <a:latin typeface="Google Sans Text"/>
                      </a:endParaRPr>
                    </a:p>
                  </a:txBody>
                  <a:tcPr marL="76650" marR="76650" marT="51100" marB="51100" anchor="ctr">
                    <a:solidFill>
                      <a:schemeClr val="accent3">
                        <a:lumMod val="20000"/>
                        <a:lumOff val="80000"/>
                      </a:schemeClr>
                    </a:solidFill>
                  </a:tcPr>
                </a:tc>
                <a:extLst>
                  <a:ext uri="{0D108BD9-81ED-4DB2-BD59-A6C34878D82A}">
                    <a16:rowId xmlns:a16="http://schemas.microsoft.com/office/drawing/2014/main" val="3836329682"/>
                  </a:ext>
                </a:extLst>
              </a:tr>
              <a:tr h="2568546">
                <a:tc>
                  <a:txBody>
                    <a:bodyPr/>
                    <a:lstStyle/>
                    <a:p>
                      <a:pPr algn="just" rtl="0">
                        <a:buNone/>
                      </a:pPr>
                      <a:r>
                        <a:rPr lang="en-US" sz="1800" dirty="0">
                          <a:solidFill>
                            <a:srgbClr val="1F1F1F"/>
                          </a:solidFill>
                          <a:effectLst/>
                        </a:rPr>
                        <a:t>To map how different entities are linked. It is about "Flow" and "Distance" rather than numbers on an axis.</a:t>
                      </a:r>
                      <a:endParaRPr lang="en-US" sz="1800" dirty="0">
                        <a:solidFill>
                          <a:srgbClr val="1F1F1F"/>
                        </a:solidFill>
                        <a:effectLst/>
                        <a:latin typeface="Google Sans Text"/>
                      </a:endParaRPr>
                    </a:p>
                  </a:txBody>
                  <a:tcPr marL="76650" marR="76650" marT="51100" marB="51100" anchor="ctr"/>
                </a:tc>
                <a:tc>
                  <a:txBody>
                    <a:bodyPr/>
                    <a:lstStyle/>
                    <a:p>
                      <a:pPr algn="just" rtl="0">
                        <a:buNone/>
                      </a:pPr>
                      <a:r>
                        <a:rPr lang="en-US" sz="2000" b="1" kern="1200" dirty="0">
                          <a:solidFill>
                            <a:srgbClr val="1F1F1F"/>
                          </a:solidFill>
                          <a:effectLst/>
                          <a:latin typeface="+mn-lt"/>
                          <a:ea typeface="+mn-ea"/>
                          <a:cs typeface="+mn-cs"/>
                        </a:rPr>
                        <a:t>Connectivity, Node, Path, Centrality, Hierarchy </a:t>
                      </a:r>
                      <a:r>
                        <a:rPr lang="en-US" sz="2000" b="0" kern="1200" dirty="0">
                          <a:solidFill>
                            <a:srgbClr val="1F1F1F"/>
                          </a:solidFill>
                          <a:effectLst/>
                          <a:latin typeface="+mn-lt"/>
                          <a:ea typeface="+mn-ea"/>
                          <a:cs typeface="+mn-cs"/>
                        </a:rPr>
                        <a:t>(Tree Layout)</a:t>
                      </a:r>
                    </a:p>
                  </a:txBody>
                  <a:tcPr marL="76650" marR="76650" marT="51100" marB="51100" anchor="ctr"/>
                </a:tc>
                <a:tc>
                  <a:txBody>
                    <a:bodyPr/>
                    <a:lstStyle/>
                    <a:p>
                      <a:pPr algn="just" rtl="0">
                        <a:buNone/>
                      </a:pPr>
                      <a:r>
                        <a:rPr lang="en-US" sz="1800" b="1" dirty="0">
                          <a:solidFill>
                            <a:srgbClr val="1F1F1F"/>
                          </a:solidFill>
                          <a:effectLst/>
                        </a:rPr>
                        <a:t>Categorical</a:t>
                      </a:r>
                      <a:r>
                        <a:rPr lang="en-US" sz="1800" dirty="0">
                          <a:solidFill>
                            <a:srgbClr val="1F1F1F"/>
                          </a:solidFill>
                          <a:effectLst/>
                        </a:rPr>
                        <a:t> vs. </a:t>
                      </a:r>
                      <a:r>
                        <a:rPr lang="en-US" sz="1800" b="1" dirty="0">
                          <a:solidFill>
                            <a:srgbClr val="1F1F1F"/>
                          </a:solidFill>
                          <a:effectLst/>
                        </a:rPr>
                        <a:t>Categorical</a:t>
                      </a:r>
                      <a:r>
                        <a:rPr lang="en-US" sz="1800" dirty="0">
                          <a:solidFill>
                            <a:srgbClr val="1F1F1F"/>
                          </a:solidFill>
                          <a:effectLst/>
                        </a:rPr>
                        <a:t> (Arbitrary Positioning).</a:t>
                      </a:r>
                    </a:p>
                    <a:p>
                      <a:pPr algn="just" rtl="0">
                        <a:buNone/>
                      </a:pPr>
                      <a:endParaRPr lang="en-US" sz="1800" dirty="0">
                        <a:solidFill>
                          <a:srgbClr val="1F1F1F"/>
                        </a:solidFill>
                        <a:effectLst/>
                        <a:latin typeface="Google Sans Text"/>
                      </a:endParaRPr>
                    </a:p>
                    <a:p>
                      <a:pPr algn="just" rtl="0">
                        <a:buNone/>
                      </a:pPr>
                      <a:r>
                        <a:rPr lang="en-US" sz="1800" kern="1200" dirty="0">
                          <a:solidFill>
                            <a:srgbClr val="1F1F1F"/>
                          </a:solidFill>
                          <a:effectLst/>
                          <a:latin typeface="+mn-lt"/>
                          <a:ea typeface="+mn-ea"/>
                          <a:cs typeface="+mn-cs"/>
                        </a:rPr>
                        <a:t>Can’t be used with </a:t>
                      </a:r>
                      <a:r>
                        <a:rPr lang="en-US" sz="1800" b="1" kern="1200" dirty="0">
                          <a:solidFill>
                            <a:srgbClr val="1F1F1F"/>
                          </a:solidFill>
                          <a:effectLst/>
                          <a:latin typeface="+mn-lt"/>
                          <a:ea typeface="+mn-ea"/>
                          <a:cs typeface="+mn-cs"/>
                        </a:rPr>
                        <a:t>Numerical </a:t>
                      </a:r>
                      <a:r>
                        <a:rPr lang="en-US" sz="1800" b="0" kern="1200" dirty="0">
                          <a:solidFill>
                            <a:srgbClr val="1F1F1F"/>
                          </a:solidFill>
                          <a:effectLst/>
                          <a:latin typeface="+mn-lt"/>
                          <a:ea typeface="+mn-ea"/>
                          <a:cs typeface="+mn-cs"/>
                        </a:rPr>
                        <a:t>vs.</a:t>
                      </a:r>
                      <a:r>
                        <a:rPr lang="en-US" sz="1800" b="1" kern="1200" dirty="0">
                          <a:solidFill>
                            <a:srgbClr val="1F1F1F"/>
                          </a:solidFill>
                          <a:effectLst/>
                          <a:latin typeface="+mn-lt"/>
                          <a:ea typeface="+mn-ea"/>
                          <a:cs typeface="+mn-cs"/>
                        </a:rPr>
                        <a:t> Numerical</a:t>
                      </a:r>
                      <a:r>
                        <a:rPr lang="en-US" sz="1800" kern="1200" dirty="0">
                          <a:solidFill>
                            <a:srgbClr val="1F1F1F"/>
                          </a:solidFill>
                          <a:effectLst/>
                          <a:latin typeface="+mn-lt"/>
                          <a:ea typeface="+mn-ea"/>
                          <a:cs typeface="+mn-cs"/>
                        </a:rPr>
                        <a:t> analysis, whether discrete or continuous.</a:t>
                      </a:r>
                    </a:p>
                  </a:txBody>
                  <a:tcPr marL="76650" marR="76650" marT="51100" marB="51100" anchor="ctr"/>
                </a:tc>
                <a:extLst>
                  <a:ext uri="{0D108BD9-81ED-4DB2-BD59-A6C34878D82A}">
                    <a16:rowId xmlns:a16="http://schemas.microsoft.com/office/drawing/2014/main" val="1588623159"/>
                  </a:ext>
                </a:extLst>
              </a:tr>
            </a:tbl>
          </a:graphicData>
        </a:graphic>
      </p:graphicFrame>
    </p:spTree>
    <p:extLst>
      <p:ext uri="{BB962C8B-B14F-4D97-AF65-F5344CB8AC3E}">
        <p14:creationId xmlns:p14="http://schemas.microsoft.com/office/powerpoint/2010/main" val="580383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8E214-D21A-5693-FA24-41FAD4528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C9551-9A25-777A-3628-7574AE500F5D}"/>
              </a:ext>
            </a:extLst>
          </p:cNvPr>
          <p:cNvSpPr>
            <a:spLocks noGrp="1"/>
          </p:cNvSpPr>
          <p:nvPr>
            <p:ph type="title"/>
          </p:nvPr>
        </p:nvSpPr>
        <p:spPr>
          <a:xfrm>
            <a:off x="700635" y="816427"/>
            <a:ext cx="10691265" cy="696687"/>
          </a:xfrm>
        </p:spPr>
        <p:txBody>
          <a:bodyPr>
            <a:noAutofit/>
          </a:bodyPr>
          <a:lstStyle/>
          <a:p>
            <a:r>
              <a:rPr lang="en-US" sz="2800" dirty="0"/>
              <a:t>How to Draw network chart? (our guidelines)</a:t>
            </a:r>
            <a:endParaRPr lang="en-EG" sz="2800" dirty="0"/>
          </a:p>
        </p:txBody>
      </p:sp>
      <p:graphicFrame>
        <p:nvGraphicFramePr>
          <p:cNvPr id="5" name="Content Placeholder 4">
            <a:extLst>
              <a:ext uri="{FF2B5EF4-FFF2-40B4-BE49-F238E27FC236}">
                <a16:creationId xmlns:a16="http://schemas.microsoft.com/office/drawing/2014/main" id="{EB271FE4-9B15-3F2A-6934-1476BC189A93}"/>
              </a:ext>
            </a:extLst>
          </p:cNvPr>
          <p:cNvGraphicFramePr>
            <a:graphicFrameLocks noGrp="1"/>
          </p:cNvGraphicFramePr>
          <p:nvPr>
            <p:ph idx="1"/>
            <p:extLst>
              <p:ext uri="{D42A27DB-BD31-4B8C-83A1-F6EECF244321}">
                <p14:modId xmlns:p14="http://schemas.microsoft.com/office/powerpoint/2010/main" val="3203697221"/>
              </p:ext>
            </p:extLst>
          </p:nvPr>
        </p:nvGraphicFramePr>
        <p:xfrm>
          <a:off x="700635" y="1712624"/>
          <a:ext cx="10790730" cy="4350713"/>
        </p:xfrm>
        <a:graphic>
          <a:graphicData uri="http://schemas.openxmlformats.org/drawingml/2006/table">
            <a:tbl>
              <a:tblPr>
                <a:tableStyleId>{5940675A-B579-460E-94D1-54222C63F5DA}</a:tableStyleId>
              </a:tblPr>
              <a:tblGrid>
                <a:gridCol w="758051">
                  <a:extLst>
                    <a:ext uri="{9D8B030D-6E8A-4147-A177-3AD203B41FA5}">
                      <a16:colId xmlns:a16="http://schemas.microsoft.com/office/drawing/2014/main" val="2092327845"/>
                    </a:ext>
                  </a:extLst>
                </a:gridCol>
                <a:gridCol w="2188028">
                  <a:extLst>
                    <a:ext uri="{9D8B030D-6E8A-4147-A177-3AD203B41FA5}">
                      <a16:colId xmlns:a16="http://schemas.microsoft.com/office/drawing/2014/main" val="2401887369"/>
                    </a:ext>
                  </a:extLst>
                </a:gridCol>
                <a:gridCol w="7844651">
                  <a:extLst>
                    <a:ext uri="{9D8B030D-6E8A-4147-A177-3AD203B41FA5}">
                      <a16:colId xmlns:a16="http://schemas.microsoft.com/office/drawing/2014/main" val="3766790695"/>
                    </a:ext>
                  </a:extLst>
                </a:gridCol>
              </a:tblGrid>
              <a:tr h="393859">
                <a:tc>
                  <a:txBody>
                    <a:bodyPr/>
                    <a:lstStyle/>
                    <a:p>
                      <a:pPr algn="ctr" rtl="0">
                        <a:buNone/>
                      </a:pPr>
                      <a:r>
                        <a:rPr lang="en-US" sz="1600" b="1" dirty="0">
                          <a:solidFill>
                            <a:srgbClr val="1F1F1F"/>
                          </a:solidFill>
                          <a:effectLst/>
                        </a:rPr>
                        <a:t>Rule #</a:t>
                      </a:r>
                      <a:endParaRPr lang="en-US" sz="1600" dirty="0">
                        <a:solidFill>
                          <a:srgbClr val="1F1F1F"/>
                        </a:solidFill>
                        <a:effectLst/>
                        <a:latin typeface="Google Sans Text"/>
                      </a:endParaRPr>
                    </a:p>
                  </a:txBody>
                  <a:tcPr marL="53738" marR="53738" marT="35825" marB="35825" anchor="ctr">
                    <a:solidFill>
                      <a:schemeClr val="bg1">
                        <a:lumMod val="95000"/>
                      </a:schemeClr>
                    </a:solidFill>
                  </a:tcPr>
                </a:tc>
                <a:tc>
                  <a:txBody>
                    <a:bodyPr/>
                    <a:lstStyle/>
                    <a:p>
                      <a:pPr algn="ctr" rtl="0">
                        <a:buNone/>
                      </a:pPr>
                      <a:r>
                        <a:rPr lang="en-US" sz="1600" b="1" dirty="0">
                          <a:solidFill>
                            <a:srgbClr val="1F1F1F"/>
                          </a:solidFill>
                          <a:effectLst/>
                        </a:rPr>
                        <a:t>Guideline</a:t>
                      </a:r>
                      <a:endParaRPr lang="en-US" sz="1600" dirty="0">
                        <a:solidFill>
                          <a:srgbClr val="1F1F1F"/>
                        </a:solidFill>
                        <a:effectLst/>
                        <a:latin typeface="Google Sans Text"/>
                      </a:endParaRPr>
                    </a:p>
                  </a:txBody>
                  <a:tcPr marL="53738" marR="53738" marT="35825" marB="35825" anchor="ctr">
                    <a:solidFill>
                      <a:schemeClr val="bg1">
                        <a:lumMod val="95000"/>
                      </a:schemeClr>
                    </a:solidFill>
                  </a:tcPr>
                </a:tc>
                <a:tc>
                  <a:txBody>
                    <a:bodyPr/>
                    <a:lstStyle/>
                    <a:p>
                      <a:pPr rtl="0">
                        <a:buNone/>
                      </a:pPr>
                      <a:r>
                        <a:rPr lang="en-US" sz="1600" b="1" dirty="0">
                          <a:solidFill>
                            <a:srgbClr val="1F1F1F"/>
                          </a:solidFill>
                          <a:effectLst/>
                        </a:rPr>
                        <a:t>Purpose / Description</a:t>
                      </a:r>
                      <a:endParaRPr lang="en-US" sz="1600" dirty="0">
                        <a:solidFill>
                          <a:srgbClr val="1F1F1F"/>
                        </a:solidFill>
                        <a:effectLst/>
                        <a:latin typeface="Google Sans Text"/>
                      </a:endParaRPr>
                    </a:p>
                  </a:txBody>
                  <a:tcPr marL="53738" marR="53738" marT="35825" marB="35825" anchor="ctr">
                    <a:solidFill>
                      <a:schemeClr val="bg1">
                        <a:lumMod val="95000"/>
                      </a:schemeClr>
                    </a:solidFill>
                  </a:tcPr>
                </a:tc>
                <a:extLst>
                  <a:ext uri="{0D108BD9-81ED-4DB2-BD59-A6C34878D82A}">
                    <a16:rowId xmlns:a16="http://schemas.microsoft.com/office/drawing/2014/main" val="596583762"/>
                  </a:ext>
                </a:extLst>
              </a:tr>
              <a:tr h="303963">
                <a:tc>
                  <a:txBody>
                    <a:bodyPr/>
                    <a:lstStyle/>
                    <a:p>
                      <a:pPr algn="ctr" rtl="0">
                        <a:buNone/>
                      </a:pPr>
                      <a:r>
                        <a:rPr lang="en-US" sz="1600" b="1" kern="1200" dirty="0">
                          <a:solidFill>
                            <a:srgbClr val="1F1F1F"/>
                          </a:solidFill>
                          <a:effectLst/>
                          <a:latin typeface="+mn-lt"/>
                          <a:ea typeface="+mn-ea"/>
                          <a:cs typeface="+mn-cs"/>
                        </a:rPr>
                        <a:t>Rule 1</a:t>
                      </a:r>
                    </a:p>
                  </a:txBody>
                  <a:tcPr marL="53738" marR="53738" marT="35825" marB="35825" anchor="ctr"/>
                </a:tc>
                <a:tc>
                  <a:txBody>
                    <a:bodyPr/>
                    <a:lstStyle/>
                    <a:p>
                      <a:pPr algn="ctr" rtl="0">
                        <a:buNone/>
                      </a:pPr>
                      <a:r>
                        <a:rPr lang="en-US" sz="1600" b="1" kern="1200" dirty="0">
                          <a:solidFill>
                            <a:srgbClr val="1F1F1F"/>
                          </a:solidFill>
                          <a:effectLst/>
                          <a:latin typeface="+mn-lt"/>
                          <a:ea typeface="+mn-ea"/>
                          <a:cs typeface="+mn-cs"/>
                        </a:rPr>
                        <a:t>Chart Border</a:t>
                      </a:r>
                    </a:p>
                  </a:txBody>
                  <a:tcPr marL="53738" marR="53738" marT="35825" marB="35825" anchor="ctr"/>
                </a:tc>
                <a:tc>
                  <a:txBody>
                    <a:bodyPr/>
                    <a:lstStyle/>
                    <a:p>
                      <a:pPr rtl="0">
                        <a:buNone/>
                      </a:pPr>
                      <a:r>
                        <a:rPr lang="en-US" sz="1600" dirty="0">
                          <a:solidFill>
                            <a:srgbClr val="1F1F1F"/>
                          </a:solidFill>
                          <a:effectLst/>
                        </a:rPr>
                        <a:t>Ensure a black frame surrounds the data area to define the workspace.</a:t>
                      </a:r>
                      <a:endParaRPr lang="en-US" sz="16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1307597587"/>
                  </a:ext>
                </a:extLst>
              </a:tr>
              <a:tr h="773826">
                <a:tc>
                  <a:txBody>
                    <a:bodyPr/>
                    <a:lstStyle/>
                    <a:p>
                      <a:pPr algn="ctr" rtl="0">
                        <a:buNone/>
                      </a:pPr>
                      <a:r>
                        <a:rPr lang="en-US" sz="1600" b="1" kern="1200" dirty="0">
                          <a:solidFill>
                            <a:srgbClr val="1F1F1F"/>
                          </a:solidFill>
                          <a:effectLst/>
                          <a:latin typeface="+mn-lt"/>
                          <a:ea typeface="+mn-ea"/>
                          <a:cs typeface="+mn-cs"/>
                        </a:rPr>
                        <a:t>Rule 2</a:t>
                      </a:r>
                    </a:p>
                  </a:txBody>
                  <a:tcPr marL="53738" marR="53738" marT="35825" marB="35825" anchor="ctr"/>
                </a:tc>
                <a:tc>
                  <a:txBody>
                    <a:bodyPr/>
                    <a:lstStyle/>
                    <a:p>
                      <a:pPr algn="ctr" rtl="0">
                        <a:buNone/>
                      </a:pPr>
                      <a:r>
                        <a:rPr lang="en-US" sz="1600" b="1" kern="1200" dirty="0">
                          <a:solidFill>
                            <a:srgbClr val="1F1F1F"/>
                          </a:solidFill>
                          <a:effectLst/>
                          <a:latin typeface="+mn-lt"/>
                          <a:ea typeface="+mn-ea"/>
                          <a:cs typeface="+mn-cs"/>
                        </a:rPr>
                        <a:t>Edges</a:t>
                      </a:r>
                    </a:p>
                  </a:txBody>
                  <a:tcPr marL="53738" marR="53738" marT="35825" marB="35825" anchor="ctr"/>
                </a:tc>
                <a:tc>
                  <a:txBody>
                    <a:bodyPr/>
                    <a:lstStyle/>
                    <a:p>
                      <a:pPr rtl="0">
                        <a:buNone/>
                      </a:pPr>
                      <a:r>
                        <a:rPr lang="en-US" sz="1600" dirty="0">
                          <a:solidFill>
                            <a:srgbClr val="1F1F1F"/>
                          </a:solidFill>
                          <a:effectLst/>
                          <a:latin typeface="Google Sans Text"/>
                        </a:rPr>
                        <a:t>Avoid edge intersections.</a:t>
                      </a:r>
                      <a:br>
                        <a:rPr lang="en-US" sz="1600" dirty="0">
                          <a:solidFill>
                            <a:srgbClr val="1F1F1F"/>
                          </a:solidFill>
                          <a:effectLst/>
                          <a:latin typeface="Google Sans Text"/>
                        </a:rPr>
                      </a:br>
                      <a:r>
                        <a:rPr lang="en-US" sz="1600" dirty="0">
                          <a:solidFill>
                            <a:srgbClr val="1F1F1F"/>
                          </a:solidFill>
                          <a:effectLst/>
                          <a:latin typeface="Google Sans Text"/>
                        </a:rPr>
                        <a:t>Write the label on/inside the edge and summarize it in case of long labels.</a:t>
                      </a:r>
                      <a:br>
                        <a:rPr lang="en-US" sz="1600" dirty="0">
                          <a:solidFill>
                            <a:srgbClr val="1F1F1F"/>
                          </a:solidFill>
                          <a:effectLst/>
                          <a:latin typeface="Google Sans Text"/>
                        </a:rPr>
                      </a:br>
                      <a:r>
                        <a:rPr lang="en-US" sz="1600" dirty="0">
                          <a:solidFill>
                            <a:srgbClr val="1F1F1F"/>
                          </a:solidFill>
                          <a:effectLst/>
                          <a:latin typeface="Google Sans Text"/>
                        </a:rPr>
                        <a:t>Color all the edges using black.</a:t>
                      </a:r>
                    </a:p>
                  </a:txBody>
                  <a:tcPr marL="53738" marR="53738" marT="35825" marB="35825" anchor="ctr"/>
                </a:tc>
                <a:extLst>
                  <a:ext uri="{0D108BD9-81ED-4DB2-BD59-A6C34878D82A}">
                    <a16:rowId xmlns:a16="http://schemas.microsoft.com/office/drawing/2014/main" val="3913399402"/>
                  </a:ext>
                </a:extLst>
              </a:tr>
              <a:tr h="773826">
                <a:tc>
                  <a:txBody>
                    <a:bodyPr/>
                    <a:lstStyle/>
                    <a:p>
                      <a:pPr algn="ctr" rtl="0">
                        <a:buNone/>
                      </a:pPr>
                      <a:r>
                        <a:rPr lang="en-US" sz="1600" b="1" kern="1200" dirty="0">
                          <a:solidFill>
                            <a:srgbClr val="1F1F1F"/>
                          </a:solidFill>
                          <a:effectLst/>
                          <a:latin typeface="+mn-lt"/>
                          <a:ea typeface="+mn-ea"/>
                          <a:cs typeface="+mn-cs"/>
                        </a:rPr>
                        <a:t>Rule 3</a:t>
                      </a:r>
                    </a:p>
                  </a:txBody>
                  <a:tcPr marL="53738" marR="53738" marT="35825" marB="35825" anchor="ctr"/>
                </a:tc>
                <a:tc>
                  <a:txBody>
                    <a:bodyPr/>
                    <a:lstStyle/>
                    <a:p>
                      <a:pPr algn="ctr" rtl="0">
                        <a:buNone/>
                      </a:pPr>
                      <a:r>
                        <a:rPr lang="en-US" sz="1600" b="1" kern="1200" dirty="0">
                          <a:solidFill>
                            <a:srgbClr val="1F1F1F"/>
                          </a:solidFill>
                          <a:effectLst/>
                          <a:latin typeface="+mn-lt"/>
                          <a:ea typeface="+mn-ea"/>
                          <a:cs typeface="+mn-cs"/>
                        </a:rPr>
                        <a:t>Nodes</a:t>
                      </a:r>
                    </a:p>
                  </a:txBody>
                  <a:tcPr marL="53738" marR="53738" marT="35825" marB="35825" anchor="ctr"/>
                </a:tc>
                <a:tc>
                  <a:txBody>
                    <a:bodyPr/>
                    <a:lstStyle/>
                    <a:p>
                      <a:pPr rtl="0">
                        <a:buNone/>
                      </a:pPr>
                      <a:r>
                        <a:rPr lang="en-US" sz="1600" dirty="0">
                          <a:solidFill>
                            <a:srgbClr val="1F1F1F"/>
                          </a:solidFill>
                          <a:effectLst/>
                          <a:latin typeface="Google Sans Text"/>
                        </a:rPr>
                        <a:t>Must have a black border.</a:t>
                      </a:r>
                    </a:p>
                    <a:p>
                      <a:pPr rtl="0">
                        <a:buNone/>
                      </a:pPr>
                      <a:r>
                        <a:rPr lang="en-US" sz="1600" dirty="0">
                          <a:solidFill>
                            <a:srgbClr val="1F1F1F"/>
                          </a:solidFill>
                          <a:effectLst/>
                          <a:latin typeface="Google Sans Text"/>
                        </a:rPr>
                        <a:t>Write the label inside the node and summarize it in case of long labels.</a:t>
                      </a:r>
                      <a:br>
                        <a:rPr lang="en-US" sz="1600" dirty="0">
                          <a:solidFill>
                            <a:srgbClr val="1F1F1F"/>
                          </a:solidFill>
                          <a:effectLst/>
                          <a:latin typeface="Google Sans Text"/>
                        </a:rPr>
                      </a:br>
                      <a:r>
                        <a:rPr lang="en-US" sz="1600" dirty="0">
                          <a:solidFill>
                            <a:srgbClr val="1F1F1F"/>
                          </a:solidFill>
                          <a:effectLst/>
                          <a:latin typeface="Google Sans Text"/>
                        </a:rPr>
                        <a:t>Color all the nodes using lightblue.</a:t>
                      </a:r>
                    </a:p>
                  </a:txBody>
                  <a:tcPr marL="53738" marR="53738" marT="35825" marB="35825" anchor="ctr"/>
                </a:tc>
                <a:extLst>
                  <a:ext uri="{0D108BD9-81ED-4DB2-BD59-A6C34878D82A}">
                    <a16:rowId xmlns:a16="http://schemas.microsoft.com/office/drawing/2014/main" val="395050781"/>
                  </a:ext>
                </a:extLst>
              </a:tr>
              <a:tr h="705476">
                <a:tc>
                  <a:txBody>
                    <a:bodyPr/>
                    <a:lstStyle/>
                    <a:p>
                      <a:pPr algn="ctr" rtl="0">
                        <a:buNone/>
                      </a:pPr>
                      <a:r>
                        <a:rPr lang="en-US" sz="1600" b="1" kern="1200" dirty="0">
                          <a:solidFill>
                            <a:srgbClr val="1F1F1F"/>
                          </a:solidFill>
                          <a:effectLst/>
                          <a:latin typeface="+mn-lt"/>
                          <a:ea typeface="+mn-ea"/>
                          <a:cs typeface="+mn-cs"/>
                        </a:rPr>
                        <a:t>Rule 4</a:t>
                      </a:r>
                    </a:p>
                  </a:txBody>
                  <a:tcPr marL="53738" marR="53738" marT="35825" marB="35825" anchor="ctr"/>
                </a:tc>
                <a:tc>
                  <a:txBody>
                    <a:bodyPr/>
                    <a:lstStyle/>
                    <a:p>
                      <a:pPr algn="ctr" rtl="0">
                        <a:buNone/>
                      </a:pPr>
                      <a:r>
                        <a:rPr lang="en-US" sz="1600" b="1" kern="1200" dirty="0">
                          <a:solidFill>
                            <a:srgbClr val="1F1F1F"/>
                          </a:solidFill>
                          <a:effectLst/>
                          <a:latin typeface="+mn-lt"/>
                          <a:ea typeface="+mn-ea"/>
                          <a:cs typeface="+mn-cs"/>
                        </a:rPr>
                        <a:t>Path </a:t>
                      </a:r>
                    </a:p>
                  </a:txBody>
                  <a:tcPr marL="53738" marR="53738" marT="35825" marB="35825" anchor="ctr"/>
                </a:tc>
                <a:tc>
                  <a:txBody>
                    <a:bodyPr/>
                    <a:lstStyle/>
                    <a:p>
                      <a:pPr rtl="0">
                        <a:buNone/>
                      </a:pPr>
                      <a:r>
                        <a:rPr lang="en-US" sz="1600" dirty="0">
                          <a:solidFill>
                            <a:srgbClr val="1F1F1F"/>
                          </a:solidFill>
                          <a:effectLst/>
                          <a:latin typeface="Google Sans Text"/>
                        </a:rPr>
                        <a:t>Use a black dashed line for the edges.</a:t>
                      </a:r>
                    </a:p>
                    <a:p>
                      <a:pPr rtl="0">
                        <a:buNone/>
                      </a:pPr>
                      <a:r>
                        <a:rPr lang="en-US" sz="1600" dirty="0">
                          <a:solidFill>
                            <a:srgbClr val="1F1F1F"/>
                          </a:solidFill>
                          <a:effectLst/>
                          <a:latin typeface="Google Sans Text"/>
                        </a:rPr>
                        <a:t>Use a dashed border for all the nodes inside the path.</a:t>
                      </a:r>
                    </a:p>
                    <a:p>
                      <a:pPr rtl="0">
                        <a:buNone/>
                      </a:pPr>
                      <a:r>
                        <a:rPr lang="en-US" sz="1600" dirty="0">
                          <a:solidFill>
                            <a:srgbClr val="1F1F1F"/>
                          </a:solidFill>
                          <a:effectLst/>
                          <a:latin typeface="Google Sans Text"/>
                        </a:rPr>
                        <a:t>Color all the nodes inside the path using lightgreen.</a:t>
                      </a:r>
                    </a:p>
                  </a:txBody>
                  <a:tcPr marL="53738" marR="53738" marT="35825" marB="35825" anchor="ctr"/>
                </a:tc>
                <a:extLst>
                  <a:ext uri="{0D108BD9-81ED-4DB2-BD59-A6C34878D82A}">
                    <a16:rowId xmlns:a16="http://schemas.microsoft.com/office/drawing/2014/main" val="2138625280"/>
                  </a:ext>
                </a:extLst>
              </a:tr>
              <a:tr h="435111">
                <a:tc>
                  <a:txBody>
                    <a:bodyPr/>
                    <a:lstStyle/>
                    <a:p>
                      <a:pPr algn="ctr" rtl="0">
                        <a:buNone/>
                      </a:pPr>
                      <a:r>
                        <a:rPr lang="en-US" sz="1600" b="1" kern="1200" dirty="0">
                          <a:solidFill>
                            <a:srgbClr val="1F1F1F"/>
                          </a:solidFill>
                          <a:effectLst/>
                          <a:latin typeface="+mn-lt"/>
                          <a:ea typeface="+mn-ea"/>
                          <a:cs typeface="+mn-cs"/>
                        </a:rPr>
                        <a:t>Rule 5</a:t>
                      </a:r>
                    </a:p>
                  </a:txBody>
                  <a:tcPr marL="53738" marR="53738" marT="35825" marB="35825" anchor="ctr"/>
                </a:tc>
                <a:tc>
                  <a:txBody>
                    <a:bodyPr/>
                    <a:lstStyle/>
                    <a:p>
                      <a:pPr algn="ctr" rtl="0">
                        <a:buNone/>
                      </a:pPr>
                      <a:r>
                        <a:rPr lang="en-US" sz="1600" b="1" kern="1200" dirty="0">
                          <a:solidFill>
                            <a:srgbClr val="1F1F1F"/>
                          </a:solidFill>
                          <a:effectLst/>
                          <a:latin typeface="+mn-lt"/>
                          <a:ea typeface="+mn-ea"/>
                          <a:cs typeface="+mn-cs"/>
                        </a:rPr>
                        <a:t>Centrality</a:t>
                      </a:r>
                    </a:p>
                  </a:txBody>
                  <a:tcPr marL="53738" marR="53738" marT="35825" marB="35825" anchor="ctr"/>
                </a:tc>
                <a:tc>
                  <a:txBody>
                    <a:bodyPr/>
                    <a:lstStyle/>
                    <a:p>
                      <a:pPr rtl="0">
                        <a:buNone/>
                      </a:pPr>
                      <a:r>
                        <a:rPr lang="en-US" sz="1600" dirty="0">
                          <a:solidFill>
                            <a:srgbClr val="1F1F1F"/>
                          </a:solidFill>
                          <a:effectLst/>
                          <a:latin typeface="Google Sans Text"/>
                        </a:rPr>
                        <a:t>Color all the nodes using lightblue, except the central node; use lightgreen color.</a:t>
                      </a:r>
                    </a:p>
                    <a:p>
                      <a:pPr rtl="0">
                        <a:buNone/>
                      </a:pPr>
                      <a:r>
                        <a:rPr lang="en-US" sz="1600" dirty="0">
                          <a:solidFill>
                            <a:srgbClr val="1F1F1F"/>
                          </a:solidFill>
                          <a:effectLst/>
                          <a:latin typeface="Google Sans Text"/>
                        </a:rPr>
                        <a:t>Use a dashed border for the central node.</a:t>
                      </a:r>
                    </a:p>
                  </a:txBody>
                  <a:tcPr marL="53738" marR="53738" marT="35825" marB="35825" anchor="ctr"/>
                </a:tc>
                <a:extLst>
                  <a:ext uri="{0D108BD9-81ED-4DB2-BD59-A6C34878D82A}">
                    <a16:rowId xmlns:a16="http://schemas.microsoft.com/office/drawing/2014/main" val="1100459747"/>
                  </a:ext>
                </a:extLst>
              </a:tr>
              <a:tr h="336262">
                <a:tc>
                  <a:txBody>
                    <a:bodyPr/>
                    <a:lstStyle/>
                    <a:p>
                      <a:pPr algn="ctr" rtl="0">
                        <a:buNone/>
                      </a:pPr>
                      <a:r>
                        <a:rPr lang="en-US" sz="1600" b="1" kern="1200" dirty="0">
                          <a:solidFill>
                            <a:srgbClr val="1F1F1F"/>
                          </a:solidFill>
                          <a:effectLst/>
                          <a:latin typeface="+mn-lt"/>
                          <a:ea typeface="+mn-ea"/>
                          <a:cs typeface="+mn-cs"/>
                        </a:rPr>
                        <a:t>Rule 6</a:t>
                      </a:r>
                    </a:p>
                  </a:txBody>
                  <a:tcPr marL="53738" marR="53738" marT="35825" marB="35825" anchor="ctr"/>
                </a:tc>
                <a:tc>
                  <a:txBody>
                    <a:bodyPr/>
                    <a:lstStyle/>
                    <a:p>
                      <a:pPr algn="ctr" rtl="0">
                        <a:buNone/>
                      </a:pPr>
                      <a:r>
                        <a:rPr lang="en-US" sz="1600" b="1" kern="1200" dirty="0">
                          <a:solidFill>
                            <a:srgbClr val="1F1F1F"/>
                          </a:solidFill>
                          <a:effectLst/>
                          <a:latin typeface="+mn-lt"/>
                          <a:ea typeface="+mn-ea"/>
                          <a:cs typeface="+mn-cs"/>
                        </a:rPr>
                        <a:t>Include Legend</a:t>
                      </a:r>
                    </a:p>
                  </a:txBody>
                  <a:tcPr marL="53738" marR="53738" marT="35825" marB="35825" anchor="ctr"/>
                </a:tc>
                <a:tc>
                  <a:txBody>
                    <a:bodyPr/>
                    <a:lstStyle/>
                    <a:p>
                      <a:pPr rtl="0">
                        <a:buNone/>
                      </a:pPr>
                      <a:r>
                        <a:rPr lang="en-US" sz="1600" dirty="0">
                          <a:solidFill>
                            <a:srgbClr val="1F1F1F"/>
                          </a:solidFill>
                          <a:effectLst/>
                        </a:rPr>
                        <a:t>Place a legend (usually top-right) to explain what the edge/node colors represent.</a:t>
                      </a:r>
                      <a:endParaRPr lang="en-US" sz="16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3018967591"/>
                  </a:ext>
                </a:extLst>
              </a:tr>
              <a:tr h="336262">
                <a:tc>
                  <a:txBody>
                    <a:bodyPr/>
                    <a:lstStyle/>
                    <a:p>
                      <a:pPr algn="ctr" rtl="0">
                        <a:buNone/>
                      </a:pPr>
                      <a:r>
                        <a:rPr lang="en-US" sz="1600" b="1" kern="1200" dirty="0">
                          <a:solidFill>
                            <a:srgbClr val="1F1F1F"/>
                          </a:solidFill>
                          <a:effectLst/>
                          <a:latin typeface="+mn-lt"/>
                          <a:ea typeface="+mn-ea"/>
                          <a:cs typeface="+mn-cs"/>
                        </a:rPr>
                        <a:t>Rule 7</a:t>
                      </a:r>
                    </a:p>
                  </a:txBody>
                  <a:tcPr marL="53738" marR="53738" marT="35825" marB="35825" anchor="ctr"/>
                </a:tc>
                <a:tc>
                  <a:txBody>
                    <a:bodyPr/>
                    <a:lstStyle/>
                    <a:p>
                      <a:pPr algn="ctr" rtl="0">
                        <a:buNone/>
                      </a:pPr>
                      <a:r>
                        <a:rPr lang="en-US" sz="1600" b="1" kern="1200" dirty="0">
                          <a:solidFill>
                            <a:srgbClr val="1F1F1F"/>
                          </a:solidFill>
                          <a:effectLst/>
                          <a:latin typeface="+mn-lt"/>
                          <a:ea typeface="+mn-ea"/>
                          <a:cs typeface="+mn-cs"/>
                        </a:rPr>
                        <a:t>Clear Titles</a:t>
                      </a:r>
                    </a:p>
                  </a:txBody>
                  <a:tcPr marL="53738" marR="53738" marT="35825" marB="35825" anchor="ctr"/>
                </a:tc>
                <a:tc>
                  <a:txBody>
                    <a:bodyPr/>
                    <a:lstStyle/>
                    <a:p>
                      <a:pPr rtl="0">
                        <a:buNone/>
                      </a:pPr>
                      <a:r>
                        <a:rPr lang="en-US" sz="1600" dirty="0">
                          <a:solidFill>
                            <a:srgbClr val="1F1F1F"/>
                          </a:solidFill>
                          <a:effectLst/>
                        </a:rPr>
                        <a:t>Network chart needs only one title: </a:t>
                      </a:r>
                      <a:r>
                        <a:rPr lang="en-US" sz="1600" b="1" dirty="0">
                          <a:solidFill>
                            <a:srgbClr val="1F1F1F"/>
                          </a:solidFill>
                          <a:effectLst/>
                        </a:rPr>
                        <a:t>Main Title</a:t>
                      </a:r>
                      <a:r>
                        <a:rPr lang="en-US" sz="1600" dirty="0">
                          <a:solidFill>
                            <a:srgbClr val="1F1F1F"/>
                          </a:solidFill>
                          <a:effectLst/>
                        </a:rPr>
                        <a:t>.</a:t>
                      </a:r>
                      <a:endParaRPr lang="en-US" sz="1600" dirty="0">
                        <a:solidFill>
                          <a:srgbClr val="1F1F1F"/>
                        </a:solidFill>
                        <a:effectLst/>
                        <a:latin typeface="Google Sans Text"/>
                      </a:endParaRPr>
                    </a:p>
                  </a:txBody>
                  <a:tcPr marL="53738" marR="53738" marT="35825" marB="35825" anchor="ctr"/>
                </a:tc>
                <a:extLst>
                  <a:ext uri="{0D108BD9-81ED-4DB2-BD59-A6C34878D82A}">
                    <a16:rowId xmlns:a16="http://schemas.microsoft.com/office/drawing/2014/main" val="1827549170"/>
                  </a:ext>
                </a:extLst>
              </a:tr>
            </a:tbl>
          </a:graphicData>
        </a:graphic>
      </p:graphicFrame>
    </p:spTree>
    <p:extLst>
      <p:ext uri="{BB962C8B-B14F-4D97-AF65-F5344CB8AC3E}">
        <p14:creationId xmlns:p14="http://schemas.microsoft.com/office/powerpoint/2010/main" val="2159229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C119E-9418-E5C4-5B4B-D3C85C49A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FFF30-8AD6-7089-4C5A-21ADBEFC1E65}"/>
              </a:ext>
            </a:extLst>
          </p:cNvPr>
          <p:cNvSpPr>
            <a:spLocks noGrp="1"/>
          </p:cNvSpPr>
          <p:nvPr>
            <p:ph type="title"/>
          </p:nvPr>
        </p:nvSpPr>
        <p:spPr>
          <a:xfrm>
            <a:off x="704088" y="803187"/>
            <a:ext cx="5239272" cy="1340784"/>
          </a:xfrm>
        </p:spPr>
        <p:txBody>
          <a:bodyPr>
            <a:normAutofit/>
          </a:bodyPr>
          <a:lstStyle/>
          <a:p>
            <a:r>
              <a:rPr lang="en-US" dirty="0"/>
              <a:t>Practical Exercise 1: network chart </a:t>
            </a:r>
            <a:endParaRPr lang="en-EG" dirty="0"/>
          </a:p>
        </p:txBody>
      </p:sp>
      <p:sp>
        <p:nvSpPr>
          <p:cNvPr id="3" name="Content Placeholder 2">
            <a:extLst>
              <a:ext uri="{FF2B5EF4-FFF2-40B4-BE49-F238E27FC236}">
                <a16:creationId xmlns:a16="http://schemas.microsoft.com/office/drawing/2014/main" id="{0DF9419E-5F1A-AF00-DA50-E5E484DB62DA}"/>
              </a:ext>
            </a:extLst>
          </p:cNvPr>
          <p:cNvSpPr>
            <a:spLocks noGrp="1"/>
          </p:cNvSpPr>
          <p:nvPr>
            <p:ph idx="1"/>
          </p:nvPr>
        </p:nvSpPr>
        <p:spPr>
          <a:xfrm>
            <a:off x="6549082" y="914399"/>
            <a:ext cx="4835618" cy="5248657"/>
          </a:xfrm>
        </p:spPr>
        <p:txBody>
          <a:bodyPr>
            <a:normAutofit/>
          </a:bodyPr>
          <a:lstStyle/>
          <a:p>
            <a:pPr marL="0" indent="0">
              <a:buNone/>
            </a:pPr>
            <a:r>
              <a:rPr lang="en-US" b="1" dirty="0"/>
              <a:t>1. The Task</a:t>
            </a:r>
          </a:p>
          <a:p>
            <a:pPr marL="0" indent="0" algn="just">
              <a:buNone/>
            </a:pPr>
            <a:r>
              <a:rPr lang="en-US" dirty="0"/>
              <a:t>Perform a </a:t>
            </a:r>
            <a:r>
              <a:rPr lang="en-US" b="1" dirty="0"/>
              <a:t>Categorical vs Categorical Multivariate Analysis</a:t>
            </a:r>
            <a:r>
              <a:rPr lang="en-US" dirty="0"/>
              <a:t>. Visualize the </a:t>
            </a:r>
            <a:r>
              <a:rPr lang="en-US" b="1" dirty="0"/>
              <a:t>Connectivity</a:t>
            </a:r>
            <a:r>
              <a:rPr lang="en-US" dirty="0"/>
              <a:t> type between cities.</a:t>
            </a:r>
          </a:p>
          <a:p>
            <a:pPr marL="0" indent="0">
              <a:buNone/>
            </a:pPr>
            <a:endParaRPr lang="en-US" dirty="0"/>
          </a:p>
          <a:p>
            <a:pPr marL="0" indent="0">
              <a:buNone/>
            </a:pPr>
            <a:r>
              <a:rPr lang="en-US" b="1" dirty="0"/>
              <a:t>2. The Dataset</a:t>
            </a:r>
          </a:p>
          <a:p>
            <a:pPr marL="0" indent="0" algn="just">
              <a:buNone/>
            </a:pPr>
            <a:r>
              <a:rPr lang="en-US" dirty="0"/>
              <a:t>The dataset shows the global logistics routes between different cities.</a:t>
            </a:r>
          </a:p>
        </p:txBody>
      </p:sp>
      <p:graphicFrame>
        <p:nvGraphicFramePr>
          <p:cNvPr id="4" name="Table 3">
            <a:extLst>
              <a:ext uri="{FF2B5EF4-FFF2-40B4-BE49-F238E27FC236}">
                <a16:creationId xmlns:a16="http://schemas.microsoft.com/office/drawing/2014/main" id="{5F30E0DD-AA9F-1585-C54D-DF3119911225}"/>
              </a:ext>
            </a:extLst>
          </p:cNvPr>
          <p:cNvGraphicFramePr>
            <a:graphicFrameLocks noGrp="1"/>
          </p:cNvGraphicFramePr>
          <p:nvPr>
            <p:extLst>
              <p:ext uri="{D42A27DB-BD31-4B8C-83A1-F6EECF244321}">
                <p14:modId xmlns:p14="http://schemas.microsoft.com/office/powerpoint/2010/main" val="1276681733"/>
              </p:ext>
            </p:extLst>
          </p:nvPr>
        </p:nvGraphicFramePr>
        <p:xfrm>
          <a:off x="856728" y="2255184"/>
          <a:ext cx="5239272" cy="3774160"/>
        </p:xfrm>
        <a:graphic>
          <a:graphicData uri="http://schemas.openxmlformats.org/drawingml/2006/table">
            <a:tbl>
              <a:tblPr>
                <a:tableStyleId>{5940675A-B579-460E-94D1-54222C63F5DA}</a:tableStyleId>
              </a:tblPr>
              <a:tblGrid>
                <a:gridCol w="1796044">
                  <a:extLst>
                    <a:ext uri="{9D8B030D-6E8A-4147-A177-3AD203B41FA5}">
                      <a16:colId xmlns:a16="http://schemas.microsoft.com/office/drawing/2014/main" val="10669382"/>
                    </a:ext>
                  </a:extLst>
                </a:gridCol>
                <a:gridCol w="1706641">
                  <a:extLst>
                    <a:ext uri="{9D8B030D-6E8A-4147-A177-3AD203B41FA5}">
                      <a16:colId xmlns:a16="http://schemas.microsoft.com/office/drawing/2014/main" val="2722122491"/>
                    </a:ext>
                  </a:extLst>
                </a:gridCol>
                <a:gridCol w="1736587">
                  <a:extLst>
                    <a:ext uri="{9D8B030D-6E8A-4147-A177-3AD203B41FA5}">
                      <a16:colId xmlns:a16="http://schemas.microsoft.com/office/drawing/2014/main" val="3646970219"/>
                    </a:ext>
                  </a:extLst>
                </a:gridCol>
              </a:tblGrid>
              <a:tr h="374015">
                <a:tc>
                  <a:txBody>
                    <a:bodyPr/>
                    <a:lstStyle/>
                    <a:p>
                      <a:pPr rtl="0">
                        <a:buNone/>
                      </a:pPr>
                      <a:r>
                        <a:rPr lang="en-US" sz="1600" b="1" dirty="0">
                          <a:solidFill>
                            <a:srgbClr val="1F1F1F"/>
                          </a:solidFill>
                          <a:effectLst/>
                        </a:rPr>
                        <a:t>Source Hub</a:t>
                      </a:r>
                      <a:endParaRPr lang="en-US" sz="1600" dirty="0">
                        <a:solidFill>
                          <a:srgbClr val="1F1F1F"/>
                        </a:solidFill>
                        <a:effectLst/>
                        <a:latin typeface="Google Sans Text"/>
                      </a:endParaRPr>
                    </a:p>
                  </a:txBody>
                  <a:tcPr marL="100183" marR="100183" marT="66788" marB="66788" anchor="ctr">
                    <a:solidFill>
                      <a:schemeClr val="accent1">
                        <a:lumMod val="20000"/>
                        <a:lumOff val="80000"/>
                      </a:schemeClr>
                    </a:solidFill>
                  </a:tcPr>
                </a:tc>
                <a:tc>
                  <a:txBody>
                    <a:bodyPr/>
                    <a:lstStyle/>
                    <a:p>
                      <a:pPr rtl="0">
                        <a:buNone/>
                      </a:pPr>
                      <a:r>
                        <a:rPr lang="en-US" sz="1600" b="1" dirty="0">
                          <a:solidFill>
                            <a:srgbClr val="1F1F1F"/>
                          </a:solidFill>
                          <a:effectLst/>
                        </a:rPr>
                        <a:t>Target Hub</a:t>
                      </a:r>
                      <a:endParaRPr lang="en-US" sz="1600" dirty="0">
                        <a:solidFill>
                          <a:srgbClr val="1F1F1F"/>
                        </a:solidFill>
                        <a:effectLst/>
                        <a:latin typeface="Google Sans Text"/>
                      </a:endParaRPr>
                    </a:p>
                  </a:txBody>
                  <a:tcPr marL="100183" marR="100183" marT="66788" marB="66788" anchor="ctr">
                    <a:solidFill>
                      <a:schemeClr val="accent1">
                        <a:lumMod val="20000"/>
                        <a:lumOff val="80000"/>
                      </a:schemeClr>
                    </a:solidFill>
                  </a:tcPr>
                </a:tc>
                <a:tc>
                  <a:txBody>
                    <a:bodyPr/>
                    <a:lstStyle/>
                    <a:p>
                      <a:pPr rtl="0">
                        <a:buNone/>
                      </a:pPr>
                      <a:r>
                        <a:rPr lang="en-US" sz="1600" b="1" dirty="0">
                          <a:solidFill>
                            <a:srgbClr val="1F1F1F"/>
                          </a:solidFill>
                          <a:effectLst/>
                        </a:rPr>
                        <a:t>Route Type</a:t>
                      </a:r>
                      <a:endParaRPr lang="en-US" sz="1600" dirty="0">
                        <a:solidFill>
                          <a:srgbClr val="1F1F1F"/>
                        </a:solidFill>
                        <a:effectLst/>
                        <a:latin typeface="Google Sans Text"/>
                      </a:endParaRPr>
                    </a:p>
                  </a:txBody>
                  <a:tcPr marL="100183" marR="100183" marT="66788" marB="66788" anchor="ctr">
                    <a:solidFill>
                      <a:schemeClr val="accent1">
                        <a:lumMod val="20000"/>
                        <a:lumOff val="80000"/>
                      </a:schemeClr>
                    </a:solidFill>
                  </a:tcPr>
                </a:tc>
                <a:extLst>
                  <a:ext uri="{0D108BD9-81ED-4DB2-BD59-A6C34878D82A}">
                    <a16:rowId xmlns:a16="http://schemas.microsoft.com/office/drawing/2014/main" val="3009795474"/>
                  </a:ext>
                </a:extLst>
              </a:tr>
              <a:tr h="374015">
                <a:tc>
                  <a:txBody>
                    <a:bodyPr/>
                    <a:lstStyle/>
                    <a:p>
                      <a:pPr rtl="0">
                        <a:buNone/>
                      </a:pPr>
                      <a:r>
                        <a:rPr lang="en-US" sz="1600" b="1">
                          <a:solidFill>
                            <a:srgbClr val="1F1F1F"/>
                          </a:solidFill>
                          <a:effectLst/>
                        </a:rPr>
                        <a:t>Cairo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Dubai</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dirty="0">
                          <a:solidFill>
                            <a:srgbClr val="1F1F1F"/>
                          </a:solidFill>
                          <a:effectLst/>
                        </a:rPr>
                        <a:t>Air Freight</a:t>
                      </a:r>
                      <a:endParaRPr lang="en-US" sz="1600" dirty="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496207741"/>
                  </a:ext>
                </a:extLst>
              </a:tr>
              <a:tr h="374015">
                <a:tc>
                  <a:txBody>
                    <a:bodyPr/>
                    <a:lstStyle/>
                    <a:p>
                      <a:pPr rtl="0">
                        <a:buNone/>
                      </a:pPr>
                      <a:r>
                        <a:rPr lang="en-US" sz="1600" b="1">
                          <a:solidFill>
                            <a:srgbClr val="1F1F1F"/>
                          </a:solidFill>
                          <a:effectLst/>
                        </a:rPr>
                        <a:t>Cairo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London</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Cargo Flight</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3611242061"/>
                  </a:ext>
                </a:extLst>
              </a:tr>
              <a:tr h="374015">
                <a:tc>
                  <a:txBody>
                    <a:bodyPr/>
                    <a:lstStyle/>
                    <a:p>
                      <a:pPr rtl="0">
                        <a:buNone/>
                      </a:pPr>
                      <a:r>
                        <a:rPr lang="en-US" sz="1600" b="1">
                          <a:solidFill>
                            <a:srgbClr val="1F1F1F"/>
                          </a:solidFill>
                          <a:effectLst/>
                        </a:rPr>
                        <a:t>Cairo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Singapore</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Maritime Route</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98255097"/>
                  </a:ext>
                </a:extLst>
              </a:tr>
              <a:tr h="374015">
                <a:tc>
                  <a:txBody>
                    <a:bodyPr/>
                    <a:lstStyle/>
                    <a:p>
                      <a:pPr rtl="0">
                        <a:buNone/>
                      </a:pPr>
                      <a:r>
                        <a:rPr lang="en-US" sz="1600" b="1">
                          <a:solidFill>
                            <a:srgbClr val="1F1F1F"/>
                          </a:solidFill>
                          <a:effectLst/>
                        </a:rPr>
                        <a:t>Cairo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dirty="0">
                          <a:solidFill>
                            <a:srgbClr val="1F1F1F"/>
                          </a:solidFill>
                          <a:effectLst/>
                        </a:rPr>
                        <a:t>Shanghai</a:t>
                      </a:r>
                      <a:endParaRPr lang="en-US" sz="1600" dirty="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Rail Link</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811216284"/>
                  </a:ext>
                </a:extLst>
              </a:tr>
              <a:tr h="374015">
                <a:tc>
                  <a:txBody>
                    <a:bodyPr/>
                    <a:lstStyle/>
                    <a:p>
                      <a:pPr rtl="0">
                        <a:buNone/>
                      </a:pPr>
                      <a:r>
                        <a:rPr lang="en-US" sz="1600" b="1">
                          <a:solidFill>
                            <a:srgbClr val="1F1F1F"/>
                          </a:solidFill>
                          <a:effectLst/>
                        </a:rPr>
                        <a:t>Cairo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New York</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Transatlantic</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3299533383"/>
                  </a:ext>
                </a:extLst>
              </a:tr>
              <a:tr h="374015">
                <a:tc>
                  <a:txBody>
                    <a:bodyPr/>
                    <a:lstStyle/>
                    <a:p>
                      <a:pPr rtl="0">
                        <a:buNone/>
                      </a:pPr>
                      <a:r>
                        <a:rPr lang="en-US" sz="1600" b="1">
                          <a:solidFill>
                            <a:srgbClr val="1F1F1F"/>
                          </a:solidFill>
                          <a:effectLst/>
                        </a:rPr>
                        <a:t>Dubai</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dirty="0">
                          <a:solidFill>
                            <a:srgbClr val="1F1F1F"/>
                          </a:solidFill>
                          <a:effectLst/>
                        </a:rPr>
                        <a:t>Shanghai</a:t>
                      </a:r>
                      <a:endParaRPr lang="en-US" sz="1600" dirty="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Shipping Lane</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3826336518"/>
                  </a:ext>
                </a:extLst>
              </a:tr>
              <a:tr h="374015">
                <a:tc>
                  <a:txBody>
                    <a:bodyPr/>
                    <a:lstStyle/>
                    <a:p>
                      <a:pPr rtl="0">
                        <a:buNone/>
                      </a:pPr>
                      <a:r>
                        <a:rPr lang="en-US" sz="1600" b="1">
                          <a:solidFill>
                            <a:srgbClr val="1F1F1F"/>
                          </a:solidFill>
                          <a:effectLst/>
                        </a:rPr>
                        <a:t>Singapore</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Tokyo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Regional Rail</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312863348"/>
                  </a:ext>
                </a:extLst>
              </a:tr>
              <a:tr h="374015">
                <a:tc>
                  <a:txBody>
                    <a:bodyPr/>
                    <a:lstStyle/>
                    <a:p>
                      <a:pPr rtl="0">
                        <a:buNone/>
                      </a:pPr>
                      <a:r>
                        <a:rPr lang="en-US" sz="1600" b="1">
                          <a:solidFill>
                            <a:srgbClr val="1F1F1F"/>
                          </a:solidFill>
                          <a:effectLst/>
                        </a:rPr>
                        <a:t>Tokyo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Shanghai</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Regional Rail</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2640182856"/>
                  </a:ext>
                </a:extLst>
              </a:tr>
              <a:tr h="374015">
                <a:tc>
                  <a:txBody>
                    <a:bodyPr/>
                    <a:lstStyle/>
                    <a:p>
                      <a:pPr rtl="0">
                        <a:buNone/>
                      </a:pPr>
                      <a:r>
                        <a:rPr lang="en-US" sz="1600" b="1">
                          <a:solidFill>
                            <a:srgbClr val="1F1F1F"/>
                          </a:solidFill>
                          <a:effectLst/>
                        </a:rPr>
                        <a:t>London</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New York</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dirty="0">
                          <a:solidFill>
                            <a:srgbClr val="1F1F1F"/>
                          </a:solidFill>
                          <a:effectLst/>
                        </a:rPr>
                        <a:t>Flight Route</a:t>
                      </a:r>
                      <a:endParaRPr lang="en-US" sz="1600" dirty="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53308844"/>
                  </a:ext>
                </a:extLst>
              </a:tr>
            </a:tbl>
          </a:graphicData>
        </a:graphic>
      </p:graphicFrame>
    </p:spTree>
    <p:extLst>
      <p:ext uri="{BB962C8B-B14F-4D97-AF65-F5344CB8AC3E}">
        <p14:creationId xmlns:p14="http://schemas.microsoft.com/office/powerpoint/2010/main" val="488920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7D8F5-F536-60F8-3D15-323938374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9AD41-4F27-EFA1-4319-7230D5A817C9}"/>
              </a:ext>
            </a:extLst>
          </p:cNvPr>
          <p:cNvSpPr>
            <a:spLocks noGrp="1"/>
          </p:cNvSpPr>
          <p:nvPr>
            <p:ph type="title"/>
          </p:nvPr>
        </p:nvSpPr>
        <p:spPr>
          <a:xfrm>
            <a:off x="704088" y="803186"/>
            <a:ext cx="5239272" cy="1621147"/>
          </a:xfrm>
        </p:spPr>
        <p:txBody>
          <a:bodyPr>
            <a:normAutofit/>
          </a:bodyPr>
          <a:lstStyle/>
          <a:p>
            <a:r>
              <a:rPr lang="en-US" dirty="0"/>
              <a:t>Practical Exercise 1: Network chart</a:t>
            </a:r>
            <a:endParaRPr lang="en-EG" dirty="0"/>
          </a:p>
        </p:txBody>
      </p:sp>
      <p:sp>
        <p:nvSpPr>
          <p:cNvPr id="3" name="Content Placeholder 2">
            <a:extLst>
              <a:ext uri="{FF2B5EF4-FFF2-40B4-BE49-F238E27FC236}">
                <a16:creationId xmlns:a16="http://schemas.microsoft.com/office/drawing/2014/main" id="{96BEEC13-FAB5-6A4F-6667-60C0AF3D9E6E}"/>
              </a:ext>
            </a:extLst>
          </p:cNvPr>
          <p:cNvSpPr>
            <a:spLocks noGrp="1"/>
          </p:cNvSpPr>
          <p:nvPr>
            <p:ph idx="1"/>
          </p:nvPr>
        </p:nvSpPr>
        <p:spPr>
          <a:xfrm>
            <a:off x="6657559" y="914399"/>
            <a:ext cx="4738255" cy="5248657"/>
          </a:xfrm>
        </p:spPr>
        <p:txBody>
          <a:bodyPr>
            <a:normAutofit/>
          </a:bodyPr>
          <a:lstStyle/>
          <a:p>
            <a:pPr marL="0" indent="0">
              <a:buNone/>
            </a:pPr>
            <a:r>
              <a:rPr lang="en-US" b="1" dirty="0"/>
              <a:t>3. The Audience Question</a:t>
            </a:r>
          </a:p>
          <a:p>
            <a:pPr marL="0" indent="0" algn="just">
              <a:buNone/>
            </a:pPr>
            <a:r>
              <a:rPr lang="en-US" dirty="0"/>
              <a:t>”Based on the </a:t>
            </a:r>
            <a:r>
              <a:rPr lang="en-US" b="1" dirty="0"/>
              <a:t>Connectivity</a:t>
            </a:r>
            <a:r>
              <a:rPr lang="en-US" dirty="0"/>
              <a:t> between hubs, what is the shortest </a:t>
            </a:r>
            <a:r>
              <a:rPr lang="en-US" b="1" dirty="0"/>
              <a:t>Path</a:t>
            </a:r>
            <a:r>
              <a:rPr lang="en-US" dirty="0"/>
              <a:t> to move goods from Shanghai to New York?"</a:t>
            </a:r>
          </a:p>
          <a:p>
            <a:pPr marL="0" indent="0">
              <a:buNone/>
            </a:pPr>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5" name="Table 4">
            <a:extLst>
              <a:ext uri="{FF2B5EF4-FFF2-40B4-BE49-F238E27FC236}">
                <a16:creationId xmlns:a16="http://schemas.microsoft.com/office/drawing/2014/main" id="{549AB697-4A06-36E5-1163-A6842C5C333B}"/>
              </a:ext>
            </a:extLst>
          </p:cNvPr>
          <p:cNvGraphicFramePr>
            <a:graphicFrameLocks noGrp="1"/>
          </p:cNvGraphicFramePr>
          <p:nvPr>
            <p:extLst>
              <p:ext uri="{D42A27DB-BD31-4B8C-83A1-F6EECF244321}">
                <p14:modId xmlns:p14="http://schemas.microsoft.com/office/powerpoint/2010/main" val="1286289739"/>
              </p:ext>
            </p:extLst>
          </p:nvPr>
        </p:nvGraphicFramePr>
        <p:xfrm>
          <a:off x="856728" y="2255184"/>
          <a:ext cx="5239272" cy="3774160"/>
        </p:xfrm>
        <a:graphic>
          <a:graphicData uri="http://schemas.openxmlformats.org/drawingml/2006/table">
            <a:tbl>
              <a:tblPr>
                <a:tableStyleId>{5940675A-B579-460E-94D1-54222C63F5DA}</a:tableStyleId>
              </a:tblPr>
              <a:tblGrid>
                <a:gridCol w="1796044">
                  <a:extLst>
                    <a:ext uri="{9D8B030D-6E8A-4147-A177-3AD203B41FA5}">
                      <a16:colId xmlns:a16="http://schemas.microsoft.com/office/drawing/2014/main" val="10669382"/>
                    </a:ext>
                  </a:extLst>
                </a:gridCol>
                <a:gridCol w="1706641">
                  <a:extLst>
                    <a:ext uri="{9D8B030D-6E8A-4147-A177-3AD203B41FA5}">
                      <a16:colId xmlns:a16="http://schemas.microsoft.com/office/drawing/2014/main" val="2722122491"/>
                    </a:ext>
                  </a:extLst>
                </a:gridCol>
                <a:gridCol w="1736587">
                  <a:extLst>
                    <a:ext uri="{9D8B030D-6E8A-4147-A177-3AD203B41FA5}">
                      <a16:colId xmlns:a16="http://schemas.microsoft.com/office/drawing/2014/main" val="3646970219"/>
                    </a:ext>
                  </a:extLst>
                </a:gridCol>
              </a:tblGrid>
              <a:tr h="374015">
                <a:tc>
                  <a:txBody>
                    <a:bodyPr/>
                    <a:lstStyle/>
                    <a:p>
                      <a:pPr rtl="0">
                        <a:buNone/>
                      </a:pPr>
                      <a:r>
                        <a:rPr lang="en-US" sz="1600" b="1" dirty="0">
                          <a:solidFill>
                            <a:srgbClr val="1F1F1F"/>
                          </a:solidFill>
                          <a:effectLst/>
                        </a:rPr>
                        <a:t>Source Hub</a:t>
                      </a:r>
                      <a:endParaRPr lang="en-US" sz="1600" dirty="0">
                        <a:solidFill>
                          <a:srgbClr val="1F1F1F"/>
                        </a:solidFill>
                        <a:effectLst/>
                        <a:latin typeface="Google Sans Text"/>
                      </a:endParaRPr>
                    </a:p>
                  </a:txBody>
                  <a:tcPr marL="100183" marR="100183" marT="66788" marB="66788" anchor="ctr">
                    <a:solidFill>
                      <a:schemeClr val="accent1">
                        <a:lumMod val="20000"/>
                        <a:lumOff val="80000"/>
                      </a:schemeClr>
                    </a:solidFill>
                  </a:tcPr>
                </a:tc>
                <a:tc>
                  <a:txBody>
                    <a:bodyPr/>
                    <a:lstStyle/>
                    <a:p>
                      <a:pPr rtl="0">
                        <a:buNone/>
                      </a:pPr>
                      <a:r>
                        <a:rPr lang="en-US" sz="1600" b="1" dirty="0">
                          <a:solidFill>
                            <a:srgbClr val="1F1F1F"/>
                          </a:solidFill>
                          <a:effectLst/>
                        </a:rPr>
                        <a:t>Target Hub</a:t>
                      </a:r>
                      <a:endParaRPr lang="en-US" sz="1600" dirty="0">
                        <a:solidFill>
                          <a:srgbClr val="1F1F1F"/>
                        </a:solidFill>
                        <a:effectLst/>
                        <a:latin typeface="Google Sans Text"/>
                      </a:endParaRPr>
                    </a:p>
                  </a:txBody>
                  <a:tcPr marL="100183" marR="100183" marT="66788" marB="66788" anchor="ctr">
                    <a:solidFill>
                      <a:schemeClr val="accent1">
                        <a:lumMod val="20000"/>
                        <a:lumOff val="80000"/>
                      </a:schemeClr>
                    </a:solidFill>
                  </a:tcPr>
                </a:tc>
                <a:tc>
                  <a:txBody>
                    <a:bodyPr/>
                    <a:lstStyle/>
                    <a:p>
                      <a:pPr rtl="0">
                        <a:buNone/>
                      </a:pPr>
                      <a:r>
                        <a:rPr lang="en-US" sz="1600" b="1" dirty="0">
                          <a:solidFill>
                            <a:srgbClr val="1F1F1F"/>
                          </a:solidFill>
                          <a:effectLst/>
                        </a:rPr>
                        <a:t>Route Type</a:t>
                      </a:r>
                      <a:endParaRPr lang="en-US" sz="1600" dirty="0">
                        <a:solidFill>
                          <a:srgbClr val="1F1F1F"/>
                        </a:solidFill>
                        <a:effectLst/>
                        <a:latin typeface="Google Sans Text"/>
                      </a:endParaRPr>
                    </a:p>
                  </a:txBody>
                  <a:tcPr marL="100183" marR="100183" marT="66788" marB="66788" anchor="ctr">
                    <a:solidFill>
                      <a:schemeClr val="accent1">
                        <a:lumMod val="20000"/>
                        <a:lumOff val="80000"/>
                      </a:schemeClr>
                    </a:solidFill>
                  </a:tcPr>
                </a:tc>
                <a:extLst>
                  <a:ext uri="{0D108BD9-81ED-4DB2-BD59-A6C34878D82A}">
                    <a16:rowId xmlns:a16="http://schemas.microsoft.com/office/drawing/2014/main" val="3009795474"/>
                  </a:ext>
                </a:extLst>
              </a:tr>
              <a:tr h="374015">
                <a:tc>
                  <a:txBody>
                    <a:bodyPr/>
                    <a:lstStyle/>
                    <a:p>
                      <a:pPr rtl="0">
                        <a:buNone/>
                      </a:pPr>
                      <a:r>
                        <a:rPr lang="en-US" sz="1600" b="1">
                          <a:solidFill>
                            <a:srgbClr val="1F1F1F"/>
                          </a:solidFill>
                          <a:effectLst/>
                        </a:rPr>
                        <a:t>Cairo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Dubai</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dirty="0">
                          <a:solidFill>
                            <a:srgbClr val="1F1F1F"/>
                          </a:solidFill>
                          <a:effectLst/>
                        </a:rPr>
                        <a:t>Air Freight</a:t>
                      </a:r>
                      <a:endParaRPr lang="en-US" sz="1600" dirty="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496207741"/>
                  </a:ext>
                </a:extLst>
              </a:tr>
              <a:tr h="374015">
                <a:tc>
                  <a:txBody>
                    <a:bodyPr/>
                    <a:lstStyle/>
                    <a:p>
                      <a:pPr rtl="0">
                        <a:buNone/>
                      </a:pPr>
                      <a:r>
                        <a:rPr lang="en-US" sz="1600" b="1">
                          <a:solidFill>
                            <a:srgbClr val="1F1F1F"/>
                          </a:solidFill>
                          <a:effectLst/>
                        </a:rPr>
                        <a:t>Cairo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London</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Cargo Flight</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3611242061"/>
                  </a:ext>
                </a:extLst>
              </a:tr>
              <a:tr h="374015">
                <a:tc>
                  <a:txBody>
                    <a:bodyPr/>
                    <a:lstStyle/>
                    <a:p>
                      <a:pPr rtl="0">
                        <a:buNone/>
                      </a:pPr>
                      <a:r>
                        <a:rPr lang="en-US" sz="1600" b="1">
                          <a:solidFill>
                            <a:srgbClr val="1F1F1F"/>
                          </a:solidFill>
                          <a:effectLst/>
                        </a:rPr>
                        <a:t>Cairo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Singapore</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Maritime Route</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98255097"/>
                  </a:ext>
                </a:extLst>
              </a:tr>
              <a:tr h="374015">
                <a:tc>
                  <a:txBody>
                    <a:bodyPr/>
                    <a:lstStyle/>
                    <a:p>
                      <a:pPr rtl="0">
                        <a:buNone/>
                      </a:pPr>
                      <a:r>
                        <a:rPr lang="en-US" sz="1600" b="1">
                          <a:solidFill>
                            <a:srgbClr val="1F1F1F"/>
                          </a:solidFill>
                          <a:effectLst/>
                        </a:rPr>
                        <a:t>Cairo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dirty="0">
                          <a:solidFill>
                            <a:srgbClr val="1F1F1F"/>
                          </a:solidFill>
                          <a:effectLst/>
                        </a:rPr>
                        <a:t>Shanghai</a:t>
                      </a:r>
                      <a:endParaRPr lang="en-US" sz="1600" dirty="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Rail Link</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811216284"/>
                  </a:ext>
                </a:extLst>
              </a:tr>
              <a:tr h="374015">
                <a:tc>
                  <a:txBody>
                    <a:bodyPr/>
                    <a:lstStyle/>
                    <a:p>
                      <a:pPr rtl="0">
                        <a:buNone/>
                      </a:pPr>
                      <a:r>
                        <a:rPr lang="en-US" sz="1600" b="1">
                          <a:solidFill>
                            <a:srgbClr val="1F1F1F"/>
                          </a:solidFill>
                          <a:effectLst/>
                        </a:rPr>
                        <a:t>Cairo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New York</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Transatlantic</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3299533383"/>
                  </a:ext>
                </a:extLst>
              </a:tr>
              <a:tr h="374015">
                <a:tc>
                  <a:txBody>
                    <a:bodyPr/>
                    <a:lstStyle/>
                    <a:p>
                      <a:pPr rtl="0">
                        <a:buNone/>
                      </a:pPr>
                      <a:r>
                        <a:rPr lang="en-US" sz="1600" b="1">
                          <a:solidFill>
                            <a:srgbClr val="1F1F1F"/>
                          </a:solidFill>
                          <a:effectLst/>
                        </a:rPr>
                        <a:t>Dubai</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dirty="0">
                          <a:solidFill>
                            <a:srgbClr val="1F1F1F"/>
                          </a:solidFill>
                          <a:effectLst/>
                        </a:rPr>
                        <a:t>Shanghai</a:t>
                      </a:r>
                      <a:endParaRPr lang="en-US" sz="1600" dirty="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Shipping Lane</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3826336518"/>
                  </a:ext>
                </a:extLst>
              </a:tr>
              <a:tr h="374015">
                <a:tc>
                  <a:txBody>
                    <a:bodyPr/>
                    <a:lstStyle/>
                    <a:p>
                      <a:pPr rtl="0">
                        <a:buNone/>
                      </a:pPr>
                      <a:r>
                        <a:rPr lang="en-US" sz="1600" b="1">
                          <a:solidFill>
                            <a:srgbClr val="1F1F1F"/>
                          </a:solidFill>
                          <a:effectLst/>
                        </a:rPr>
                        <a:t>Singapore</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Tokyo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Regional Rail</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312863348"/>
                  </a:ext>
                </a:extLst>
              </a:tr>
              <a:tr h="374015">
                <a:tc>
                  <a:txBody>
                    <a:bodyPr/>
                    <a:lstStyle/>
                    <a:p>
                      <a:pPr rtl="0">
                        <a:buNone/>
                      </a:pPr>
                      <a:r>
                        <a:rPr lang="en-US" sz="1600" b="1">
                          <a:solidFill>
                            <a:srgbClr val="1F1F1F"/>
                          </a:solidFill>
                          <a:effectLst/>
                        </a:rPr>
                        <a:t>Tokyo</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Shanghai</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a:solidFill>
                            <a:srgbClr val="1F1F1F"/>
                          </a:solidFill>
                          <a:effectLst/>
                        </a:rPr>
                        <a:t>Regional Rail</a:t>
                      </a:r>
                      <a:endParaRPr lang="en-US" sz="160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2640182856"/>
                  </a:ext>
                </a:extLst>
              </a:tr>
              <a:tr h="374015">
                <a:tc>
                  <a:txBody>
                    <a:bodyPr/>
                    <a:lstStyle/>
                    <a:p>
                      <a:pPr rtl="0">
                        <a:buNone/>
                      </a:pPr>
                      <a:r>
                        <a:rPr lang="en-US" sz="1600" b="1">
                          <a:solidFill>
                            <a:srgbClr val="1F1F1F"/>
                          </a:solidFill>
                          <a:effectLst/>
                        </a:rPr>
                        <a:t>London</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b="1">
                          <a:solidFill>
                            <a:srgbClr val="1F1F1F"/>
                          </a:solidFill>
                          <a:effectLst/>
                        </a:rPr>
                        <a:t>New York</a:t>
                      </a:r>
                      <a:endParaRPr lang="en-US" sz="1600">
                        <a:solidFill>
                          <a:srgbClr val="1F1F1F"/>
                        </a:solidFill>
                        <a:effectLst/>
                        <a:latin typeface="Google Sans Text"/>
                      </a:endParaRPr>
                    </a:p>
                  </a:txBody>
                  <a:tcPr marL="100183" marR="100183" marT="66788" marB="66788" anchor="ctr"/>
                </a:tc>
                <a:tc>
                  <a:txBody>
                    <a:bodyPr/>
                    <a:lstStyle/>
                    <a:p>
                      <a:pPr rtl="0">
                        <a:buNone/>
                      </a:pPr>
                      <a:r>
                        <a:rPr lang="en-US" sz="1600" dirty="0">
                          <a:solidFill>
                            <a:srgbClr val="1F1F1F"/>
                          </a:solidFill>
                          <a:effectLst/>
                        </a:rPr>
                        <a:t>Flight Route</a:t>
                      </a:r>
                      <a:endParaRPr lang="en-US" sz="1600" dirty="0">
                        <a:solidFill>
                          <a:srgbClr val="1F1F1F"/>
                        </a:solidFill>
                        <a:effectLst/>
                        <a:latin typeface="Google Sans Text"/>
                      </a:endParaRPr>
                    </a:p>
                  </a:txBody>
                  <a:tcPr marL="100183" marR="100183" marT="66788" marB="66788" anchor="ctr"/>
                </a:tc>
                <a:extLst>
                  <a:ext uri="{0D108BD9-81ED-4DB2-BD59-A6C34878D82A}">
                    <a16:rowId xmlns:a16="http://schemas.microsoft.com/office/drawing/2014/main" val="53308844"/>
                  </a:ext>
                </a:extLst>
              </a:tr>
            </a:tbl>
          </a:graphicData>
        </a:graphic>
      </p:graphicFrame>
    </p:spTree>
    <p:extLst>
      <p:ext uri="{BB962C8B-B14F-4D97-AF65-F5344CB8AC3E}">
        <p14:creationId xmlns:p14="http://schemas.microsoft.com/office/powerpoint/2010/main" val="3557894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20CEAC-B604-592A-A336-6C0127B3AC91}"/>
            </a:ext>
          </a:extLst>
        </p:cNvPr>
        <p:cNvGrpSpPr/>
        <p:nvPr/>
      </p:nvGrpSpPr>
      <p:grpSpPr>
        <a:xfrm>
          <a:off x="0" y="0"/>
          <a:ext cx="0" cy="0"/>
          <a:chOff x="0" y="0"/>
          <a:chExt cx="0" cy="0"/>
        </a:xfrm>
      </p:grpSpPr>
      <p:cxnSp>
        <p:nvCxnSpPr>
          <p:cNvPr id="3121" name="Straight Connector 312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3" name="Straight Connector 312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125" name="Rectangle 3124">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F5F736-5C3D-2EBE-89FD-41D022BB8720}"/>
              </a:ext>
            </a:extLst>
          </p:cNvPr>
          <p:cNvSpPr>
            <a:spLocks noGrp="1"/>
          </p:cNvSpPr>
          <p:nvPr>
            <p:ph type="title"/>
          </p:nvPr>
        </p:nvSpPr>
        <p:spPr>
          <a:xfrm>
            <a:off x="685800" y="899024"/>
            <a:ext cx="3076032" cy="3914947"/>
          </a:xfrm>
        </p:spPr>
        <p:txBody>
          <a:bodyPr vert="horz" lIns="91440" tIns="45720" rIns="91440" bIns="45720" rtlCol="0" anchor="t">
            <a:normAutofit/>
          </a:bodyPr>
          <a:lstStyle/>
          <a:p>
            <a:r>
              <a:rPr lang="en-US" b="1"/>
              <a:t>Answers 1:</a:t>
            </a:r>
            <a:r>
              <a:rPr lang="en-US"/>
              <a:t> network chart</a:t>
            </a:r>
          </a:p>
        </p:txBody>
      </p:sp>
      <p:cxnSp>
        <p:nvCxnSpPr>
          <p:cNvPr id="3127" name="Straight Connector 312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3074" name="Picture 2" descr="A diagram of a network&#10;&#10;AI-generated content may be incorrect.">
            <a:extLst>
              <a:ext uri="{FF2B5EF4-FFF2-40B4-BE49-F238E27FC236}">
                <a16:creationId xmlns:a16="http://schemas.microsoft.com/office/drawing/2014/main" id="{6E3AAA33-377B-C290-224C-B3C77BC40D2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662197" y="459000"/>
            <a:ext cx="8336837" cy="59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7944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36BDE-6F1E-A909-06F1-5688C2585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A593E-AF5A-F962-E759-7E83E0FEC06E}"/>
              </a:ext>
            </a:extLst>
          </p:cNvPr>
          <p:cNvSpPr>
            <a:spLocks noGrp="1"/>
          </p:cNvSpPr>
          <p:nvPr>
            <p:ph type="title"/>
          </p:nvPr>
        </p:nvSpPr>
        <p:spPr>
          <a:xfrm>
            <a:off x="704088" y="800100"/>
            <a:ext cx="5239272" cy="1340784"/>
          </a:xfrm>
        </p:spPr>
        <p:txBody>
          <a:bodyPr>
            <a:normAutofit/>
          </a:bodyPr>
          <a:lstStyle/>
          <a:p>
            <a:r>
              <a:rPr lang="en-US" dirty="0"/>
              <a:t>Practical Exercise 2: network chart</a:t>
            </a:r>
            <a:endParaRPr lang="en-EG" dirty="0"/>
          </a:p>
        </p:txBody>
      </p:sp>
      <p:sp>
        <p:nvSpPr>
          <p:cNvPr id="3" name="Content Placeholder 2">
            <a:extLst>
              <a:ext uri="{FF2B5EF4-FFF2-40B4-BE49-F238E27FC236}">
                <a16:creationId xmlns:a16="http://schemas.microsoft.com/office/drawing/2014/main" id="{0FFB5109-D2CD-D468-932F-9BAFFB07EA90}"/>
              </a:ext>
            </a:extLst>
          </p:cNvPr>
          <p:cNvSpPr>
            <a:spLocks noGrp="1"/>
          </p:cNvSpPr>
          <p:nvPr>
            <p:ph idx="1"/>
          </p:nvPr>
        </p:nvSpPr>
        <p:spPr>
          <a:xfrm>
            <a:off x="6896100" y="914399"/>
            <a:ext cx="4591812" cy="5248657"/>
          </a:xfrm>
        </p:spPr>
        <p:txBody>
          <a:bodyPr>
            <a:normAutofit/>
          </a:bodyPr>
          <a:lstStyle/>
          <a:p>
            <a:pPr marL="0" indent="0">
              <a:buNone/>
            </a:pPr>
            <a:r>
              <a:rPr lang="en-US" b="1" dirty="0"/>
              <a:t>1. The Task</a:t>
            </a:r>
          </a:p>
          <a:p>
            <a:pPr marL="0" indent="0" algn="just">
              <a:buNone/>
            </a:pPr>
            <a:r>
              <a:rPr lang="en-US" dirty="0"/>
              <a:t>Perform a </a:t>
            </a:r>
            <a:r>
              <a:rPr lang="en-US" b="1" dirty="0"/>
              <a:t>Categorical vs Categorical Multivariate Analysis</a:t>
            </a:r>
            <a:r>
              <a:rPr lang="en-US" dirty="0"/>
              <a:t> to map the connectivity of a Smart Home IoT network.</a:t>
            </a:r>
          </a:p>
          <a:p>
            <a:pPr marL="0" indent="0">
              <a:buNone/>
            </a:pPr>
            <a:endParaRPr lang="en-US" dirty="0"/>
          </a:p>
          <a:p>
            <a:pPr marL="0" indent="0">
              <a:buNone/>
            </a:pPr>
            <a:r>
              <a:rPr lang="en-US" b="1" dirty="0"/>
              <a:t>2. The Dataset</a:t>
            </a:r>
          </a:p>
          <a:p>
            <a:pPr marL="0" indent="0" algn="just">
              <a:buNone/>
            </a:pPr>
            <a:r>
              <a:rPr lang="en-US" dirty="0"/>
              <a:t>The dataset determine the objects infrastructure for the entire ecosystem.</a:t>
            </a:r>
          </a:p>
          <a:p>
            <a:pPr marL="0" indent="0">
              <a:buNone/>
            </a:pPr>
            <a:endParaRPr lang="en-US" dirty="0"/>
          </a:p>
          <a:p>
            <a:endParaRPr lang="en-US" dirty="0"/>
          </a:p>
          <a:p>
            <a:endParaRPr lang="en-EG" dirty="0"/>
          </a:p>
        </p:txBody>
      </p:sp>
      <p:graphicFrame>
        <p:nvGraphicFramePr>
          <p:cNvPr id="5" name="Table 4">
            <a:extLst>
              <a:ext uri="{FF2B5EF4-FFF2-40B4-BE49-F238E27FC236}">
                <a16:creationId xmlns:a16="http://schemas.microsoft.com/office/drawing/2014/main" id="{B87B7F0C-87C7-DC6A-C64F-EB1CD9DDD52C}"/>
              </a:ext>
            </a:extLst>
          </p:cNvPr>
          <p:cNvGraphicFramePr>
            <a:graphicFrameLocks noGrp="1"/>
          </p:cNvGraphicFramePr>
          <p:nvPr>
            <p:extLst>
              <p:ext uri="{D42A27DB-BD31-4B8C-83A1-F6EECF244321}">
                <p14:modId xmlns:p14="http://schemas.microsoft.com/office/powerpoint/2010/main" val="3078843413"/>
              </p:ext>
            </p:extLst>
          </p:nvPr>
        </p:nvGraphicFramePr>
        <p:xfrm>
          <a:off x="704088" y="2155827"/>
          <a:ext cx="5709412" cy="3948294"/>
        </p:xfrm>
        <a:graphic>
          <a:graphicData uri="http://schemas.openxmlformats.org/drawingml/2006/table">
            <a:tbl>
              <a:tblPr>
                <a:tableStyleId>{5940675A-B579-460E-94D1-54222C63F5DA}</a:tableStyleId>
              </a:tblPr>
              <a:tblGrid>
                <a:gridCol w="1968017">
                  <a:extLst>
                    <a:ext uri="{9D8B030D-6E8A-4147-A177-3AD203B41FA5}">
                      <a16:colId xmlns:a16="http://schemas.microsoft.com/office/drawing/2014/main" val="1988481593"/>
                    </a:ext>
                  </a:extLst>
                </a:gridCol>
                <a:gridCol w="1968017">
                  <a:extLst>
                    <a:ext uri="{9D8B030D-6E8A-4147-A177-3AD203B41FA5}">
                      <a16:colId xmlns:a16="http://schemas.microsoft.com/office/drawing/2014/main" val="2991160619"/>
                    </a:ext>
                  </a:extLst>
                </a:gridCol>
                <a:gridCol w="1773378">
                  <a:extLst>
                    <a:ext uri="{9D8B030D-6E8A-4147-A177-3AD203B41FA5}">
                      <a16:colId xmlns:a16="http://schemas.microsoft.com/office/drawing/2014/main" val="4124059632"/>
                    </a:ext>
                  </a:extLst>
                </a:gridCol>
              </a:tblGrid>
              <a:tr h="625660">
                <a:tc>
                  <a:txBody>
                    <a:bodyPr/>
                    <a:lstStyle/>
                    <a:p>
                      <a:pPr rtl="0">
                        <a:buNone/>
                      </a:pPr>
                      <a:r>
                        <a:rPr lang="en-US" sz="1500" b="1" dirty="0">
                          <a:solidFill>
                            <a:srgbClr val="1F1F1F"/>
                          </a:solidFill>
                          <a:effectLst/>
                        </a:rPr>
                        <a:t>Source</a:t>
                      </a:r>
                      <a:endParaRPr lang="en-US" sz="1500" dirty="0">
                        <a:solidFill>
                          <a:srgbClr val="1F1F1F"/>
                        </a:solidFill>
                        <a:effectLst/>
                        <a:latin typeface="Google Sans Text"/>
                      </a:endParaRPr>
                    </a:p>
                  </a:txBody>
                  <a:tcPr marL="73819" marR="92273" marT="123031" marB="123031" anchor="ctr">
                    <a:solidFill>
                      <a:schemeClr val="bg2">
                        <a:lumMod val="90000"/>
                      </a:schemeClr>
                    </a:solidFill>
                  </a:tcPr>
                </a:tc>
                <a:tc>
                  <a:txBody>
                    <a:bodyPr/>
                    <a:lstStyle/>
                    <a:p>
                      <a:pPr rtl="0">
                        <a:buNone/>
                      </a:pPr>
                      <a:r>
                        <a:rPr lang="en-US" sz="1500" b="1" dirty="0">
                          <a:solidFill>
                            <a:srgbClr val="1F1F1F"/>
                          </a:solidFill>
                          <a:effectLst/>
                        </a:rPr>
                        <a:t>Target</a:t>
                      </a:r>
                      <a:endParaRPr lang="en-US" sz="1500" dirty="0">
                        <a:solidFill>
                          <a:srgbClr val="1F1F1F"/>
                        </a:solidFill>
                        <a:effectLst/>
                        <a:latin typeface="Google Sans Text"/>
                      </a:endParaRPr>
                    </a:p>
                  </a:txBody>
                  <a:tcPr marL="73819" marR="92273" marT="123031" marB="123031" anchor="ctr">
                    <a:solidFill>
                      <a:schemeClr val="bg2">
                        <a:lumMod val="90000"/>
                      </a:schemeClr>
                    </a:solidFill>
                  </a:tcPr>
                </a:tc>
                <a:tc>
                  <a:txBody>
                    <a:bodyPr/>
                    <a:lstStyle/>
                    <a:p>
                      <a:pPr rtl="0">
                        <a:buNone/>
                      </a:pPr>
                      <a:r>
                        <a:rPr lang="en-US" sz="1500" b="1" dirty="0">
                          <a:solidFill>
                            <a:srgbClr val="1F1F1F"/>
                          </a:solidFill>
                          <a:effectLst/>
                        </a:rPr>
                        <a:t>Connection Type</a:t>
                      </a:r>
                      <a:endParaRPr lang="en-US" sz="1500" dirty="0">
                        <a:solidFill>
                          <a:srgbClr val="1F1F1F"/>
                        </a:solidFill>
                        <a:effectLst/>
                        <a:latin typeface="Google Sans Text"/>
                      </a:endParaRPr>
                    </a:p>
                  </a:txBody>
                  <a:tcPr marL="73819" marR="73819" marT="123031" marB="123031" anchor="ctr">
                    <a:solidFill>
                      <a:schemeClr val="bg2">
                        <a:lumMod val="90000"/>
                      </a:schemeClr>
                    </a:solidFill>
                  </a:tcPr>
                </a:tc>
                <a:extLst>
                  <a:ext uri="{0D108BD9-81ED-4DB2-BD59-A6C34878D82A}">
                    <a16:rowId xmlns:a16="http://schemas.microsoft.com/office/drawing/2014/main" val="288086652"/>
                  </a:ext>
                </a:extLst>
              </a:tr>
              <a:tr h="453545">
                <a:tc>
                  <a:txBody>
                    <a:bodyPr/>
                    <a:lstStyle/>
                    <a:p>
                      <a:pPr rtl="0">
                        <a:buNone/>
                      </a:pPr>
                      <a:r>
                        <a:rPr lang="en-US" sz="1500" b="1">
                          <a:solidFill>
                            <a:srgbClr val="1F1F1F"/>
                          </a:solidFill>
                          <a:effectLst/>
                        </a:rPr>
                        <a:t>Smart Hub</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a:solidFill>
                            <a:srgbClr val="1F1F1F"/>
                          </a:solidFill>
                          <a:effectLst/>
                        </a:rPr>
                        <a:t>Smart Light</a:t>
                      </a:r>
                      <a:endParaRPr lang="en-US" sz="1500">
                        <a:solidFill>
                          <a:srgbClr val="1F1F1F"/>
                        </a:solidFill>
                        <a:effectLst/>
                        <a:latin typeface="Google Sans Text"/>
                      </a:endParaRPr>
                    </a:p>
                  </a:txBody>
                  <a:tcPr marL="73819" marR="92273" marT="123031" marB="12303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solidFill>
                            <a:srgbClr val="1F1F1F"/>
                          </a:solidFill>
                          <a:effectLst/>
                        </a:rPr>
                        <a:t>Uplink</a:t>
                      </a:r>
                      <a:endParaRPr lang="en-US" sz="1500" dirty="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3903676037"/>
                  </a:ext>
                </a:extLst>
              </a:tr>
              <a:tr h="453545">
                <a:tc>
                  <a:txBody>
                    <a:bodyPr/>
                    <a:lstStyle/>
                    <a:p>
                      <a:pPr rtl="0">
                        <a:buNone/>
                      </a:pPr>
                      <a:r>
                        <a:rPr lang="en-US" sz="1500" b="1">
                          <a:solidFill>
                            <a:srgbClr val="1F1F1F"/>
                          </a:solidFill>
                          <a:effectLst/>
                        </a:rPr>
                        <a:t>Smart Hub</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a:solidFill>
                            <a:srgbClr val="1F1F1F"/>
                          </a:solidFill>
                          <a:effectLst/>
                        </a:rPr>
                        <a:t>Security Cam</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a:solidFill>
                            <a:srgbClr val="1F1F1F"/>
                          </a:solidFill>
                          <a:effectLst/>
                        </a:rPr>
                        <a:t>Wi-Fi</a:t>
                      </a:r>
                      <a:endParaRPr lang="en-US" sz="150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168521929"/>
                  </a:ext>
                </a:extLst>
              </a:tr>
              <a:tr h="453545">
                <a:tc>
                  <a:txBody>
                    <a:bodyPr/>
                    <a:lstStyle/>
                    <a:p>
                      <a:pPr rtl="0">
                        <a:buNone/>
                      </a:pPr>
                      <a:r>
                        <a:rPr lang="en-US" sz="1500" b="1">
                          <a:solidFill>
                            <a:srgbClr val="1F1F1F"/>
                          </a:solidFill>
                          <a:effectLst/>
                        </a:rPr>
                        <a:t>Smart Hub</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a:solidFill>
                            <a:srgbClr val="1F1F1F"/>
                          </a:solidFill>
                          <a:effectLst/>
                        </a:rPr>
                        <a:t>Thermostat</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dirty="0">
                          <a:solidFill>
                            <a:srgbClr val="1F1F1F"/>
                          </a:solidFill>
                          <a:effectLst/>
                        </a:rPr>
                        <a:t>Bluetooth</a:t>
                      </a:r>
                      <a:endParaRPr lang="en-US" sz="1500" dirty="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1666212109"/>
                  </a:ext>
                </a:extLst>
              </a:tr>
              <a:tr h="453545">
                <a:tc>
                  <a:txBody>
                    <a:bodyPr/>
                    <a:lstStyle/>
                    <a:p>
                      <a:pPr rtl="0">
                        <a:buNone/>
                      </a:pPr>
                      <a:r>
                        <a:rPr lang="en-US" sz="1500" b="1">
                          <a:solidFill>
                            <a:srgbClr val="1F1F1F"/>
                          </a:solidFill>
                          <a:effectLst/>
                        </a:rPr>
                        <a:t>Smart Hub</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dirty="0">
                          <a:solidFill>
                            <a:srgbClr val="1F1F1F"/>
                          </a:solidFill>
                          <a:effectLst/>
                        </a:rPr>
                        <a:t>Smart Lock</a:t>
                      </a:r>
                      <a:endParaRPr lang="en-US" sz="1500" dirty="0">
                        <a:solidFill>
                          <a:srgbClr val="1F1F1F"/>
                        </a:solidFill>
                        <a:effectLst/>
                        <a:latin typeface="Google Sans Text"/>
                      </a:endParaRPr>
                    </a:p>
                  </a:txBody>
                  <a:tcPr marL="73819" marR="92273" marT="123031" marB="123031" anchor="ctr"/>
                </a:tc>
                <a:tc>
                  <a:txBody>
                    <a:bodyPr/>
                    <a:lstStyle/>
                    <a:p>
                      <a:pPr rtl="0">
                        <a:buNone/>
                      </a:pPr>
                      <a:r>
                        <a:rPr lang="en-US" sz="1500" dirty="0">
                          <a:solidFill>
                            <a:srgbClr val="1F1F1F"/>
                          </a:solidFill>
                          <a:effectLst/>
                        </a:rPr>
                        <a:t>Z-Wave</a:t>
                      </a:r>
                      <a:endParaRPr lang="en-US" sz="1500" dirty="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237862796"/>
                  </a:ext>
                </a:extLst>
              </a:tr>
              <a:tr h="453545">
                <a:tc>
                  <a:txBody>
                    <a:bodyPr/>
                    <a:lstStyle/>
                    <a:p>
                      <a:pPr rtl="0">
                        <a:buNone/>
                      </a:pPr>
                      <a:r>
                        <a:rPr lang="en-US" sz="1500" b="1">
                          <a:solidFill>
                            <a:srgbClr val="1F1F1F"/>
                          </a:solidFill>
                          <a:effectLst/>
                        </a:rPr>
                        <a:t>Security Cam</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dirty="0">
                          <a:solidFill>
                            <a:srgbClr val="1F1F1F"/>
                          </a:solidFill>
                          <a:effectLst/>
                        </a:rPr>
                        <a:t>Cloud Storage</a:t>
                      </a:r>
                      <a:endParaRPr lang="en-US" sz="1500" dirty="0">
                        <a:solidFill>
                          <a:srgbClr val="1F1F1F"/>
                        </a:solidFill>
                        <a:effectLst/>
                        <a:latin typeface="Google Sans Text"/>
                      </a:endParaRPr>
                    </a:p>
                  </a:txBody>
                  <a:tcPr marL="73819" marR="92273" marT="123031" marB="123031" anchor="ctr"/>
                </a:tc>
                <a:tc>
                  <a:txBody>
                    <a:bodyPr/>
                    <a:lstStyle/>
                    <a:p>
                      <a:pPr rtl="0">
                        <a:buNone/>
                      </a:pPr>
                      <a:r>
                        <a:rPr lang="en-US" sz="1500" dirty="0">
                          <a:solidFill>
                            <a:srgbClr val="1F1F1F"/>
                          </a:solidFill>
                          <a:effectLst/>
                        </a:rPr>
                        <a:t>Uplink</a:t>
                      </a:r>
                      <a:endParaRPr lang="en-US" sz="1500" dirty="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2286827727"/>
                  </a:ext>
                </a:extLst>
              </a:tr>
              <a:tr h="453545">
                <a:tc>
                  <a:txBody>
                    <a:bodyPr/>
                    <a:lstStyle/>
                    <a:p>
                      <a:pPr rtl="0">
                        <a:buNone/>
                      </a:pPr>
                      <a:r>
                        <a:rPr lang="en-US" sz="1500" b="1">
                          <a:solidFill>
                            <a:srgbClr val="1F1F1F"/>
                          </a:solidFill>
                          <a:effectLst/>
                        </a:rPr>
                        <a:t>Smart Light</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a:solidFill>
                            <a:srgbClr val="1F1F1F"/>
                          </a:solidFill>
                          <a:effectLst/>
                        </a:rPr>
                        <a:t>Motion Sensor</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a:solidFill>
                            <a:srgbClr val="1F1F1F"/>
                          </a:solidFill>
                          <a:effectLst/>
                        </a:rPr>
                        <a:t>Mesh</a:t>
                      </a:r>
                      <a:endParaRPr lang="en-US" sz="150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1315575217"/>
                  </a:ext>
                </a:extLst>
              </a:tr>
              <a:tr h="453545">
                <a:tc>
                  <a:txBody>
                    <a:bodyPr/>
                    <a:lstStyle/>
                    <a:p>
                      <a:pPr rtl="0">
                        <a:buNone/>
                      </a:pPr>
                      <a:r>
                        <a:rPr lang="en-US" sz="1500" b="1">
                          <a:solidFill>
                            <a:srgbClr val="1F1F1F"/>
                          </a:solidFill>
                          <a:effectLst/>
                        </a:rPr>
                        <a:t>Motion Sensor</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a:solidFill>
                            <a:srgbClr val="1F1F1F"/>
                          </a:solidFill>
                          <a:effectLst/>
                        </a:rPr>
                        <a:t>Smart Lock</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dirty="0">
                          <a:solidFill>
                            <a:srgbClr val="1F1F1F"/>
                          </a:solidFill>
                          <a:effectLst/>
                        </a:rPr>
                        <a:t>Trigger</a:t>
                      </a:r>
                      <a:endParaRPr lang="en-US" sz="1500" dirty="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182756320"/>
                  </a:ext>
                </a:extLst>
              </a:tr>
            </a:tbl>
          </a:graphicData>
        </a:graphic>
      </p:graphicFrame>
    </p:spTree>
    <p:extLst>
      <p:ext uri="{BB962C8B-B14F-4D97-AF65-F5344CB8AC3E}">
        <p14:creationId xmlns:p14="http://schemas.microsoft.com/office/powerpoint/2010/main" val="33696685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7E512-CD6F-6DEB-F806-148D8055B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CDC3D-4690-BC56-CB15-08F4F28F80B9}"/>
              </a:ext>
            </a:extLst>
          </p:cNvPr>
          <p:cNvSpPr>
            <a:spLocks noGrp="1"/>
          </p:cNvSpPr>
          <p:nvPr>
            <p:ph type="title"/>
          </p:nvPr>
        </p:nvSpPr>
        <p:spPr>
          <a:xfrm>
            <a:off x="704088" y="825499"/>
            <a:ext cx="5239272" cy="1621147"/>
          </a:xfrm>
        </p:spPr>
        <p:txBody>
          <a:bodyPr>
            <a:normAutofit/>
          </a:bodyPr>
          <a:lstStyle/>
          <a:p>
            <a:r>
              <a:rPr lang="en-US" dirty="0"/>
              <a:t>Practical Exercise 2: Network chart</a:t>
            </a:r>
            <a:endParaRPr lang="en-EG" dirty="0"/>
          </a:p>
        </p:txBody>
      </p:sp>
      <p:sp>
        <p:nvSpPr>
          <p:cNvPr id="3" name="Content Placeholder 2">
            <a:extLst>
              <a:ext uri="{FF2B5EF4-FFF2-40B4-BE49-F238E27FC236}">
                <a16:creationId xmlns:a16="http://schemas.microsoft.com/office/drawing/2014/main" id="{D0C2189F-F53D-47A4-EE29-FFD3828E6E1B}"/>
              </a:ext>
            </a:extLst>
          </p:cNvPr>
          <p:cNvSpPr>
            <a:spLocks noGrp="1"/>
          </p:cNvSpPr>
          <p:nvPr>
            <p:ph idx="1"/>
          </p:nvPr>
        </p:nvSpPr>
        <p:spPr>
          <a:xfrm>
            <a:off x="6819901" y="914399"/>
            <a:ext cx="4668012" cy="5248657"/>
          </a:xfrm>
        </p:spPr>
        <p:txBody>
          <a:bodyPr>
            <a:normAutofit/>
          </a:bodyPr>
          <a:lstStyle/>
          <a:p>
            <a:pPr marL="0" indent="0">
              <a:buNone/>
            </a:pPr>
            <a:r>
              <a:rPr lang="en-US" b="1" dirty="0"/>
              <a:t>3. The Audience Question</a:t>
            </a:r>
          </a:p>
          <a:p>
            <a:pPr marL="0" indent="0" algn="just">
              <a:buNone/>
            </a:pPr>
            <a:r>
              <a:rPr lang="en-US" dirty="0"/>
              <a:t>"Based on the distribution of </a:t>
            </a:r>
            <a:r>
              <a:rPr lang="en-US" b="1" dirty="0"/>
              <a:t>Nodes</a:t>
            </a:r>
            <a:r>
              <a:rPr lang="en-US" dirty="0"/>
              <a:t> in this IoT network, which node exhibits the highest </a:t>
            </a:r>
            <a:r>
              <a:rPr lang="en-US" b="1" dirty="0"/>
              <a:t>Centrality</a:t>
            </a:r>
            <a:r>
              <a:rPr lang="en-US" dirty="0"/>
              <a:t>, and how is it visually distinguished from the outer nodes?"</a:t>
            </a:r>
          </a:p>
          <a:p>
            <a:pPr marL="0" indent="0">
              <a:buNone/>
            </a:pPr>
            <a:endParaRPr lang="en-US" dirty="0"/>
          </a:p>
          <a:p>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5" name="Table 4">
            <a:extLst>
              <a:ext uri="{FF2B5EF4-FFF2-40B4-BE49-F238E27FC236}">
                <a16:creationId xmlns:a16="http://schemas.microsoft.com/office/drawing/2014/main" id="{92ED4930-6FA7-70E4-4199-529710F488F3}"/>
              </a:ext>
            </a:extLst>
          </p:cNvPr>
          <p:cNvGraphicFramePr>
            <a:graphicFrameLocks noGrp="1"/>
          </p:cNvGraphicFramePr>
          <p:nvPr>
            <p:extLst>
              <p:ext uri="{D42A27DB-BD31-4B8C-83A1-F6EECF244321}">
                <p14:modId xmlns:p14="http://schemas.microsoft.com/office/powerpoint/2010/main" val="763140386"/>
              </p:ext>
            </p:extLst>
          </p:nvPr>
        </p:nvGraphicFramePr>
        <p:xfrm>
          <a:off x="704088" y="2155827"/>
          <a:ext cx="5709412" cy="3948294"/>
        </p:xfrm>
        <a:graphic>
          <a:graphicData uri="http://schemas.openxmlformats.org/drawingml/2006/table">
            <a:tbl>
              <a:tblPr>
                <a:tableStyleId>{5940675A-B579-460E-94D1-54222C63F5DA}</a:tableStyleId>
              </a:tblPr>
              <a:tblGrid>
                <a:gridCol w="1968017">
                  <a:extLst>
                    <a:ext uri="{9D8B030D-6E8A-4147-A177-3AD203B41FA5}">
                      <a16:colId xmlns:a16="http://schemas.microsoft.com/office/drawing/2014/main" val="1988481593"/>
                    </a:ext>
                  </a:extLst>
                </a:gridCol>
                <a:gridCol w="1968017">
                  <a:extLst>
                    <a:ext uri="{9D8B030D-6E8A-4147-A177-3AD203B41FA5}">
                      <a16:colId xmlns:a16="http://schemas.microsoft.com/office/drawing/2014/main" val="2991160619"/>
                    </a:ext>
                  </a:extLst>
                </a:gridCol>
                <a:gridCol w="1773378">
                  <a:extLst>
                    <a:ext uri="{9D8B030D-6E8A-4147-A177-3AD203B41FA5}">
                      <a16:colId xmlns:a16="http://schemas.microsoft.com/office/drawing/2014/main" val="4124059632"/>
                    </a:ext>
                  </a:extLst>
                </a:gridCol>
              </a:tblGrid>
              <a:tr h="625660">
                <a:tc>
                  <a:txBody>
                    <a:bodyPr/>
                    <a:lstStyle/>
                    <a:p>
                      <a:pPr rtl="0">
                        <a:buNone/>
                      </a:pPr>
                      <a:r>
                        <a:rPr lang="en-US" sz="1500" b="1" dirty="0">
                          <a:solidFill>
                            <a:srgbClr val="1F1F1F"/>
                          </a:solidFill>
                          <a:effectLst/>
                        </a:rPr>
                        <a:t>Source</a:t>
                      </a:r>
                      <a:endParaRPr lang="en-US" sz="1500" dirty="0">
                        <a:solidFill>
                          <a:srgbClr val="1F1F1F"/>
                        </a:solidFill>
                        <a:effectLst/>
                        <a:latin typeface="Google Sans Text"/>
                      </a:endParaRPr>
                    </a:p>
                  </a:txBody>
                  <a:tcPr marL="73819" marR="92273" marT="123031" marB="123031" anchor="ctr">
                    <a:solidFill>
                      <a:schemeClr val="bg2">
                        <a:lumMod val="90000"/>
                      </a:schemeClr>
                    </a:solidFill>
                  </a:tcPr>
                </a:tc>
                <a:tc>
                  <a:txBody>
                    <a:bodyPr/>
                    <a:lstStyle/>
                    <a:p>
                      <a:pPr rtl="0">
                        <a:buNone/>
                      </a:pPr>
                      <a:r>
                        <a:rPr lang="en-US" sz="1500" b="1" dirty="0">
                          <a:solidFill>
                            <a:srgbClr val="1F1F1F"/>
                          </a:solidFill>
                          <a:effectLst/>
                        </a:rPr>
                        <a:t>Target</a:t>
                      </a:r>
                      <a:endParaRPr lang="en-US" sz="1500" dirty="0">
                        <a:solidFill>
                          <a:srgbClr val="1F1F1F"/>
                        </a:solidFill>
                        <a:effectLst/>
                        <a:latin typeface="Google Sans Text"/>
                      </a:endParaRPr>
                    </a:p>
                  </a:txBody>
                  <a:tcPr marL="73819" marR="92273" marT="123031" marB="123031" anchor="ctr">
                    <a:solidFill>
                      <a:schemeClr val="bg2">
                        <a:lumMod val="90000"/>
                      </a:schemeClr>
                    </a:solidFill>
                  </a:tcPr>
                </a:tc>
                <a:tc>
                  <a:txBody>
                    <a:bodyPr/>
                    <a:lstStyle/>
                    <a:p>
                      <a:pPr rtl="0">
                        <a:buNone/>
                      </a:pPr>
                      <a:r>
                        <a:rPr lang="en-US" sz="1500" b="1" dirty="0">
                          <a:solidFill>
                            <a:srgbClr val="1F1F1F"/>
                          </a:solidFill>
                          <a:effectLst/>
                        </a:rPr>
                        <a:t>Connection Type</a:t>
                      </a:r>
                      <a:endParaRPr lang="en-US" sz="1500" dirty="0">
                        <a:solidFill>
                          <a:srgbClr val="1F1F1F"/>
                        </a:solidFill>
                        <a:effectLst/>
                        <a:latin typeface="Google Sans Text"/>
                      </a:endParaRPr>
                    </a:p>
                  </a:txBody>
                  <a:tcPr marL="73819" marR="73819" marT="123031" marB="123031" anchor="ctr">
                    <a:solidFill>
                      <a:schemeClr val="bg2">
                        <a:lumMod val="90000"/>
                      </a:schemeClr>
                    </a:solidFill>
                  </a:tcPr>
                </a:tc>
                <a:extLst>
                  <a:ext uri="{0D108BD9-81ED-4DB2-BD59-A6C34878D82A}">
                    <a16:rowId xmlns:a16="http://schemas.microsoft.com/office/drawing/2014/main" val="288086652"/>
                  </a:ext>
                </a:extLst>
              </a:tr>
              <a:tr h="453545">
                <a:tc>
                  <a:txBody>
                    <a:bodyPr/>
                    <a:lstStyle/>
                    <a:p>
                      <a:pPr rtl="0">
                        <a:buNone/>
                      </a:pPr>
                      <a:r>
                        <a:rPr lang="en-US" sz="1500" b="1">
                          <a:solidFill>
                            <a:srgbClr val="1F1F1F"/>
                          </a:solidFill>
                          <a:effectLst/>
                        </a:rPr>
                        <a:t>Smart Hub</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a:solidFill>
                            <a:srgbClr val="1F1F1F"/>
                          </a:solidFill>
                          <a:effectLst/>
                        </a:rPr>
                        <a:t>Smart Light</a:t>
                      </a:r>
                      <a:endParaRPr lang="en-US" sz="1500">
                        <a:solidFill>
                          <a:srgbClr val="1F1F1F"/>
                        </a:solidFill>
                        <a:effectLst/>
                        <a:latin typeface="Google Sans Text"/>
                      </a:endParaRPr>
                    </a:p>
                  </a:txBody>
                  <a:tcPr marL="73819" marR="92273" marT="123031" marB="12303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solidFill>
                            <a:srgbClr val="1F1F1F"/>
                          </a:solidFill>
                          <a:effectLst/>
                        </a:rPr>
                        <a:t>Uplink</a:t>
                      </a:r>
                      <a:endParaRPr lang="en-US" sz="1500" dirty="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3903676037"/>
                  </a:ext>
                </a:extLst>
              </a:tr>
              <a:tr h="453545">
                <a:tc>
                  <a:txBody>
                    <a:bodyPr/>
                    <a:lstStyle/>
                    <a:p>
                      <a:pPr rtl="0">
                        <a:buNone/>
                      </a:pPr>
                      <a:r>
                        <a:rPr lang="en-US" sz="1500" b="1">
                          <a:solidFill>
                            <a:srgbClr val="1F1F1F"/>
                          </a:solidFill>
                          <a:effectLst/>
                        </a:rPr>
                        <a:t>Smart Hub</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a:solidFill>
                            <a:srgbClr val="1F1F1F"/>
                          </a:solidFill>
                          <a:effectLst/>
                        </a:rPr>
                        <a:t>Security Cam</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a:solidFill>
                            <a:srgbClr val="1F1F1F"/>
                          </a:solidFill>
                          <a:effectLst/>
                        </a:rPr>
                        <a:t>Wi-Fi</a:t>
                      </a:r>
                      <a:endParaRPr lang="en-US" sz="150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168521929"/>
                  </a:ext>
                </a:extLst>
              </a:tr>
              <a:tr h="453545">
                <a:tc>
                  <a:txBody>
                    <a:bodyPr/>
                    <a:lstStyle/>
                    <a:p>
                      <a:pPr rtl="0">
                        <a:buNone/>
                      </a:pPr>
                      <a:r>
                        <a:rPr lang="en-US" sz="1500" b="1">
                          <a:solidFill>
                            <a:srgbClr val="1F1F1F"/>
                          </a:solidFill>
                          <a:effectLst/>
                        </a:rPr>
                        <a:t>Smart Hub</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a:solidFill>
                            <a:srgbClr val="1F1F1F"/>
                          </a:solidFill>
                          <a:effectLst/>
                        </a:rPr>
                        <a:t>Thermostat</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dirty="0">
                          <a:solidFill>
                            <a:srgbClr val="1F1F1F"/>
                          </a:solidFill>
                          <a:effectLst/>
                        </a:rPr>
                        <a:t>Bluetooth</a:t>
                      </a:r>
                      <a:endParaRPr lang="en-US" sz="1500" dirty="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1666212109"/>
                  </a:ext>
                </a:extLst>
              </a:tr>
              <a:tr h="453545">
                <a:tc>
                  <a:txBody>
                    <a:bodyPr/>
                    <a:lstStyle/>
                    <a:p>
                      <a:pPr rtl="0">
                        <a:buNone/>
                      </a:pPr>
                      <a:r>
                        <a:rPr lang="en-US" sz="1500" b="1">
                          <a:solidFill>
                            <a:srgbClr val="1F1F1F"/>
                          </a:solidFill>
                          <a:effectLst/>
                        </a:rPr>
                        <a:t>Smart Hub</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dirty="0">
                          <a:solidFill>
                            <a:srgbClr val="1F1F1F"/>
                          </a:solidFill>
                          <a:effectLst/>
                        </a:rPr>
                        <a:t>Smart Lock</a:t>
                      </a:r>
                      <a:endParaRPr lang="en-US" sz="1500" dirty="0">
                        <a:solidFill>
                          <a:srgbClr val="1F1F1F"/>
                        </a:solidFill>
                        <a:effectLst/>
                        <a:latin typeface="Google Sans Text"/>
                      </a:endParaRPr>
                    </a:p>
                  </a:txBody>
                  <a:tcPr marL="73819" marR="92273" marT="123031" marB="123031" anchor="ctr"/>
                </a:tc>
                <a:tc>
                  <a:txBody>
                    <a:bodyPr/>
                    <a:lstStyle/>
                    <a:p>
                      <a:pPr rtl="0">
                        <a:buNone/>
                      </a:pPr>
                      <a:r>
                        <a:rPr lang="en-US" sz="1500" dirty="0">
                          <a:solidFill>
                            <a:srgbClr val="1F1F1F"/>
                          </a:solidFill>
                          <a:effectLst/>
                        </a:rPr>
                        <a:t>Z-Wave</a:t>
                      </a:r>
                      <a:endParaRPr lang="en-US" sz="1500" dirty="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237862796"/>
                  </a:ext>
                </a:extLst>
              </a:tr>
              <a:tr h="453545">
                <a:tc>
                  <a:txBody>
                    <a:bodyPr/>
                    <a:lstStyle/>
                    <a:p>
                      <a:pPr rtl="0">
                        <a:buNone/>
                      </a:pPr>
                      <a:r>
                        <a:rPr lang="en-US" sz="1500" b="1">
                          <a:solidFill>
                            <a:srgbClr val="1F1F1F"/>
                          </a:solidFill>
                          <a:effectLst/>
                        </a:rPr>
                        <a:t>Security Cam</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dirty="0">
                          <a:solidFill>
                            <a:srgbClr val="1F1F1F"/>
                          </a:solidFill>
                          <a:effectLst/>
                        </a:rPr>
                        <a:t>Cloud Storage</a:t>
                      </a:r>
                      <a:endParaRPr lang="en-US" sz="1500" dirty="0">
                        <a:solidFill>
                          <a:srgbClr val="1F1F1F"/>
                        </a:solidFill>
                        <a:effectLst/>
                        <a:latin typeface="Google Sans Text"/>
                      </a:endParaRPr>
                    </a:p>
                  </a:txBody>
                  <a:tcPr marL="73819" marR="92273" marT="123031" marB="123031" anchor="ctr"/>
                </a:tc>
                <a:tc>
                  <a:txBody>
                    <a:bodyPr/>
                    <a:lstStyle/>
                    <a:p>
                      <a:pPr rtl="0">
                        <a:buNone/>
                      </a:pPr>
                      <a:r>
                        <a:rPr lang="en-US" sz="1500" dirty="0">
                          <a:solidFill>
                            <a:srgbClr val="1F1F1F"/>
                          </a:solidFill>
                          <a:effectLst/>
                        </a:rPr>
                        <a:t>Uplink</a:t>
                      </a:r>
                      <a:endParaRPr lang="en-US" sz="1500" dirty="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2286827727"/>
                  </a:ext>
                </a:extLst>
              </a:tr>
              <a:tr h="453545">
                <a:tc>
                  <a:txBody>
                    <a:bodyPr/>
                    <a:lstStyle/>
                    <a:p>
                      <a:pPr rtl="0">
                        <a:buNone/>
                      </a:pPr>
                      <a:r>
                        <a:rPr lang="en-US" sz="1500" b="1">
                          <a:solidFill>
                            <a:srgbClr val="1F1F1F"/>
                          </a:solidFill>
                          <a:effectLst/>
                        </a:rPr>
                        <a:t>Smart Light</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a:solidFill>
                            <a:srgbClr val="1F1F1F"/>
                          </a:solidFill>
                          <a:effectLst/>
                        </a:rPr>
                        <a:t>Motion Sensor</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a:solidFill>
                            <a:srgbClr val="1F1F1F"/>
                          </a:solidFill>
                          <a:effectLst/>
                        </a:rPr>
                        <a:t>Mesh</a:t>
                      </a:r>
                      <a:endParaRPr lang="en-US" sz="150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1315575217"/>
                  </a:ext>
                </a:extLst>
              </a:tr>
              <a:tr h="453545">
                <a:tc>
                  <a:txBody>
                    <a:bodyPr/>
                    <a:lstStyle/>
                    <a:p>
                      <a:pPr rtl="0">
                        <a:buNone/>
                      </a:pPr>
                      <a:r>
                        <a:rPr lang="en-US" sz="1500" b="1">
                          <a:solidFill>
                            <a:srgbClr val="1F1F1F"/>
                          </a:solidFill>
                          <a:effectLst/>
                        </a:rPr>
                        <a:t>Motion Sensor</a:t>
                      </a:r>
                      <a:endParaRPr lang="en-US" sz="1500">
                        <a:solidFill>
                          <a:srgbClr val="1F1F1F"/>
                        </a:solidFill>
                        <a:effectLst/>
                        <a:latin typeface="Google Sans Text"/>
                      </a:endParaRPr>
                    </a:p>
                  </a:txBody>
                  <a:tcPr marL="73819" marR="92273" marT="123031" marB="123031" anchor="ctr"/>
                </a:tc>
                <a:tc>
                  <a:txBody>
                    <a:bodyPr/>
                    <a:lstStyle/>
                    <a:p>
                      <a:pPr rtl="0">
                        <a:buNone/>
                      </a:pPr>
                      <a:r>
                        <a:rPr lang="en-US" sz="1500" b="1" dirty="0">
                          <a:solidFill>
                            <a:srgbClr val="1F1F1F"/>
                          </a:solidFill>
                          <a:effectLst/>
                        </a:rPr>
                        <a:t>Smart Lock</a:t>
                      </a:r>
                      <a:endParaRPr lang="en-US" sz="1500" dirty="0">
                        <a:solidFill>
                          <a:srgbClr val="1F1F1F"/>
                        </a:solidFill>
                        <a:effectLst/>
                        <a:latin typeface="Google Sans Text"/>
                      </a:endParaRPr>
                    </a:p>
                  </a:txBody>
                  <a:tcPr marL="73819" marR="92273" marT="123031" marB="123031" anchor="ctr"/>
                </a:tc>
                <a:tc>
                  <a:txBody>
                    <a:bodyPr/>
                    <a:lstStyle/>
                    <a:p>
                      <a:pPr rtl="0">
                        <a:buNone/>
                      </a:pPr>
                      <a:r>
                        <a:rPr lang="en-US" sz="1500" dirty="0">
                          <a:solidFill>
                            <a:srgbClr val="1F1F1F"/>
                          </a:solidFill>
                          <a:effectLst/>
                        </a:rPr>
                        <a:t>Trigger</a:t>
                      </a:r>
                      <a:endParaRPr lang="en-US" sz="1500" dirty="0">
                        <a:solidFill>
                          <a:srgbClr val="1F1F1F"/>
                        </a:solidFill>
                        <a:effectLst/>
                        <a:latin typeface="Google Sans Text"/>
                      </a:endParaRPr>
                    </a:p>
                  </a:txBody>
                  <a:tcPr marL="73819" marR="73819" marT="123031" marB="123031" anchor="ctr"/>
                </a:tc>
                <a:extLst>
                  <a:ext uri="{0D108BD9-81ED-4DB2-BD59-A6C34878D82A}">
                    <a16:rowId xmlns:a16="http://schemas.microsoft.com/office/drawing/2014/main" val="182756320"/>
                  </a:ext>
                </a:extLst>
              </a:tr>
            </a:tbl>
          </a:graphicData>
        </a:graphic>
      </p:graphicFrame>
    </p:spTree>
    <p:extLst>
      <p:ext uri="{BB962C8B-B14F-4D97-AF65-F5344CB8AC3E}">
        <p14:creationId xmlns:p14="http://schemas.microsoft.com/office/powerpoint/2010/main" val="41224836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D481C8-EE85-C26D-84B5-0E4CDFB3F8D9}"/>
            </a:ext>
          </a:extLst>
        </p:cNvPr>
        <p:cNvGrpSpPr/>
        <p:nvPr/>
      </p:nvGrpSpPr>
      <p:grpSpPr>
        <a:xfrm>
          <a:off x="0" y="0"/>
          <a:ext cx="0" cy="0"/>
          <a:chOff x="0" y="0"/>
          <a:chExt cx="0" cy="0"/>
        </a:xfrm>
      </p:grpSpPr>
      <p:cxnSp>
        <p:nvCxnSpPr>
          <p:cNvPr id="5127" name="Straight Connector 5126">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29" name="Straight Connector 5128">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5131" name="Rectangle 5130">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167F92-4E48-4D20-3703-6C925FF5F131}"/>
              </a:ext>
            </a:extLst>
          </p:cNvPr>
          <p:cNvSpPr>
            <a:spLocks noGrp="1"/>
          </p:cNvSpPr>
          <p:nvPr>
            <p:ph type="title"/>
          </p:nvPr>
        </p:nvSpPr>
        <p:spPr>
          <a:xfrm>
            <a:off x="685800" y="899024"/>
            <a:ext cx="3076032" cy="3914947"/>
          </a:xfrm>
        </p:spPr>
        <p:txBody>
          <a:bodyPr vert="horz" lIns="91440" tIns="45720" rIns="91440" bIns="45720" rtlCol="0" anchor="t">
            <a:normAutofit/>
          </a:bodyPr>
          <a:lstStyle/>
          <a:p>
            <a:r>
              <a:rPr lang="en-US" b="1"/>
              <a:t>Answers 2:</a:t>
            </a:r>
            <a:r>
              <a:rPr lang="en-US"/>
              <a:t> network chart</a:t>
            </a:r>
          </a:p>
        </p:txBody>
      </p:sp>
      <p:cxnSp>
        <p:nvCxnSpPr>
          <p:cNvPr id="5133" name="Straight Connector 5132">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124" name="Picture 4">
            <a:extLst>
              <a:ext uri="{FF2B5EF4-FFF2-40B4-BE49-F238E27FC236}">
                <a16:creationId xmlns:a16="http://schemas.microsoft.com/office/drawing/2014/main" id="{1A712B01-2C43-C300-CA01-09604313A2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950" y="300033"/>
            <a:ext cx="7524000" cy="6257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26051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33055-229F-B0AC-CF75-31BDC5F39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07D4B-634C-1929-5FD7-B8C11E6DEE3F}"/>
              </a:ext>
            </a:extLst>
          </p:cNvPr>
          <p:cNvSpPr>
            <a:spLocks noGrp="1"/>
          </p:cNvSpPr>
          <p:nvPr>
            <p:ph type="title"/>
          </p:nvPr>
        </p:nvSpPr>
        <p:spPr>
          <a:xfrm>
            <a:off x="704088" y="850900"/>
            <a:ext cx="5239272" cy="1340784"/>
          </a:xfrm>
        </p:spPr>
        <p:txBody>
          <a:bodyPr>
            <a:normAutofit/>
          </a:bodyPr>
          <a:lstStyle/>
          <a:p>
            <a:r>
              <a:rPr lang="en-US" dirty="0"/>
              <a:t>Practical Exercise 3: network chart</a:t>
            </a:r>
            <a:endParaRPr lang="en-EG" dirty="0"/>
          </a:p>
        </p:txBody>
      </p:sp>
      <p:sp>
        <p:nvSpPr>
          <p:cNvPr id="3" name="Content Placeholder 2">
            <a:extLst>
              <a:ext uri="{FF2B5EF4-FFF2-40B4-BE49-F238E27FC236}">
                <a16:creationId xmlns:a16="http://schemas.microsoft.com/office/drawing/2014/main" id="{C52AFE3D-72E7-D6AD-8E4C-AC0DA1984F0C}"/>
              </a:ext>
            </a:extLst>
          </p:cNvPr>
          <p:cNvSpPr>
            <a:spLocks noGrp="1"/>
          </p:cNvSpPr>
          <p:nvPr>
            <p:ph idx="1"/>
          </p:nvPr>
        </p:nvSpPr>
        <p:spPr>
          <a:xfrm>
            <a:off x="7018316" y="914399"/>
            <a:ext cx="4797632" cy="5248657"/>
          </a:xfrm>
        </p:spPr>
        <p:txBody>
          <a:bodyPr>
            <a:normAutofit/>
          </a:bodyPr>
          <a:lstStyle/>
          <a:p>
            <a:pPr marL="0" indent="0">
              <a:buNone/>
            </a:pPr>
            <a:r>
              <a:rPr lang="en-US" b="1" dirty="0"/>
              <a:t>1. The Task</a:t>
            </a:r>
          </a:p>
          <a:p>
            <a:pPr marL="0" indent="0" algn="just">
              <a:buNone/>
            </a:pPr>
            <a:r>
              <a:rPr lang="en-US" dirty="0"/>
              <a:t>Perform a </a:t>
            </a:r>
            <a:r>
              <a:rPr lang="en-US" b="1" dirty="0"/>
              <a:t>Categorical vs Categorical Multivariate Analysis</a:t>
            </a:r>
            <a:r>
              <a:rPr lang="en-US" dirty="0"/>
              <a:t> to map the Sterling family tree.</a:t>
            </a:r>
          </a:p>
          <a:p>
            <a:pPr marL="0" indent="0">
              <a:buNone/>
            </a:pPr>
            <a:endParaRPr lang="en-US" dirty="0"/>
          </a:p>
          <a:p>
            <a:pPr marL="0" indent="0">
              <a:buNone/>
            </a:pPr>
            <a:r>
              <a:rPr lang="en-US" b="1" dirty="0"/>
              <a:t>2. The Dataset</a:t>
            </a:r>
          </a:p>
          <a:p>
            <a:pPr marL="0" indent="0" algn="just">
              <a:buNone/>
            </a:pPr>
            <a:r>
              <a:rPr lang="en-US" dirty="0"/>
              <a:t>The dataset show the </a:t>
            </a:r>
            <a:r>
              <a:rPr lang="en-US" b="1" dirty="0"/>
              <a:t>Generation Line</a:t>
            </a:r>
            <a:r>
              <a:rPr lang="en-US" dirty="0"/>
              <a:t> from the Great-Grandparents down to a specific grandchild to understand the direct line of succession.</a:t>
            </a:r>
          </a:p>
          <a:p>
            <a:pPr marL="0" indent="0">
              <a:buNone/>
            </a:pPr>
            <a:endParaRPr lang="en-US" dirty="0"/>
          </a:p>
          <a:p>
            <a:endParaRPr lang="en-US" dirty="0"/>
          </a:p>
          <a:p>
            <a:endParaRPr lang="en-EG" dirty="0"/>
          </a:p>
        </p:txBody>
      </p:sp>
      <p:graphicFrame>
        <p:nvGraphicFramePr>
          <p:cNvPr id="4" name="Table 3">
            <a:extLst>
              <a:ext uri="{FF2B5EF4-FFF2-40B4-BE49-F238E27FC236}">
                <a16:creationId xmlns:a16="http://schemas.microsoft.com/office/drawing/2014/main" id="{A92E26C8-40F4-3789-D12B-68BF3F063F3E}"/>
              </a:ext>
            </a:extLst>
          </p:cNvPr>
          <p:cNvGraphicFramePr>
            <a:graphicFrameLocks noGrp="1"/>
          </p:cNvGraphicFramePr>
          <p:nvPr>
            <p:extLst>
              <p:ext uri="{D42A27DB-BD31-4B8C-83A1-F6EECF244321}">
                <p14:modId xmlns:p14="http://schemas.microsoft.com/office/powerpoint/2010/main" val="1936494325"/>
              </p:ext>
            </p:extLst>
          </p:nvPr>
        </p:nvGraphicFramePr>
        <p:xfrm>
          <a:off x="376052" y="2201546"/>
          <a:ext cx="6393048" cy="3782058"/>
        </p:xfrm>
        <a:graphic>
          <a:graphicData uri="http://schemas.openxmlformats.org/drawingml/2006/table">
            <a:tbl>
              <a:tblPr>
                <a:tableStyleId>{5940675A-B579-460E-94D1-54222C63F5DA}</a:tableStyleId>
              </a:tblPr>
              <a:tblGrid>
                <a:gridCol w="2203665">
                  <a:extLst>
                    <a:ext uri="{9D8B030D-6E8A-4147-A177-3AD203B41FA5}">
                      <a16:colId xmlns:a16="http://schemas.microsoft.com/office/drawing/2014/main" val="4193661841"/>
                    </a:ext>
                  </a:extLst>
                </a:gridCol>
                <a:gridCol w="2203665">
                  <a:extLst>
                    <a:ext uri="{9D8B030D-6E8A-4147-A177-3AD203B41FA5}">
                      <a16:colId xmlns:a16="http://schemas.microsoft.com/office/drawing/2014/main" val="12398799"/>
                    </a:ext>
                  </a:extLst>
                </a:gridCol>
                <a:gridCol w="1985718">
                  <a:extLst>
                    <a:ext uri="{9D8B030D-6E8A-4147-A177-3AD203B41FA5}">
                      <a16:colId xmlns:a16="http://schemas.microsoft.com/office/drawing/2014/main" val="1841840339"/>
                    </a:ext>
                  </a:extLst>
                </a:gridCol>
              </a:tblGrid>
              <a:tr h="534307">
                <a:tc>
                  <a:txBody>
                    <a:bodyPr/>
                    <a:lstStyle/>
                    <a:p>
                      <a:pPr rtl="0">
                        <a:buNone/>
                      </a:pPr>
                      <a:r>
                        <a:rPr lang="en-US" sz="1700" b="1" dirty="0">
                          <a:solidFill>
                            <a:srgbClr val="1F1F1F"/>
                          </a:solidFill>
                          <a:effectLst/>
                        </a:rPr>
                        <a:t>Source Node</a:t>
                      </a:r>
                      <a:endParaRPr lang="en-US" sz="1700" dirty="0">
                        <a:solidFill>
                          <a:srgbClr val="1F1F1F"/>
                        </a:solidFill>
                        <a:effectLst/>
                        <a:latin typeface="Google Sans Text"/>
                      </a:endParaRPr>
                    </a:p>
                  </a:txBody>
                  <a:tcPr marL="84364" marR="105455" marT="140607" marB="140607" anchor="ctr">
                    <a:solidFill>
                      <a:schemeClr val="bg1">
                        <a:lumMod val="95000"/>
                      </a:schemeClr>
                    </a:solidFill>
                  </a:tcPr>
                </a:tc>
                <a:tc>
                  <a:txBody>
                    <a:bodyPr/>
                    <a:lstStyle/>
                    <a:p>
                      <a:pPr rtl="0">
                        <a:buNone/>
                      </a:pPr>
                      <a:r>
                        <a:rPr lang="en-US" sz="1700" b="1" dirty="0">
                          <a:solidFill>
                            <a:srgbClr val="1F1F1F"/>
                          </a:solidFill>
                          <a:effectLst/>
                        </a:rPr>
                        <a:t>Target Node</a:t>
                      </a:r>
                      <a:endParaRPr lang="en-US" sz="1700" dirty="0">
                        <a:solidFill>
                          <a:srgbClr val="1F1F1F"/>
                        </a:solidFill>
                        <a:effectLst/>
                        <a:latin typeface="Google Sans Text"/>
                      </a:endParaRPr>
                    </a:p>
                  </a:txBody>
                  <a:tcPr marL="84364" marR="105455" marT="140607" marB="140607" anchor="ctr">
                    <a:solidFill>
                      <a:schemeClr val="bg1">
                        <a:lumMod val="95000"/>
                      </a:schemeClr>
                    </a:solidFill>
                  </a:tcPr>
                </a:tc>
                <a:tc>
                  <a:txBody>
                    <a:bodyPr/>
                    <a:lstStyle/>
                    <a:p>
                      <a:pPr rtl="0">
                        <a:buNone/>
                      </a:pPr>
                      <a:r>
                        <a:rPr lang="en-US" sz="1700" b="1" dirty="0">
                          <a:solidFill>
                            <a:srgbClr val="1F1F1F"/>
                          </a:solidFill>
                          <a:effectLst/>
                        </a:rPr>
                        <a:t>Relationship</a:t>
                      </a:r>
                      <a:endParaRPr lang="en-US" sz="1700" dirty="0">
                        <a:solidFill>
                          <a:srgbClr val="1F1F1F"/>
                        </a:solidFill>
                        <a:effectLst/>
                        <a:latin typeface="Google Sans Text"/>
                      </a:endParaRPr>
                    </a:p>
                  </a:txBody>
                  <a:tcPr marL="84364" marR="84364" marT="140607" marB="140607" anchor="ctr">
                    <a:solidFill>
                      <a:schemeClr val="bg1">
                        <a:lumMod val="95000"/>
                      </a:schemeClr>
                    </a:solidFill>
                  </a:tcPr>
                </a:tc>
                <a:extLst>
                  <a:ext uri="{0D108BD9-81ED-4DB2-BD59-A6C34878D82A}">
                    <a16:rowId xmlns:a16="http://schemas.microsoft.com/office/drawing/2014/main" val="77085259"/>
                  </a:ext>
                </a:extLst>
              </a:tr>
              <a:tr h="534307">
                <a:tc>
                  <a:txBody>
                    <a:bodyPr/>
                    <a:lstStyle/>
                    <a:p>
                      <a:pPr rtl="0">
                        <a:buNone/>
                      </a:pPr>
                      <a:r>
                        <a:rPr lang="en-US" sz="1700" b="1" dirty="0">
                          <a:solidFill>
                            <a:srgbClr val="1F1F1F"/>
                          </a:solidFill>
                          <a:effectLst/>
                        </a:rPr>
                        <a:t>Arthur &amp; Rose</a:t>
                      </a:r>
                      <a:endParaRPr lang="en-US" sz="1700" dirty="0">
                        <a:solidFill>
                          <a:srgbClr val="1F1F1F"/>
                        </a:solidFill>
                        <a:effectLst/>
                        <a:latin typeface="Google Sans Text"/>
                      </a:endParaRPr>
                    </a:p>
                  </a:txBody>
                  <a:tcPr marL="84364" marR="105455" marT="140607" marB="140607" anchor="ctr"/>
                </a:tc>
                <a:tc>
                  <a:txBody>
                    <a:bodyPr/>
                    <a:lstStyle/>
                    <a:p>
                      <a:pPr rtl="0">
                        <a:buNone/>
                      </a:pPr>
                      <a:r>
                        <a:rPr lang="en-US" sz="1700" b="1">
                          <a:solidFill>
                            <a:srgbClr val="1F1F1F"/>
                          </a:solidFill>
                          <a:effectLst/>
                        </a:rPr>
                        <a:t>James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a:solidFill>
                            <a:srgbClr val="1F1F1F"/>
                          </a:solidFill>
                          <a:effectLst/>
                        </a:rPr>
                        <a:t>Parent to Son</a:t>
                      </a:r>
                      <a:endParaRPr lang="en-US" sz="1700">
                        <a:solidFill>
                          <a:srgbClr val="1F1F1F"/>
                        </a:solidFill>
                        <a:effectLst/>
                        <a:latin typeface="Google Sans Text"/>
                      </a:endParaRPr>
                    </a:p>
                  </a:txBody>
                  <a:tcPr marL="84364" marR="84364" marT="140607" marB="140607" anchor="ctr"/>
                </a:tc>
                <a:extLst>
                  <a:ext uri="{0D108BD9-81ED-4DB2-BD59-A6C34878D82A}">
                    <a16:rowId xmlns:a16="http://schemas.microsoft.com/office/drawing/2014/main" val="1131970236"/>
                  </a:ext>
                </a:extLst>
              </a:tr>
              <a:tr h="534307">
                <a:tc>
                  <a:txBody>
                    <a:bodyPr/>
                    <a:lstStyle/>
                    <a:p>
                      <a:pPr rtl="0">
                        <a:buNone/>
                      </a:pPr>
                      <a:r>
                        <a:rPr lang="en-US" sz="1700" b="1">
                          <a:solidFill>
                            <a:srgbClr val="1F1F1F"/>
                          </a:solidFill>
                          <a:effectLst/>
                        </a:rPr>
                        <a:t>James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b="1">
                          <a:solidFill>
                            <a:srgbClr val="1F1F1F"/>
                          </a:solidFill>
                          <a:effectLst/>
                        </a:rPr>
                        <a:t>Robert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dirty="0">
                          <a:solidFill>
                            <a:srgbClr val="1F1F1F"/>
                          </a:solidFill>
                          <a:effectLst/>
                        </a:rPr>
                        <a:t>Parent to Son</a:t>
                      </a:r>
                      <a:endParaRPr lang="en-US" sz="1700" dirty="0">
                        <a:solidFill>
                          <a:srgbClr val="1F1F1F"/>
                        </a:solidFill>
                        <a:effectLst/>
                        <a:latin typeface="Google Sans Text"/>
                      </a:endParaRPr>
                    </a:p>
                  </a:txBody>
                  <a:tcPr marL="84364" marR="84364" marT="140607" marB="140607" anchor="ctr"/>
                </a:tc>
                <a:extLst>
                  <a:ext uri="{0D108BD9-81ED-4DB2-BD59-A6C34878D82A}">
                    <a16:rowId xmlns:a16="http://schemas.microsoft.com/office/drawing/2014/main" val="3306932355"/>
                  </a:ext>
                </a:extLst>
              </a:tr>
              <a:tr h="534307">
                <a:tc>
                  <a:txBody>
                    <a:bodyPr/>
                    <a:lstStyle/>
                    <a:p>
                      <a:pPr rtl="0">
                        <a:buNone/>
                      </a:pPr>
                      <a:r>
                        <a:rPr lang="en-US" sz="1700" b="1">
                          <a:solidFill>
                            <a:srgbClr val="1F1F1F"/>
                          </a:solidFill>
                          <a:effectLst/>
                        </a:rPr>
                        <a:t>James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b="1">
                          <a:solidFill>
                            <a:srgbClr val="1F1F1F"/>
                          </a:solidFill>
                          <a:effectLst/>
                        </a:rPr>
                        <a:t>Linda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a:solidFill>
                            <a:srgbClr val="1F1F1F"/>
                          </a:solidFill>
                          <a:effectLst/>
                        </a:rPr>
                        <a:t>Parent to Daughter</a:t>
                      </a:r>
                      <a:endParaRPr lang="en-US" sz="1700">
                        <a:solidFill>
                          <a:srgbClr val="1F1F1F"/>
                        </a:solidFill>
                        <a:effectLst/>
                        <a:latin typeface="Google Sans Text"/>
                      </a:endParaRPr>
                    </a:p>
                  </a:txBody>
                  <a:tcPr marL="84364" marR="84364" marT="140607" marB="140607" anchor="ctr"/>
                </a:tc>
                <a:extLst>
                  <a:ext uri="{0D108BD9-81ED-4DB2-BD59-A6C34878D82A}">
                    <a16:rowId xmlns:a16="http://schemas.microsoft.com/office/drawing/2014/main" val="1206938372"/>
                  </a:ext>
                </a:extLst>
              </a:tr>
              <a:tr h="534307">
                <a:tc>
                  <a:txBody>
                    <a:bodyPr/>
                    <a:lstStyle/>
                    <a:p>
                      <a:pPr rtl="0">
                        <a:buNone/>
                      </a:pPr>
                      <a:r>
                        <a:rPr lang="en-US" sz="1700" b="1">
                          <a:solidFill>
                            <a:srgbClr val="1F1F1F"/>
                          </a:solidFill>
                          <a:effectLst/>
                        </a:rPr>
                        <a:t>Robert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b="1">
                          <a:solidFill>
                            <a:srgbClr val="1F1F1F"/>
                          </a:solidFill>
                          <a:effectLst/>
                        </a:rPr>
                        <a:t>William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a:solidFill>
                            <a:srgbClr val="1F1F1F"/>
                          </a:solidFill>
                          <a:effectLst/>
                        </a:rPr>
                        <a:t>Parent to Son</a:t>
                      </a:r>
                      <a:endParaRPr lang="en-US" sz="1700">
                        <a:solidFill>
                          <a:srgbClr val="1F1F1F"/>
                        </a:solidFill>
                        <a:effectLst/>
                        <a:latin typeface="Google Sans Text"/>
                      </a:endParaRPr>
                    </a:p>
                  </a:txBody>
                  <a:tcPr marL="84364" marR="84364" marT="140607" marB="140607" anchor="ctr"/>
                </a:tc>
                <a:extLst>
                  <a:ext uri="{0D108BD9-81ED-4DB2-BD59-A6C34878D82A}">
                    <a16:rowId xmlns:a16="http://schemas.microsoft.com/office/drawing/2014/main" val="54710561"/>
                  </a:ext>
                </a:extLst>
              </a:tr>
              <a:tr h="534307">
                <a:tc>
                  <a:txBody>
                    <a:bodyPr/>
                    <a:lstStyle/>
                    <a:p>
                      <a:pPr rtl="0">
                        <a:buNone/>
                      </a:pPr>
                      <a:r>
                        <a:rPr lang="en-US" sz="1700" b="1">
                          <a:solidFill>
                            <a:srgbClr val="1F1F1F"/>
                          </a:solidFill>
                          <a:effectLst/>
                        </a:rPr>
                        <a:t>Linda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b="1">
                          <a:solidFill>
                            <a:srgbClr val="1F1F1F"/>
                          </a:solidFill>
                          <a:effectLst/>
                        </a:rPr>
                        <a:t>Chloe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a:solidFill>
                            <a:srgbClr val="1F1F1F"/>
                          </a:solidFill>
                          <a:effectLst/>
                        </a:rPr>
                        <a:t>Parent to Daughter</a:t>
                      </a:r>
                      <a:endParaRPr lang="en-US" sz="1700">
                        <a:solidFill>
                          <a:srgbClr val="1F1F1F"/>
                        </a:solidFill>
                        <a:effectLst/>
                        <a:latin typeface="Google Sans Text"/>
                      </a:endParaRPr>
                    </a:p>
                  </a:txBody>
                  <a:tcPr marL="84364" marR="84364" marT="140607" marB="140607" anchor="ctr"/>
                </a:tc>
                <a:extLst>
                  <a:ext uri="{0D108BD9-81ED-4DB2-BD59-A6C34878D82A}">
                    <a16:rowId xmlns:a16="http://schemas.microsoft.com/office/drawing/2014/main" val="2542043195"/>
                  </a:ext>
                </a:extLst>
              </a:tr>
              <a:tr h="534307">
                <a:tc>
                  <a:txBody>
                    <a:bodyPr/>
                    <a:lstStyle/>
                    <a:p>
                      <a:pPr rtl="0">
                        <a:buNone/>
                      </a:pPr>
                      <a:r>
                        <a:rPr lang="en-US" sz="1700" b="1" dirty="0">
                          <a:solidFill>
                            <a:srgbClr val="1F1F1F"/>
                          </a:solidFill>
                          <a:effectLst/>
                        </a:rPr>
                        <a:t>Linda Sterling</a:t>
                      </a:r>
                      <a:endParaRPr lang="en-US" sz="1700" dirty="0">
                        <a:solidFill>
                          <a:srgbClr val="1F1F1F"/>
                        </a:solidFill>
                        <a:effectLst/>
                        <a:latin typeface="Google Sans Text"/>
                      </a:endParaRPr>
                    </a:p>
                  </a:txBody>
                  <a:tcPr marL="84364" marR="105455" marT="140607" marB="140607" anchor="ctr"/>
                </a:tc>
                <a:tc>
                  <a:txBody>
                    <a:bodyPr/>
                    <a:lstStyle/>
                    <a:p>
                      <a:pPr rtl="0">
                        <a:buNone/>
                      </a:pPr>
                      <a:r>
                        <a:rPr lang="en-US" sz="1700" b="1">
                          <a:solidFill>
                            <a:srgbClr val="1F1F1F"/>
                          </a:solidFill>
                          <a:effectLst/>
                        </a:rPr>
                        <a:t>David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dirty="0">
                          <a:solidFill>
                            <a:srgbClr val="1F1F1F"/>
                          </a:solidFill>
                          <a:effectLst/>
                        </a:rPr>
                        <a:t>Parent to Son</a:t>
                      </a:r>
                      <a:endParaRPr lang="en-US" sz="1700" dirty="0">
                        <a:solidFill>
                          <a:srgbClr val="1F1F1F"/>
                        </a:solidFill>
                        <a:effectLst/>
                        <a:latin typeface="Google Sans Text"/>
                      </a:endParaRPr>
                    </a:p>
                  </a:txBody>
                  <a:tcPr marL="84364" marR="84364" marT="140607" marB="140607" anchor="ctr"/>
                </a:tc>
                <a:extLst>
                  <a:ext uri="{0D108BD9-81ED-4DB2-BD59-A6C34878D82A}">
                    <a16:rowId xmlns:a16="http://schemas.microsoft.com/office/drawing/2014/main" val="3153325288"/>
                  </a:ext>
                </a:extLst>
              </a:tr>
            </a:tbl>
          </a:graphicData>
        </a:graphic>
      </p:graphicFrame>
    </p:spTree>
    <p:extLst>
      <p:ext uri="{BB962C8B-B14F-4D97-AF65-F5344CB8AC3E}">
        <p14:creationId xmlns:p14="http://schemas.microsoft.com/office/powerpoint/2010/main" val="2529366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8AF10-AED6-3194-6E4E-EF3E58BF5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D5B1C-911A-0C52-0D1E-8EB7D1AFC267}"/>
              </a:ext>
            </a:extLst>
          </p:cNvPr>
          <p:cNvSpPr>
            <a:spLocks noGrp="1"/>
          </p:cNvSpPr>
          <p:nvPr>
            <p:ph type="title"/>
          </p:nvPr>
        </p:nvSpPr>
        <p:spPr>
          <a:xfrm>
            <a:off x="704088" y="863599"/>
            <a:ext cx="5239272" cy="1621147"/>
          </a:xfrm>
        </p:spPr>
        <p:txBody>
          <a:bodyPr>
            <a:normAutofit/>
          </a:bodyPr>
          <a:lstStyle/>
          <a:p>
            <a:r>
              <a:rPr lang="en-US" dirty="0"/>
              <a:t>Practical Exercise 3: Network chart</a:t>
            </a:r>
            <a:endParaRPr lang="en-EG" dirty="0"/>
          </a:p>
        </p:txBody>
      </p:sp>
      <p:sp>
        <p:nvSpPr>
          <p:cNvPr id="3" name="Content Placeholder 2">
            <a:extLst>
              <a:ext uri="{FF2B5EF4-FFF2-40B4-BE49-F238E27FC236}">
                <a16:creationId xmlns:a16="http://schemas.microsoft.com/office/drawing/2014/main" id="{1534615C-2B22-CF69-513B-8C7EDDDC03E0}"/>
              </a:ext>
            </a:extLst>
          </p:cNvPr>
          <p:cNvSpPr>
            <a:spLocks noGrp="1"/>
          </p:cNvSpPr>
          <p:nvPr>
            <p:ph idx="1"/>
          </p:nvPr>
        </p:nvSpPr>
        <p:spPr>
          <a:xfrm>
            <a:off x="7077690" y="914399"/>
            <a:ext cx="4738255" cy="5248657"/>
          </a:xfrm>
        </p:spPr>
        <p:txBody>
          <a:bodyPr>
            <a:normAutofit/>
          </a:bodyPr>
          <a:lstStyle/>
          <a:p>
            <a:pPr marL="0" indent="0">
              <a:buNone/>
            </a:pPr>
            <a:r>
              <a:rPr lang="en-US" b="1" dirty="0"/>
              <a:t>3. The Audience Question</a:t>
            </a:r>
          </a:p>
          <a:p>
            <a:pPr marL="0" indent="0" algn="just">
              <a:buNone/>
            </a:pPr>
            <a:r>
              <a:rPr lang="en-US" dirty="0"/>
              <a:t>"Trace the direct </a:t>
            </a:r>
            <a:r>
              <a:rPr lang="en-US" b="1" dirty="0"/>
              <a:t>Path</a:t>
            </a:r>
            <a:r>
              <a:rPr lang="en-US" dirty="0"/>
              <a:t> of succession from the patriarchs </a:t>
            </a:r>
            <a:r>
              <a:rPr lang="en-US" b="1" dirty="0"/>
              <a:t>Arthur &amp; Rose</a:t>
            </a:r>
            <a:r>
              <a:rPr lang="en-US" dirty="0"/>
              <a:t> down to </a:t>
            </a:r>
            <a:r>
              <a:rPr lang="en-US" b="1" dirty="0"/>
              <a:t>Chloe Sterling</a:t>
            </a:r>
            <a:r>
              <a:rPr lang="en-US" dirty="0"/>
              <a:t>. Which nodes are part of this specific lineage, and how does the visual </a:t>
            </a:r>
            <a:r>
              <a:rPr lang="en-US" b="1" dirty="0"/>
              <a:t>hierarchy</a:t>
            </a:r>
            <a:r>
              <a:rPr lang="en-US" dirty="0"/>
              <a:t> distinguish them from the other branches?"</a:t>
            </a:r>
          </a:p>
          <a:p>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4" name="Table 3">
            <a:extLst>
              <a:ext uri="{FF2B5EF4-FFF2-40B4-BE49-F238E27FC236}">
                <a16:creationId xmlns:a16="http://schemas.microsoft.com/office/drawing/2014/main" id="{30477B64-4936-9D73-7853-51810FFB953B}"/>
              </a:ext>
            </a:extLst>
          </p:cNvPr>
          <p:cNvGraphicFramePr>
            <a:graphicFrameLocks noGrp="1"/>
          </p:cNvGraphicFramePr>
          <p:nvPr>
            <p:extLst>
              <p:ext uri="{D42A27DB-BD31-4B8C-83A1-F6EECF244321}">
                <p14:modId xmlns:p14="http://schemas.microsoft.com/office/powerpoint/2010/main" val="3076882875"/>
              </p:ext>
            </p:extLst>
          </p:nvPr>
        </p:nvGraphicFramePr>
        <p:xfrm>
          <a:off x="376052" y="2252346"/>
          <a:ext cx="6393048" cy="3782058"/>
        </p:xfrm>
        <a:graphic>
          <a:graphicData uri="http://schemas.openxmlformats.org/drawingml/2006/table">
            <a:tbl>
              <a:tblPr>
                <a:tableStyleId>{5940675A-B579-460E-94D1-54222C63F5DA}</a:tableStyleId>
              </a:tblPr>
              <a:tblGrid>
                <a:gridCol w="2203665">
                  <a:extLst>
                    <a:ext uri="{9D8B030D-6E8A-4147-A177-3AD203B41FA5}">
                      <a16:colId xmlns:a16="http://schemas.microsoft.com/office/drawing/2014/main" val="4193661841"/>
                    </a:ext>
                  </a:extLst>
                </a:gridCol>
                <a:gridCol w="2203665">
                  <a:extLst>
                    <a:ext uri="{9D8B030D-6E8A-4147-A177-3AD203B41FA5}">
                      <a16:colId xmlns:a16="http://schemas.microsoft.com/office/drawing/2014/main" val="12398799"/>
                    </a:ext>
                  </a:extLst>
                </a:gridCol>
                <a:gridCol w="1985718">
                  <a:extLst>
                    <a:ext uri="{9D8B030D-6E8A-4147-A177-3AD203B41FA5}">
                      <a16:colId xmlns:a16="http://schemas.microsoft.com/office/drawing/2014/main" val="1841840339"/>
                    </a:ext>
                  </a:extLst>
                </a:gridCol>
              </a:tblGrid>
              <a:tr h="534307">
                <a:tc>
                  <a:txBody>
                    <a:bodyPr/>
                    <a:lstStyle/>
                    <a:p>
                      <a:pPr rtl="0">
                        <a:buNone/>
                      </a:pPr>
                      <a:r>
                        <a:rPr lang="en-US" sz="1700" b="1" dirty="0">
                          <a:solidFill>
                            <a:srgbClr val="1F1F1F"/>
                          </a:solidFill>
                          <a:effectLst/>
                        </a:rPr>
                        <a:t>Source Node</a:t>
                      </a:r>
                      <a:endParaRPr lang="en-US" sz="1700" dirty="0">
                        <a:solidFill>
                          <a:srgbClr val="1F1F1F"/>
                        </a:solidFill>
                        <a:effectLst/>
                        <a:latin typeface="Google Sans Text"/>
                      </a:endParaRPr>
                    </a:p>
                  </a:txBody>
                  <a:tcPr marL="84364" marR="105455" marT="140607" marB="140607" anchor="ctr">
                    <a:solidFill>
                      <a:schemeClr val="bg1">
                        <a:lumMod val="95000"/>
                      </a:schemeClr>
                    </a:solidFill>
                  </a:tcPr>
                </a:tc>
                <a:tc>
                  <a:txBody>
                    <a:bodyPr/>
                    <a:lstStyle/>
                    <a:p>
                      <a:pPr rtl="0">
                        <a:buNone/>
                      </a:pPr>
                      <a:r>
                        <a:rPr lang="en-US" sz="1700" b="1" dirty="0">
                          <a:solidFill>
                            <a:srgbClr val="1F1F1F"/>
                          </a:solidFill>
                          <a:effectLst/>
                        </a:rPr>
                        <a:t>Target Node</a:t>
                      </a:r>
                      <a:endParaRPr lang="en-US" sz="1700" dirty="0">
                        <a:solidFill>
                          <a:srgbClr val="1F1F1F"/>
                        </a:solidFill>
                        <a:effectLst/>
                        <a:latin typeface="Google Sans Text"/>
                      </a:endParaRPr>
                    </a:p>
                  </a:txBody>
                  <a:tcPr marL="84364" marR="105455" marT="140607" marB="140607" anchor="ctr">
                    <a:solidFill>
                      <a:schemeClr val="bg1">
                        <a:lumMod val="95000"/>
                      </a:schemeClr>
                    </a:solidFill>
                  </a:tcPr>
                </a:tc>
                <a:tc>
                  <a:txBody>
                    <a:bodyPr/>
                    <a:lstStyle/>
                    <a:p>
                      <a:pPr rtl="0">
                        <a:buNone/>
                      </a:pPr>
                      <a:r>
                        <a:rPr lang="en-US" sz="1700" b="1" dirty="0">
                          <a:solidFill>
                            <a:srgbClr val="1F1F1F"/>
                          </a:solidFill>
                          <a:effectLst/>
                        </a:rPr>
                        <a:t>Relationship</a:t>
                      </a:r>
                      <a:endParaRPr lang="en-US" sz="1700" dirty="0">
                        <a:solidFill>
                          <a:srgbClr val="1F1F1F"/>
                        </a:solidFill>
                        <a:effectLst/>
                        <a:latin typeface="Google Sans Text"/>
                      </a:endParaRPr>
                    </a:p>
                  </a:txBody>
                  <a:tcPr marL="84364" marR="84364" marT="140607" marB="140607" anchor="ctr">
                    <a:solidFill>
                      <a:schemeClr val="bg1">
                        <a:lumMod val="95000"/>
                      </a:schemeClr>
                    </a:solidFill>
                  </a:tcPr>
                </a:tc>
                <a:extLst>
                  <a:ext uri="{0D108BD9-81ED-4DB2-BD59-A6C34878D82A}">
                    <a16:rowId xmlns:a16="http://schemas.microsoft.com/office/drawing/2014/main" val="77085259"/>
                  </a:ext>
                </a:extLst>
              </a:tr>
              <a:tr h="534307">
                <a:tc>
                  <a:txBody>
                    <a:bodyPr/>
                    <a:lstStyle/>
                    <a:p>
                      <a:pPr rtl="0">
                        <a:buNone/>
                      </a:pPr>
                      <a:r>
                        <a:rPr lang="en-US" sz="1700" b="1" dirty="0">
                          <a:solidFill>
                            <a:srgbClr val="1F1F1F"/>
                          </a:solidFill>
                          <a:effectLst/>
                        </a:rPr>
                        <a:t>Arthur &amp; Rose</a:t>
                      </a:r>
                      <a:endParaRPr lang="en-US" sz="1700" dirty="0">
                        <a:solidFill>
                          <a:srgbClr val="1F1F1F"/>
                        </a:solidFill>
                        <a:effectLst/>
                        <a:latin typeface="Google Sans Text"/>
                      </a:endParaRPr>
                    </a:p>
                  </a:txBody>
                  <a:tcPr marL="84364" marR="105455" marT="140607" marB="140607" anchor="ctr"/>
                </a:tc>
                <a:tc>
                  <a:txBody>
                    <a:bodyPr/>
                    <a:lstStyle/>
                    <a:p>
                      <a:pPr rtl="0">
                        <a:buNone/>
                      </a:pPr>
                      <a:r>
                        <a:rPr lang="en-US" sz="1700" b="1">
                          <a:solidFill>
                            <a:srgbClr val="1F1F1F"/>
                          </a:solidFill>
                          <a:effectLst/>
                        </a:rPr>
                        <a:t>James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a:solidFill>
                            <a:srgbClr val="1F1F1F"/>
                          </a:solidFill>
                          <a:effectLst/>
                        </a:rPr>
                        <a:t>Parent to Son</a:t>
                      </a:r>
                      <a:endParaRPr lang="en-US" sz="1700">
                        <a:solidFill>
                          <a:srgbClr val="1F1F1F"/>
                        </a:solidFill>
                        <a:effectLst/>
                        <a:latin typeface="Google Sans Text"/>
                      </a:endParaRPr>
                    </a:p>
                  </a:txBody>
                  <a:tcPr marL="84364" marR="84364" marT="140607" marB="140607" anchor="ctr"/>
                </a:tc>
                <a:extLst>
                  <a:ext uri="{0D108BD9-81ED-4DB2-BD59-A6C34878D82A}">
                    <a16:rowId xmlns:a16="http://schemas.microsoft.com/office/drawing/2014/main" val="1131970236"/>
                  </a:ext>
                </a:extLst>
              </a:tr>
              <a:tr h="534307">
                <a:tc>
                  <a:txBody>
                    <a:bodyPr/>
                    <a:lstStyle/>
                    <a:p>
                      <a:pPr rtl="0">
                        <a:buNone/>
                      </a:pPr>
                      <a:r>
                        <a:rPr lang="en-US" sz="1700" b="1">
                          <a:solidFill>
                            <a:srgbClr val="1F1F1F"/>
                          </a:solidFill>
                          <a:effectLst/>
                        </a:rPr>
                        <a:t>James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b="1">
                          <a:solidFill>
                            <a:srgbClr val="1F1F1F"/>
                          </a:solidFill>
                          <a:effectLst/>
                        </a:rPr>
                        <a:t>Robert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dirty="0">
                          <a:solidFill>
                            <a:srgbClr val="1F1F1F"/>
                          </a:solidFill>
                          <a:effectLst/>
                        </a:rPr>
                        <a:t>Parent to Son</a:t>
                      </a:r>
                      <a:endParaRPr lang="en-US" sz="1700" dirty="0">
                        <a:solidFill>
                          <a:srgbClr val="1F1F1F"/>
                        </a:solidFill>
                        <a:effectLst/>
                        <a:latin typeface="Google Sans Text"/>
                      </a:endParaRPr>
                    </a:p>
                  </a:txBody>
                  <a:tcPr marL="84364" marR="84364" marT="140607" marB="140607" anchor="ctr"/>
                </a:tc>
                <a:extLst>
                  <a:ext uri="{0D108BD9-81ED-4DB2-BD59-A6C34878D82A}">
                    <a16:rowId xmlns:a16="http://schemas.microsoft.com/office/drawing/2014/main" val="3306932355"/>
                  </a:ext>
                </a:extLst>
              </a:tr>
              <a:tr h="534307">
                <a:tc>
                  <a:txBody>
                    <a:bodyPr/>
                    <a:lstStyle/>
                    <a:p>
                      <a:pPr rtl="0">
                        <a:buNone/>
                      </a:pPr>
                      <a:r>
                        <a:rPr lang="en-US" sz="1700" b="1">
                          <a:solidFill>
                            <a:srgbClr val="1F1F1F"/>
                          </a:solidFill>
                          <a:effectLst/>
                        </a:rPr>
                        <a:t>James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b="1" dirty="0">
                          <a:solidFill>
                            <a:srgbClr val="1F1F1F"/>
                          </a:solidFill>
                          <a:effectLst/>
                        </a:rPr>
                        <a:t>Linda Sterling</a:t>
                      </a:r>
                      <a:endParaRPr lang="en-US" sz="1700" dirty="0">
                        <a:solidFill>
                          <a:srgbClr val="1F1F1F"/>
                        </a:solidFill>
                        <a:effectLst/>
                        <a:latin typeface="Google Sans Text"/>
                      </a:endParaRPr>
                    </a:p>
                  </a:txBody>
                  <a:tcPr marL="84364" marR="105455" marT="140607" marB="140607" anchor="ctr"/>
                </a:tc>
                <a:tc>
                  <a:txBody>
                    <a:bodyPr/>
                    <a:lstStyle/>
                    <a:p>
                      <a:pPr rtl="0">
                        <a:buNone/>
                      </a:pPr>
                      <a:r>
                        <a:rPr lang="en-US" sz="1700">
                          <a:solidFill>
                            <a:srgbClr val="1F1F1F"/>
                          </a:solidFill>
                          <a:effectLst/>
                        </a:rPr>
                        <a:t>Parent to Daughter</a:t>
                      </a:r>
                      <a:endParaRPr lang="en-US" sz="1700">
                        <a:solidFill>
                          <a:srgbClr val="1F1F1F"/>
                        </a:solidFill>
                        <a:effectLst/>
                        <a:latin typeface="Google Sans Text"/>
                      </a:endParaRPr>
                    </a:p>
                  </a:txBody>
                  <a:tcPr marL="84364" marR="84364" marT="140607" marB="140607" anchor="ctr"/>
                </a:tc>
                <a:extLst>
                  <a:ext uri="{0D108BD9-81ED-4DB2-BD59-A6C34878D82A}">
                    <a16:rowId xmlns:a16="http://schemas.microsoft.com/office/drawing/2014/main" val="1206938372"/>
                  </a:ext>
                </a:extLst>
              </a:tr>
              <a:tr h="534307">
                <a:tc>
                  <a:txBody>
                    <a:bodyPr/>
                    <a:lstStyle/>
                    <a:p>
                      <a:pPr rtl="0">
                        <a:buNone/>
                      </a:pPr>
                      <a:r>
                        <a:rPr lang="en-US" sz="1700" b="1">
                          <a:solidFill>
                            <a:srgbClr val="1F1F1F"/>
                          </a:solidFill>
                          <a:effectLst/>
                        </a:rPr>
                        <a:t>Robert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b="1">
                          <a:solidFill>
                            <a:srgbClr val="1F1F1F"/>
                          </a:solidFill>
                          <a:effectLst/>
                        </a:rPr>
                        <a:t>William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a:solidFill>
                            <a:srgbClr val="1F1F1F"/>
                          </a:solidFill>
                          <a:effectLst/>
                        </a:rPr>
                        <a:t>Parent to Son</a:t>
                      </a:r>
                      <a:endParaRPr lang="en-US" sz="1700">
                        <a:solidFill>
                          <a:srgbClr val="1F1F1F"/>
                        </a:solidFill>
                        <a:effectLst/>
                        <a:latin typeface="Google Sans Text"/>
                      </a:endParaRPr>
                    </a:p>
                  </a:txBody>
                  <a:tcPr marL="84364" marR="84364" marT="140607" marB="140607" anchor="ctr"/>
                </a:tc>
                <a:extLst>
                  <a:ext uri="{0D108BD9-81ED-4DB2-BD59-A6C34878D82A}">
                    <a16:rowId xmlns:a16="http://schemas.microsoft.com/office/drawing/2014/main" val="54710561"/>
                  </a:ext>
                </a:extLst>
              </a:tr>
              <a:tr h="534307">
                <a:tc>
                  <a:txBody>
                    <a:bodyPr/>
                    <a:lstStyle/>
                    <a:p>
                      <a:pPr rtl="0">
                        <a:buNone/>
                      </a:pPr>
                      <a:r>
                        <a:rPr lang="en-US" sz="1700" b="1">
                          <a:solidFill>
                            <a:srgbClr val="1F1F1F"/>
                          </a:solidFill>
                          <a:effectLst/>
                        </a:rPr>
                        <a:t>Linda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b="1">
                          <a:solidFill>
                            <a:srgbClr val="1F1F1F"/>
                          </a:solidFill>
                          <a:effectLst/>
                        </a:rPr>
                        <a:t>Chloe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a:solidFill>
                            <a:srgbClr val="1F1F1F"/>
                          </a:solidFill>
                          <a:effectLst/>
                        </a:rPr>
                        <a:t>Parent to Daughter</a:t>
                      </a:r>
                      <a:endParaRPr lang="en-US" sz="1700">
                        <a:solidFill>
                          <a:srgbClr val="1F1F1F"/>
                        </a:solidFill>
                        <a:effectLst/>
                        <a:latin typeface="Google Sans Text"/>
                      </a:endParaRPr>
                    </a:p>
                  </a:txBody>
                  <a:tcPr marL="84364" marR="84364" marT="140607" marB="140607" anchor="ctr"/>
                </a:tc>
                <a:extLst>
                  <a:ext uri="{0D108BD9-81ED-4DB2-BD59-A6C34878D82A}">
                    <a16:rowId xmlns:a16="http://schemas.microsoft.com/office/drawing/2014/main" val="2542043195"/>
                  </a:ext>
                </a:extLst>
              </a:tr>
              <a:tr h="534307">
                <a:tc>
                  <a:txBody>
                    <a:bodyPr/>
                    <a:lstStyle/>
                    <a:p>
                      <a:pPr rtl="0">
                        <a:buNone/>
                      </a:pPr>
                      <a:r>
                        <a:rPr lang="en-US" sz="1700" b="1" dirty="0">
                          <a:solidFill>
                            <a:srgbClr val="1F1F1F"/>
                          </a:solidFill>
                          <a:effectLst/>
                        </a:rPr>
                        <a:t>Linda Sterling</a:t>
                      </a:r>
                      <a:endParaRPr lang="en-US" sz="1700" dirty="0">
                        <a:solidFill>
                          <a:srgbClr val="1F1F1F"/>
                        </a:solidFill>
                        <a:effectLst/>
                        <a:latin typeface="Google Sans Text"/>
                      </a:endParaRPr>
                    </a:p>
                  </a:txBody>
                  <a:tcPr marL="84364" marR="105455" marT="140607" marB="140607" anchor="ctr"/>
                </a:tc>
                <a:tc>
                  <a:txBody>
                    <a:bodyPr/>
                    <a:lstStyle/>
                    <a:p>
                      <a:pPr rtl="0">
                        <a:buNone/>
                      </a:pPr>
                      <a:r>
                        <a:rPr lang="en-US" sz="1700" b="1">
                          <a:solidFill>
                            <a:srgbClr val="1F1F1F"/>
                          </a:solidFill>
                          <a:effectLst/>
                        </a:rPr>
                        <a:t>David Sterling</a:t>
                      </a:r>
                      <a:endParaRPr lang="en-US" sz="1700">
                        <a:solidFill>
                          <a:srgbClr val="1F1F1F"/>
                        </a:solidFill>
                        <a:effectLst/>
                        <a:latin typeface="Google Sans Text"/>
                      </a:endParaRPr>
                    </a:p>
                  </a:txBody>
                  <a:tcPr marL="84364" marR="105455" marT="140607" marB="140607" anchor="ctr"/>
                </a:tc>
                <a:tc>
                  <a:txBody>
                    <a:bodyPr/>
                    <a:lstStyle/>
                    <a:p>
                      <a:pPr rtl="0">
                        <a:buNone/>
                      </a:pPr>
                      <a:r>
                        <a:rPr lang="en-US" sz="1700" dirty="0">
                          <a:solidFill>
                            <a:srgbClr val="1F1F1F"/>
                          </a:solidFill>
                          <a:effectLst/>
                        </a:rPr>
                        <a:t>Parent to Son</a:t>
                      </a:r>
                      <a:endParaRPr lang="en-US" sz="1700" dirty="0">
                        <a:solidFill>
                          <a:srgbClr val="1F1F1F"/>
                        </a:solidFill>
                        <a:effectLst/>
                        <a:latin typeface="Google Sans Text"/>
                      </a:endParaRPr>
                    </a:p>
                  </a:txBody>
                  <a:tcPr marL="84364" marR="84364" marT="140607" marB="140607" anchor="ctr"/>
                </a:tc>
                <a:extLst>
                  <a:ext uri="{0D108BD9-81ED-4DB2-BD59-A6C34878D82A}">
                    <a16:rowId xmlns:a16="http://schemas.microsoft.com/office/drawing/2014/main" val="3153325288"/>
                  </a:ext>
                </a:extLst>
              </a:tr>
            </a:tbl>
          </a:graphicData>
        </a:graphic>
      </p:graphicFrame>
    </p:spTree>
    <p:extLst>
      <p:ext uri="{BB962C8B-B14F-4D97-AF65-F5344CB8AC3E}">
        <p14:creationId xmlns:p14="http://schemas.microsoft.com/office/powerpoint/2010/main" val="4951875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772670-1633-4529-A4E9-54830C319212}"/>
            </a:ext>
          </a:extLst>
        </p:cNvPr>
        <p:cNvGrpSpPr/>
        <p:nvPr/>
      </p:nvGrpSpPr>
      <p:grpSpPr>
        <a:xfrm>
          <a:off x="0" y="0"/>
          <a:ext cx="0" cy="0"/>
          <a:chOff x="0" y="0"/>
          <a:chExt cx="0" cy="0"/>
        </a:xfrm>
      </p:grpSpPr>
      <p:cxnSp>
        <p:nvCxnSpPr>
          <p:cNvPr id="8210" name="Straight Connector 820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12" name="Straight Connector 82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8214" name="Rectangle 82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223291-7860-07A5-80F1-B5AAEC98FC56}"/>
              </a:ext>
            </a:extLst>
          </p:cNvPr>
          <p:cNvSpPr>
            <a:spLocks noGrp="1"/>
          </p:cNvSpPr>
          <p:nvPr>
            <p:ph type="title"/>
          </p:nvPr>
        </p:nvSpPr>
        <p:spPr>
          <a:xfrm>
            <a:off x="468703" y="899025"/>
            <a:ext cx="3076032" cy="2250576"/>
          </a:xfrm>
        </p:spPr>
        <p:txBody>
          <a:bodyPr vert="horz" lIns="91440" tIns="45720" rIns="91440" bIns="45720" rtlCol="0" anchor="t">
            <a:normAutofit/>
          </a:bodyPr>
          <a:lstStyle/>
          <a:p>
            <a:r>
              <a:rPr lang="en-US" b="1" dirty="0"/>
              <a:t>Answers 3:</a:t>
            </a:r>
            <a:r>
              <a:rPr lang="en-US" dirty="0"/>
              <a:t> network chart</a:t>
            </a:r>
          </a:p>
        </p:txBody>
      </p:sp>
      <p:cxnSp>
        <p:nvCxnSpPr>
          <p:cNvPr id="8216" name="Straight Connector 821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8196" name="Picture 4" descr="A diagram of a family&#10;&#10;AI-generated content may be incorrect.">
            <a:extLst>
              <a:ext uri="{FF2B5EF4-FFF2-40B4-BE49-F238E27FC236}">
                <a16:creationId xmlns:a16="http://schemas.microsoft.com/office/drawing/2014/main" id="{1B73D4AC-754A-35EE-D7CF-E1A6449C8D4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213338" y="1661025"/>
            <a:ext cx="8807150" cy="493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55963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4652</TotalTime>
  <Words>3211</Words>
  <Application>Microsoft Macintosh PowerPoint</Application>
  <PresentationFormat>Widescreen</PresentationFormat>
  <Paragraphs>679</Paragraphs>
  <Slides>38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Aptos</vt:lpstr>
      <vt:lpstr>Arial</vt:lpstr>
      <vt:lpstr>Calisto MT</vt:lpstr>
      <vt:lpstr>Google Sans Text</vt:lpstr>
      <vt:lpstr>Univers Condensed</vt:lpstr>
      <vt:lpstr>ChronicleVTI</vt:lpstr>
      <vt:lpstr>relationship charts (scatter, bubble, Network)</vt:lpstr>
      <vt:lpstr>Learning outcomes</vt:lpstr>
      <vt:lpstr>Correlation, Arbitrary, and Cardinality</vt:lpstr>
      <vt:lpstr>Overplotting, Jittering, and binning</vt:lpstr>
      <vt:lpstr>PowerPoint Presentation</vt:lpstr>
      <vt:lpstr>PowerPoint Presentation</vt:lpstr>
      <vt:lpstr>PowerPoint Presentation</vt:lpstr>
      <vt:lpstr>PowerPoint Presentation</vt:lpstr>
      <vt:lpstr>PowerPoint Presentation</vt:lpstr>
      <vt:lpstr>PowerPoint Presentation</vt:lpstr>
      <vt:lpstr>The Numerical Family (Quantitative)</vt:lpstr>
      <vt:lpstr>The Categorical Family (Qualitative)</vt:lpstr>
      <vt:lpstr>PowerPoint Presentation</vt:lpstr>
      <vt:lpstr>Scatter vs Bubble vs network</vt:lpstr>
      <vt:lpstr>How to Draw scatter and bubble chart? (our guidelines)</vt:lpstr>
      <vt:lpstr>Practical Exercise 1: scatter plot </vt:lpstr>
      <vt:lpstr>Practical Exercise 1: scatter plot</vt:lpstr>
      <vt:lpstr>Answers 1: scatter plot</vt:lpstr>
      <vt:lpstr>Practical Exercise 2: bubble chart </vt:lpstr>
      <vt:lpstr>Practical Exercise 2: bubble chart</vt:lpstr>
      <vt:lpstr>Answers 2: bubble chart</vt:lpstr>
      <vt:lpstr>Practical Exercise 3: scatter plot </vt:lpstr>
      <vt:lpstr>Practical Exercise 3: scatter plot</vt:lpstr>
      <vt:lpstr>Answers 3: scatter plot</vt:lpstr>
      <vt:lpstr>Network chart</vt:lpstr>
      <vt:lpstr>Network chart</vt:lpstr>
      <vt:lpstr>Network chart layouts</vt:lpstr>
      <vt:lpstr>Network chart</vt:lpstr>
      <vt:lpstr>How to Draw network chart? (our guidelines)</vt:lpstr>
      <vt:lpstr>Practical Exercise 1: network chart </vt:lpstr>
      <vt:lpstr>Practical Exercise 1: Network chart</vt:lpstr>
      <vt:lpstr>Answers 1: network chart</vt:lpstr>
      <vt:lpstr>Practical Exercise 2: network chart</vt:lpstr>
      <vt:lpstr>Practical Exercise 2: Network chart</vt:lpstr>
      <vt:lpstr>Answers 2: network chart</vt:lpstr>
      <vt:lpstr>Practical Exercise 3: network chart</vt:lpstr>
      <vt:lpstr>Practical Exercise 3: Network chart</vt:lpstr>
      <vt:lpstr>Answers 3: network 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haitham ghallab</dc:creator>
  <cp:lastModifiedBy>haitham ghallab</cp:lastModifiedBy>
  <cp:revision>345</cp:revision>
  <dcterms:created xsi:type="dcterms:W3CDTF">2026-02-08T13:07:24Z</dcterms:created>
  <dcterms:modified xsi:type="dcterms:W3CDTF">2026-03-09T06:27:53Z</dcterms:modified>
</cp:coreProperties>
</file>