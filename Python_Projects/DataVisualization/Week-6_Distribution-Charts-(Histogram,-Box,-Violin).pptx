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28"/>
  </p:notesMasterIdLst>
  <p:sldIdLst>
    <p:sldId id="256" r:id="rId2"/>
    <p:sldId id="300" r:id="rId3"/>
    <p:sldId id="344" r:id="rId4"/>
    <p:sldId id="360" r:id="rId5"/>
    <p:sldId id="361" r:id="rId6"/>
    <p:sldId id="362" r:id="rId7"/>
    <p:sldId id="359" r:id="rId8"/>
    <p:sldId id="348" r:id="rId9"/>
    <p:sldId id="353" r:id="rId10"/>
    <p:sldId id="351" r:id="rId11"/>
    <p:sldId id="352" r:id="rId12"/>
    <p:sldId id="354" r:id="rId13"/>
    <p:sldId id="349" r:id="rId14"/>
    <p:sldId id="350" r:id="rId15"/>
    <p:sldId id="345" r:id="rId16"/>
    <p:sldId id="347" r:id="rId17"/>
    <p:sldId id="355" r:id="rId18"/>
    <p:sldId id="356" r:id="rId19"/>
    <p:sldId id="358" r:id="rId20"/>
    <p:sldId id="357" r:id="rId21"/>
    <p:sldId id="346" r:id="rId22"/>
    <p:sldId id="363" r:id="rId23"/>
    <p:sldId id="364" r:id="rId24"/>
    <p:sldId id="341" r:id="rId25"/>
    <p:sldId id="342" r:id="rId26"/>
    <p:sldId id="34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5"/>
    <p:restoredTop sz="94708"/>
  </p:normalViewPr>
  <p:slideViewPr>
    <p:cSldViewPr snapToGrid="0">
      <p:cViewPr varScale="1">
        <p:scale>
          <a:sx n="147" d="100"/>
          <a:sy n="147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FC152-F608-6B4D-A15E-FB048E816187}" type="datetimeFigureOut">
              <a:rPr lang="en-EG" smtClean="0"/>
              <a:t>20/04/2026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CA16-4C66-994B-BEEA-F257DCF78D75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171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3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0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0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7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4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2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5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2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43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2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21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7" r:id="rId6"/>
    <p:sldLayoutId id="2147483692" r:id="rId7"/>
    <p:sldLayoutId id="2147483693" r:id="rId8"/>
    <p:sldLayoutId id="2147483694" r:id="rId9"/>
    <p:sldLayoutId id="2147483696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3D318-CB8A-F900-C1F7-92F91A192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310" y="871759"/>
            <a:ext cx="6134790" cy="1436544"/>
          </a:xfrm>
        </p:spPr>
        <p:txBody>
          <a:bodyPr>
            <a:normAutofit/>
          </a:bodyPr>
          <a:lstStyle/>
          <a:p>
            <a:r>
              <a:rPr lang="en-US" sz="4000" dirty="0"/>
              <a:t>Distribution Charts (Histogram, Box, Violin)</a:t>
            </a:r>
            <a:endParaRPr lang="en-EG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EEBEF-27BE-665A-96F1-62A0FD1D2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EG" dirty="0"/>
              <a:t>Data Visualization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green cubes with lights&#10;&#10;AI-generated content may be incorrect.">
            <a:extLst>
              <a:ext uri="{FF2B5EF4-FFF2-40B4-BE49-F238E27FC236}">
                <a16:creationId xmlns:a16="http://schemas.microsoft.com/office/drawing/2014/main" id="{3BA9F730-B238-9C31-0CA6-EA5188D67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7" r="43440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4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B338-D08B-6066-7F8E-04A9C7EF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89F3-177E-2127-BFC5-0363A240F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920347" cy="37398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1) Concepts Refreshing:</a:t>
            </a:r>
          </a:p>
          <a:p>
            <a:pPr marL="0" indent="0" algn="ctr">
              <a:buNone/>
            </a:pPr>
            <a:r>
              <a:rPr lang="en-US" sz="2400" dirty="0"/>
              <a:t>(Central Tendency, Distribution Statistical Model, Distribution Shapes, Silhouette, Kernel Density Estimator KDE, Interquartile Range IQR)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2) Violin vs Histogram vs Box charts</a:t>
            </a:r>
          </a:p>
          <a:p>
            <a:pPr marL="0" indent="0">
              <a:buNone/>
            </a:pPr>
            <a:endParaRPr lang="en-EG" sz="2800" dirty="0"/>
          </a:p>
          <a:p>
            <a:pPr marL="0" indent="0">
              <a:buNone/>
            </a:pPr>
            <a:r>
              <a:rPr lang="en-EG" sz="2800" dirty="0"/>
              <a:t>3) Exercises</a:t>
            </a:r>
          </a:p>
        </p:txBody>
      </p:sp>
    </p:spTree>
    <p:extLst>
      <p:ext uri="{BB962C8B-B14F-4D97-AF65-F5344CB8AC3E}">
        <p14:creationId xmlns:p14="http://schemas.microsoft.com/office/powerpoint/2010/main" val="18160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6A4A-7E07-5317-49B1-08A2408B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vs D</a:t>
            </a:r>
            <a:r>
              <a:rPr lang="en-EG" dirty="0"/>
              <a:t>istribution charts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C82F74-C9E6-9544-37FD-8A3D9BB241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895703"/>
              </p:ext>
            </p:extLst>
          </p:nvPr>
        </p:nvGraphicFramePr>
        <p:xfrm>
          <a:off x="700088" y="2222500"/>
          <a:ext cx="10691812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3697">
                  <a:extLst>
                    <a:ext uri="{9D8B030D-6E8A-4147-A177-3AD203B41FA5}">
                      <a16:colId xmlns:a16="http://schemas.microsoft.com/office/drawing/2014/main" val="1659615393"/>
                    </a:ext>
                  </a:extLst>
                </a:gridCol>
                <a:gridCol w="7868115">
                  <a:extLst>
                    <a:ext uri="{9D8B030D-6E8A-4147-A177-3AD203B41FA5}">
                      <a16:colId xmlns:a16="http://schemas.microsoft.com/office/drawing/2014/main" val="1120348181"/>
                    </a:ext>
                  </a:extLst>
                </a:gridCol>
              </a:tblGrid>
              <a:tr h="1459106">
                <a:tc>
                  <a:txBody>
                    <a:bodyPr/>
                    <a:lstStyle/>
                    <a:p>
                      <a:r>
                        <a:rPr lang="en-EG" sz="2400" b="1" dirty="0"/>
                        <a:t>Relation Charts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How are data points related (Scatter &amp; Bubble)? And how are nodes connected (Network)?</a:t>
                      </a:r>
                    </a:p>
                    <a:p>
                      <a:endParaRPr lang="en-US" sz="2400" dirty="0"/>
                    </a:p>
                    <a:p>
                      <a:r>
                        <a:rPr lang="en-US" sz="2400" dirty="0"/>
                        <a:t>Focus on </a:t>
                      </a:r>
                      <a:r>
                        <a:rPr lang="en-US" sz="2400" b="1" dirty="0"/>
                        <a:t>Correlation:</a:t>
                      </a:r>
                      <a:r>
                        <a:rPr lang="en-US" sz="2400" dirty="0"/>
                        <a:t> “</a:t>
                      </a:r>
                      <a:r>
                        <a:rPr lang="en-US" sz="24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how two variables move together?”</a:t>
                      </a:r>
                      <a:endParaRPr lang="en-E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155283"/>
                  </a:ext>
                </a:extLst>
              </a:tr>
              <a:tr h="1459106">
                <a:tc>
                  <a:txBody>
                    <a:bodyPr/>
                    <a:lstStyle/>
                    <a:p>
                      <a:r>
                        <a:rPr lang="en-EG" sz="2400" b="1" dirty="0"/>
                        <a:t>Distribution Charts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How are data points spread across a range?</a:t>
                      </a:r>
                    </a:p>
                    <a:p>
                      <a:endParaRPr lang="en-US" sz="2400" dirty="0"/>
                    </a:p>
                    <a:p>
                      <a:r>
                        <a:rPr lang="en-US" sz="2400" dirty="0"/>
                        <a:t>Focus on </a:t>
                      </a:r>
                      <a:r>
                        <a:rPr lang="en-US" sz="2400" b="1" dirty="0"/>
                        <a:t>Shape, Spread, and Center</a:t>
                      </a:r>
                      <a:r>
                        <a:rPr lang="en-US" sz="2400" dirty="0"/>
                        <a:t> of a single variable: </a:t>
                      </a:r>
                      <a:r>
                        <a:rPr lang="en-US" sz="2400" i="1" dirty="0"/>
                        <a:t>“How are the values spread across the range, and where do most of them fall?"</a:t>
                      </a:r>
                      <a:endParaRPr lang="en-E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26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40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F4B39-CD1C-C503-761C-472015747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CE960-AECE-9F00-DCAB-84EF4C52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EG" dirty="0"/>
              <a:t>istribution charts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B1898B-8C26-0790-0C1D-D67088001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1) Central Tendency (The "Where"):</a:t>
            </a:r>
            <a:r>
              <a:rPr lang="en-US" sz="2400" dirty="0"/>
              <a:t> Mean &amp; Median.</a:t>
            </a:r>
          </a:p>
          <a:p>
            <a:pPr marL="0" indent="0">
              <a:buNone/>
            </a:pPr>
            <a:r>
              <a:rPr lang="en-US" sz="2400" b="1" dirty="0"/>
              <a:t>2) Spread (The "How Wide"):</a:t>
            </a:r>
            <a:r>
              <a:rPr lang="en-US" sz="2400" dirty="0"/>
              <a:t> Whiskers &amp; IQR.</a:t>
            </a:r>
          </a:p>
          <a:p>
            <a:pPr marL="0" indent="0">
              <a:buNone/>
            </a:pPr>
            <a:r>
              <a:rPr lang="en-US" sz="2400" b="1" dirty="0"/>
              <a:t>3) Shape (The "Personality"):</a:t>
            </a:r>
            <a:r>
              <a:rPr lang="en-US" sz="2400" dirty="0"/>
              <a:t> Skew-shapes &amp; Modality</a:t>
            </a:r>
            <a:endParaRPr lang="en-EG" sz="2400" dirty="0"/>
          </a:p>
        </p:txBody>
      </p:sp>
    </p:spTree>
    <p:extLst>
      <p:ext uri="{BB962C8B-B14F-4D97-AF65-F5344CB8AC3E}">
        <p14:creationId xmlns:p14="http://schemas.microsoft.com/office/powerpoint/2010/main" val="2154072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8" name="Picture 8">
            <a:extLst>
              <a:ext uri="{FF2B5EF4-FFF2-40B4-BE49-F238E27FC236}">
                <a16:creationId xmlns:a16="http://schemas.microsoft.com/office/drawing/2014/main" id="{FEE4DA04-954A-AD51-4218-C83A83067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88" y="317881"/>
            <a:ext cx="11340000" cy="6222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604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>
            <a:extLst>
              <a:ext uri="{FF2B5EF4-FFF2-40B4-BE49-F238E27FC236}">
                <a16:creationId xmlns:a16="http://schemas.microsoft.com/office/drawing/2014/main" id="{E21B1B60-2B86-EE60-BDCD-30F4F47A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000" y="843161"/>
            <a:ext cx="4032000" cy="517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12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>
            <a:extLst>
              <a:ext uri="{FF2B5EF4-FFF2-40B4-BE49-F238E27FC236}">
                <a16:creationId xmlns:a16="http://schemas.microsoft.com/office/drawing/2014/main" id="{93325BE6-7097-53EA-0D6E-199B94204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00" y="1225738"/>
            <a:ext cx="11232000" cy="440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1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534E-19E5-48EA-C1B1-D3B4DE44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EG" dirty="0"/>
              <a:t>istribution </a:t>
            </a:r>
            <a:r>
              <a:rPr lang="en-US" dirty="0"/>
              <a:t>statistical model</a:t>
            </a:r>
            <a:endParaRPr lang="en-E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4D892-C61B-6A59-315D-F47E1E68E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The mathematical rule or formulas that creates that shape.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EG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914EA1-E7DA-CF30-6D18-AF9719EB1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72696"/>
              </p:ext>
            </p:extLst>
          </p:nvPr>
        </p:nvGraphicFramePr>
        <p:xfrm>
          <a:off x="700634" y="2979420"/>
          <a:ext cx="10691265" cy="2540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8478">
                  <a:extLst>
                    <a:ext uri="{9D8B030D-6E8A-4147-A177-3AD203B41FA5}">
                      <a16:colId xmlns:a16="http://schemas.microsoft.com/office/drawing/2014/main" val="3812395668"/>
                    </a:ext>
                  </a:extLst>
                </a:gridCol>
                <a:gridCol w="7622787">
                  <a:extLst>
                    <a:ext uri="{9D8B030D-6E8A-4147-A177-3AD203B41FA5}">
                      <a16:colId xmlns:a16="http://schemas.microsoft.com/office/drawing/2014/main" val="2834452303"/>
                    </a:ext>
                  </a:extLst>
                </a:gridCol>
              </a:tblGrid>
              <a:tr h="1270217">
                <a:tc>
                  <a:txBody>
                    <a:bodyPr/>
                    <a:lstStyle/>
                    <a:p>
                      <a:r>
                        <a:rPr lang="en-US" b="1" dirty="0"/>
                        <a:t>The Normal Distribution (The "Bell” Rule)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It the most famous statistical model. It </a:t>
                      </a:r>
                      <a:r>
                        <a:rPr lang="en-US" i="1" dirty="0"/>
                        <a:t>always</a:t>
                      </a:r>
                      <a:r>
                        <a:rPr lang="en-US" dirty="0"/>
                        <a:t> results in a </a:t>
                      </a:r>
                      <a:r>
                        <a:rPr lang="en-US" b="1" dirty="0"/>
                        <a:t>Bell-Shaped</a:t>
                      </a:r>
                      <a:r>
                        <a:rPr lang="en-US" dirty="0"/>
                        <a:t> curve. It is used for things that happen naturally and cluster around an average, like human height or exam scores.</a:t>
                      </a:r>
                      <a:endParaRPr lang="en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0535"/>
                  </a:ext>
                </a:extLst>
              </a:tr>
              <a:tr h="1270217">
                <a:tc>
                  <a:txBody>
                    <a:bodyPr/>
                    <a:lstStyle/>
                    <a:p>
                      <a:r>
                        <a:rPr lang="en-US" b="1" dirty="0"/>
                        <a:t>The Poisson Distribution (The "Counting" Rule)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It is used to model how many times an event occurs in a specific time or space (e.g., "How many emails do I get per hour?").</a:t>
                      </a:r>
                      <a:endParaRPr lang="en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27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252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8A10-5A50-A714-E799-0208C98A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E237-6692-081B-1A57-0C0114B7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EG" dirty="0"/>
              <a:t>istribution </a:t>
            </a:r>
            <a:r>
              <a:rPr lang="en-US" dirty="0"/>
              <a:t>statistical model</a:t>
            </a:r>
            <a:endParaRPr lang="en-EG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B5A1469-0B18-C0F6-111C-AB8AD190FE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466902"/>
              </p:ext>
            </p:extLst>
          </p:nvPr>
        </p:nvGraphicFramePr>
        <p:xfrm>
          <a:off x="700088" y="2644775"/>
          <a:ext cx="10691264" cy="2895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32322">
                  <a:extLst>
                    <a:ext uri="{9D8B030D-6E8A-4147-A177-3AD203B41FA5}">
                      <a16:colId xmlns:a16="http://schemas.microsoft.com/office/drawing/2014/main" val="4162929774"/>
                    </a:ext>
                  </a:extLst>
                </a:gridCol>
                <a:gridCol w="4456703">
                  <a:extLst>
                    <a:ext uri="{9D8B030D-6E8A-4147-A177-3AD203B41FA5}">
                      <a16:colId xmlns:a16="http://schemas.microsoft.com/office/drawing/2014/main" val="2136500408"/>
                    </a:ext>
                  </a:extLst>
                </a:gridCol>
                <a:gridCol w="4102239">
                  <a:extLst>
                    <a:ext uri="{9D8B030D-6E8A-4147-A177-3AD203B41FA5}">
                      <a16:colId xmlns:a16="http://schemas.microsoft.com/office/drawing/2014/main" val="3393692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Shape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Can it be Normal?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Can it be Poisson?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866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Bell-Shaped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 (Always)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 (If average is high)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extLst>
                  <a:ext uri="{0D108BD9-81ED-4DB2-BD59-A6C34878D82A}">
                    <a16:rowId xmlns:a16="http://schemas.microsoft.com/office/drawing/2014/main" val="3120485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Right-Skewed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Yes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 (Usually)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extLst>
                  <a:ext uri="{0D108BD9-81ED-4DB2-BD59-A6C34878D82A}">
                    <a16:rowId xmlns:a16="http://schemas.microsoft.com/office/drawing/2014/main" val="1880519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Left-Skewed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extLst>
                  <a:ext uri="{0D108BD9-81ED-4DB2-BD59-A6C34878D82A}">
                    <a16:rowId xmlns:a16="http://schemas.microsoft.com/office/drawing/2014/main" val="12100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Bimodal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extLst>
                  <a:ext uri="{0D108BD9-81ED-4DB2-BD59-A6C34878D82A}">
                    <a16:rowId xmlns:a16="http://schemas.microsoft.com/office/drawing/2014/main" val="3957934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13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796E-69BB-2D3B-0CBF-868F8ADF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EE83-2FF0-5470-2DCC-981EF520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80588"/>
            <a:ext cx="10691265" cy="796032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EG" dirty="0"/>
              <a:t>istribution shapes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5AE0FD-9A51-01C6-4B0C-F5DE739517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4292217"/>
              </p:ext>
            </p:extLst>
          </p:nvPr>
        </p:nvGraphicFramePr>
        <p:xfrm>
          <a:off x="700088" y="1754143"/>
          <a:ext cx="10691812" cy="426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6205">
                  <a:extLst>
                    <a:ext uri="{9D8B030D-6E8A-4147-A177-3AD203B41FA5}">
                      <a16:colId xmlns:a16="http://schemas.microsoft.com/office/drawing/2014/main" val="279985964"/>
                    </a:ext>
                  </a:extLst>
                </a:gridCol>
                <a:gridCol w="8715607">
                  <a:extLst>
                    <a:ext uri="{9D8B030D-6E8A-4147-A177-3AD203B41FA5}">
                      <a16:colId xmlns:a16="http://schemas.microsoft.com/office/drawing/2014/main" val="2244642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Bell-Shaped (Normal)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Most data points are clustered in the center (the average), and the shape falls off symmetrically on both sides. Think of "Average Human Height.”</a:t>
                      </a:r>
                    </a:p>
                    <a:p>
                      <a:pPr algn="just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62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Left-Skewed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The "tail" of the data points to the left. </a:t>
                      </a:r>
                    </a:p>
                    <a:p>
                      <a:pPr algn="just"/>
                      <a:endParaRPr lang="en-US" sz="1600" dirty="0"/>
                    </a:p>
                    <a:p>
                      <a:pPr algn="just"/>
                      <a:r>
                        <a:rPr lang="en-US" sz="1600" dirty="0"/>
                        <a:t>This means most values are high, but there are a few very small values pulling the average down.</a:t>
                      </a:r>
                    </a:p>
                    <a:p>
                      <a:pPr algn="just"/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3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Right-Skewed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The "tail" points to the right.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This means most values are low, but a few very high values (like "Income of Billionaires") pull the average up.</a:t>
                      </a:r>
                    </a:p>
                    <a:p>
                      <a:pPr algn="just"/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7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Bimodal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This looks like a camel with two humps. </a:t>
                      </a:r>
                    </a:p>
                    <a:p>
                      <a:pPr algn="just"/>
                      <a:endParaRPr lang="en-US" sz="1600" dirty="0"/>
                    </a:p>
                    <a:p>
                      <a:pPr algn="just"/>
                      <a:r>
                        <a:rPr lang="en-US" sz="1600" dirty="0"/>
                        <a:t>It means there are two different "most frequent" values.</a:t>
                      </a:r>
                    </a:p>
                    <a:p>
                      <a:pPr algn="just"/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19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18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CA967-E039-C933-0448-61F6CC0B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oup of graphs showing different sizes of data&#10;&#10;AI-generated content may be incorrect.">
            <a:extLst>
              <a:ext uri="{FF2B5EF4-FFF2-40B4-BE49-F238E27FC236}">
                <a16:creationId xmlns:a16="http://schemas.microsoft.com/office/drawing/2014/main" id="{01F9B8B1-A90C-00A4-BD2B-20ADA0232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844" y="48960"/>
            <a:ext cx="8244000" cy="676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A71F6D-3DAD-ADB0-4875-22A22FBCF4D0}"/>
              </a:ext>
            </a:extLst>
          </p:cNvPr>
          <p:cNvSpPr txBox="1"/>
          <p:nvPr/>
        </p:nvSpPr>
        <p:spPr>
          <a:xfrm>
            <a:off x="401544" y="1152869"/>
            <a:ext cx="29017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"silhouette"</a:t>
            </a:r>
            <a:r>
              <a:rPr lang="en-US" sz="2800" dirty="0"/>
              <a:t> or the </a:t>
            </a:r>
            <a:r>
              <a:rPr lang="en-US" sz="2800" b="1" dirty="0"/>
              <a:t>"shape"</a:t>
            </a:r>
            <a:r>
              <a:rPr lang="en-US" sz="2800" dirty="0"/>
              <a:t> of  the data. </a:t>
            </a:r>
          </a:p>
        </p:txBody>
      </p:sp>
    </p:spTree>
    <p:extLst>
      <p:ext uri="{BB962C8B-B14F-4D97-AF65-F5344CB8AC3E}">
        <p14:creationId xmlns:p14="http://schemas.microsoft.com/office/powerpoint/2010/main" val="1555936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155E7-C8BE-3CAD-DA60-0D7FDA747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AA7D35E-D001-E942-52FF-8B18ACF68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8FDFF9-C94B-A886-1E65-38F696F32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7078B0E-6BB7-5E8F-915B-3B0E99081D21}"/>
              </a:ext>
            </a:extLst>
          </p:cNvPr>
          <p:cNvSpPr txBox="1"/>
          <p:nvPr/>
        </p:nvSpPr>
        <p:spPr>
          <a:xfrm>
            <a:off x="307650" y="1022884"/>
            <a:ext cx="29017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"Violin"</a:t>
            </a:r>
            <a:r>
              <a:rPr lang="en-US" sz="2800" dirty="0"/>
              <a:t> version of the data. 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9C09AC43-5206-F86B-D16B-8C6C0BDEB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406" y="639317"/>
            <a:ext cx="8748000" cy="557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307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F391-5CCC-29BA-8B42-7EF6AC60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modality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5094B-42B5-5BC0-19FC-9FB80B95B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Modality</a:t>
            </a:r>
            <a:r>
              <a:rPr lang="en-US" dirty="0"/>
              <a:t> refers to a dataset that has </a:t>
            </a:r>
            <a:r>
              <a:rPr lang="en-US" b="1" dirty="0"/>
              <a:t>one or</a:t>
            </a:r>
            <a:r>
              <a:rPr lang="en-US" dirty="0"/>
              <a:t> </a:t>
            </a:r>
            <a:r>
              <a:rPr lang="en-US" b="1" dirty="0"/>
              <a:t>two or more clear "peaks"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E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2E87AF-CD22-0500-77F3-DC560A4FC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51517"/>
              </p:ext>
            </p:extLst>
          </p:nvPr>
        </p:nvGraphicFramePr>
        <p:xfrm>
          <a:off x="700635" y="3106026"/>
          <a:ext cx="10691264" cy="28375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6087">
                  <a:extLst>
                    <a:ext uri="{9D8B030D-6E8A-4147-A177-3AD203B41FA5}">
                      <a16:colId xmlns:a16="http://schemas.microsoft.com/office/drawing/2014/main" val="4109667796"/>
                    </a:ext>
                  </a:extLst>
                </a:gridCol>
                <a:gridCol w="8905177">
                  <a:extLst>
                    <a:ext uri="{9D8B030D-6E8A-4147-A177-3AD203B41FA5}">
                      <a16:colId xmlns:a16="http://schemas.microsoft.com/office/drawing/2014/main" val="1043938601"/>
                    </a:ext>
                  </a:extLst>
                </a:gridCol>
              </a:tblGrid>
              <a:tr h="945858">
                <a:tc>
                  <a:txBody>
                    <a:bodyPr/>
                    <a:lstStyle/>
                    <a:p>
                      <a:r>
                        <a:rPr lang="en-US" b="1" dirty="0"/>
                        <a:t>Unimodal</a:t>
                      </a:r>
                      <a:endParaRPr lang="en-EG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peak (fat belly) in the middle (e.g., a bell shape).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728"/>
                  </a:ext>
                </a:extLst>
              </a:tr>
              <a:tr h="945858">
                <a:tc>
                  <a:txBody>
                    <a:bodyPr/>
                    <a:lstStyle/>
                    <a:p>
                      <a:r>
                        <a:rPr lang="en-US" b="1" dirty="0"/>
                        <a:t>Bimodal</a:t>
                      </a:r>
                      <a:endParaRPr lang="en-EG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Two peaks (e.g., looks like a peanut or a traditional musical violin).</a:t>
                      </a:r>
                      <a:endParaRPr lang="en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429461"/>
                  </a:ext>
                </a:extLst>
              </a:tr>
              <a:tr h="945858">
                <a:tc>
                  <a:txBody>
                    <a:bodyPr/>
                    <a:lstStyle/>
                    <a:p>
                      <a:r>
                        <a:rPr lang="en-US" b="1" dirty="0"/>
                        <a:t>Multimodal</a:t>
                      </a:r>
                      <a:endParaRPr lang="en-EG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Three or more peaks, looking like a wavy or "lumpy" silhouette.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17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452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>
            <a:extLst>
              <a:ext uri="{FF2B5EF4-FFF2-40B4-BE49-F238E27FC236}">
                <a16:creationId xmlns:a16="http://schemas.microsoft.com/office/drawing/2014/main" id="{AD725FFB-FC70-5380-C792-509E62312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0" y="1327239"/>
            <a:ext cx="11808000" cy="420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243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B4F04-4AA4-29BA-3E66-ED97A3CC5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 dirty="0"/>
              <a:t>V</a:t>
            </a:r>
            <a:r>
              <a:rPr lang="en-EG" dirty="0"/>
              <a:t>iolin chart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9E457-0DB3-8A7F-77E8-EC91E11AB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916195" cy="37398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Violin Chart, that looks like a musical instrument, shows you the entire </a:t>
            </a:r>
            <a:r>
              <a:rPr lang="en-US" b="1" dirty="0"/>
              <a:t>physical shape</a:t>
            </a:r>
            <a:r>
              <a:rPr lang="en-US" dirty="0"/>
              <a:t> of the data. where it is "fat" (many data points) and where it is "thin" (few data points).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A </a:t>
            </a:r>
            <a:r>
              <a:rPr lang="en-US" b="1" dirty="0"/>
              <a:t>Violin Chart</a:t>
            </a:r>
            <a:r>
              <a:rPr lang="en-US" dirty="0"/>
              <a:t> is a data visualization used to represent the distribution of a numeric variable across different categories. It displays the </a:t>
            </a:r>
            <a:r>
              <a:rPr lang="en-US" b="1" dirty="0"/>
              <a:t>probability density</a:t>
            </a:r>
            <a:r>
              <a:rPr lang="en-US" dirty="0"/>
              <a:t> of the data at different values, smoothed by a kernel density estimator (KDE).</a:t>
            </a:r>
          </a:p>
          <a:p>
            <a:pPr marL="0" indent="0" algn="just">
              <a:buNone/>
            </a:pPr>
            <a:endParaRPr lang="en-EG" dirty="0"/>
          </a:p>
        </p:txBody>
      </p:sp>
      <p:pic>
        <p:nvPicPr>
          <p:cNvPr id="1026" name="Picture 2" descr="Eastman Concertante 'Antiqued' Violin">
            <a:extLst>
              <a:ext uri="{FF2B5EF4-FFF2-40B4-BE49-F238E27FC236}">
                <a16:creationId xmlns:a16="http://schemas.microsoft.com/office/drawing/2014/main" id="{0ECF57F6-83CE-ED3F-1FC5-78D24F17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23900" y="907612"/>
            <a:ext cx="3168000" cy="474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062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0C512-C2B5-87C6-AE84-7BD7920A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EG" dirty="0"/>
              <a:t>iolin chart components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8E740-6AAE-192F-98A8-92C91E52E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971082"/>
              </p:ext>
            </p:extLst>
          </p:nvPr>
        </p:nvGraphicFramePr>
        <p:xfrm>
          <a:off x="700635" y="2221992"/>
          <a:ext cx="10691265" cy="3370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4302">
                  <a:extLst>
                    <a:ext uri="{9D8B030D-6E8A-4147-A177-3AD203B41FA5}">
                      <a16:colId xmlns:a16="http://schemas.microsoft.com/office/drawing/2014/main" val="2728457487"/>
                    </a:ext>
                  </a:extLst>
                </a:gridCol>
                <a:gridCol w="7856963">
                  <a:extLst>
                    <a:ext uri="{9D8B030D-6E8A-4147-A177-3AD203B41FA5}">
                      <a16:colId xmlns:a16="http://schemas.microsoft.com/office/drawing/2014/main" val="1544411350"/>
                    </a:ext>
                  </a:extLst>
                </a:gridCol>
              </a:tblGrid>
              <a:tr h="1029716">
                <a:tc>
                  <a:txBody>
                    <a:bodyPr/>
                    <a:lstStyle/>
                    <a:p>
                      <a:r>
                        <a:rPr lang="en-US" b="1" dirty="0"/>
                        <a:t>The "Silhouette" </a:t>
                      </a:r>
                    </a:p>
                    <a:p>
                      <a:r>
                        <a:rPr lang="en-US" b="1" dirty="0"/>
                        <a:t>(The Outer Shape)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/>
                        <a:t>Where the violin is fat:</a:t>
                      </a:r>
                      <a:r>
                        <a:rPr lang="en-US" sz="1600" dirty="0"/>
                        <a:t> This means there are </a:t>
                      </a:r>
                      <a:r>
                        <a:rPr lang="en-US" sz="1600" b="1" dirty="0"/>
                        <a:t>many</a:t>
                      </a:r>
                      <a:r>
                        <a:rPr lang="en-US" sz="1600" dirty="0"/>
                        <a:t> data points at that value (e.g., a lot of people are 170cm tall).</a:t>
                      </a:r>
                    </a:p>
                    <a:p>
                      <a:pPr algn="just"/>
                      <a:endParaRPr lang="en-US" sz="1600" dirty="0"/>
                    </a:p>
                    <a:p>
                      <a:pPr algn="just"/>
                      <a:r>
                        <a:rPr lang="en-US" sz="1600" b="1" dirty="0"/>
                        <a:t>Where the violin is thin:</a:t>
                      </a:r>
                      <a:r>
                        <a:rPr lang="en-US" sz="1600" dirty="0"/>
                        <a:t> This means there are </a:t>
                      </a:r>
                      <a:r>
                        <a:rPr lang="en-US" sz="1600" b="1" dirty="0"/>
                        <a:t>very few</a:t>
                      </a:r>
                      <a:r>
                        <a:rPr lang="en-US" sz="1600" dirty="0"/>
                        <a:t> data points (e.g., only one person is 210cm tall).</a:t>
                      </a:r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688849"/>
                  </a:ext>
                </a:extLst>
              </a:tr>
              <a:tr h="1029716">
                <a:tc>
                  <a:txBody>
                    <a:bodyPr/>
                    <a:lstStyle/>
                    <a:p>
                      <a:r>
                        <a:rPr lang="en-US" b="1" dirty="0"/>
                        <a:t>The "Mirror" </a:t>
                      </a:r>
                    </a:p>
                    <a:p>
                      <a:r>
                        <a:rPr lang="en-US" b="1" dirty="0"/>
                        <a:t>("violin" or "vase" shape)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 violin chart is usually perfectly symmetrical. The left side and the right side are identical.</a:t>
                      </a:r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2955"/>
                  </a:ext>
                </a:extLst>
              </a:tr>
              <a:tr h="1029716">
                <a:tc>
                  <a:txBody>
                    <a:bodyPr/>
                    <a:lstStyle/>
                    <a:p>
                      <a:r>
                        <a:rPr lang="en-US" b="1" dirty="0"/>
                        <a:t>The "Interior"</a:t>
                      </a:r>
                    </a:p>
                    <a:p>
                      <a:r>
                        <a:rPr lang="en-US" b="1" dirty="0"/>
                        <a:t>(The Center)</a:t>
                      </a:r>
                      <a:endParaRPr lang="en-EG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A </a:t>
                      </a:r>
                      <a:r>
                        <a:rPr lang="en-US" sz="1600" b="1" dirty="0"/>
                        <a:t>white dot</a:t>
                      </a:r>
                      <a:r>
                        <a:rPr lang="en-US" sz="1600" dirty="0"/>
                        <a:t> in the center usually represents the </a:t>
                      </a:r>
                      <a:r>
                        <a:rPr lang="en-US" sz="1600" b="1" dirty="0"/>
                        <a:t>Median</a:t>
                      </a:r>
                      <a:r>
                        <a:rPr lang="en-US" sz="1600" dirty="0"/>
                        <a:t> (the exact middle value). </a:t>
                      </a:r>
                    </a:p>
                    <a:p>
                      <a:pPr algn="just"/>
                      <a:endParaRPr lang="en-US" sz="1600" dirty="0"/>
                    </a:p>
                    <a:p>
                      <a:pPr algn="just"/>
                      <a:r>
                        <a:rPr lang="en-US" sz="1600" dirty="0"/>
                        <a:t>A </a:t>
                      </a:r>
                      <a:r>
                        <a:rPr lang="en-US" sz="1600" b="1" dirty="0"/>
                        <a:t>thick black line</a:t>
                      </a:r>
                      <a:r>
                        <a:rPr lang="en-US" sz="1600" dirty="0"/>
                        <a:t> represents the range where the middle 50% of your data lives.</a:t>
                      </a:r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859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74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293A-5688-308A-8106-CB6D7390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Silhouette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09825-C518-257A-74B1-A07997D06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 outer "skin" of the violin that shows where data is most frequent.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refers to the </a:t>
            </a:r>
            <a:r>
              <a:rPr lang="en-US" b="1" dirty="0"/>
              <a:t>outer boundary</a:t>
            </a:r>
            <a:r>
              <a:rPr lang="en-US" dirty="0"/>
              <a:t> or the </a:t>
            </a:r>
            <a:r>
              <a:rPr lang="en-US" b="1" dirty="0"/>
              <a:t>outline</a:t>
            </a:r>
            <a:r>
              <a:rPr lang="en-US" dirty="0"/>
              <a:t> of the violin.</a:t>
            </a:r>
          </a:p>
          <a:p>
            <a:r>
              <a:rPr lang="en-US" dirty="0"/>
              <a:t>It represents the </a:t>
            </a:r>
            <a:r>
              <a:rPr lang="en-US" b="1" dirty="0"/>
              <a:t>Density</a:t>
            </a:r>
            <a:r>
              <a:rPr lang="en-US" dirty="0"/>
              <a:t> of the data.</a:t>
            </a:r>
          </a:p>
          <a:p>
            <a:pPr marL="0" indent="0">
              <a:buNone/>
            </a:pP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628504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0A23-CC41-89D3-FCFD-03CB0D32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A226-79E3-A049-7B2F-F899245A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Density Estimator (KDE)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7870D-D301-4EC5-DA66-BD3A49FDA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KDE</a:t>
            </a:r>
            <a:r>
              <a:rPr lang="en-US" dirty="0"/>
              <a:t> is the mathematical "artist" that draws the </a:t>
            </a:r>
            <a:r>
              <a:rPr lang="en-US" b="1" dirty="0"/>
              <a:t>Silhouette</a:t>
            </a:r>
            <a:r>
              <a:rPr lang="en-US" dirty="0"/>
              <a:t> (the outer skin) of the violin.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How it works:</a:t>
            </a:r>
            <a:r>
              <a:rPr lang="en-US" dirty="0"/>
              <a:t> </a:t>
            </a:r>
          </a:p>
          <a:p>
            <a:r>
              <a:rPr lang="en-US" dirty="0"/>
              <a:t>Imagine you have 100 people standing on a football field at different yard lines.</a:t>
            </a:r>
          </a:p>
          <a:p>
            <a:r>
              <a:rPr lang="en-US" dirty="0"/>
              <a:t>If you just put a dot for every person, it's a </a:t>
            </a:r>
            <a:r>
              <a:rPr lang="en-US" b="1" dirty="0"/>
              <a:t>Scatter Plot</a:t>
            </a:r>
            <a:r>
              <a:rPr lang="en-US" dirty="0"/>
              <a:t>.</a:t>
            </a:r>
          </a:p>
          <a:p>
            <a:r>
              <a:rPr lang="en-US" dirty="0"/>
              <a:t>If you draw a smooth, flowing line over their heads to show where the crowd is thickest, that is a </a:t>
            </a:r>
            <a:r>
              <a:rPr lang="en-US" b="1" dirty="0"/>
              <a:t>KDE.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947870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C8C0-1E02-E7D8-255B-59918CE6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Interquartile Range (IQR)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9C8AF-6947-5DEE-769C-965DDE796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61890"/>
            <a:ext cx="10691265" cy="43338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The IQR is the best way to measure </a:t>
            </a:r>
            <a:r>
              <a:rPr lang="en-US" sz="1600" b="1" dirty="0"/>
              <a:t>Spread</a:t>
            </a:r>
            <a:r>
              <a:rPr lang="en-US" sz="1600" dirty="0"/>
              <a:t> because it ignores the extremes (outliers). Imagine a long line of </a:t>
            </a:r>
            <a:r>
              <a:rPr lang="en-US" sz="1600" b="1" dirty="0"/>
              <a:t>100 people</a:t>
            </a:r>
            <a:r>
              <a:rPr lang="en-US" sz="1600" dirty="0"/>
              <a:t> sorted from shortest to tallest.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To find the IQR, we simply "slice" that line of 100 people into four equal groups (25 people in each group):</a:t>
            </a:r>
          </a:p>
          <a:p>
            <a:pPr marL="0" indent="0">
              <a:buNone/>
            </a:pPr>
            <a:r>
              <a:rPr lang="en-US" sz="1600" b="1" dirty="0"/>
              <a:t>Group 1 (The Shortest):</a:t>
            </a:r>
            <a:r>
              <a:rPr lang="en-US" sz="1600" dirty="0"/>
              <a:t> The first 25 people.</a:t>
            </a:r>
          </a:p>
          <a:p>
            <a:pPr marL="0" indent="0">
              <a:buNone/>
            </a:pPr>
            <a:r>
              <a:rPr lang="en-US" sz="1600" b="1" dirty="0"/>
              <a:t>Group 2 (Lower-Middle):</a:t>
            </a:r>
            <a:r>
              <a:rPr lang="en-US" sz="1600" dirty="0"/>
              <a:t> The next 25 people.</a:t>
            </a:r>
          </a:p>
          <a:p>
            <a:pPr marL="0" indent="0">
              <a:buNone/>
            </a:pPr>
            <a:r>
              <a:rPr lang="en-US" sz="1600" b="1" dirty="0"/>
              <a:t>Group 3 (Upper-Middle):</a:t>
            </a:r>
            <a:r>
              <a:rPr lang="en-US" sz="1600" dirty="0"/>
              <a:t> The next 25 people.</a:t>
            </a:r>
          </a:p>
          <a:p>
            <a:pPr marL="0" indent="0">
              <a:buNone/>
            </a:pPr>
            <a:r>
              <a:rPr lang="en-US" sz="1600" b="1" dirty="0"/>
              <a:t>Group 4 (The Tallest):</a:t>
            </a:r>
            <a:r>
              <a:rPr lang="en-US" sz="1600" dirty="0"/>
              <a:t> The final 25 people.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The </a:t>
            </a:r>
            <a:r>
              <a:rPr lang="en-US" sz="1600" b="1" dirty="0"/>
              <a:t>IQR</a:t>
            </a:r>
            <a:r>
              <a:rPr lang="en-US" sz="1600" dirty="0"/>
              <a:t> is the height of the </a:t>
            </a:r>
            <a:r>
              <a:rPr lang="en-US" sz="1600" b="1" dirty="0"/>
              <a:t>middle 50 people</a:t>
            </a:r>
            <a:r>
              <a:rPr lang="en-US" sz="1600" dirty="0"/>
              <a:t> (Groups 2 and 3 combined).</a:t>
            </a:r>
          </a:p>
          <a:p>
            <a:r>
              <a:rPr lang="en-US" sz="1600" dirty="0"/>
              <a:t>We ignore the 25 shortest people.</a:t>
            </a:r>
          </a:p>
          <a:p>
            <a:r>
              <a:rPr lang="en-US" sz="1600" dirty="0"/>
              <a:t>We ignore the 25 tallest people.</a:t>
            </a:r>
          </a:p>
          <a:p>
            <a:r>
              <a:rPr lang="en-US" sz="1600" dirty="0"/>
              <a:t>We only care about the </a:t>
            </a:r>
            <a:r>
              <a:rPr lang="en-US" sz="1600" b="1" dirty="0"/>
              <a:t>spread</a:t>
            </a:r>
            <a:r>
              <a:rPr lang="en-US" sz="1600" dirty="0"/>
              <a:t> of the people in the middle.</a:t>
            </a:r>
          </a:p>
          <a:p>
            <a:endParaRPr lang="en-EG" sz="1600" dirty="0"/>
          </a:p>
        </p:txBody>
      </p:sp>
    </p:spTree>
    <p:extLst>
      <p:ext uri="{BB962C8B-B14F-4D97-AF65-F5344CB8AC3E}">
        <p14:creationId xmlns:p14="http://schemas.microsoft.com/office/powerpoint/2010/main" val="1380692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6" name="Rectangle 718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88" name="Straight Connector 718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C8D80-BD2B-CAB8-5431-A71F6F35B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698109"/>
            <a:ext cx="4358566" cy="4710174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/>
              <a:t>The White Dot:</a:t>
            </a:r>
            <a:r>
              <a:rPr lang="en-US" sz="1600" dirty="0"/>
              <a:t> This is the Median. If the dot is at 75%, it means exactly half the students scored above 75 and half scored below.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The Thick Black Bar (IQR):</a:t>
            </a:r>
            <a:r>
              <a:rPr lang="en-US" sz="1600" dirty="0"/>
              <a:t> This represents the Interquartile Range (IQR). It shows where the "middle 50%" of the students sit. If the bar is short, most students got very similar grades. If it is long, the grades are widely spread out.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The Thin Black Line (Whiskers):</a:t>
            </a:r>
            <a:r>
              <a:rPr lang="en-US" sz="1600" dirty="0"/>
              <a:t> This shows the total range (from the lowest to the highest scores), excluding extreme outliers.</a:t>
            </a:r>
            <a:endParaRPr lang="en-EG" sz="1600" dirty="0"/>
          </a:p>
        </p:txBody>
      </p:sp>
      <p:pic>
        <p:nvPicPr>
          <p:cNvPr id="7172" name="Picture 4" descr="A diagram of a test results&#10;&#10;AI-generated content may be incorrect.">
            <a:extLst>
              <a:ext uri="{FF2B5EF4-FFF2-40B4-BE49-F238E27FC236}">
                <a16:creationId xmlns:a16="http://schemas.microsoft.com/office/drawing/2014/main" id="{944D9EE6-0D98-AE7C-7E28-53C58EB21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" r="2" b="2"/>
          <a:stretch>
            <a:fillRect/>
          </a:stretch>
        </p:blipFill>
        <p:spPr bwMode="auto">
          <a:xfrm>
            <a:off x="5486720" y="835647"/>
            <a:ext cx="6495042" cy="541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09CE9E1-C53F-3AF5-B175-96958E15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400"/>
            <a:ext cx="4930730" cy="10370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The "Interior” (The Center)</a:t>
            </a:r>
            <a:endParaRPr lang="en-EG" sz="3200" dirty="0"/>
          </a:p>
        </p:txBody>
      </p:sp>
    </p:spTree>
    <p:extLst>
      <p:ext uri="{BB962C8B-B14F-4D97-AF65-F5344CB8AC3E}">
        <p14:creationId xmlns:p14="http://schemas.microsoft.com/office/powerpoint/2010/main" val="2288175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02F6-42F2-4687-1E40-00927861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6F2D-899B-3BFC-1819-867D8F01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EG" dirty="0"/>
              <a:t>iolin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EC023-2679-A41C-AD57-0BD4932C7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When to use it ? To show the reality of data distribution.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>You should draw a </a:t>
            </a:r>
            <a:r>
              <a:rPr lang="en-US" b="1" dirty="0"/>
              <a:t>Violin Chart</a:t>
            </a:r>
            <a:r>
              <a:rPr lang="en-US" dirty="0"/>
              <a:t> when the "average" (Mean) is not enough to tell the story, or when you suspect your data has </a:t>
            </a:r>
            <a:r>
              <a:rPr lang="en-US" b="1" dirty="0"/>
              <a:t>multiple peaks</a:t>
            </a:r>
            <a:r>
              <a:rPr lang="en-US" dirty="0"/>
              <a:t>, </a:t>
            </a:r>
            <a:r>
              <a:rPr lang="en-US" b="1" dirty="0"/>
              <a:t>heavy skewness</a:t>
            </a:r>
            <a:r>
              <a:rPr lang="en-US" dirty="0"/>
              <a:t>, or you want to compare the </a:t>
            </a:r>
            <a:r>
              <a:rPr lang="en-US" b="1" dirty="0"/>
              <a:t>density</a:t>
            </a:r>
            <a:r>
              <a:rPr lang="en-US" dirty="0"/>
              <a:t> of different groups side-by-side.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333079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2CC6-020B-C17D-EA52-E1B1C9E2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EG" dirty="0"/>
              <a:t>iolin 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AE0293-771A-1843-79A8-04A7AE3115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912622"/>
              </p:ext>
            </p:extLst>
          </p:nvPr>
        </p:nvGraphicFramePr>
        <p:xfrm>
          <a:off x="800100" y="2221992"/>
          <a:ext cx="10591800" cy="37216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73344">
                  <a:extLst>
                    <a:ext uri="{9D8B030D-6E8A-4147-A177-3AD203B41FA5}">
                      <a16:colId xmlns:a16="http://schemas.microsoft.com/office/drawing/2014/main" val="977039680"/>
                    </a:ext>
                  </a:extLst>
                </a:gridCol>
                <a:gridCol w="2620536">
                  <a:extLst>
                    <a:ext uri="{9D8B030D-6E8A-4147-A177-3AD203B41FA5}">
                      <a16:colId xmlns:a16="http://schemas.microsoft.com/office/drawing/2014/main" val="3917369243"/>
                    </a:ext>
                  </a:extLst>
                </a:gridCol>
                <a:gridCol w="3797920">
                  <a:extLst>
                    <a:ext uri="{9D8B030D-6E8A-4147-A177-3AD203B41FA5}">
                      <a16:colId xmlns:a16="http://schemas.microsoft.com/office/drawing/2014/main" val="148898110"/>
                    </a:ext>
                  </a:extLst>
                </a:gridCol>
              </a:tblGrid>
              <a:tr h="6614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Reason for Use (Conditions)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858" marR="81073" marT="108097" marB="10809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Unique Keywords 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858" marR="81073" marT="108097" marB="10809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Effective Data Types (Axes)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858" marR="64858" marT="108097" marB="10809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292644"/>
                  </a:ext>
                </a:extLst>
              </a:tr>
              <a:tr h="3060115"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Visualizing the "Personality" of Data: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Used when you need to see the exact density of data points along with the statistical summary (Median/IQR). 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858" marR="81073" marT="108097" marB="10809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Modality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Silhouette, KDE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Mirrored Distribution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858" marR="81073" marT="108097" marB="108097" anchor="ctr"/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Y-Axis: Numerical (Continuous)</a:t>
                      </a:r>
                    </a:p>
                    <a:p>
                      <a:pPr algn="just" rtl="0">
                        <a:buNone/>
                      </a:pPr>
                      <a:endParaRPr lang="en-US" sz="16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algn="just" rt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X-Axis: Categorical 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</a:rPr>
                        <a:t>w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hile it can use numbers, it is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most effective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</a:rPr>
                        <a:t> with categories.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4858" marR="64858" marT="108097" marB="108097" anchor="ctr"/>
                </a:tc>
                <a:extLst>
                  <a:ext uri="{0D108BD9-81ED-4DB2-BD59-A6C34878D82A}">
                    <a16:rowId xmlns:a16="http://schemas.microsoft.com/office/drawing/2014/main" val="4020095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715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F8F6-476E-5D2A-482E-8630DF1C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58283"/>
          </a:xfrm>
        </p:spPr>
        <p:txBody>
          <a:bodyPr>
            <a:normAutofit/>
          </a:bodyPr>
          <a:lstStyle/>
          <a:p>
            <a:r>
              <a:rPr lang="en-US" sz="3200" dirty="0"/>
              <a:t>H</a:t>
            </a:r>
            <a:r>
              <a:rPr lang="en-EG" sz="3200" dirty="0"/>
              <a:t>ow to draw the violin chart? (our guidelines)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368CB54-8145-F5BA-1841-1417C96498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1972429"/>
              </p:ext>
            </p:extLst>
          </p:nvPr>
        </p:nvGraphicFramePr>
        <p:xfrm>
          <a:off x="700635" y="1750289"/>
          <a:ext cx="10790730" cy="41933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58051">
                  <a:extLst>
                    <a:ext uri="{9D8B030D-6E8A-4147-A177-3AD203B41FA5}">
                      <a16:colId xmlns:a16="http://schemas.microsoft.com/office/drawing/2014/main" val="2092327845"/>
                    </a:ext>
                  </a:extLst>
                </a:gridCol>
                <a:gridCol w="2188028">
                  <a:extLst>
                    <a:ext uri="{9D8B030D-6E8A-4147-A177-3AD203B41FA5}">
                      <a16:colId xmlns:a16="http://schemas.microsoft.com/office/drawing/2014/main" val="2401887369"/>
                    </a:ext>
                  </a:extLst>
                </a:gridCol>
                <a:gridCol w="7844651">
                  <a:extLst>
                    <a:ext uri="{9D8B030D-6E8A-4147-A177-3AD203B41FA5}">
                      <a16:colId xmlns:a16="http://schemas.microsoft.com/office/drawing/2014/main" val="3766790695"/>
                    </a:ext>
                  </a:extLst>
                </a:gridCol>
              </a:tblGrid>
              <a:tr h="45105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Rule #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Guideline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Purpose / Description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583762"/>
                  </a:ext>
                </a:extLst>
              </a:tr>
              <a:tr h="27678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1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Chart Border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Ensure a black frame surrounds the data area to define the workspace.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1307597587"/>
                  </a:ext>
                </a:extLst>
              </a:tr>
              <a:tr h="3850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2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Zero Baseline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The Y-axis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must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 start at 0 to avoid distorting the magnitude of the violin.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3913399402"/>
                  </a:ext>
                </a:extLst>
              </a:tr>
              <a:tr h="48024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3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Horizontal/Vertical Text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All labels in the chart, such as those in the X-axis, Legends, Bottom, and Top titles, must be horizontal for easy reading, except the Y-axis, which must be vertically oriented. 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1934749214"/>
                  </a:ext>
                </a:extLst>
              </a:tr>
              <a:tr h="3850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4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Median Magnitude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Place the specific value directly on or above the white dot of the median.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2174755540"/>
                  </a:ext>
                </a:extLst>
              </a:tr>
              <a:tr h="3850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5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Include Legend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Place a legend (top-right) to explain what the colors represent.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3018967591"/>
                  </a:ext>
                </a:extLst>
              </a:tr>
              <a:tr h="38509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6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Titles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Every chart needs three: a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Main Title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, an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X-axis Title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, and a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Y-axis Title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1827549170"/>
                  </a:ext>
                </a:extLst>
              </a:tr>
              <a:tr h="4934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7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 Strategy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Use the following colors:</a:t>
                      </a:r>
                      <a:b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1) A uniform light color (e.g.,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</a:rPr>
                        <a:t>lightblue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) for the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Silhouette 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(outer skin)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. </a:t>
                      </a:r>
                      <a:b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</a:rPr>
                        <a:t>2) A white dot for the median.</a:t>
                      </a:r>
                      <a:br>
                        <a:rPr lang="en-US" sz="1400" b="0" dirty="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</a:rPr>
                        <a:t>3) A 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black color for all the IQR, whiskers, chart titles, and labels. 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4209903674"/>
                  </a:ext>
                </a:extLst>
              </a:tr>
              <a:tr h="4934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Rule 8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Gridlines</a:t>
                      </a:r>
                    </a:p>
                  </a:txBody>
                  <a:tcPr marL="53738" marR="53738" marT="35825" marB="3582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kern="1200" dirty="0">
                          <a:solidFill>
                            <a:srgbClr val="1F1F1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Draw the gridlines to assist in reading the values.</a:t>
                      </a:r>
                    </a:p>
                  </a:txBody>
                  <a:tcPr marL="53738" marR="53738" marT="35825" marB="35825" anchor="ctr"/>
                </a:tc>
                <a:extLst>
                  <a:ext uri="{0D108BD9-81ED-4DB2-BD59-A6C34878D82A}">
                    <a16:rowId xmlns:a16="http://schemas.microsoft.com/office/drawing/2014/main" val="58238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741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C57E-BAC0-6B0E-B218-CEE1FB1F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E16E-1502-7A84-1A73-81EBE4D2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dirty="0"/>
              <a:t>Practical Exercise 1: violin chart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71A2-936B-A1DB-EDFA-A8F45392C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The Task</a:t>
            </a:r>
          </a:p>
          <a:p>
            <a:pPr marL="0" indent="0" algn="just">
              <a:buNone/>
            </a:pPr>
            <a:r>
              <a:rPr lang="en-US" dirty="0"/>
              <a:t>Perform a Categorical vs Numerical bivariate analysis to compare the distribution of student exam scores between two academic tracks: </a:t>
            </a:r>
            <a:r>
              <a:rPr lang="en-US" b="1" dirty="0"/>
              <a:t>Specialized</a:t>
            </a:r>
            <a:r>
              <a:rPr lang="en-US" dirty="0"/>
              <a:t> and </a:t>
            </a:r>
            <a:r>
              <a:rPr lang="en-US" b="1" dirty="0"/>
              <a:t>General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The Dataset</a:t>
            </a:r>
          </a:p>
          <a:p>
            <a:pPr marL="0" indent="0" algn="just">
              <a:buNone/>
            </a:pPr>
            <a:r>
              <a:rPr lang="en-US" dirty="0"/>
              <a:t>The table shows the records for a sample of 20 students of two academic tracks: </a:t>
            </a:r>
            <a:r>
              <a:rPr lang="en-US" b="1" dirty="0"/>
              <a:t>Specialized</a:t>
            </a:r>
            <a:r>
              <a:rPr lang="en-US" dirty="0"/>
              <a:t> and </a:t>
            </a:r>
            <a:r>
              <a:rPr lang="en-US" b="1" dirty="0"/>
              <a:t>General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endParaRPr lang="en-US" dirty="0"/>
          </a:p>
          <a:p>
            <a:endParaRPr lang="en-E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E75A40-5AAF-8945-51BE-7C4CF87A0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276916"/>
              </p:ext>
            </p:extLst>
          </p:nvPr>
        </p:nvGraphicFramePr>
        <p:xfrm>
          <a:off x="468351" y="2320121"/>
          <a:ext cx="5780293" cy="38277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03249">
                  <a:extLst>
                    <a:ext uri="{9D8B030D-6E8A-4147-A177-3AD203B41FA5}">
                      <a16:colId xmlns:a16="http://schemas.microsoft.com/office/drawing/2014/main" val="53594624"/>
                    </a:ext>
                  </a:extLst>
                </a:gridCol>
                <a:gridCol w="892098">
                  <a:extLst>
                    <a:ext uri="{9D8B030D-6E8A-4147-A177-3AD203B41FA5}">
                      <a16:colId xmlns:a16="http://schemas.microsoft.com/office/drawing/2014/main" val="1515136549"/>
                    </a:ext>
                  </a:extLst>
                </a:gridCol>
                <a:gridCol w="836341">
                  <a:extLst>
                    <a:ext uri="{9D8B030D-6E8A-4147-A177-3AD203B41FA5}">
                      <a16:colId xmlns:a16="http://schemas.microsoft.com/office/drawing/2014/main" val="963765971"/>
                    </a:ext>
                  </a:extLst>
                </a:gridCol>
                <a:gridCol w="338732">
                  <a:extLst>
                    <a:ext uri="{9D8B030D-6E8A-4147-A177-3AD203B41FA5}">
                      <a16:colId xmlns:a16="http://schemas.microsoft.com/office/drawing/2014/main" val="1272898484"/>
                    </a:ext>
                  </a:extLst>
                </a:gridCol>
                <a:gridCol w="903599">
                  <a:extLst>
                    <a:ext uri="{9D8B030D-6E8A-4147-A177-3AD203B41FA5}">
                      <a16:colId xmlns:a16="http://schemas.microsoft.com/office/drawing/2014/main" val="2896981390"/>
                    </a:ext>
                  </a:extLst>
                </a:gridCol>
                <a:gridCol w="841990">
                  <a:extLst>
                    <a:ext uri="{9D8B030D-6E8A-4147-A177-3AD203B41FA5}">
                      <a16:colId xmlns:a16="http://schemas.microsoft.com/office/drawing/2014/main" val="2888633581"/>
                    </a:ext>
                  </a:extLst>
                </a:gridCol>
                <a:gridCol w="1064284">
                  <a:extLst>
                    <a:ext uri="{9D8B030D-6E8A-4147-A177-3AD203B41FA5}">
                      <a16:colId xmlns:a16="http://schemas.microsoft.com/office/drawing/2014/main" val="4239919265"/>
                    </a:ext>
                  </a:extLst>
                </a:gridCol>
              </a:tblGrid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Student ID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Track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Score (%)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1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Student ID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Track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Score (%)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514849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101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58.0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111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>
                          <a:solidFill>
                            <a:srgbClr val="1F1F1F"/>
                          </a:solidFill>
                          <a:effectLst/>
                        </a:rPr>
                        <a:t>59.1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3532683575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102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77.0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112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>
                          <a:solidFill>
                            <a:srgbClr val="1F1F1F"/>
                          </a:solidFill>
                          <a:effectLst/>
                        </a:rPr>
                        <a:t>61.1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1397026360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 dirty="0">
                          <a:solidFill>
                            <a:srgbClr val="1F1F1F"/>
                          </a:solidFill>
                          <a:effectLst/>
                        </a:rPr>
                        <a:t>103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67.0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113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>
                          <a:solidFill>
                            <a:srgbClr val="1F1F1F"/>
                          </a:solidFill>
                          <a:effectLst/>
                        </a:rPr>
                        <a:t>58.5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4049853225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104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58.0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114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60.2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1734436971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105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56.0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115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59.8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486315402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106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36.0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116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85.5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3289377579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107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51.0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117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81.2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645070445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108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52.0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118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81.6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3145192985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109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53.0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119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84.0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970017889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110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50.0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120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83.5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461930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180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127CC-32F2-36E7-37C7-AD7C2C317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B718-5549-E580-3A1D-BE2D35110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r>
              <a:rPr lang="en-US" dirty="0"/>
              <a:t>Practical Exercise 1: violin chart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BF4BA-F35A-8BD3-2432-BA7A3C67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The Audience Question</a:t>
            </a:r>
          </a:p>
          <a:p>
            <a:pPr marL="0" indent="0" algn="just">
              <a:buNone/>
            </a:pPr>
            <a:r>
              <a:rPr lang="en-US" dirty="0"/>
              <a:t>“Which track is normally distributed? based on the </a:t>
            </a:r>
            <a:r>
              <a:rPr lang="en-US" b="1" dirty="0"/>
              <a:t>Silhouette</a:t>
            </a:r>
            <a:r>
              <a:rPr lang="en-US" dirty="0"/>
              <a:t> of the scores for both tracks.”</a:t>
            </a:r>
          </a:p>
          <a:p>
            <a:endParaRPr lang="en-US" dirty="0"/>
          </a:p>
          <a:p>
            <a:pPr marL="0" indent="0" algn="just">
              <a:buNone/>
            </a:pPr>
            <a:r>
              <a:rPr lang="en-US" b="1" u="sng" dirty="0"/>
              <a:t>Draw the most accurate visualization possible to answer the audience's question and follow the visualization guidelines.</a:t>
            </a:r>
          </a:p>
          <a:p>
            <a:endParaRPr lang="en-E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BBBF09-6DE7-7B88-70CD-9601C6112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468058"/>
              </p:ext>
            </p:extLst>
          </p:nvPr>
        </p:nvGraphicFramePr>
        <p:xfrm>
          <a:off x="468351" y="2320121"/>
          <a:ext cx="5780293" cy="38277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03249">
                  <a:extLst>
                    <a:ext uri="{9D8B030D-6E8A-4147-A177-3AD203B41FA5}">
                      <a16:colId xmlns:a16="http://schemas.microsoft.com/office/drawing/2014/main" val="53594624"/>
                    </a:ext>
                  </a:extLst>
                </a:gridCol>
                <a:gridCol w="892098">
                  <a:extLst>
                    <a:ext uri="{9D8B030D-6E8A-4147-A177-3AD203B41FA5}">
                      <a16:colId xmlns:a16="http://schemas.microsoft.com/office/drawing/2014/main" val="1515136549"/>
                    </a:ext>
                  </a:extLst>
                </a:gridCol>
                <a:gridCol w="836341">
                  <a:extLst>
                    <a:ext uri="{9D8B030D-6E8A-4147-A177-3AD203B41FA5}">
                      <a16:colId xmlns:a16="http://schemas.microsoft.com/office/drawing/2014/main" val="963765971"/>
                    </a:ext>
                  </a:extLst>
                </a:gridCol>
                <a:gridCol w="338732">
                  <a:extLst>
                    <a:ext uri="{9D8B030D-6E8A-4147-A177-3AD203B41FA5}">
                      <a16:colId xmlns:a16="http://schemas.microsoft.com/office/drawing/2014/main" val="1272898484"/>
                    </a:ext>
                  </a:extLst>
                </a:gridCol>
                <a:gridCol w="903599">
                  <a:extLst>
                    <a:ext uri="{9D8B030D-6E8A-4147-A177-3AD203B41FA5}">
                      <a16:colId xmlns:a16="http://schemas.microsoft.com/office/drawing/2014/main" val="2896981390"/>
                    </a:ext>
                  </a:extLst>
                </a:gridCol>
                <a:gridCol w="841990">
                  <a:extLst>
                    <a:ext uri="{9D8B030D-6E8A-4147-A177-3AD203B41FA5}">
                      <a16:colId xmlns:a16="http://schemas.microsoft.com/office/drawing/2014/main" val="2888633581"/>
                    </a:ext>
                  </a:extLst>
                </a:gridCol>
                <a:gridCol w="1064284">
                  <a:extLst>
                    <a:ext uri="{9D8B030D-6E8A-4147-A177-3AD203B41FA5}">
                      <a16:colId xmlns:a16="http://schemas.microsoft.com/office/drawing/2014/main" val="4239919265"/>
                    </a:ext>
                  </a:extLst>
                </a:gridCol>
              </a:tblGrid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Student ID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Track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Score (%)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1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Student ID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Track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Score (%)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514849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101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58.0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111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>
                          <a:solidFill>
                            <a:srgbClr val="1F1F1F"/>
                          </a:solidFill>
                          <a:effectLst/>
                        </a:rPr>
                        <a:t>59.1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3532683575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102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77.0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112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>
                          <a:solidFill>
                            <a:srgbClr val="1F1F1F"/>
                          </a:solidFill>
                          <a:effectLst/>
                        </a:rPr>
                        <a:t>61.1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1397026360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 dirty="0">
                          <a:solidFill>
                            <a:srgbClr val="1F1F1F"/>
                          </a:solidFill>
                          <a:effectLst/>
                        </a:rPr>
                        <a:t>103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67.0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113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>
                          <a:solidFill>
                            <a:srgbClr val="1F1F1F"/>
                          </a:solidFill>
                          <a:effectLst/>
                        </a:rPr>
                        <a:t>58.5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4049853225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104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58.0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114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60.2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1734436971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105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56.0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115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59.8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486315402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106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36.0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116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85.5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3289377579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107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51.0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117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81.2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645070445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108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52.0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118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81.6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3145192985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109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53.0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119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84.0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970017889"/>
                  </a:ext>
                </a:extLst>
              </a:tr>
              <a:tr h="3400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110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Specialized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50.0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 vMerge="1">
                  <a:txBody>
                    <a:bodyPr/>
                    <a:lstStyle/>
                    <a:p>
                      <a:pPr rtl="0">
                        <a:buNone/>
                      </a:pP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b="1">
                          <a:solidFill>
                            <a:srgbClr val="1F1F1F"/>
                          </a:solidFill>
                          <a:effectLst/>
                        </a:rPr>
                        <a:t>120</a:t>
                      </a:r>
                      <a:endParaRPr lang="en-EG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</a:rPr>
                        <a:t>General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67108" marT="89477" marB="8947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EG" sz="1100" dirty="0">
                          <a:solidFill>
                            <a:srgbClr val="1F1F1F"/>
                          </a:solidFill>
                          <a:effectLst/>
                        </a:rPr>
                        <a:t>83.5</a:t>
                      </a:r>
                      <a:endParaRPr lang="en-EG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3686" marR="53686" marT="89477" marB="89477" anchor="ctr"/>
                </a:tc>
                <a:extLst>
                  <a:ext uri="{0D108BD9-81ED-4DB2-BD59-A6C34878D82A}">
                    <a16:rowId xmlns:a16="http://schemas.microsoft.com/office/drawing/2014/main" val="461930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325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93AE5-8731-D4FD-3198-A1B445F6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09" name="Rectangle 410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9A4CFB-691C-8FD5-12C2-D9421C1A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9024"/>
            <a:ext cx="3539071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Answers 1: violin chart</a:t>
            </a:r>
            <a:endParaRPr lang="en-US" dirty="0"/>
          </a:p>
        </p:txBody>
      </p:sp>
      <p:cxnSp>
        <p:nvCxnSpPr>
          <p:cNvPr id="4111" name="Straight Connector 41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>
            <a:extLst>
              <a:ext uri="{FF2B5EF4-FFF2-40B4-BE49-F238E27FC236}">
                <a16:creationId xmlns:a16="http://schemas.microsoft.com/office/drawing/2014/main" id="{B73CAB66-5DE5-0B17-FF6B-7E1F6F0569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24871" y="423000"/>
            <a:ext cx="7707693" cy="60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2746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5968</TotalTime>
  <Words>1762</Words>
  <Application>Microsoft Macintosh PowerPoint</Application>
  <PresentationFormat>Widescreen</PresentationFormat>
  <Paragraphs>304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Calisto MT</vt:lpstr>
      <vt:lpstr>Google Sans Text</vt:lpstr>
      <vt:lpstr>Univers Condensed</vt:lpstr>
      <vt:lpstr>ChronicleVTI</vt:lpstr>
      <vt:lpstr>Distribution Charts (Histogram, Box, Violin)</vt:lpstr>
      <vt:lpstr>Learning outcomes</vt:lpstr>
      <vt:lpstr>Relation vs Distribution charts</vt:lpstr>
      <vt:lpstr>Distribution charts</vt:lpstr>
      <vt:lpstr>PowerPoint Presentation</vt:lpstr>
      <vt:lpstr>PowerPoint Presentation</vt:lpstr>
      <vt:lpstr>PowerPoint Presentation</vt:lpstr>
      <vt:lpstr>Distribution statistical model</vt:lpstr>
      <vt:lpstr>Distribution statistical model</vt:lpstr>
      <vt:lpstr>Distribution shapes</vt:lpstr>
      <vt:lpstr>PowerPoint Presentation</vt:lpstr>
      <vt:lpstr>PowerPoint Presentation</vt:lpstr>
      <vt:lpstr>modality</vt:lpstr>
      <vt:lpstr>PowerPoint Presentation</vt:lpstr>
      <vt:lpstr>Violin chart</vt:lpstr>
      <vt:lpstr>Violin chart components</vt:lpstr>
      <vt:lpstr>The Silhouette</vt:lpstr>
      <vt:lpstr>Kernel Density Estimator (KDE)</vt:lpstr>
      <vt:lpstr>Interquartile Range (IQR)</vt:lpstr>
      <vt:lpstr>The "Interior” (The Center)</vt:lpstr>
      <vt:lpstr>Violin chart</vt:lpstr>
      <vt:lpstr>Violin chart</vt:lpstr>
      <vt:lpstr>How to draw the violin chart? (our guidelines)</vt:lpstr>
      <vt:lpstr>Practical Exercise 1: violin chart</vt:lpstr>
      <vt:lpstr>Practical Exercise 1: violin chart</vt:lpstr>
      <vt:lpstr>Answers 1: violin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haitham ghallab</dc:creator>
  <cp:lastModifiedBy>haitham ghallab</cp:lastModifiedBy>
  <cp:revision>412</cp:revision>
  <dcterms:created xsi:type="dcterms:W3CDTF">2026-02-08T13:07:24Z</dcterms:created>
  <dcterms:modified xsi:type="dcterms:W3CDTF">2026-04-20T10:54:44Z</dcterms:modified>
</cp:coreProperties>
</file>